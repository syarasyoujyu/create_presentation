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26240" y="1859400"/>
            <a:ext cx="24116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論文紹介 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1355040" y="2500920"/>
            <a:ext cx="9541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機械学習による複合劣化ナンバープレート画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476520" y="3215160"/>
            <a:ext cx="5247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像の画質改善と文字認識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353200" y="470880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理学部　化学科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438880" y="528588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　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207880"/>
            <a:ext cx="25376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研究背景と課題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665080"/>
            <a:ext cx="16232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提案手法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3122280"/>
            <a:ext cx="19278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実験と結果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3579480"/>
            <a:ext cx="10134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考察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009960" y="4036680"/>
            <a:ext cx="13183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25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7" name=""/>
          <p:cNvSpPr txBox="1"/>
          <p:nvPr/>
        </p:nvSpPr>
        <p:spPr>
          <a:xfrm>
            <a:off x="533520" y="92376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実環境の監視カメラ映像は、ナンバープレート認識を困難にする「複合劣化」を伴う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33520" y="143820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監視カメラの重要性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防犯や犯罪捜査において、監視カメラ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809280" y="2990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2"/>
                  <a:pt x="146" y="292"/>
                </a:cubicBezTo>
                <a:cubicBezTo>
                  <a:pt x="136" y="292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85760" y="23623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映像は重要な役割を担う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85760" y="28479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特に車両が関わる事件では、ナンバー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085760" y="32576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プレートの自動認識が捜査の鍵となる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809280" y="4895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533520" y="423864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実環境における画質の課題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85760" y="4753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実際の映像は、様々な要因が組み合わ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9280" y="5790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85760" y="5162400"/>
            <a:ext cx="4138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さった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「複合劣化」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を被っている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085760" y="5648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低解像度、照明変動、ノイズ、撮影ブ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809280" y="66862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085760" y="60577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レなど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85760" y="65437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従来技術では、複合劣化した画像の高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229440" y="1438200"/>
            <a:ext cx="4706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複合劣化画像の例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5.15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341760" y="1942920"/>
            <a:ext cx="5411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様々な照明や角度で撮影された、不鮮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248240" y="2362320"/>
            <a:ext cx="3475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明なナンバープレート画像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229440" y="286704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本研究では、機械学習を用いてこの複合劣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229440" y="32860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化の問題にアプローチします。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67" name=""/>
          <p:cNvSpPr txBox="1"/>
          <p:nvPr/>
        </p:nvSpPr>
        <p:spPr>
          <a:xfrm>
            <a:off x="533520" y="92376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複合劣化画像からの高精度な文字認識を実現する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93800" y="1438200"/>
            <a:ext cx="2571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ロバスト性の欠如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638360" y="194292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ナンバープレート灯やヘッドライトによる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環境光の外乱（白飛びなど）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に弱い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638360" y="2428920"/>
            <a:ext cx="8237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従来の画質改善法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では、照明成分の推定精度が限定的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93800" y="2914560"/>
            <a:ext cx="2019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効率性の低さ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638360" y="341964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低解像度で文字情報が欠落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した画像から、効率的に情報を再構成できない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638360" y="390528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従来の超解像技術ではアーティファクト（偽の模様）が発生しやすい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1361880" y="5038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93800" y="4390920"/>
            <a:ext cx="2019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適応性の不足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1361880" y="5524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638360" y="489600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多様な文字フォントや、様々な種類の複合劣化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に対し、柔軟に対応できない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638360" y="5381640"/>
            <a:ext cx="10087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は入力画像の解像度が固定されており、劣化状態に応じた処理が困難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914400" y="392400"/>
            <a:ext cx="25156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解決したい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つの課題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91" name=""/>
          <p:cNvSpPr txBox="1"/>
          <p:nvPr/>
        </p:nvSpPr>
        <p:spPr>
          <a:xfrm>
            <a:off x="533520" y="923760"/>
            <a:ext cx="7404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つの課題に対し、それぞれに特化した機械学習手法を提案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33520" y="1438200"/>
            <a:ext cx="4582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課題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ロバスト性の欠如（環境光）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809280" y="26002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33520" y="1942920"/>
            <a:ext cx="4160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1: SVR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を用いた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085760" y="2457360"/>
            <a:ext cx="8757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サポートベクター回帰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(SVR)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で照明成分を高精度に推定し、外乱を除去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33520" y="3019320"/>
            <a:ext cx="4306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課題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効率性の低さ（低解像度）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809280" y="4181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533520" y="3533760"/>
            <a:ext cx="5117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2: SVM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を用いた画素値選択型超解像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085760" y="4038480"/>
            <a:ext cx="9381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サポートベクターマシン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(SVM)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で最適な画素を選択し、鮮明な画像を再構成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533520" y="4610160"/>
            <a:ext cx="4582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課題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適応性の不足（多様な劣化）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809280" y="5771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5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533520" y="5114880"/>
            <a:ext cx="4738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3: 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多重構造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による文字認識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85760" y="562932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複数の解像度の画像を並列処理し、劣化状態に応じて最適な情報から認識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904320" y="6610320"/>
            <a:ext cx="10518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これら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つの手法を統合し、複合劣化画像に対する総合的な認識性能の向上を目指す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13" name=""/>
          <p:cNvSpPr txBox="1"/>
          <p:nvPr/>
        </p:nvSpPr>
        <p:spPr>
          <a:xfrm>
            <a:off x="533520" y="923760"/>
            <a:ext cx="9309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サポートベクター回帰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(SVR)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により、環境光の外乱に頑健な画質改善を実現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533520" y="1438200"/>
            <a:ext cx="32490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従来手法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(Retinex)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照明成分の推定精度が低く、白飛びな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809280" y="2990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2"/>
                  <a:pt x="146" y="292"/>
                </a:cubicBezTo>
                <a:cubicBezTo>
                  <a:pt x="136" y="292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085760" y="23623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どを十分に除去できない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085760" y="2847960"/>
            <a:ext cx="4763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Halo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アーティファクト（輪郭の不自然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085760" y="32576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な強調）が発生しやすい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809280" y="4895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33520" y="42386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提案手法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085760" y="4753080"/>
            <a:ext cx="4755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機械学習の一種である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SVR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を用いて、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09280" y="5790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085760" y="5162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画像中の照明成分をより高精度に推定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085760" y="5648400"/>
            <a:ext cx="4842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これにより、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Halo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を抑制しつつ、環境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085760" y="60577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光の外乱を効果的に除去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669360" y="1438200"/>
            <a:ext cx="4825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画質改善効果の比較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2.9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321960" y="1942920"/>
            <a:ext cx="54262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(a)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補正前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, (b)SSR(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), (c)2MSR(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278400" y="2362320"/>
            <a:ext cx="5397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来法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), (d)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提案法 のナンバープレート画像比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101720" y="2771640"/>
            <a:ext cx="3751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較。提案法が最も自然で鮮明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229440" y="3286080"/>
            <a:ext cx="5420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(d)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は、白飛びが抑制され、文字が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229440" y="36957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最もクリアになっている。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914400" y="392400"/>
            <a:ext cx="424476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1: SVR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処理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42" name=""/>
          <p:cNvSpPr txBox="1"/>
          <p:nvPr/>
        </p:nvSpPr>
        <p:spPr>
          <a:xfrm>
            <a:off x="533520" y="923760"/>
            <a:ext cx="9933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サポートベクターマシン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(SVM)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により、低解像度から鮮明な画像を効率的に復元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33520" y="1438200"/>
            <a:ext cx="3339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従来手法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超解像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複数の低解像度画像を合成する際、情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085760" y="2362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報が欠落している部分にアーティファ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809280" y="3400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6"/>
                  <a:pt x="219" y="20"/>
                  <a:pt x="228" y="26"/>
                </a:cubicBezTo>
                <a:cubicBezTo>
                  <a:pt x="236" y="31"/>
                  <a:pt x="243" y="37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085760" y="277164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クト（偽の模様）が発生しやすい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085760" y="3257640"/>
            <a:ext cx="4863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特に文字の輪郭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エッジ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がぼやけてし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085760" y="3676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まう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809280" y="5305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33520" y="4657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提案手法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085760" y="51624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複数の低解像度フレームの中から、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085760" y="5581800"/>
            <a:ext cx="4748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SVM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を用いて「最も確からしい」画素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809280" y="6619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085760" y="599112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を選択して高解像度画像を再構成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085760" y="64771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アーティファクトを抑制し、鮮明なエ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6725880" y="1438200"/>
            <a:ext cx="4706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超解像結果の比較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3.10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306120" y="1942920"/>
            <a:ext cx="5503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(a)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従来超解像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, (b)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提案超解像 のナンバ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6328080" y="23623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ープレート画像比較。提案法の方が文字の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7938720" y="2771640"/>
            <a:ext cx="2096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輪郭がシャープ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229440" y="3286080"/>
            <a:ext cx="5579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(b)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は、従来手法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(a)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に比べて文字の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229440" y="36957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エッジが鮮明に復元されている。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914400" y="392400"/>
            <a:ext cx="510516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2: SVM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を用いた画素値選択型超解像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72" name=""/>
          <p:cNvSpPr txBox="1"/>
          <p:nvPr/>
        </p:nvSpPr>
        <p:spPr>
          <a:xfrm>
            <a:off x="533520" y="923760"/>
            <a:ext cx="9535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複数の解像度を並列処理する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アーキテクチャにより、多様な劣化に適応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33520" y="1438200"/>
            <a:ext cx="41702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従来手法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単一構造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入力画像の解像度が固定されているた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85760" y="2362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め、劣化の度合いに応じた最適な処理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809280" y="3400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6"/>
                  <a:pt x="219" y="20"/>
                  <a:pt x="228" y="26"/>
                </a:cubicBezTo>
                <a:cubicBezTo>
                  <a:pt x="236" y="31"/>
                  <a:pt x="243" y="37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085760" y="277164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85760" y="32576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劣化が強い画像では認識性能が大幅に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085760" y="3676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低下する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809280" y="5305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33520" y="4657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提案手法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085760" y="5162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入力画像を複数の解像度（イメージピ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809280" y="6200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085760" y="55818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ラミッド）に変換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085760" y="6057720"/>
            <a:ext cx="4846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各解像度を並列の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で処理し、結果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085760" y="64771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を統合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264720" y="1438200"/>
            <a:ext cx="5653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提案手法のアーキテクチャ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4.5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330240" y="1942920"/>
            <a:ext cx="5567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多重解像度画像が複数の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に並列入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548040" y="2362320"/>
            <a:ext cx="4854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力され、その結果が統合される構成図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14400" y="392400"/>
            <a:ext cx="47642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3: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多重構造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による文字認識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99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33520" y="9237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提案手法の有効性を定量的に評価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1361880" y="1990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5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7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085760" y="14382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データセット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1361880" y="2476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7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49" y="248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49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7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29"/>
                  <a:pt x="243" y="36"/>
                  <a:pt x="249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7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638360" y="184788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実環境の様々な条件下で撮影したナンバープレート画像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638360" y="2333520"/>
            <a:ext cx="9829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計算機上でシミュレーションによる複合劣化（低解像度化、ノイズ、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JPEG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圧縮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809280" y="3371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9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9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638360" y="27525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など）を付与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361880" y="3790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7" y="100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085760" y="32288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比較対象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1361880" y="4276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638360" y="3648240"/>
            <a:ext cx="7682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画質改善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法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(SSR, 2MSR)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、従来の超解像法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809280" y="47527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638360" y="4133880"/>
            <a:ext cx="9298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文字認識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一般的な単一構造の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、従来の複数候補選択アルゴリズム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361880" y="5171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7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4"/>
                </a:cubicBezTo>
                <a:cubicBezTo>
                  <a:pt x="256" y="51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085760" y="46101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評価指標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361880" y="5657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1638360" y="5029200"/>
            <a:ext cx="6108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文字認識正答率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文字を正しく認識できた割合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1361880" y="61340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7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49" y="248"/>
                </a:cubicBezTo>
                <a:cubicBezTo>
                  <a:pt x="243" y="255"/>
                  <a:pt x="235" y="261"/>
                  <a:pt x="227" y="266"/>
                </a:cubicBezTo>
                <a:cubicBezTo>
                  <a:pt x="219" y="271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1"/>
                  <a:pt x="65" y="266"/>
                </a:cubicBezTo>
                <a:cubicBezTo>
                  <a:pt x="57" y="261"/>
                  <a:pt x="49" y="255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7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29"/>
                  <a:pt x="243" y="36"/>
                  <a:pt x="249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7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638360" y="5514840"/>
            <a:ext cx="9417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平均候補数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正解を得るまでに必要な候補の平均数（少ないほど実用的）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638360" y="5991120"/>
            <a:ext cx="8038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視覚的評価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改善後の画像の鮮明さやアーティファクトの有無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29" name=""/>
          <p:cNvSpPr txBox="1"/>
          <p:nvPr/>
        </p:nvSpPr>
        <p:spPr>
          <a:xfrm>
            <a:off x="533520" y="92376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いずれの手法も、従来手法を大幅に上回る性能を達成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33520" y="1438200"/>
            <a:ext cx="5053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SVR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処理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ロバスト性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06960" y="1942920"/>
            <a:ext cx="114742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2.13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のグラフ。提案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が他の手法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(SSR, 2MSR)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より高い正答率を維持して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772960" y="2362320"/>
            <a:ext cx="717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3520" y="2867040"/>
            <a:ext cx="6203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従来法に対し、文字認識の正答率が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最大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32%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3520" y="3381480"/>
            <a:ext cx="3803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SVM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を用いた超解像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42520" y="3886200"/>
            <a:ext cx="11457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論文表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5.7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の正答率をグラフ化したもの。提案超解像が従来超解像より高い正答率を示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501160" y="4305240"/>
            <a:ext cx="12690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している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4809960"/>
            <a:ext cx="6203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従来法に対し、文字認識の正答率が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最大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32%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33520" y="5324400"/>
            <a:ext cx="50043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多重構造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による文字認識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適応性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65200" y="5829120"/>
            <a:ext cx="11566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4.8(a)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のグラフ。提案の文字認識法が他の手法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(CA, CT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より高い正答率を維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362920" y="6248520"/>
            <a:ext cx="1544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持している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33520" y="6753240"/>
            <a:ext cx="10256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従来法に対し 文字認識の正答率が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最大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7 2%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向上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 特に劣化が強い領域で優位性が顕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914400" y="392400"/>
            <a:ext cx="31330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結果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1: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各提案手法の有効性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50" name=""/>
          <p:cNvSpPr txBox="1"/>
          <p:nvPr/>
        </p:nvSpPr>
        <p:spPr>
          <a:xfrm>
            <a:off x="533520" y="92376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認識性能が飛躍的に向上し、高い実用性を示した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533520" y="14382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総合的な性能向上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085760" y="1942920"/>
            <a:ext cx="5001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提案した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つの手法をすべて統合した場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085760" y="23623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合、従来手法の組み合わせと比較し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085760" y="2771640"/>
            <a:ext cx="4725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て、文字認識の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正答率が約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2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倍に向上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809280" y="44100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33520" y="375300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実用面でのインパクト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085760" y="4267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犯罪捜査における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車両の絞り込み台数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85760" y="4676760"/>
            <a:ext cx="4943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を従来の約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2%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にまで削減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できる可能性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809280" y="57243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2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085760" y="50958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を示唆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085760" y="55818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捜査の大幅な効率化と、人的‧時間的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085760" y="59911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コストの劇的な削減に貢献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6309000" y="1438200"/>
            <a:ext cx="5379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劣化強度と平均候補数の関係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5.12)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266520" y="1942920"/>
            <a:ext cx="5785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劣化が強くなっても、提案手法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紫の線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364440" y="2362320"/>
            <a:ext cx="5415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は実用レベルの平均候補数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赤の破線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以下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7520400" y="2771640"/>
            <a:ext cx="2923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を維持しているグラフ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229440" y="328608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提案手法は、幅広い劣化強度に対して実用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229440" y="3695760"/>
            <a:ext cx="55533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的な候補数（平均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候補以下）で正解を提示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229440" y="41148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914400" y="392400"/>
            <a:ext cx="36298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結果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2: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全手法の統合による効果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79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533520" y="92376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提案手法群は、相乗効果により複合劣化画像に対する頑健性を高めた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085760" y="1438200"/>
            <a:ext cx="10926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各手法の専門性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つの手法が「環境光」「低解像度」「多様な劣化」という異なる課題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809280" y="2476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085760" y="184788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にそれぞれ特化して対応したことで、総合的な性能が向上したと考えられる。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085760" y="2333520"/>
            <a:ext cx="10648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劣化が強い状況での優位性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特に多重構造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は、劣化が強くなるほど従来法との差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085760" y="275256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が開き、適応性の高さが示された。これは、劣化に応じて適切な解像度の情報を自動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809280" y="3790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085760" y="316224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的に選択できるアーキテクチャの有効性を示唆している。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085760" y="3648240"/>
            <a:ext cx="106282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実用性の高さ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候補目での正答率も従来法より高く（表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5.8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）、平均候補数も少ない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085760" y="4057560"/>
            <a:ext cx="10617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5.12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）ことから、提案手法は単に最終的な正答率が高いだけでなく、捜査の初期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809280" y="51051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8" y="210"/>
                  <a:pt x="273" y="219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085760" y="447660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段階で迅速に有力な候補を提示できる実用性を備えている。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085760" y="4962600"/>
            <a:ext cx="10567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相乗効果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画質改善（提案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1, 2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）によって文字認識（提案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）の入力がクリーンにな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085760" y="537192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り、認識精度がさらに向上するという相乗効果が確認された。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914400" y="3924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考察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02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533520" y="9237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本研究の限界と将来の展望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085760" y="1438200"/>
            <a:ext cx="10492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ナンバープレート領域抽出の自動化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本研究では領域抽出後の画像を扱っているが、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085760" y="184788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実用上は画像全体からナンバープレート領域を正確に抽出する前処理が重要となる。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809280" y="2895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085760" y="226692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この部分にも機械学習を導入し、さらに頑健性を高める必要がある。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085760" y="2752560"/>
            <a:ext cx="10492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動いている車両への対応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本研究は静止している車両を主対象としている。走行中の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085760" y="31622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車両で発生するモーションブラー（被写体ブレ）に対応するため、ブレ除去に特化し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809280" y="4200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085760" y="358128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たニューラルネットワークの導入が今後の課題となる。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085760" y="4057560"/>
            <a:ext cx="10492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さらなる多様性への対応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緑色のプレートや異なるフォントなど、本研究で扱いきれ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085760" y="447660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なかった種類のナンバープレートへの汎化性能を高める必要がある。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14400" y="3924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2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22" name=""/>
          <p:cNvSpPr txBox="1"/>
          <p:nvPr/>
        </p:nvSpPr>
        <p:spPr>
          <a:xfrm>
            <a:off x="533520" y="9237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本研究の貢献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793800" y="1438200"/>
            <a:ext cx="5090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複合劣化に対応する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つの手法を提案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638360" y="1942920"/>
            <a:ext cx="9690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環境光の外乱、低解像度、多様な劣化という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つの主要課題に対し、それぞれ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638360" y="2362320"/>
            <a:ext cx="10154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SVR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処理、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SVM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を用いた超解像、多重構造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という機械学習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638360" y="277164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ベースの手法を提案した。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1361880" y="3914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5" y="66"/>
                </a:cubicBezTo>
                <a:cubicBezTo>
                  <a:pt x="30" y="58"/>
                  <a:pt x="36" y="50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3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793800" y="3257640"/>
            <a:ext cx="45028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従来法を大幅に上回る性能を実証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1638360" y="3771720"/>
            <a:ext cx="10065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各手法がそれぞれの課題において従来法を最大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32%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上回る性能向上を達成し、そ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638360" y="418140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の有効性を実験的に示した。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1361880" y="5314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793800" y="4667400"/>
            <a:ext cx="5054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高い実用性と社会的インパクトを示唆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1638360" y="5172120"/>
            <a:ext cx="9966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全手法の統合により、認識性能は従来比で約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倍に向上。これにより、犯罪捜査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638360" y="559116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における車両絞り込み効率を飛躍的に高め、捜査コストを大幅に削減できる可能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1638360" y="60008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性を示した。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914400" y="3924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