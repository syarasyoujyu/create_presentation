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s/_rels/slide12.xml.rels" ContentType="application/vnd.openxmlformats-package.relationships+xml"/>
  <Override PartName="/ppt/slides/_rels/slide13.xml.rels" ContentType="application/vnd.openxmlformats-package.relationships+xml"/>
  <Override PartName="/ppt/slides/_rels/slide14.xml.rels" ContentType="application/vnd.openxmlformats-package.relationships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10.xml.rels" ContentType="application/vnd.openxmlformats-package.relationships+xml"/>
  <Override PartName="/ppt/slides/_rels/slide8.xml.rels" ContentType="application/vnd.openxmlformats-package.relationships+xml"/>
  <Override PartName="/ppt/slides/_rels/slide11.xml.rels" ContentType="application/vnd.openxmlformats-package.relationships+xml"/>
  <Override PartName="/ppt/slides/_rels/slide9.xml.rels" ContentType="application/vnd.openxmlformats-package.relationships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1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_rels/presentation.xml.rels" ContentType="application/vnd.openxmlformats-package.relationships+xml"/>
  <Override PartName="/ppt/media/image1.png" ContentType="image/png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master-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master-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59200"/>
            <a:ext cx="10972080" cy="108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609480" y="1520280"/>
            <a:ext cx="10972080" cy="3768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09480" y="259200"/>
            <a:ext cx="10972080" cy="108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609480" y="1520280"/>
            <a:ext cx="10972080" cy="3768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" name=""/>
          <p:cNvSpPr txBox="1"/>
          <p:nvPr/>
        </p:nvSpPr>
        <p:spPr>
          <a:xfrm>
            <a:off x="4926240" y="1859400"/>
            <a:ext cx="2411640" cy="3614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1950" spc="-1" strike="noStrike">
                <a:solidFill>
                  <a:srgbClr val="0b4b78"/>
                </a:solidFill>
                <a:latin typeface="NotoSansJP"/>
                <a:ea typeface="NotoSansJP"/>
              </a:rPr>
              <a:t>論文紹介 </a:t>
            </a:r>
            <a:r>
              <a:rPr b="0" lang="en-US" sz="1950" spc="-1" strike="noStrike">
                <a:solidFill>
                  <a:srgbClr val="0b4b78"/>
                </a:solidFill>
                <a:latin typeface="NotoSansJP"/>
                <a:ea typeface="NotoSansJP"/>
              </a:rPr>
              <a:t>2026/04/07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" name=""/>
          <p:cNvSpPr txBox="1"/>
          <p:nvPr/>
        </p:nvSpPr>
        <p:spPr>
          <a:xfrm>
            <a:off x="1355040" y="2500920"/>
            <a:ext cx="9541080" cy="6908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3750" spc="-1" strike="noStrike">
                <a:solidFill>
                  <a:srgbClr val="0b4b78"/>
                </a:solidFill>
                <a:latin typeface="NotoSansJP"/>
                <a:ea typeface="NotoSansJP"/>
              </a:rPr>
              <a:t>機械学習による複合劣化ナンバープレート画</a:t>
            </a:r>
            <a:endParaRPr b="0" lang="en-US" sz="3750" spc="-1" strike="noStrike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9" name="" descr=""/>
          <p:cNvPicPr/>
          <p:nvPr/>
        </p:nvPicPr>
        <p:blipFill>
          <a:blip r:embed="rId1"/>
          <a:stretch/>
        </p:blipFill>
        <p:spPr>
          <a:xfrm>
            <a:off x="4809960" y="-190440"/>
            <a:ext cx="2571480" cy="2571480"/>
          </a:xfrm>
          <a:prstGeom prst="rect">
            <a:avLst/>
          </a:prstGeom>
          <a:ln w="0">
            <a:noFill/>
          </a:ln>
        </p:spPr>
      </p:pic>
      <p:sp>
        <p:nvSpPr>
          <p:cNvPr id="10" name=""/>
          <p:cNvSpPr/>
          <p:nvPr/>
        </p:nvSpPr>
        <p:spPr>
          <a:xfrm>
            <a:off x="0" y="3771720"/>
            <a:ext cx="12192120" cy="3086280"/>
          </a:xfrm>
          <a:custGeom>
            <a:avLst/>
            <a:gdLst/>
            <a:ahLst/>
            <a:rect l="0" t="0" r="r" b="b"/>
            <a:pathLst>
              <a:path w="33867" h="8573">
                <a:moveTo>
                  <a:pt x="0" y="0"/>
                </a:moveTo>
                <a:lnTo>
                  <a:pt x="33867" y="0"/>
                </a:lnTo>
                <a:lnTo>
                  <a:pt x="33867" y="8573"/>
                </a:lnTo>
                <a:lnTo>
                  <a:pt x="0" y="8573"/>
                </a:lnTo>
                <a:lnTo>
                  <a:pt x="0" y="0"/>
                </a:lnTo>
                <a:close/>
              </a:path>
            </a:pathLst>
          </a:custGeom>
          <a:solidFill>
            <a:srgbClr val="0b4b7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" name=""/>
          <p:cNvSpPr txBox="1"/>
          <p:nvPr/>
        </p:nvSpPr>
        <p:spPr>
          <a:xfrm>
            <a:off x="3476520" y="3215160"/>
            <a:ext cx="5247720" cy="6908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3750" spc="-1" strike="noStrike">
                <a:solidFill>
                  <a:srgbClr val="0b4b78"/>
                </a:solidFill>
                <a:latin typeface="NotoSansJP"/>
                <a:ea typeface="NotoSansJP"/>
              </a:rPr>
              <a:t>像の画質改善と文字認識</a:t>
            </a:r>
            <a:endParaRPr b="0" lang="en-US" sz="37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" name=""/>
          <p:cNvSpPr txBox="1"/>
          <p:nvPr/>
        </p:nvSpPr>
        <p:spPr>
          <a:xfrm>
            <a:off x="5353200" y="4708800"/>
            <a:ext cx="160092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1800" spc="-1" strike="noStrike">
                <a:solidFill>
                  <a:srgbClr val="ffffff"/>
                </a:solidFill>
                <a:latin typeface="NotoSansJP"/>
                <a:ea typeface="NotoSansJP"/>
              </a:rPr>
              <a:t>理学部　化学科</a:t>
            </a:r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" name=""/>
          <p:cNvSpPr txBox="1"/>
          <p:nvPr/>
        </p:nvSpPr>
        <p:spPr>
          <a:xfrm>
            <a:off x="5438880" y="5285880"/>
            <a:ext cx="1433160" cy="415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250" spc="-1" strike="noStrike">
                <a:solidFill>
                  <a:srgbClr val="ffffff"/>
                </a:solidFill>
                <a:latin typeface="NotoSansJP"/>
                <a:ea typeface="NotoSansJP"/>
              </a:rPr>
              <a:t>知能　太郎</a:t>
            </a:r>
            <a:endParaRPr b="0" lang="en-US" sz="22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" name=""/>
          <p:cNvSpPr txBox="1"/>
          <p:nvPr/>
        </p:nvSpPr>
        <p:spPr>
          <a:xfrm>
            <a:off x="11946600" y="6436800"/>
            <a:ext cx="304560" cy="416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400" spc="-1" strike="noStrike">
                <a:solidFill>
                  <a:srgbClr val="111111"/>
                </a:solidFill>
                <a:latin typeface="NotoSansJP"/>
                <a:ea typeface="NotoSansJP"/>
              </a:rPr>
              <a:t>1</a:t>
            </a:r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" name=""/>
          <p:cNvSpPr txBox="1"/>
          <p:nvPr/>
        </p:nvSpPr>
        <p:spPr>
          <a:xfrm>
            <a:off x="3009960" y="2207880"/>
            <a:ext cx="2537640" cy="443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400" spc="-1" strike="noStrike">
                <a:solidFill>
                  <a:srgbClr val="0b4b78"/>
                </a:solidFill>
                <a:latin typeface="NotoSansJP"/>
                <a:ea typeface="NotoSansJP"/>
              </a:rPr>
              <a:t>1. </a:t>
            </a:r>
            <a:r>
              <a:rPr b="0" lang="zh-CN" sz="2400" spc="-1" strike="noStrike">
                <a:solidFill>
                  <a:srgbClr val="0b4b78"/>
                </a:solidFill>
                <a:latin typeface="NotoSansJP"/>
                <a:ea typeface="NotoSansJP"/>
              </a:rPr>
              <a:t>研究背景と課題</a:t>
            </a:r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" name=""/>
          <p:cNvSpPr txBox="1"/>
          <p:nvPr/>
        </p:nvSpPr>
        <p:spPr>
          <a:xfrm>
            <a:off x="3009960" y="2665080"/>
            <a:ext cx="1623240" cy="443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400" spc="-1" strike="noStrike">
                <a:solidFill>
                  <a:srgbClr val="0b4b78"/>
                </a:solidFill>
                <a:latin typeface="NotoSansJP"/>
                <a:ea typeface="NotoSansJP"/>
              </a:rPr>
              <a:t>2. </a:t>
            </a:r>
            <a:r>
              <a:rPr b="0" lang="zh-CN" sz="2400" spc="-1" strike="noStrike">
                <a:solidFill>
                  <a:srgbClr val="0b4b78"/>
                </a:solidFill>
                <a:latin typeface="NotoSansJP"/>
                <a:ea typeface="NotoSansJP"/>
              </a:rPr>
              <a:t>提案手法</a:t>
            </a:r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" name=""/>
          <p:cNvSpPr txBox="1"/>
          <p:nvPr/>
        </p:nvSpPr>
        <p:spPr>
          <a:xfrm>
            <a:off x="3009960" y="3122280"/>
            <a:ext cx="1927800" cy="443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400" spc="-1" strike="noStrike">
                <a:solidFill>
                  <a:srgbClr val="0b4b78"/>
                </a:solidFill>
                <a:latin typeface="NotoSansJP"/>
                <a:ea typeface="NotoSansJP"/>
              </a:rPr>
              <a:t>3. </a:t>
            </a:r>
            <a:r>
              <a:rPr b="0" lang="zh-CN" sz="2400" spc="-1" strike="noStrike">
                <a:solidFill>
                  <a:srgbClr val="0b4b78"/>
                </a:solidFill>
                <a:latin typeface="NotoSansJP"/>
                <a:ea typeface="NotoSansJP"/>
              </a:rPr>
              <a:t>実験と結果</a:t>
            </a:r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" name=""/>
          <p:cNvSpPr txBox="1"/>
          <p:nvPr/>
        </p:nvSpPr>
        <p:spPr>
          <a:xfrm>
            <a:off x="3009960" y="3579480"/>
            <a:ext cx="1013400" cy="443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400" spc="-1" strike="noStrike">
                <a:solidFill>
                  <a:srgbClr val="0b4b78"/>
                </a:solidFill>
                <a:latin typeface="NotoSansJP"/>
                <a:ea typeface="NotoSansJP"/>
              </a:rPr>
              <a:t>4. </a:t>
            </a:r>
            <a:r>
              <a:rPr b="0" lang="zh-CN" sz="2400" spc="-1" strike="noStrike">
                <a:solidFill>
                  <a:srgbClr val="0b4b78"/>
                </a:solidFill>
                <a:latin typeface="NotoSansJP"/>
                <a:ea typeface="NotoSansJP"/>
              </a:rPr>
              <a:t>考察</a:t>
            </a:r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" name=""/>
          <p:cNvSpPr txBox="1"/>
          <p:nvPr/>
        </p:nvSpPr>
        <p:spPr>
          <a:xfrm>
            <a:off x="3009960" y="4036680"/>
            <a:ext cx="1318320" cy="443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400" spc="-1" strike="noStrike">
                <a:solidFill>
                  <a:srgbClr val="0b4b78"/>
                </a:solidFill>
                <a:latin typeface="NotoSansJP"/>
                <a:ea typeface="NotoSansJP"/>
              </a:rPr>
              <a:t>5. </a:t>
            </a:r>
            <a:r>
              <a:rPr b="0" lang="zh-CN" sz="2400" spc="-1" strike="noStrike">
                <a:solidFill>
                  <a:srgbClr val="0b4b78"/>
                </a:solidFill>
                <a:latin typeface="NotoSansJP"/>
                <a:ea typeface="NotoSansJP"/>
              </a:rPr>
              <a:t>まとめ</a:t>
            </a:r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" name=""/>
          <p:cNvSpPr/>
          <p:nvPr/>
        </p:nvSpPr>
        <p:spPr>
          <a:xfrm>
            <a:off x="209520" y="266400"/>
            <a:ext cx="152640" cy="305280"/>
          </a:xfrm>
          <a:custGeom>
            <a:avLst/>
            <a:gdLst/>
            <a:ahLst/>
            <a:rect l="0" t="0" r="r" b="b"/>
            <a:pathLst>
              <a:path w="424" h="848">
                <a:moveTo>
                  <a:pt x="0" y="0"/>
                </a:moveTo>
                <a:lnTo>
                  <a:pt x="424" y="0"/>
                </a:lnTo>
                <a:lnTo>
                  <a:pt x="424" y="848"/>
                </a:lnTo>
                <a:lnTo>
                  <a:pt x="0" y="848"/>
                </a:lnTo>
                <a:lnTo>
                  <a:pt x="0" y="0"/>
                </a:lnTo>
                <a:close/>
              </a:path>
            </a:pathLst>
          </a:custGeom>
          <a:solidFill>
            <a:srgbClr val="0b4b7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pic>
        <p:nvPicPr>
          <p:cNvPr id="24" name="" descr=""/>
          <p:cNvPicPr/>
          <p:nvPr/>
        </p:nvPicPr>
        <p:blipFill>
          <a:blip r:embed="rId1"/>
          <a:stretch/>
        </p:blipFill>
        <p:spPr>
          <a:xfrm>
            <a:off x="10744200" y="-219240"/>
            <a:ext cx="1256760" cy="1256760"/>
          </a:xfrm>
          <a:prstGeom prst="rect">
            <a:avLst/>
          </a:prstGeom>
          <a:ln w="0">
            <a:noFill/>
          </a:ln>
        </p:spPr>
      </p:pic>
      <p:sp>
        <p:nvSpPr>
          <p:cNvPr id="25" name=""/>
          <p:cNvSpPr/>
          <p:nvPr/>
        </p:nvSpPr>
        <p:spPr>
          <a:xfrm>
            <a:off x="2666880" y="2333520"/>
            <a:ext cx="171720" cy="171720"/>
          </a:xfrm>
          <a:custGeom>
            <a:avLst/>
            <a:gdLst/>
            <a:ahLst/>
            <a:rect l="0" t="0" r="r" b="b"/>
            <a:pathLst>
              <a:path w="477" h="477">
                <a:moveTo>
                  <a:pt x="0" y="0"/>
                </a:moveTo>
                <a:lnTo>
                  <a:pt x="477" y="0"/>
                </a:lnTo>
                <a:lnTo>
                  <a:pt x="477" y="477"/>
                </a:lnTo>
                <a:lnTo>
                  <a:pt x="0" y="477"/>
                </a:lnTo>
                <a:lnTo>
                  <a:pt x="0" y="0"/>
                </a:lnTo>
                <a:close/>
              </a:path>
            </a:pathLst>
          </a:custGeom>
          <a:solidFill>
            <a:srgbClr val="0b4b7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6" name=""/>
          <p:cNvSpPr/>
          <p:nvPr/>
        </p:nvSpPr>
        <p:spPr>
          <a:xfrm>
            <a:off x="2666880" y="2790720"/>
            <a:ext cx="171720" cy="171720"/>
          </a:xfrm>
          <a:custGeom>
            <a:avLst/>
            <a:gdLst/>
            <a:ahLst/>
            <a:rect l="0" t="0" r="r" b="b"/>
            <a:pathLst>
              <a:path w="477" h="477">
                <a:moveTo>
                  <a:pt x="0" y="0"/>
                </a:moveTo>
                <a:lnTo>
                  <a:pt x="477" y="0"/>
                </a:lnTo>
                <a:lnTo>
                  <a:pt x="477" y="477"/>
                </a:lnTo>
                <a:lnTo>
                  <a:pt x="0" y="477"/>
                </a:lnTo>
                <a:lnTo>
                  <a:pt x="0" y="0"/>
                </a:lnTo>
                <a:close/>
              </a:path>
            </a:pathLst>
          </a:custGeom>
          <a:solidFill>
            <a:srgbClr val="0b4b7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7" name=""/>
          <p:cNvSpPr/>
          <p:nvPr/>
        </p:nvSpPr>
        <p:spPr>
          <a:xfrm>
            <a:off x="2666880" y="3247920"/>
            <a:ext cx="171720" cy="171720"/>
          </a:xfrm>
          <a:custGeom>
            <a:avLst/>
            <a:gdLst/>
            <a:ahLst/>
            <a:rect l="0" t="0" r="r" b="b"/>
            <a:pathLst>
              <a:path w="477" h="477">
                <a:moveTo>
                  <a:pt x="0" y="0"/>
                </a:moveTo>
                <a:lnTo>
                  <a:pt x="477" y="0"/>
                </a:lnTo>
                <a:lnTo>
                  <a:pt x="477" y="477"/>
                </a:lnTo>
                <a:lnTo>
                  <a:pt x="0" y="477"/>
                </a:lnTo>
                <a:lnTo>
                  <a:pt x="0" y="0"/>
                </a:lnTo>
                <a:close/>
              </a:path>
            </a:pathLst>
          </a:custGeom>
          <a:solidFill>
            <a:srgbClr val="0b4b7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8" name=""/>
          <p:cNvSpPr/>
          <p:nvPr/>
        </p:nvSpPr>
        <p:spPr>
          <a:xfrm>
            <a:off x="2666880" y="3705120"/>
            <a:ext cx="171720" cy="171720"/>
          </a:xfrm>
          <a:custGeom>
            <a:avLst/>
            <a:gdLst/>
            <a:ahLst/>
            <a:rect l="0" t="0" r="r" b="b"/>
            <a:pathLst>
              <a:path w="477" h="477">
                <a:moveTo>
                  <a:pt x="0" y="0"/>
                </a:moveTo>
                <a:lnTo>
                  <a:pt x="477" y="0"/>
                </a:lnTo>
                <a:lnTo>
                  <a:pt x="477" y="477"/>
                </a:lnTo>
                <a:lnTo>
                  <a:pt x="0" y="477"/>
                </a:lnTo>
                <a:lnTo>
                  <a:pt x="0" y="0"/>
                </a:lnTo>
                <a:close/>
              </a:path>
            </a:pathLst>
          </a:custGeom>
          <a:solidFill>
            <a:srgbClr val="0b4b7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9" name=""/>
          <p:cNvSpPr/>
          <p:nvPr/>
        </p:nvSpPr>
        <p:spPr>
          <a:xfrm>
            <a:off x="2666880" y="4162320"/>
            <a:ext cx="171720" cy="171720"/>
          </a:xfrm>
          <a:custGeom>
            <a:avLst/>
            <a:gdLst/>
            <a:ahLst/>
            <a:rect l="0" t="0" r="r" b="b"/>
            <a:pathLst>
              <a:path w="477" h="477">
                <a:moveTo>
                  <a:pt x="0" y="0"/>
                </a:moveTo>
                <a:lnTo>
                  <a:pt x="477" y="0"/>
                </a:lnTo>
                <a:lnTo>
                  <a:pt x="477" y="477"/>
                </a:lnTo>
                <a:lnTo>
                  <a:pt x="0" y="477"/>
                </a:lnTo>
                <a:lnTo>
                  <a:pt x="0" y="0"/>
                </a:lnTo>
                <a:close/>
              </a:path>
            </a:pathLst>
          </a:custGeom>
          <a:solidFill>
            <a:srgbClr val="0b4b7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0" name=""/>
          <p:cNvSpPr txBox="1"/>
          <p:nvPr/>
        </p:nvSpPr>
        <p:spPr>
          <a:xfrm>
            <a:off x="495360" y="187200"/>
            <a:ext cx="1623960" cy="4698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550" spc="-1" strike="noStrike">
                <a:solidFill>
                  <a:srgbClr val="111111"/>
                </a:solidFill>
                <a:latin typeface="NotoSansJP"/>
                <a:ea typeface="NotoSansJP"/>
              </a:rPr>
              <a:t>アジェンダ</a:t>
            </a:r>
            <a:endParaRPr b="0" lang="en-US" sz="25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" name=""/>
          <p:cNvSpPr txBox="1"/>
          <p:nvPr/>
        </p:nvSpPr>
        <p:spPr>
          <a:xfrm>
            <a:off x="11946600" y="6436800"/>
            <a:ext cx="304560" cy="416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400" spc="-1" strike="noStrike">
                <a:solidFill>
                  <a:srgbClr val="111111"/>
                </a:solidFill>
                <a:latin typeface="NotoSansJP"/>
                <a:ea typeface="NotoSansJP"/>
              </a:rPr>
              <a:t>2</a:t>
            </a:r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c9c9c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5" name=""/>
          <p:cNvSpPr/>
          <p:nvPr/>
        </p:nvSpPr>
        <p:spPr>
          <a:xfrm>
            <a:off x="228240" y="228240"/>
            <a:ext cx="11735280" cy="6401160"/>
          </a:xfrm>
          <a:custGeom>
            <a:avLst/>
            <a:gdLst/>
            <a:ahLst/>
            <a:rect l="0" t="0" r="r" b="b"/>
            <a:pathLst>
              <a:path w="32598" h="17781">
                <a:moveTo>
                  <a:pt x="530" y="0"/>
                </a:moveTo>
                <a:lnTo>
                  <a:pt x="32069" y="0"/>
                </a:lnTo>
                <a:cubicBezTo>
                  <a:pt x="32104" y="0"/>
                  <a:pt x="32138" y="4"/>
                  <a:pt x="32172" y="11"/>
                </a:cubicBezTo>
                <a:cubicBezTo>
                  <a:pt x="32206" y="17"/>
                  <a:pt x="32239" y="27"/>
                  <a:pt x="32271" y="41"/>
                </a:cubicBezTo>
                <a:cubicBezTo>
                  <a:pt x="32304" y="54"/>
                  <a:pt x="32334" y="70"/>
                  <a:pt x="32363" y="90"/>
                </a:cubicBezTo>
                <a:cubicBezTo>
                  <a:pt x="32392" y="109"/>
                  <a:pt x="32419" y="131"/>
                  <a:pt x="32443" y="155"/>
                </a:cubicBezTo>
                <a:cubicBezTo>
                  <a:pt x="32468" y="180"/>
                  <a:pt x="32490" y="207"/>
                  <a:pt x="32509" y="236"/>
                </a:cubicBezTo>
                <a:cubicBezTo>
                  <a:pt x="32528" y="265"/>
                  <a:pt x="32545" y="295"/>
                  <a:pt x="32558" y="327"/>
                </a:cubicBezTo>
                <a:cubicBezTo>
                  <a:pt x="32571" y="359"/>
                  <a:pt x="32581" y="392"/>
                  <a:pt x="32588" y="426"/>
                </a:cubicBezTo>
                <a:cubicBezTo>
                  <a:pt x="32595" y="461"/>
                  <a:pt x="32598" y="495"/>
                  <a:pt x="32598" y="530"/>
                </a:cubicBezTo>
                <a:lnTo>
                  <a:pt x="32598" y="17252"/>
                </a:lnTo>
                <a:cubicBezTo>
                  <a:pt x="32598" y="17287"/>
                  <a:pt x="32595" y="17321"/>
                  <a:pt x="32588" y="17356"/>
                </a:cubicBezTo>
                <a:cubicBezTo>
                  <a:pt x="32581" y="17390"/>
                  <a:pt x="32571" y="17423"/>
                  <a:pt x="32558" y="17455"/>
                </a:cubicBezTo>
                <a:cubicBezTo>
                  <a:pt x="32545" y="17487"/>
                  <a:pt x="32528" y="17517"/>
                  <a:pt x="32509" y="17546"/>
                </a:cubicBezTo>
                <a:cubicBezTo>
                  <a:pt x="32490" y="17575"/>
                  <a:pt x="32468" y="17602"/>
                  <a:pt x="32443" y="17627"/>
                </a:cubicBezTo>
                <a:cubicBezTo>
                  <a:pt x="32419" y="17651"/>
                  <a:pt x="32392" y="17673"/>
                  <a:pt x="32363" y="17692"/>
                </a:cubicBezTo>
                <a:cubicBezTo>
                  <a:pt x="32334" y="17712"/>
                  <a:pt x="32304" y="17728"/>
                  <a:pt x="32271" y="17741"/>
                </a:cubicBezTo>
                <a:cubicBezTo>
                  <a:pt x="32239" y="17755"/>
                  <a:pt x="32206" y="17765"/>
                  <a:pt x="32172" y="17771"/>
                </a:cubicBezTo>
                <a:cubicBezTo>
                  <a:pt x="32138" y="17778"/>
                  <a:pt x="32104" y="17781"/>
                  <a:pt x="32069" y="17781"/>
                </a:cubicBezTo>
                <a:lnTo>
                  <a:pt x="530" y="17781"/>
                </a:lnTo>
                <a:cubicBezTo>
                  <a:pt x="495" y="17781"/>
                  <a:pt x="461" y="17778"/>
                  <a:pt x="426" y="17771"/>
                </a:cubicBezTo>
                <a:cubicBezTo>
                  <a:pt x="392" y="17765"/>
                  <a:pt x="359" y="17755"/>
                  <a:pt x="327" y="17741"/>
                </a:cubicBezTo>
                <a:cubicBezTo>
                  <a:pt x="295" y="17728"/>
                  <a:pt x="265" y="17712"/>
                  <a:pt x="236" y="17692"/>
                </a:cubicBezTo>
                <a:cubicBezTo>
                  <a:pt x="207" y="17673"/>
                  <a:pt x="180" y="17651"/>
                  <a:pt x="155" y="17627"/>
                </a:cubicBezTo>
                <a:cubicBezTo>
                  <a:pt x="131" y="17602"/>
                  <a:pt x="109" y="17575"/>
                  <a:pt x="90" y="17546"/>
                </a:cubicBezTo>
                <a:cubicBezTo>
                  <a:pt x="70" y="17517"/>
                  <a:pt x="54" y="17487"/>
                  <a:pt x="41" y="17455"/>
                </a:cubicBezTo>
                <a:cubicBezTo>
                  <a:pt x="27" y="17423"/>
                  <a:pt x="17" y="17390"/>
                  <a:pt x="11" y="17356"/>
                </a:cubicBezTo>
                <a:cubicBezTo>
                  <a:pt x="4" y="17321"/>
                  <a:pt x="0" y="17287"/>
                  <a:pt x="0" y="17252"/>
                </a:cubicBezTo>
                <a:lnTo>
                  <a:pt x="0" y="530"/>
                </a:lnTo>
                <a:cubicBezTo>
                  <a:pt x="0" y="495"/>
                  <a:pt x="4" y="461"/>
                  <a:pt x="11" y="426"/>
                </a:cubicBezTo>
                <a:cubicBezTo>
                  <a:pt x="17" y="392"/>
                  <a:pt x="27" y="359"/>
                  <a:pt x="41" y="327"/>
                </a:cubicBezTo>
                <a:cubicBezTo>
                  <a:pt x="54" y="295"/>
                  <a:pt x="70" y="265"/>
                  <a:pt x="90" y="236"/>
                </a:cubicBezTo>
                <a:cubicBezTo>
                  <a:pt x="109" y="207"/>
                  <a:pt x="131" y="180"/>
                  <a:pt x="155" y="155"/>
                </a:cubicBezTo>
                <a:cubicBezTo>
                  <a:pt x="180" y="131"/>
                  <a:pt x="207" y="109"/>
                  <a:pt x="236" y="90"/>
                </a:cubicBezTo>
                <a:cubicBezTo>
                  <a:pt x="265" y="70"/>
                  <a:pt x="295" y="54"/>
                  <a:pt x="327" y="41"/>
                </a:cubicBezTo>
                <a:cubicBezTo>
                  <a:pt x="359" y="27"/>
                  <a:pt x="392" y="17"/>
                  <a:pt x="426" y="11"/>
                </a:cubicBezTo>
                <a:cubicBezTo>
                  <a:pt x="461" y="4"/>
                  <a:pt x="495" y="0"/>
                  <a:pt x="530" y="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36" name="" descr=""/>
          <p:cNvPicPr/>
          <p:nvPr/>
        </p:nvPicPr>
        <p:blipFill>
          <a:blip r:embed="rId1"/>
          <a:stretch/>
        </p:blipFill>
        <p:spPr>
          <a:xfrm>
            <a:off x="10515600" y="38160"/>
            <a:ext cx="1142640" cy="1142640"/>
          </a:xfrm>
          <a:prstGeom prst="rect">
            <a:avLst/>
          </a:prstGeom>
          <a:ln w="0">
            <a:noFill/>
          </a:ln>
        </p:spPr>
      </p:pic>
      <p:sp>
        <p:nvSpPr>
          <p:cNvPr id="37" name=""/>
          <p:cNvSpPr txBox="1"/>
          <p:nvPr/>
        </p:nvSpPr>
        <p:spPr>
          <a:xfrm>
            <a:off x="533520" y="923760"/>
            <a:ext cx="10482840" cy="399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実環境の監視カメラ映像は、ナンバープレート認識を困難にする「複合劣化」を伴う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" name=""/>
          <p:cNvSpPr/>
          <p:nvPr/>
        </p:nvSpPr>
        <p:spPr>
          <a:xfrm>
            <a:off x="809280" y="2085840"/>
            <a:ext cx="105120" cy="105120"/>
          </a:xfrm>
          <a:custGeom>
            <a:avLst/>
            <a:gdLst/>
            <a:ahLst/>
            <a:rect l="0" t="0" r="r" b="b"/>
            <a:pathLst>
              <a:path w="292" h="292">
                <a:moveTo>
                  <a:pt x="292" y="145"/>
                </a:moveTo>
                <a:cubicBezTo>
                  <a:pt x="292" y="155"/>
                  <a:pt x="292" y="164"/>
                  <a:pt x="290" y="175"/>
                </a:cubicBezTo>
                <a:cubicBezTo>
                  <a:pt x="288" y="184"/>
                  <a:pt x="285" y="193"/>
                  <a:pt x="281" y="202"/>
                </a:cubicBezTo>
                <a:cubicBezTo>
                  <a:pt x="278" y="211"/>
                  <a:pt x="273" y="219"/>
                  <a:pt x="268" y="227"/>
                </a:cubicBezTo>
                <a:cubicBezTo>
                  <a:pt x="263" y="235"/>
                  <a:pt x="257" y="243"/>
                  <a:pt x="250" y="249"/>
                </a:cubicBezTo>
                <a:cubicBezTo>
                  <a:pt x="243" y="256"/>
                  <a:pt x="236" y="262"/>
                  <a:pt x="228" y="267"/>
                </a:cubicBezTo>
                <a:cubicBezTo>
                  <a:pt x="219" y="273"/>
                  <a:pt x="210" y="277"/>
                  <a:pt x="202" y="281"/>
                </a:cubicBezTo>
                <a:cubicBezTo>
                  <a:pt x="193" y="284"/>
                  <a:pt x="184" y="287"/>
                  <a:pt x="174" y="289"/>
                </a:cubicBezTo>
                <a:cubicBezTo>
                  <a:pt x="165" y="291"/>
                  <a:pt x="156" y="292"/>
                  <a:pt x="146" y="292"/>
                </a:cubicBezTo>
                <a:cubicBezTo>
                  <a:pt x="136" y="292"/>
                  <a:pt x="127" y="291"/>
                  <a:pt x="118" y="289"/>
                </a:cubicBezTo>
                <a:cubicBezTo>
                  <a:pt x="108" y="287"/>
                  <a:pt x="99" y="284"/>
                  <a:pt x="90" y="281"/>
                </a:cubicBezTo>
                <a:cubicBezTo>
                  <a:pt x="81" y="277"/>
                  <a:pt x="73" y="273"/>
                  <a:pt x="65" y="267"/>
                </a:cubicBezTo>
                <a:cubicBezTo>
                  <a:pt x="57" y="262"/>
                  <a:pt x="50" y="256"/>
                  <a:pt x="43" y="249"/>
                </a:cubicBezTo>
                <a:cubicBezTo>
                  <a:pt x="36" y="243"/>
                  <a:pt x="30" y="235"/>
                  <a:pt x="25" y="227"/>
                </a:cubicBezTo>
                <a:cubicBezTo>
                  <a:pt x="20" y="219"/>
                  <a:pt x="15" y="211"/>
                  <a:pt x="12" y="202"/>
                </a:cubicBezTo>
                <a:cubicBezTo>
                  <a:pt x="8" y="193"/>
                  <a:pt x="5" y="184"/>
                  <a:pt x="3" y="175"/>
                </a:cubicBezTo>
                <a:cubicBezTo>
                  <a:pt x="1" y="164"/>
                  <a:pt x="0" y="155"/>
                  <a:pt x="0" y="145"/>
                </a:cubicBezTo>
                <a:cubicBezTo>
                  <a:pt x="0" y="136"/>
                  <a:pt x="1" y="126"/>
                  <a:pt x="3" y="117"/>
                </a:cubicBezTo>
                <a:cubicBezTo>
                  <a:pt x="5" y="108"/>
                  <a:pt x="8" y="99"/>
                  <a:pt x="12" y="90"/>
                </a:cubicBezTo>
                <a:cubicBezTo>
                  <a:pt x="15" y="81"/>
                  <a:pt x="20" y="72"/>
                  <a:pt x="25" y="65"/>
                </a:cubicBezTo>
                <a:cubicBezTo>
                  <a:pt x="30" y="57"/>
                  <a:pt x="36" y="49"/>
                  <a:pt x="43" y="42"/>
                </a:cubicBezTo>
                <a:cubicBezTo>
                  <a:pt x="50" y="36"/>
                  <a:pt x="57" y="30"/>
                  <a:pt x="65" y="24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7"/>
                  <a:pt x="108" y="5"/>
                  <a:pt x="118" y="3"/>
                </a:cubicBezTo>
                <a:cubicBezTo>
                  <a:pt x="127" y="1"/>
                  <a:pt x="136" y="0"/>
                  <a:pt x="146" y="0"/>
                </a:cubicBezTo>
                <a:cubicBezTo>
                  <a:pt x="156" y="0"/>
                  <a:pt x="165" y="1"/>
                  <a:pt x="174" y="3"/>
                </a:cubicBezTo>
                <a:cubicBezTo>
                  <a:pt x="184" y="5"/>
                  <a:pt x="193" y="7"/>
                  <a:pt x="202" y="11"/>
                </a:cubicBezTo>
                <a:cubicBezTo>
                  <a:pt x="210" y="15"/>
                  <a:pt x="219" y="19"/>
                  <a:pt x="228" y="24"/>
                </a:cubicBezTo>
                <a:cubicBezTo>
                  <a:pt x="236" y="30"/>
                  <a:pt x="243" y="36"/>
                  <a:pt x="250" y="42"/>
                </a:cubicBezTo>
                <a:cubicBezTo>
                  <a:pt x="257" y="49"/>
                  <a:pt x="263" y="57"/>
                  <a:pt x="268" y="65"/>
                </a:cubicBezTo>
                <a:cubicBezTo>
                  <a:pt x="273" y="72"/>
                  <a:pt x="278" y="81"/>
                  <a:pt x="281" y="90"/>
                </a:cubicBezTo>
                <a:cubicBezTo>
                  <a:pt x="285" y="99"/>
                  <a:pt x="288" y="108"/>
                  <a:pt x="290" y="117"/>
                </a:cubicBezTo>
                <a:cubicBezTo>
                  <a:pt x="292" y="126"/>
                  <a:pt x="292" y="136"/>
                  <a:pt x="292" y="145"/>
                </a:cubicBezTo>
                <a:close/>
              </a:path>
            </a:pathLst>
          </a:custGeom>
          <a:solidFill>
            <a:srgbClr val="11111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9" name=""/>
          <p:cNvSpPr txBox="1"/>
          <p:nvPr/>
        </p:nvSpPr>
        <p:spPr>
          <a:xfrm>
            <a:off x="533520" y="1438200"/>
            <a:ext cx="2483280" cy="399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監視カメラの重要性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0" name=""/>
          <p:cNvSpPr txBox="1"/>
          <p:nvPr/>
        </p:nvSpPr>
        <p:spPr>
          <a:xfrm>
            <a:off x="1085760" y="1942920"/>
            <a:ext cx="4690080" cy="399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防犯や犯罪捜査において、監視カメラ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" name=""/>
          <p:cNvSpPr/>
          <p:nvPr/>
        </p:nvSpPr>
        <p:spPr>
          <a:xfrm>
            <a:off x="809280" y="2990520"/>
            <a:ext cx="105120" cy="105120"/>
          </a:xfrm>
          <a:custGeom>
            <a:avLst/>
            <a:gdLst/>
            <a:ahLst/>
            <a:rect l="0" t="0" r="r" b="b"/>
            <a:pathLst>
              <a:path w="292" h="292">
                <a:moveTo>
                  <a:pt x="292" y="146"/>
                </a:moveTo>
                <a:cubicBezTo>
                  <a:pt x="292" y="155"/>
                  <a:pt x="292" y="165"/>
                  <a:pt x="290" y="174"/>
                </a:cubicBezTo>
                <a:cubicBezTo>
                  <a:pt x="288" y="184"/>
                  <a:pt x="285" y="193"/>
                  <a:pt x="281" y="202"/>
                </a:cubicBezTo>
                <a:cubicBezTo>
                  <a:pt x="278" y="210"/>
                  <a:pt x="273" y="219"/>
                  <a:pt x="268" y="227"/>
                </a:cubicBezTo>
                <a:cubicBezTo>
                  <a:pt x="263" y="235"/>
                  <a:pt x="257" y="242"/>
                  <a:pt x="250" y="249"/>
                </a:cubicBezTo>
                <a:cubicBezTo>
                  <a:pt x="243" y="256"/>
                  <a:pt x="236" y="262"/>
                  <a:pt x="228" y="267"/>
                </a:cubicBezTo>
                <a:cubicBezTo>
                  <a:pt x="219" y="272"/>
                  <a:pt x="210" y="277"/>
                  <a:pt x="202" y="281"/>
                </a:cubicBezTo>
                <a:cubicBezTo>
                  <a:pt x="193" y="285"/>
                  <a:pt x="184" y="288"/>
                  <a:pt x="174" y="290"/>
                </a:cubicBezTo>
                <a:cubicBezTo>
                  <a:pt x="165" y="292"/>
                  <a:pt x="156" y="292"/>
                  <a:pt x="146" y="292"/>
                </a:cubicBezTo>
                <a:cubicBezTo>
                  <a:pt x="136" y="292"/>
                  <a:pt x="127" y="292"/>
                  <a:pt x="118" y="290"/>
                </a:cubicBezTo>
                <a:cubicBezTo>
                  <a:pt x="108" y="288"/>
                  <a:pt x="99" y="285"/>
                  <a:pt x="90" y="281"/>
                </a:cubicBezTo>
                <a:cubicBezTo>
                  <a:pt x="81" y="277"/>
                  <a:pt x="73" y="272"/>
                  <a:pt x="65" y="267"/>
                </a:cubicBezTo>
                <a:cubicBezTo>
                  <a:pt x="57" y="262"/>
                  <a:pt x="50" y="256"/>
                  <a:pt x="43" y="249"/>
                </a:cubicBezTo>
                <a:cubicBezTo>
                  <a:pt x="36" y="242"/>
                  <a:pt x="30" y="235"/>
                  <a:pt x="25" y="227"/>
                </a:cubicBezTo>
                <a:cubicBezTo>
                  <a:pt x="20" y="219"/>
                  <a:pt x="15" y="210"/>
                  <a:pt x="12" y="202"/>
                </a:cubicBezTo>
                <a:cubicBezTo>
                  <a:pt x="8" y="193"/>
                  <a:pt x="5" y="184"/>
                  <a:pt x="3" y="174"/>
                </a:cubicBezTo>
                <a:cubicBezTo>
                  <a:pt x="1" y="165"/>
                  <a:pt x="0" y="155"/>
                  <a:pt x="0" y="146"/>
                </a:cubicBezTo>
                <a:cubicBezTo>
                  <a:pt x="0" y="136"/>
                  <a:pt x="1" y="127"/>
                  <a:pt x="3" y="118"/>
                </a:cubicBezTo>
                <a:cubicBezTo>
                  <a:pt x="5" y="108"/>
                  <a:pt x="8" y="99"/>
                  <a:pt x="12" y="90"/>
                </a:cubicBezTo>
                <a:cubicBezTo>
                  <a:pt x="15" y="81"/>
                  <a:pt x="20" y="73"/>
                  <a:pt x="25" y="65"/>
                </a:cubicBezTo>
                <a:cubicBezTo>
                  <a:pt x="30" y="57"/>
                  <a:pt x="36" y="50"/>
                  <a:pt x="43" y="43"/>
                </a:cubicBezTo>
                <a:cubicBezTo>
                  <a:pt x="50" y="36"/>
                  <a:pt x="57" y="30"/>
                  <a:pt x="65" y="25"/>
                </a:cubicBezTo>
                <a:cubicBezTo>
                  <a:pt x="73" y="20"/>
                  <a:pt x="81" y="15"/>
                  <a:pt x="90" y="11"/>
                </a:cubicBezTo>
                <a:cubicBezTo>
                  <a:pt x="99" y="8"/>
                  <a:pt x="108" y="5"/>
                  <a:pt x="118" y="3"/>
                </a:cubicBezTo>
                <a:cubicBezTo>
                  <a:pt x="127" y="1"/>
                  <a:pt x="136" y="0"/>
                  <a:pt x="146" y="0"/>
                </a:cubicBezTo>
                <a:cubicBezTo>
                  <a:pt x="156" y="0"/>
                  <a:pt x="165" y="1"/>
                  <a:pt x="174" y="3"/>
                </a:cubicBezTo>
                <a:cubicBezTo>
                  <a:pt x="184" y="5"/>
                  <a:pt x="193" y="8"/>
                  <a:pt x="202" y="11"/>
                </a:cubicBezTo>
                <a:cubicBezTo>
                  <a:pt x="210" y="15"/>
                  <a:pt x="219" y="20"/>
                  <a:pt x="228" y="25"/>
                </a:cubicBezTo>
                <a:cubicBezTo>
                  <a:pt x="236" y="30"/>
                  <a:pt x="243" y="36"/>
                  <a:pt x="250" y="43"/>
                </a:cubicBezTo>
                <a:cubicBezTo>
                  <a:pt x="257" y="50"/>
                  <a:pt x="263" y="57"/>
                  <a:pt x="268" y="65"/>
                </a:cubicBezTo>
                <a:cubicBezTo>
                  <a:pt x="273" y="73"/>
                  <a:pt x="278" y="81"/>
                  <a:pt x="281" y="90"/>
                </a:cubicBezTo>
                <a:cubicBezTo>
                  <a:pt x="285" y="99"/>
                  <a:pt x="288" y="108"/>
                  <a:pt x="290" y="118"/>
                </a:cubicBezTo>
                <a:cubicBezTo>
                  <a:pt x="292" y="127"/>
                  <a:pt x="292" y="136"/>
                  <a:pt x="292" y="146"/>
                </a:cubicBezTo>
                <a:close/>
              </a:path>
            </a:pathLst>
          </a:custGeom>
          <a:solidFill>
            <a:srgbClr val="11111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2" name=""/>
          <p:cNvSpPr txBox="1"/>
          <p:nvPr/>
        </p:nvSpPr>
        <p:spPr>
          <a:xfrm>
            <a:off x="1085760" y="2362320"/>
            <a:ext cx="3035160" cy="399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映像は重要な役割を担う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" name=""/>
          <p:cNvSpPr txBox="1"/>
          <p:nvPr/>
        </p:nvSpPr>
        <p:spPr>
          <a:xfrm>
            <a:off x="1085760" y="2847960"/>
            <a:ext cx="4690080" cy="399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特に車両が関わる事件では、ナンバー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" name=""/>
          <p:cNvSpPr txBox="1"/>
          <p:nvPr/>
        </p:nvSpPr>
        <p:spPr>
          <a:xfrm>
            <a:off x="1085760" y="3257640"/>
            <a:ext cx="4690080" cy="399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プレートの自動認識が捜査の鍵となる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" name=""/>
          <p:cNvSpPr/>
          <p:nvPr/>
        </p:nvSpPr>
        <p:spPr>
          <a:xfrm>
            <a:off x="809280" y="4895640"/>
            <a:ext cx="105120" cy="105120"/>
          </a:xfrm>
          <a:custGeom>
            <a:avLst/>
            <a:gdLst/>
            <a:ahLst/>
            <a:rect l="0" t="0" r="r" b="b"/>
            <a:pathLst>
              <a:path w="292" h="292">
                <a:moveTo>
                  <a:pt x="292" y="146"/>
                </a:moveTo>
                <a:cubicBezTo>
                  <a:pt x="292" y="155"/>
                  <a:pt x="292" y="165"/>
                  <a:pt x="290" y="174"/>
                </a:cubicBezTo>
                <a:cubicBezTo>
                  <a:pt x="288" y="183"/>
                  <a:pt x="285" y="192"/>
                  <a:pt x="281" y="201"/>
                </a:cubicBezTo>
                <a:cubicBezTo>
                  <a:pt x="278" y="210"/>
                  <a:pt x="273" y="219"/>
                  <a:pt x="268" y="227"/>
                </a:cubicBezTo>
                <a:cubicBezTo>
                  <a:pt x="263" y="235"/>
                  <a:pt x="257" y="243"/>
                  <a:pt x="250" y="250"/>
                </a:cubicBezTo>
                <a:cubicBezTo>
                  <a:pt x="243" y="256"/>
                  <a:pt x="236" y="262"/>
                  <a:pt x="228" y="268"/>
                </a:cubicBezTo>
                <a:cubicBezTo>
                  <a:pt x="219" y="273"/>
                  <a:pt x="210" y="277"/>
                  <a:pt x="202" y="281"/>
                </a:cubicBezTo>
                <a:cubicBezTo>
                  <a:pt x="193" y="285"/>
                  <a:pt x="184" y="287"/>
                  <a:pt x="174" y="289"/>
                </a:cubicBezTo>
                <a:cubicBezTo>
                  <a:pt x="165" y="291"/>
                  <a:pt x="156" y="292"/>
                  <a:pt x="146" y="292"/>
                </a:cubicBezTo>
                <a:cubicBezTo>
                  <a:pt x="136" y="292"/>
                  <a:pt x="127" y="291"/>
                  <a:pt x="118" y="289"/>
                </a:cubicBezTo>
                <a:cubicBezTo>
                  <a:pt x="108" y="287"/>
                  <a:pt x="99" y="285"/>
                  <a:pt x="90" y="281"/>
                </a:cubicBezTo>
                <a:cubicBezTo>
                  <a:pt x="81" y="277"/>
                  <a:pt x="73" y="273"/>
                  <a:pt x="65" y="268"/>
                </a:cubicBezTo>
                <a:cubicBezTo>
                  <a:pt x="57" y="262"/>
                  <a:pt x="50" y="256"/>
                  <a:pt x="43" y="250"/>
                </a:cubicBezTo>
                <a:cubicBezTo>
                  <a:pt x="36" y="243"/>
                  <a:pt x="30" y="235"/>
                  <a:pt x="25" y="227"/>
                </a:cubicBezTo>
                <a:cubicBezTo>
                  <a:pt x="20" y="219"/>
                  <a:pt x="15" y="210"/>
                  <a:pt x="12" y="201"/>
                </a:cubicBezTo>
                <a:cubicBezTo>
                  <a:pt x="8" y="192"/>
                  <a:pt x="5" y="183"/>
                  <a:pt x="3" y="174"/>
                </a:cubicBezTo>
                <a:cubicBezTo>
                  <a:pt x="1" y="165"/>
                  <a:pt x="0" y="155"/>
                  <a:pt x="0" y="146"/>
                </a:cubicBezTo>
                <a:cubicBezTo>
                  <a:pt x="0" y="136"/>
                  <a:pt x="1" y="127"/>
                  <a:pt x="3" y="117"/>
                </a:cubicBezTo>
                <a:cubicBezTo>
                  <a:pt x="5" y="108"/>
                  <a:pt x="8" y="99"/>
                  <a:pt x="12" y="90"/>
                </a:cubicBezTo>
                <a:cubicBezTo>
                  <a:pt x="15" y="81"/>
                  <a:pt x="20" y="73"/>
                  <a:pt x="25" y="65"/>
                </a:cubicBezTo>
                <a:cubicBezTo>
                  <a:pt x="30" y="57"/>
                  <a:pt x="36" y="49"/>
                  <a:pt x="43" y="43"/>
                </a:cubicBezTo>
                <a:cubicBezTo>
                  <a:pt x="50" y="36"/>
                  <a:pt x="57" y="30"/>
                  <a:pt x="65" y="25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8"/>
                  <a:pt x="108" y="5"/>
                  <a:pt x="118" y="3"/>
                </a:cubicBezTo>
                <a:cubicBezTo>
                  <a:pt x="127" y="1"/>
                  <a:pt x="136" y="0"/>
                  <a:pt x="146" y="0"/>
                </a:cubicBezTo>
                <a:cubicBezTo>
                  <a:pt x="156" y="0"/>
                  <a:pt x="165" y="1"/>
                  <a:pt x="174" y="3"/>
                </a:cubicBezTo>
                <a:cubicBezTo>
                  <a:pt x="184" y="5"/>
                  <a:pt x="193" y="8"/>
                  <a:pt x="202" y="11"/>
                </a:cubicBezTo>
                <a:cubicBezTo>
                  <a:pt x="210" y="15"/>
                  <a:pt x="219" y="19"/>
                  <a:pt x="228" y="25"/>
                </a:cubicBezTo>
                <a:cubicBezTo>
                  <a:pt x="236" y="30"/>
                  <a:pt x="243" y="36"/>
                  <a:pt x="250" y="43"/>
                </a:cubicBezTo>
                <a:cubicBezTo>
                  <a:pt x="257" y="49"/>
                  <a:pt x="263" y="57"/>
                  <a:pt x="268" y="65"/>
                </a:cubicBezTo>
                <a:cubicBezTo>
                  <a:pt x="273" y="73"/>
                  <a:pt x="278" y="81"/>
                  <a:pt x="281" y="90"/>
                </a:cubicBezTo>
                <a:cubicBezTo>
                  <a:pt x="285" y="99"/>
                  <a:pt x="288" y="108"/>
                  <a:pt x="290" y="117"/>
                </a:cubicBezTo>
                <a:cubicBezTo>
                  <a:pt x="292" y="127"/>
                  <a:pt x="292" y="136"/>
                  <a:pt x="292" y="146"/>
                </a:cubicBezTo>
                <a:close/>
              </a:path>
            </a:pathLst>
          </a:custGeom>
          <a:solidFill>
            <a:srgbClr val="11111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6" name=""/>
          <p:cNvSpPr txBox="1"/>
          <p:nvPr/>
        </p:nvSpPr>
        <p:spPr>
          <a:xfrm>
            <a:off x="533520" y="4238640"/>
            <a:ext cx="3310920" cy="399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実環境における画質の課題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" name=""/>
          <p:cNvSpPr txBox="1"/>
          <p:nvPr/>
        </p:nvSpPr>
        <p:spPr>
          <a:xfrm>
            <a:off x="1085760" y="4753080"/>
            <a:ext cx="4690080" cy="399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実際の映像は、様々な要因が組み合わ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" name=""/>
          <p:cNvSpPr/>
          <p:nvPr/>
        </p:nvSpPr>
        <p:spPr>
          <a:xfrm>
            <a:off x="809280" y="5790960"/>
            <a:ext cx="105120" cy="105120"/>
          </a:xfrm>
          <a:custGeom>
            <a:avLst/>
            <a:gdLst/>
            <a:ahLst/>
            <a:rect l="0" t="0" r="r" b="b"/>
            <a:pathLst>
              <a:path w="292" h="292">
                <a:moveTo>
                  <a:pt x="292" y="147"/>
                </a:moveTo>
                <a:cubicBezTo>
                  <a:pt x="292" y="156"/>
                  <a:pt x="292" y="166"/>
                  <a:pt x="290" y="175"/>
                </a:cubicBezTo>
                <a:cubicBezTo>
                  <a:pt x="288" y="184"/>
                  <a:pt x="285" y="194"/>
                  <a:pt x="281" y="202"/>
                </a:cubicBezTo>
                <a:cubicBezTo>
                  <a:pt x="278" y="211"/>
                  <a:pt x="273" y="220"/>
                  <a:pt x="268" y="228"/>
                </a:cubicBezTo>
                <a:cubicBezTo>
                  <a:pt x="263" y="235"/>
                  <a:pt x="257" y="243"/>
                  <a:pt x="250" y="250"/>
                </a:cubicBezTo>
                <a:cubicBezTo>
                  <a:pt x="243" y="256"/>
                  <a:pt x="236" y="262"/>
                  <a:pt x="228" y="268"/>
                </a:cubicBezTo>
                <a:cubicBezTo>
                  <a:pt x="219" y="273"/>
                  <a:pt x="210" y="277"/>
                  <a:pt x="202" y="281"/>
                </a:cubicBezTo>
                <a:cubicBezTo>
                  <a:pt x="193" y="285"/>
                  <a:pt x="184" y="288"/>
                  <a:pt x="174" y="289"/>
                </a:cubicBezTo>
                <a:cubicBezTo>
                  <a:pt x="165" y="291"/>
                  <a:pt x="156" y="292"/>
                  <a:pt x="146" y="292"/>
                </a:cubicBezTo>
                <a:cubicBezTo>
                  <a:pt x="136" y="292"/>
                  <a:pt x="127" y="291"/>
                  <a:pt x="118" y="289"/>
                </a:cubicBezTo>
                <a:cubicBezTo>
                  <a:pt x="108" y="288"/>
                  <a:pt x="99" y="285"/>
                  <a:pt x="90" y="281"/>
                </a:cubicBezTo>
                <a:cubicBezTo>
                  <a:pt x="81" y="277"/>
                  <a:pt x="73" y="273"/>
                  <a:pt x="65" y="268"/>
                </a:cubicBezTo>
                <a:cubicBezTo>
                  <a:pt x="57" y="262"/>
                  <a:pt x="50" y="256"/>
                  <a:pt x="43" y="250"/>
                </a:cubicBezTo>
                <a:cubicBezTo>
                  <a:pt x="36" y="243"/>
                  <a:pt x="30" y="235"/>
                  <a:pt x="25" y="228"/>
                </a:cubicBezTo>
                <a:cubicBezTo>
                  <a:pt x="20" y="220"/>
                  <a:pt x="15" y="211"/>
                  <a:pt x="12" y="202"/>
                </a:cubicBezTo>
                <a:cubicBezTo>
                  <a:pt x="8" y="194"/>
                  <a:pt x="5" y="184"/>
                  <a:pt x="3" y="175"/>
                </a:cubicBezTo>
                <a:cubicBezTo>
                  <a:pt x="1" y="166"/>
                  <a:pt x="0" y="156"/>
                  <a:pt x="0" y="147"/>
                </a:cubicBezTo>
                <a:cubicBezTo>
                  <a:pt x="0" y="137"/>
                  <a:pt x="1" y="128"/>
                  <a:pt x="3" y="118"/>
                </a:cubicBezTo>
                <a:cubicBezTo>
                  <a:pt x="5" y="109"/>
                  <a:pt x="8" y="100"/>
                  <a:pt x="12" y="91"/>
                </a:cubicBezTo>
                <a:cubicBezTo>
                  <a:pt x="15" y="82"/>
                  <a:pt x="20" y="74"/>
                  <a:pt x="25" y="66"/>
                </a:cubicBezTo>
                <a:cubicBezTo>
                  <a:pt x="30" y="57"/>
                  <a:pt x="36" y="50"/>
                  <a:pt x="43" y="43"/>
                </a:cubicBezTo>
                <a:cubicBezTo>
                  <a:pt x="50" y="36"/>
                  <a:pt x="57" y="30"/>
                  <a:pt x="65" y="25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8"/>
                  <a:pt x="108" y="5"/>
                  <a:pt x="118" y="3"/>
                </a:cubicBezTo>
                <a:cubicBezTo>
                  <a:pt x="127" y="1"/>
                  <a:pt x="136" y="0"/>
                  <a:pt x="146" y="0"/>
                </a:cubicBezTo>
                <a:cubicBezTo>
                  <a:pt x="156" y="0"/>
                  <a:pt x="165" y="1"/>
                  <a:pt x="174" y="3"/>
                </a:cubicBezTo>
                <a:cubicBezTo>
                  <a:pt x="184" y="5"/>
                  <a:pt x="193" y="8"/>
                  <a:pt x="202" y="11"/>
                </a:cubicBezTo>
                <a:cubicBezTo>
                  <a:pt x="210" y="15"/>
                  <a:pt x="219" y="19"/>
                  <a:pt x="228" y="25"/>
                </a:cubicBezTo>
                <a:cubicBezTo>
                  <a:pt x="236" y="30"/>
                  <a:pt x="243" y="36"/>
                  <a:pt x="250" y="43"/>
                </a:cubicBezTo>
                <a:cubicBezTo>
                  <a:pt x="257" y="50"/>
                  <a:pt x="263" y="57"/>
                  <a:pt x="268" y="66"/>
                </a:cubicBezTo>
                <a:cubicBezTo>
                  <a:pt x="273" y="74"/>
                  <a:pt x="278" y="82"/>
                  <a:pt x="281" y="91"/>
                </a:cubicBezTo>
                <a:cubicBezTo>
                  <a:pt x="285" y="100"/>
                  <a:pt x="288" y="109"/>
                  <a:pt x="290" y="118"/>
                </a:cubicBezTo>
                <a:cubicBezTo>
                  <a:pt x="292" y="128"/>
                  <a:pt x="292" y="137"/>
                  <a:pt x="292" y="147"/>
                </a:cubicBezTo>
                <a:close/>
              </a:path>
            </a:pathLst>
          </a:custGeom>
          <a:solidFill>
            <a:srgbClr val="11111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9" name=""/>
          <p:cNvSpPr txBox="1"/>
          <p:nvPr/>
        </p:nvSpPr>
        <p:spPr>
          <a:xfrm>
            <a:off x="1085760" y="5162400"/>
            <a:ext cx="4138200" cy="399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さった</a:t>
            </a:r>
            <a:r>
              <a:rPr b="0" lang="zh-CN" sz="2170" spc="-1" strike="noStrike">
                <a:solidFill>
                  <a:srgbClr val="c9342f"/>
                </a:solidFill>
                <a:latin typeface="NotoSansJP"/>
                <a:ea typeface="NotoSansJP"/>
              </a:rPr>
              <a:t>「複合劣化」</a:t>
            </a:r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を被っている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0" name=""/>
          <p:cNvSpPr txBox="1"/>
          <p:nvPr/>
        </p:nvSpPr>
        <p:spPr>
          <a:xfrm>
            <a:off x="1085760" y="5648400"/>
            <a:ext cx="4690080" cy="399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低解像度、照明変動、ノイズ、撮影ブ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" name=""/>
          <p:cNvSpPr/>
          <p:nvPr/>
        </p:nvSpPr>
        <p:spPr>
          <a:xfrm>
            <a:off x="809280" y="6686280"/>
            <a:ext cx="105120" cy="105120"/>
          </a:xfrm>
          <a:custGeom>
            <a:avLst/>
            <a:gdLst/>
            <a:ahLst/>
            <a:rect l="0" t="0" r="r" b="b"/>
            <a:pathLst>
              <a:path w="292" h="292">
                <a:moveTo>
                  <a:pt x="292" y="146"/>
                </a:moveTo>
                <a:cubicBezTo>
                  <a:pt x="292" y="155"/>
                  <a:pt x="292" y="165"/>
                  <a:pt x="290" y="174"/>
                </a:cubicBezTo>
                <a:cubicBezTo>
                  <a:pt x="288" y="184"/>
                  <a:pt x="285" y="193"/>
                  <a:pt x="281" y="202"/>
                </a:cubicBezTo>
                <a:cubicBezTo>
                  <a:pt x="278" y="211"/>
                  <a:pt x="273" y="220"/>
                  <a:pt x="268" y="228"/>
                </a:cubicBezTo>
                <a:cubicBezTo>
                  <a:pt x="263" y="236"/>
                  <a:pt x="257" y="243"/>
                  <a:pt x="250" y="250"/>
                </a:cubicBezTo>
                <a:cubicBezTo>
                  <a:pt x="243" y="256"/>
                  <a:pt x="236" y="262"/>
                  <a:pt x="228" y="268"/>
                </a:cubicBezTo>
                <a:cubicBezTo>
                  <a:pt x="219" y="273"/>
                  <a:pt x="210" y="278"/>
                  <a:pt x="202" y="281"/>
                </a:cubicBezTo>
                <a:cubicBezTo>
                  <a:pt x="193" y="285"/>
                  <a:pt x="184" y="288"/>
                  <a:pt x="174" y="289"/>
                </a:cubicBezTo>
                <a:cubicBezTo>
                  <a:pt x="165" y="291"/>
                  <a:pt x="156" y="292"/>
                  <a:pt x="146" y="292"/>
                </a:cubicBezTo>
                <a:cubicBezTo>
                  <a:pt x="136" y="292"/>
                  <a:pt x="127" y="291"/>
                  <a:pt x="118" y="289"/>
                </a:cubicBezTo>
                <a:cubicBezTo>
                  <a:pt x="108" y="288"/>
                  <a:pt x="99" y="285"/>
                  <a:pt x="90" y="281"/>
                </a:cubicBezTo>
                <a:cubicBezTo>
                  <a:pt x="81" y="278"/>
                  <a:pt x="73" y="273"/>
                  <a:pt x="65" y="268"/>
                </a:cubicBezTo>
                <a:cubicBezTo>
                  <a:pt x="57" y="262"/>
                  <a:pt x="50" y="256"/>
                  <a:pt x="43" y="250"/>
                </a:cubicBezTo>
                <a:cubicBezTo>
                  <a:pt x="36" y="243"/>
                  <a:pt x="30" y="236"/>
                  <a:pt x="25" y="228"/>
                </a:cubicBezTo>
                <a:cubicBezTo>
                  <a:pt x="20" y="220"/>
                  <a:pt x="15" y="211"/>
                  <a:pt x="12" y="202"/>
                </a:cubicBezTo>
                <a:cubicBezTo>
                  <a:pt x="8" y="193"/>
                  <a:pt x="5" y="184"/>
                  <a:pt x="3" y="174"/>
                </a:cubicBezTo>
                <a:cubicBezTo>
                  <a:pt x="1" y="165"/>
                  <a:pt x="0" y="155"/>
                  <a:pt x="0" y="146"/>
                </a:cubicBezTo>
                <a:cubicBezTo>
                  <a:pt x="0" y="136"/>
                  <a:pt x="1" y="127"/>
                  <a:pt x="3" y="117"/>
                </a:cubicBezTo>
                <a:cubicBezTo>
                  <a:pt x="5" y="108"/>
                  <a:pt x="8" y="99"/>
                  <a:pt x="12" y="90"/>
                </a:cubicBezTo>
                <a:cubicBezTo>
                  <a:pt x="15" y="81"/>
                  <a:pt x="20" y="73"/>
                  <a:pt x="25" y="65"/>
                </a:cubicBezTo>
                <a:cubicBezTo>
                  <a:pt x="30" y="57"/>
                  <a:pt x="36" y="50"/>
                  <a:pt x="43" y="43"/>
                </a:cubicBezTo>
                <a:cubicBezTo>
                  <a:pt x="50" y="36"/>
                  <a:pt x="57" y="30"/>
                  <a:pt x="65" y="25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8"/>
                  <a:pt x="108" y="5"/>
                  <a:pt x="118" y="3"/>
                </a:cubicBezTo>
                <a:cubicBezTo>
                  <a:pt x="127" y="1"/>
                  <a:pt x="136" y="0"/>
                  <a:pt x="146" y="0"/>
                </a:cubicBezTo>
                <a:cubicBezTo>
                  <a:pt x="156" y="0"/>
                  <a:pt x="165" y="1"/>
                  <a:pt x="174" y="3"/>
                </a:cubicBezTo>
                <a:cubicBezTo>
                  <a:pt x="184" y="5"/>
                  <a:pt x="193" y="8"/>
                  <a:pt x="202" y="11"/>
                </a:cubicBezTo>
                <a:cubicBezTo>
                  <a:pt x="210" y="15"/>
                  <a:pt x="219" y="19"/>
                  <a:pt x="228" y="25"/>
                </a:cubicBezTo>
                <a:cubicBezTo>
                  <a:pt x="236" y="30"/>
                  <a:pt x="243" y="36"/>
                  <a:pt x="250" y="43"/>
                </a:cubicBezTo>
                <a:cubicBezTo>
                  <a:pt x="257" y="50"/>
                  <a:pt x="263" y="57"/>
                  <a:pt x="268" y="65"/>
                </a:cubicBezTo>
                <a:cubicBezTo>
                  <a:pt x="273" y="73"/>
                  <a:pt x="278" y="81"/>
                  <a:pt x="281" y="90"/>
                </a:cubicBezTo>
                <a:cubicBezTo>
                  <a:pt x="285" y="99"/>
                  <a:pt x="288" y="108"/>
                  <a:pt x="290" y="117"/>
                </a:cubicBezTo>
                <a:cubicBezTo>
                  <a:pt x="292" y="127"/>
                  <a:pt x="292" y="136"/>
                  <a:pt x="292" y="146"/>
                </a:cubicBezTo>
                <a:close/>
              </a:path>
            </a:pathLst>
          </a:custGeom>
          <a:solidFill>
            <a:srgbClr val="11111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2" name=""/>
          <p:cNvSpPr txBox="1"/>
          <p:nvPr/>
        </p:nvSpPr>
        <p:spPr>
          <a:xfrm>
            <a:off x="1085760" y="6057720"/>
            <a:ext cx="828360" cy="399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レなど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" name=""/>
          <p:cNvSpPr txBox="1"/>
          <p:nvPr/>
        </p:nvSpPr>
        <p:spPr>
          <a:xfrm>
            <a:off x="1085760" y="6543720"/>
            <a:ext cx="4690080" cy="399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従来技術では、複合劣化した画像の高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4" name=""/>
          <p:cNvSpPr txBox="1"/>
          <p:nvPr/>
        </p:nvSpPr>
        <p:spPr>
          <a:xfrm>
            <a:off x="6229440" y="1438200"/>
            <a:ext cx="4706640" cy="401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複合劣化画像の例 </a:t>
            </a:r>
            <a:r>
              <a:rPr b="0" lang="en-US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(</a:t>
            </a:r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論文図</a:t>
            </a:r>
            <a:r>
              <a:rPr b="0" lang="en-US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5.15</a:t>
            </a:r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より</a:t>
            </a:r>
            <a:r>
              <a:rPr b="0" lang="en-US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)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 txBox="1"/>
          <p:nvPr/>
        </p:nvSpPr>
        <p:spPr>
          <a:xfrm>
            <a:off x="6341760" y="1942920"/>
            <a:ext cx="5411520" cy="401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[</a:t>
            </a:r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図</a:t>
            </a:r>
            <a:r>
              <a:rPr b="0" lang="en-US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: </a:t>
            </a:r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様々な照明や角度で撮影された、不鮮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 txBox="1"/>
          <p:nvPr/>
        </p:nvSpPr>
        <p:spPr>
          <a:xfrm>
            <a:off x="7248240" y="2362320"/>
            <a:ext cx="3475800" cy="401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明なナンバープレート画像</a:t>
            </a:r>
            <a:r>
              <a:rPr b="0" lang="en-US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]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7" name=""/>
          <p:cNvSpPr txBox="1"/>
          <p:nvPr/>
        </p:nvSpPr>
        <p:spPr>
          <a:xfrm>
            <a:off x="6229440" y="2867040"/>
            <a:ext cx="5241600" cy="399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本研究では、機械学習を用いてこの複合劣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8" name=""/>
          <p:cNvSpPr txBox="1"/>
          <p:nvPr/>
        </p:nvSpPr>
        <p:spPr>
          <a:xfrm>
            <a:off x="6229440" y="3286080"/>
            <a:ext cx="3862440" cy="399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化の問題にアプローチします。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" name=""/>
          <p:cNvSpPr/>
          <p:nvPr/>
        </p:nvSpPr>
        <p:spPr>
          <a:xfrm>
            <a:off x="533160" y="561960"/>
            <a:ext cx="267120" cy="57240"/>
          </a:xfrm>
          <a:custGeom>
            <a:avLst/>
            <a:gdLst/>
            <a:ahLst/>
            <a:rect l="0" t="0" r="r" b="b"/>
            <a:pathLst>
              <a:path w="742" h="159">
                <a:moveTo>
                  <a:pt x="0" y="106"/>
                </a:moveTo>
                <a:lnTo>
                  <a:pt x="0" y="52"/>
                </a:lnTo>
                <a:cubicBezTo>
                  <a:pt x="0" y="45"/>
                  <a:pt x="2" y="39"/>
                  <a:pt x="4" y="32"/>
                </a:cubicBezTo>
                <a:cubicBezTo>
                  <a:pt x="7" y="26"/>
                  <a:pt x="11" y="20"/>
                  <a:pt x="16" y="15"/>
                </a:cubicBezTo>
                <a:cubicBezTo>
                  <a:pt x="21" y="10"/>
                  <a:pt x="26" y="6"/>
                  <a:pt x="33" y="4"/>
                </a:cubicBezTo>
                <a:cubicBezTo>
                  <a:pt x="39" y="1"/>
                  <a:pt x="46" y="0"/>
                  <a:pt x="53" y="0"/>
                </a:cubicBezTo>
                <a:lnTo>
                  <a:pt x="689" y="0"/>
                </a:lnTo>
                <a:cubicBezTo>
                  <a:pt x="696" y="0"/>
                  <a:pt x="703" y="1"/>
                  <a:pt x="709" y="4"/>
                </a:cubicBezTo>
                <a:cubicBezTo>
                  <a:pt x="716" y="6"/>
                  <a:pt x="722" y="10"/>
                  <a:pt x="727" y="15"/>
                </a:cubicBezTo>
                <a:cubicBezTo>
                  <a:pt x="731" y="20"/>
                  <a:pt x="735" y="26"/>
                  <a:pt x="738" y="32"/>
                </a:cubicBezTo>
                <a:cubicBezTo>
                  <a:pt x="741" y="39"/>
                  <a:pt x="742" y="45"/>
                  <a:pt x="742" y="52"/>
                </a:cubicBezTo>
                <a:lnTo>
                  <a:pt x="742" y="106"/>
                </a:lnTo>
                <a:cubicBezTo>
                  <a:pt x="742" y="113"/>
                  <a:pt x="741" y="120"/>
                  <a:pt x="738" y="127"/>
                </a:cubicBezTo>
                <a:cubicBezTo>
                  <a:pt x="735" y="133"/>
                  <a:pt x="731" y="139"/>
                  <a:pt x="727" y="144"/>
                </a:cubicBezTo>
                <a:cubicBezTo>
                  <a:pt x="722" y="149"/>
                  <a:pt x="716" y="153"/>
                  <a:pt x="709" y="155"/>
                </a:cubicBezTo>
                <a:cubicBezTo>
                  <a:pt x="703" y="158"/>
                  <a:pt x="696" y="159"/>
                  <a:pt x="689" y="159"/>
                </a:cubicBezTo>
                <a:lnTo>
                  <a:pt x="53" y="159"/>
                </a:lnTo>
                <a:cubicBezTo>
                  <a:pt x="46" y="159"/>
                  <a:pt x="39" y="158"/>
                  <a:pt x="33" y="155"/>
                </a:cubicBezTo>
                <a:cubicBezTo>
                  <a:pt x="26" y="153"/>
                  <a:pt x="21" y="149"/>
                  <a:pt x="16" y="144"/>
                </a:cubicBezTo>
                <a:cubicBezTo>
                  <a:pt x="11" y="139"/>
                  <a:pt x="7" y="133"/>
                  <a:pt x="4" y="127"/>
                </a:cubicBezTo>
                <a:cubicBezTo>
                  <a:pt x="2" y="120"/>
                  <a:pt x="0" y="113"/>
                  <a:pt x="0" y="106"/>
                </a:cubicBezTo>
                <a:close/>
              </a:path>
            </a:pathLst>
          </a:custGeom>
          <a:solidFill>
            <a:srgbClr val="0b4b7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0" name=""/>
          <p:cNvSpPr txBox="1"/>
          <p:nvPr/>
        </p:nvSpPr>
        <p:spPr>
          <a:xfrm>
            <a:off x="914400" y="392400"/>
            <a:ext cx="994320" cy="360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1950" spc="-1" strike="noStrike">
                <a:solidFill>
                  <a:srgbClr val="111111"/>
                </a:solidFill>
                <a:latin typeface="NotoSansJP"/>
                <a:ea typeface="NotoSansJP"/>
              </a:rPr>
              <a:t>研究背景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1" name=""/>
          <p:cNvSpPr txBox="1"/>
          <p:nvPr/>
        </p:nvSpPr>
        <p:spPr>
          <a:xfrm>
            <a:off x="11946600" y="6436800"/>
            <a:ext cx="304560" cy="416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400" spc="-1" strike="noStrike">
                <a:solidFill>
                  <a:srgbClr val="111111"/>
                </a:solidFill>
                <a:latin typeface="NotoSansJP"/>
                <a:ea typeface="NotoSansJP"/>
              </a:rPr>
              <a:t>3</a:t>
            </a:r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c9c9c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" name=""/>
          <p:cNvSpPr/>
          <p:nvPr/>
        </p:nvSpPr>
        <p:spPr>
          <a:xfrm>
            <a:off x="228240" y="228240"/>
            <a:ext cx="11735280" cy="6401160"/>
          </a:xfrm>
          <a:custGeom>
            <a:avLst/>
            <a:gdLst/>
            <a:ahLst/>
            <a:rect l="0" t="0" r="r" b="b"/>
            <a:pathLst>
              <a:path w="32598" h="17781">
                <a:moveTo>
                  <a:pt x="530" y="0"/>
                </a:moveTo>
                <a:lnTo>
                  <a:pt x="32069" y="0"/>
                </a:lnTo>
                <a:cubicBezTo>
                  <a:pt x="32104" y="0"/>
                  <a:pt x="32138" y="4"/>
                  <a:pt x="32172" y="11"/>
                </a:cubicBezTo>
                <a:cubicBezTo>
                  <a:pt x="32206" y="17"/>
                  <a:pt x="32239" y="27"/>
                  <a:pt x="32271" y="41"/>
                </a:cubicBezTo>
                <a:cubicBezTo>
                  <a:pt x="32304" y="54"/>
                  <a:pt x="32334" y="70"/>
                  <a:pt x="32363" y="90"/>
                </a:cubicBezTo>
                <a:cubicBezTo>
                  <a:pt x="32392" y="109"/>
                  <a:pt x="32419" y="131"/>
                  <a:pt x="32443" y="155"/>
                </a:cubicBezTo>
                <a:cubicBezTo>
                  <a:pt x="32468" y="180"/>
                  <a:pt x="32490" y="207"/>
                  <a:pt x="32509" y="236"/>
                </a:cubicBezTo>
                <a:cubicBezTo>
                  <a:pt x="32528" y="265"/>
                  <a:pt x="32545" y="295"/>
                  <a:pt x="32558" y="327"/>
                </a:cubicBezTo>
                <a:cubicBezTo>
                  <a:pt x="32571" y="359"/>
                  <a:pt x="32581" y="392"/>
                  <a:pt x="32588" y="426"/>
                </a:cubicBezTo>
                <a:cubicBezTo>
                  <a:pt x="32595" y="461"/>
                  <a:pt x="32598" y="495"/>
                  <a:pt x="32598" y="530"/>
                </a:cubicBezTo>
                <a:lnTo>
                  <a:pt x="32598" y="17252"/>
                </a:lnTo>
                <a:cubicBezTo>
                  <a:pt x="32598" y="17287"/>
                  <a:pt x="32595" y="17321"/>
                  <a:pt x="32588" y="17356"/>
                </a:cubicBezTo>
                <a:cubicBezTo>
                  <a:pt x="32581" y="17390"/>
                  <a:pt x="32571" y="17423"/>
                  <a:pt x="32558" y="17455"/>
                </a:cubicBezTo>
                <a:cubicBezTo>
                  <a:pt x="32545" y="17487"/>
                  <a:pt x="32528" y="17517"/>
                  <a:pt x="32509" y="17546"/>
                </a:cubicBezTo>
                <a:cubicBezTo>
                  <a:pt x="32490" y="17575"/>
                  <a:pt x="32468" y="17602"/>
                  <a:pt x="32443" y="17627"/>
                </a:cubicBezTo>
                <a:cubicBezTo>
                  <a:pt x="32419" y="17651"/>
                  <a:pt x="32392" y="17673"/>
                  <a:pt x="32363" y="17692"/>
                </a:cubicBezTo>
                <a:cubicBezTo>
                  <a:pt x="32334" y="17712"/>
                  <a:pt x="32304" y="17728"/>
                  <a:pt x="32271" y="17741"/>
                </a:cubicBezTo>
                <a:cubicBezTo>
                  <a:pt x="32239" y="17755"/>
                  <a:pt x="32206" y="17765"/>
                  <a:pt x="32172" y="17771"/>
                </a:cubicBezTo>
                <a:cubicBezTo>
                  <a:pt x="32138" y="17778"/>
                  <a:pt x="32104" y="17781"/>
                  <a:pt x="32069" y="17781"/>
                </a:cubicBezTo>
                <a:lnTo>
                  <a:pt x="530" y="17781"/>
                </a:lnTo>
                <a:cubicBezTo>
                  <a:pt x="495" y="17781"/>
                  <a:pt x="461" y="17778"/>
                  <a:pt x="426" y="17771"/>
                </a:cubicBezTo>
                <a:cubicBezTo>
                  <a:pt x="392" y="17765"/>
                  <a:pt x="359" y="17755"/>
                  <a:pt x="327" y="17741"/>
                </a:cubicBezTo>
                <a:cubicBezTo>
                  <a:pt x="295" y="17728"/>
                  <a:pt x="265" y="17712"/>
                  <a:pt x="236" y="17692"/>
                </a:cubicBezTo>
                <a:cubicBezTo>
                  <a:pt x="207" y="17673"/>
                  <a:pt x="180" y="17651"/>
                  <a:pt x="155" y="17627"/>
                </a:cubicBezTo>
                <a:cubicBezTo>
                  <a:pt x="131" y="17602"/>
                  <a:pt x="109" y="17575"/>
                  <a:pt x="90" y="17546"/>
                </a:cubicBezTo>
                <a:cubicBezTo>
                  <a:pt x="70" y="17517"/>
                  <a:pt x="54" y="17487"/>
                  <a:pt x="41" y="17455"/>
                </a:cubicBezTo>
                <a:cubicBezTo>
                  <a:pt x="27" y="17423"/>
                  <a:pt x="17" y="17390"/>
                  <a:pt x="11" y="17356"/>
                </a:cubicBezTo>
                <a:cubicBezTo>
                  <a:pt x="4" y="17321"/>
                  <a:pt x="0" y="17287"/>
                  <a:pt x="0" y="17252"/>
                </a:cubicBezTo>
                <a:lnTo>
                  <a:pt x="0" y="530"/>
                </a:lnTo>
                <a:cubicBezTo>
                  <a:pt x="0" y="495"/>
                  <a:pt x="4" y="461"/>
                  <a:pt x="11" y="426"/>
                </a:cubicBezTo>
                <a:cubicBezTo>
                  <a:pt x="17" y="392"/>
                  <a:pt x="27" y="359"/>
                  <a:pt x="41" y="327"/>
                </a:cubicBezTo>
                <a:cubicBezTo>
                  <a:pt x="54" y="295"/>
                  <a:pt x="70" y="265"/>
                  <a:pt x="90" y="236"/>
                </a:cubicBezTo>
                <a:cubicBezTo>
                  <a:pt x="109" y="207"/>
                  <a:pt x="131" y="180"/>
                  <a:pt x="155" y="155"/>
                </a:cubicBezTo>
                <a:cubicBezTo>
                  <a:pt x="180" y="131"/>
                  <a:pt x="207" y="109"/>
                  <a:pt x="236" y="90"/>
                </a:cubicBezTo>
                <a:cubicBezTo>
                  <a:pt x="265" y="70"/>
                  <a:pt x="295" y="54"/>
                  <a:pt x="327" y="41"/>
                </a:cubicBezTo>
                <a:cubicBezTo>
                  <a:pt x="359" y="27"/>
                  <a:pt x="392" y="17"/>
                  <a:pt x="426" y="11"/>
                </a:cubicBezTo>
                <a:cubicBezTo>
                  <a:pt x="461" y="4"/>
                  <a:pt x="495" y="0"/>
                  <a:pt x="530" y="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66" name="" descr=""/>
          <p:cNvPicPr/>
          <p:nvPr/>
        </p:nvPicPr>
        <p:blipFill>
          <a:blip r:embed="rId1"/>
          <a:stretch/>
        </p:blipFill>
        <p:spPr>
          <a:xfrm>
            <a:off x="10515600" y="38160"/>
            <a:ext cx="1142640" cy="1142640"/>
          </a:xfrm>
          <a:prstGeom prst="rect">
            <a:avLst/>
          </a:prstGeom>
          <a:ln w="0">
            <a:noFill/>
          </a:ln>
        </p:spPr>
      </p:pic>
      <p:sp>
        <p:nvSpPr>
          <p:cNvPr id="67" name=""/>
          <p:cNvSpPr txBox="1"/>
          <p:nvPr/>
        </p:nvSpPr>
        <p:spPr>
          <a:xfrm>
            <a:off x="533520" y="923760"/>
            <a:ext cx="6069240" cy="399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複合劣化画像からの高精度な文字認識を実現する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8" name=""/>
          <p:cNvSpPr/>
          <p:nvPr/>
        </p:nvSpPr>
        <p:spPr>
          <a:xfrm>
            <a:off x="1361880" y="2085840"/>
            <a:ext cx="105120" cy="105120"/>
          </a:xfrm>
          <a:custGeom>
            <a:avLst/>
            <a:gdLst/>
            <a:ahLst/>
            <a:rect l="0" t="0" r="r" b="b"/>
            <a:pathLst>
              <a:path w="292" h="292">
                <a:moveTo>
                  <a:pt x="292" y="145"/>
                </a:moveTo>
                <a:cubicBezTo>
                  <a:pt x="292" y="155"/>
                  <a:pt x="291" y="164"/>
                  <a:pt x="289" y="175"/>
                </a:cubicBezTo>
                <a:cubicBezTo>
                  <a:pt x="287" y="184"/>
                  <a:pt x="285" y="193"/>
                  <a:pt x="281" y="202"/>
                </a:cubicBezTo>
                <a:cubicBezTo>
                  <a:pt x="277" y="211"/>
                  <a:pt x="273" y="219"/>
                  <a:pt x="268" y="227"/>
                </a:cubicBezTo>
                <a:cubicBezTo>
                  <a:pt x="262" y="235"/>
                  <a:pt x="256" y="243"/>
                  <a:pt x="249" y="249"/>
                </a:cubicBezTo>
                <a:cubicBezTo>
                  <a:pt x="243" y="256"/>
                  <a:pt x="235" y="262"/>
                  <a:pt x="227" y="267"/>
                </a:cubicBezTo>
                <a:cubicBezTo>
                  <a:pt x="219" y="273"/>
                  <a:pt x="211" y="277"/>
                  <a:pt x="202" y="281"/>
                </a:cubicBezTo>
                <a:cubicBezTo>
                  <a:pt x="193" y="284"/>
                  <a:pt x="184" y="287"/>
                  <a:pt x="175" y="289"/>
                </a:cubicBezTo>
                <a:cubicBezTo>
                  <a:pt x="166" y="291"/>
                  <a:pt x="156" y="292"/>
                  <a:pt x="147" y="292"/>
                </a:cubicBezTo>
                <a:cubicBezTo>
                  <a:pt x="136" y="292"/>
                  <a:pt x="127" y="291"/>
                  <a:pt x="117" y="289"/>
                </a:cubicBezTo>
                <a:cubicBezTo>
                  <a:pt x="108" y="287"/>
                  <a:pt x="99" y="284"/>
                  <a:pt x="90" y="281"/>
                </a:cubicBezTo>
                <a:cubicBezTo>
                  <a:pt x="81" y="277"/>
                  <a:pt x="73" y="273"/>
                  <a:pt x="65" y="267"/>
                </a:cubicBezTo>
                <a:cubicBezTo>
                  <a:pt x="57" y="262"/>
                  <a:pt x="49" y="256"/>
                  <a:pt x="43" y="249"/>
                </a:cubicBezTo>
                <a:cubicBezTo>
                  <a:pt x="36" y="243"/>
                  <a:pt x="30" y="235"/>
                  <a:pt x="25" y="227"/>
                </a:cubicBezTo>
                <a:cubicBezTo>
                  <a:pt x="19" y="219"/>
                  <a:pt x="15" y="211"/>
                  <a:pt x="11" y="202"/>
                </a:cubicBezTo>
                <a:cubicBezTo>
                  <a:pt x="7" y="193"/>
                  <a:pt x="5" y="184"/>
                  <a:pt x="3" y="175"/>
                </a:cubicBezTo>
                <a:cubicBezTo>
                  <a:pt x="1" y="164"/>
                  <a:pt x="0" y="155"/>
                  <a:pt x="0" y="145"/>
                </a:cubicBezTo>
                <a:cubicBezTo>
                  <a:pt x="0" y="136"/>
                  <a:pt x="1" y="126"/>
                  <a:pt x="3" y="117"/>
                </a:cubicBezTo>
                <a:cubicBezTo>
                  <a:pt x="5" y="108"/>
                  <a:pt x="7" y="99"/>
                  <a:pt x="11" y="90"/>
                </a:cubicBezTo>
                <a:cubicBezTo>
                  <a:pt x="15" y="81"/>
                  <a:pt x="19" y="72"/>
                  <a:pt x="25" y="65"/>
                </a:cubicBezTo>
                <a:cubicBezTo>
                  <a:pt x="30" y="57"/>
                  <a:pt x="36" y="49"/>
                  <a:pt x="43" y="42"/>
                </a:cubicBezTo>
                <a:cubicBezTo>
                  <a:pt x="49" y="36"/>
                  <a:pt x="57" y="30"/>
                  <a:pt x="65" y="24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7"/>
                  <a:pt x="108" y="5"/>
                  <a:pt x="117" y="3"/>
                </a:cubicBezTo>
                <a:cubicBezTo>
                  <a:pt x="127" y="1"/>
                  <a:pt x="136" y="0"/>
                  <a:pt x="147" y="0"/>
                </a:cubicBezTo>
                <a:cubicBezTo>
                  <a:pt x="156" y="0"/>
                  <a:pt x="166" y="1"/>
                  <a:pt x="175" y="3"/>
                </a:cubicBezTo>
                <a:cubicBezTo>
                  <a:pt x="184" y="5"/>
                  <a:pt x="193" y="7"/>
                  <a:pt x="202" y="11"/>
                </a:cubicBezTo>
                <a:cubicBezTo>
                  <a:pt x="211" y="15"/>
                  <a:pt x="219" y="19"/>
                  <a:pt x="227" y="24"/>
                </a:cubicBezTo>
                <a:cubicBezTo>
                  <a:pt x="235" y="30"/>
                  <a:pt x="243" y="36"/>
                  <a:pt x="249" y="42"/>
                </a:cubicBezTo>
                <a:cubicBezTo>
                  <a:pt x="256" y="49"/>
                  <a:pt x="262" y="57"/>
                  <a:pt x="268" y="65"/>
                </a:cubicBezTo>
                <a:cubicBezTo>
                  <a:pt x="273" y="72"/>
                  <a:pt x="277" y="81"/>
                  <a:pt x="281" y="90"/>
                </a:cubicBezTo>
                <a:cubicBezTo>
                  <a:pt x="285" y="99"/>
                  <a:pt x="287" y="108"/>
                  <a:pt x="289" y="117"/>
                </a:cubicBezTo>
                <a:cubicBezTo>
                  <a:pt x="291" y="126"/>
                  <a:pt x="292" y="136"/>
                  <a:pt x="292" y="145"/>
                </a:cubicBezTo>
                <a:close/>
              </a:path>
            </a:pathLst>
          </a:custGeom>
          <a:noFill/>
          <a:ln w="9360">
            <a:solidFill>
              <a:srgbClr val="111111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9" name=""/>
          <p:cNvSpPr txBox="1"/>
          <p:nvPr/>
        </p:nvSpPr>
        <p:spPr>
          <a:xfrm>
            <a:off x="793800" y="1438200"/>
            <a:ext cx="2571840" cy="401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1. </a:t>
            </a:r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ロバスト性の欠如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0" name=""/>
          <p:cNvSpPr/>
          <p:nvPr/>
        </p:nvSpPr>
        <p:spPr>
          <a:xfrm>
            <a:off x="1361880" y="2571480"/>
            <a:ext cx="105120" cy="105120"/>
          </a:xfrm>
          <a:custGeom>
            <a:avLst/>
            <a:gdLst/>
            <a:ahLst/>
            <a:rect l="0" t="0" r="r" b="b"/>
            <a:pathLst>
              <a:path w="292" h="292">
                <a:moveTo>
                  <a:pt x="292" y="146"/>
                </a:moveTo>
                <a:cubicBezTo>
                  <a:pt x="292" y="155"/>
                  <a:pt x="291" y="165"/>
                  <a:pt x="289" y="174"/>
                </a:cubicBezTo>
                <a:cubicBezTo>
                  <a:pt x="287" y="184"/>
                  <a:pt x="285" y="193"/>
                  <a:pt x="281" y="201"/>
                </a:cubicBezTo>
                <a:cubicBezTo>
                  <a:pt x="277" y="210"/>
                  <a:pt x="273" y="219"/>
                  <a:pt x="268" y="227"/>
                </a:cubicBezTo>
                <a:cubicBezTo>
                  <a:pt x="262" y="235"/>
                  <a:pt x="256" y="242"/>
                  <a:pt x="249" y="249"/>
                </a:cubicBezTo>
                <a:cubicBezTo>
                  <a:pt x="243" y="255"/>
                  <a:pt x="235" y="261"/>
                  <a:pt x="227" y="267"/>
                </a:cubicBezTo>
                <a:cubicBezTo>
                  <a:pt x="219" y="272"/>
                  <a:pt x="211" y="277"/>
                  <a:pt x="202" y="281"/>
                </a:cubicBezTo>
                <a:cubicBezTo>
                  <a:pt x="193" y="285"/>
                  <a:pt x="184" y="288"/>
                  <a:pt x="175" y="289"/>
                </a:cubicBezTo>
                <a:cubicBezTo>
                  <a:pt x="166" y="291"/>
                  <a:pt x="156" y="292"/>
                  <a:pt x="147" y="292"/>
                </a:cubicBezTo>
                <a:cubicBezTo>
                  <a:pt x="136" y="292"/>
                  <a:pt x="127" y="291"/>
                  <a:pt x="117" y="289"/>
                </a:cubicBezTo>
                <a:cubicBezTo>
                  <a:pt x="108" y="288"/>
                  <a:pt x="99" y="285"/>
                  <a:pt x="90" y="281"/>
                </a:cubicBezTo>
                <a:cubicBezTo>
                  <a:pt x="81" y="277"/>
                  <a:pt x="73" y="272"/>
                  <a:pt x="65" y="267"/>
                </a:cubicBezTo>
                <a:cubicBezTo>
                  <a:pt x="57" y="261"/>
                  <a:pt x="49" y="255"/>
                  <a:pt x="43" y="249"/>
                </a:cubicBezTo>
                <a:cubicBezTo>
                  <a:pt x="36" y="242"/>
                  <a:pt x="30" y="235"/>
                  <a:pt x="25" y="227"/>
                </a:cubicBezTo>
                <a:cubicBezTo>
                  <a:pt x="19" y="219"/>
                  <a:pt x="15" y="210"/>
                  <a:pt x="11" y="201"/>
                </a:cubicBezTo>
                <a:cubicBezTo>
                  <a:pt x="7" y="193"/>
                  <a:pt x="5" y="184"/>
                  <a:pt x="3" y="174"/>
                </a:cubicBezTo>
                <a:cubicBezTo>
                  <a:pt x="1" y="165"/>
                  <a:pt x="0" y="155"/>
                  <a:pt x="0" y="146"/>
                </a:cubicBezTo>
                <a:cubicBezTo>
                  <a:pt x="0" y="136"/>
                  <a:pt x="1" y="127"/>
                  <a:pt x="3" y="117"/>
                </a:cubicBezTo>
                <a:cubicBezTo>
                  <a:pt x="5" y="108"/>
                  <a:pt x="7" y="99"/>
                  <a:pt x="11" y="90"/>
                </a:cubicBezTo>
                <a:cubicBezTo>
                  <a:pt x="15" y="81"/>
                  <a:pt x="19" y="73"/>
                  <a:pt x="25" y="65"/>
                </a:cubicBezTo>
                <a:cubicBezTo>
                  <a:pt x="30" y="57"/>
                  <a:pt x="36" y="50"/>
                  <a:pt x="43" y="43"/>
                </a:cubicBezTo>
                <a:cubicBezTo>
                  <a:pt x="49" y="36"/>
                  <a:pt x="57" y="30"/>
                  <a:pt x="65" y="25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8"/>
                  <a:pt x="108" y="5"/>
                  <a:pt x="117" y="3"/>
                </a:cubicBezTo>
                <a:cubicBezTo>
                  <a:pt x="127" y="1"/>
                  <a:pt x="136" y="0"/>
                  <a:pt x="147" y="0"/>
                </a:cubicBezTo>
                <a:cubicBezTo>
                  <a:pt x="156" y="0"/>
                  <a:pt x="166" y="1"/>
                  <a:pt x="175" y="3"/>
                </a:cubicBezTo>
                <a:cubicBezTo>
                  <a:pt x="184" y="5"/>
                  <a:pt x="193" y="8"/>
                  <a:pt x="202" y="11"/>
                </a:cubicBezTo>
                <a:cubicBezTo>
                  <a:pt x="211" y="15"/>
                  <a:pt x="219" y="19"/>
                  <a:pt x="227" y="25"/>
                </a:cubicBezTo>
                <a:cubicBezTo>
                  <a:pt x="235" y="30"/>
                  <a:pt x="243" y="36"/>
                  <a:pt x="249" y="43"/>
                </a:cubicBezTo>
                <a:cubicBezTo>
                  <a:pt x="256" y="50"/>
                  <a:pt x="262" y="57"/>
                  <a:pt x="268" y="65"/>
                </a:cubicBezTo>
                <a:cubicBezTo>
                  <a:pt x="273" y="73"/>
                  <a:pt x="277" y="81"/>
                  <a:pt x="281" y="90"/>
                </a:cubicBezTo>
                <a:cubicBezTo>
                  <a:pt x="285" y="99"/>
                  <a:pt x="287" y="108"/>
                  <a:pt x="289" y="117"/>
                </a:cubicBezTo>
                <a:cubicBezTo>
                  <a:pt x="291" y="127"/>
                  <a:pt x="292" y="136"/>
                  <a:pt x="292" y="146"/>
                </a:cubicBezTo>
                <a:close/>
              </a:path>
            </a:pathLst>
          </a:custGeom>
          <a:noFill/>
          <a:ln w="9360">
            <a:solidFill>
              <a:srgbClr val="111111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1" name=""/>
          <p:cNvSpPr txBox="1"/>
          <p:nvPr/>
        </p:nvSpPr>
        <p:spPr>
          <a:xfrm>
            <a:off x="1638360" y="1942920"/>
            <a:ext cx="9655200" cy="399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ナンバープレート灯やヘッドライトによる</a:t>
            </a:r>
            <a:r>
              <a:rPr b="0" lang="zh-CN" sz="2170" spc="-1" strike="noStrike">
                <a:solidFill>
                  <a:srgbClr val="083a5e"/>
                </a:solidFill>
                <a:latin typeface="NotoSansJP"/>
                <a:ea typeface="NotoSansJP"/>
              </a:rPr>
              <a:t>環境光の外乱（白飛びなど）</a:t>
            </a:r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に弱い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2" name=""/>
          <p:cNvSpPr txBox="1"/>
          <p:nvPr/>
        </p:nvSpPr>
        <p:spPr>
          <a:xfrm>
            <a:off x="1638360" y="2428920"/>
            <a:ext cx="8237520" cy="401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従来の画質改善法</a:t>
            </a:r>
            <a:r>
              <a:rPr b="0" lang="en-US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(Retinex</a:t>
            </a:r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法</a:t>
            </a:r>
            <a:r>
              <a:rPr b="0" lang="en-US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)</a:t>
            </a:r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では、照明成分の推定精度が限定的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3" name=""/>
          <p:cNvSpPr/>
          <p:nvPr/>
        </p:nvSpPr>
        <p:spPr>
          <a:xfrm>
            <a:off x="1361880" y="3562200"/>
            <a:ext cx="105120" cy="105120"/>
          </a:xfrm>
          <a:custGeom>
            <a:avLst/>
            <a:gdLst/>
            <a:ahLst/>
            <a:rect l="0" t="0" r="r" b="b"/>
            <a:pathLst>
              <a:path w="292" h="292">
                <a:moveTo>
                  <a:pt x="292" y="146"/>
                </a:moveTo>
                <a:cubicBezTo>
                  <a:pt x="292" y="156"/>
                  <a:pt x="291" y="165"/>
                  <a:pt x="289" y="175"/>
                </a:cubicBezTo>
                <a:cubicBezTo>
                  <a:pt x="287" y="184"/>
                  <a:pt x="285" y="193"/>
                  <a:pt x="281" y="202"/>
                </a:cubicBezTo>
                <a:cubicBezTo>
                  <a:pt x="277" y="211"/>
                  <a:pt x="273" y="219"/>
                  <a:pt x="268" y="227"/>
                </a:cubicBezTo>
                <a:cubicBezTo>
                  <a:pt x="262" y="235"/>
                  <a:pt x="256" y="243"/>
                  <a:pt x="249" y="249"/>
                </a:cubicBezTo>
                <a:cubicBezTo>
                  <a:pt x="243" y="256"/>
                  <a:pt x="235" y="262"/>
                  <a:pt x="227" y="267"/>
                </a:cubicBezTo>
                <a:cubicBezTo>
                  <a:pt x="219" y="273"/>
                  <a:pt x="211" y="277"/>
                  <a:pt x="202" y="281"/>
                </a:cubicBezTo>
                <a:cubicBezTo>
                  <a:pt x="193" y="285"/>
                  <a:pt x="184" y="287"/>
                  <a:pt x="175" y="289"/>
                </a:cubicBezTo>
                <a:cubicBezTo>
                  <a:pt x="166" y="291"/>
                  <a:pt x="156" y="292"/>
                  <a:pt x="147" y="292"/>
                </a:cubicBezTo>
                <a:cubicBezTo>
                  <a:pt x="136" y="292"/>
                  <a:pt x="127" y="291"/>
                  <a:pt x="117" y="289"/>
                </a:cubicBezTo>
                <a:cubicBezTo>
                  <a:pt x="108" y="287"/>
                  <a:pt x="99" y="285"/>
                  <a:pt x="90" y="281"/>
                </a:cubicBezTo>
                <a:cubicBezTo>
                  <a:pt x="81" y="277"/>
                  <a:pt x="73" y="273"/>
                  <a:pt x="65" y="267"/>
                </a:cubicBezTo>
                <a:cubicBezTo>
                  <a:pt x="57" y="262"/>
                  <a:pt x="49" y="256"/>
                  <a:pt x="43" y="249"/>
                </a:cubicBezTo>
                <a:cubicBezTo>
                  <a:pt x="36" y="243"/>
                  <a:pt x="30" y="235"/>
                  <a:pt x="25" y="227"/>
                </a:cubicBezTo>
                <a:cubicBezTo>
                  <a:pt x="19" y="219"/>
                  <a:pt x="15" y="211"/>
                  <a:pt x="11" y="202"/>
                </a:cubicBezTo>
                <a:cubicBezTo>
                  <a:pt x="7" y="193"/>
                  <a:pt x="5" y="184"/>
                  <a:pt x="3" y="175"/>
                </a:cubicBezTo>
                <a:cubicBezTo>
                  <a:pt x="1" y="165"/>
                  <a:pt x="0" y="156"/>
                  <a:pt x="0" y="146"/>
                </a:cubicBezTo>
                <a:cubicBezTo>
                  <a:pt x="0" y="136"/>
                  <a:pt x="1" y="126"/>
                  <a:pt x="3" y="117"/>
                </a:cubicBezTo>
                <a:cubicBezTo>
                  <a:pt x="5" y="108"/>
                  <a:pt x="7" y="99"/>
                  <a:pt x="11" y="90"/>
                </a:cubicBezTo>
                <a:cubicBezTo>
                  <a:pt x="15" y="81"/>
                  <a:pt x="19" y="73"/>
                  <a:pt x="25" y="65"/>
                </a:cubicBezTo>
                <a:cubicBezTo>
                  <a:pt x="30" y="57"/>
                  <a:pt x="36" y="49"/>
                  <a:pt x="43" y="43"/>
                </a:cubicBezTo>
                <a:cubicBezTo>
                  <a:pt x="49" y="36"/>
                  <a:pt x="57" y="30"/>
                  <a:pt x="65" y="24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7"/>
                  <a:pt x="108" y="5"/>
                  <a:pt x="117" y="3"/>
                </a:cubicBezTo>
                <a:cubicBezTo>
                  <a:pt x="127" y="1"/>
                  <a:pt x="136" y="0"/>
                  <a:pt x="147" y="0"/>
                </a:cubicBezTo>
                <a:cubicBezTo>
                  <a:pt x="156" y="0"/>
                  <a:pt x="166" y="1"/>
                  <a:pt x="175" y="3"/>
                </a:cubicBezTo>
                <a:cubicBezTo>
                  <a:pt x="184" y="5"/>
                  <a:pt x="193" y="7"/>
                  <a:pt x="202" y="11"/>
                </a:cubicBezTo>
                <a:cubicBezTo>
                  <a:pt x="211" y="15"/>
                  <a:pt x="219" y="19"/>
                  <a:pt x="227" y="24"/>
                </a:cubicBezTo>
                <a:cubicBezTo>
                  <a:pt x="235" y="30"/>
                  <a:pt x="243" y="36"/>
                  <a:pt x="249" y="43"/>
                </a:cubicBezTo>
                <a:cubicBezTo>
                  <a:pt x="256" y="49"/>
                  <a:pt x="262" y="57"/>
                  <a:pt x="268" y="65"/>
                </a:cubicBezTo>
                <a:cubicBezTo>
                  <a:pt x="273" y="73"/>
                  <a:pt x="277" y="81"/>
                  <a:pt x="281" y="90"/>
                </a:cubicBezTo>
                <a:cubicBezTo>
                  <a:pt x="285" y="99"/>
                  <a:pt x="287" y="108"/>
                  <a:pt x="289" y="117"/>
                </a:cubicBezTo>
                <a:cubicBezTo>
                  <a:pt x="291" y="126"/>
                  <a:pt x="292" y="136"/>
                  <a:pt x="292" y="146"/>
                </a:cubicBezTo>
                <a:close/>
              </a:path>
            </a:pathLst>
          </a:custGeom>
          <a:noFill/>
          <a:ln w="9360">
            <a:solidFill>
              <a:srgbClr val="111111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4" name=""/>
          <p:cNvSpPr txBox="1"/>
          <p:nvPr/>
        </p:nvSpPr>
        <p:spPr>
          <a:xfrm>
            <a:off x="793800" y="2914560"/>
            <a:ext cx="2019960" cy="401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2. </a:t>
            </a:r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効率性の低さ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5" name=""/>
          <p:cNvSpPr/>
          <p:nvPr/>
        </p:nvSpPr>
        <p:spPr>
          <a:xfrm>
            <a:off x="1361880" y="4047840"/>
            <a:ext cx="105120" cy="105120"/>
          </a:xfrm>
          <a:custGeom>
            <a:avLst/>
            <a:gdLst/>
            <a:ahLst/>
            <a:rect l="0" t="0" r="r" b="b"/>
            <a:pathLst>
              <a:path w="292" h="292">
                <a:moveTo>
                  <a:pt x="292" y="146"/>
                </a:moveTo>
                <a:cubicBezTo>
                  <a:pt x="292" y="155"/>
                  <a:pt x="291" y="165"/>
                  <a:pt x="289" y="174"/>
                </a:cubicBezTo>
                <a:cubicBezTo>
                  <a:pt x="287" y="184"/>
                  <a:pt x="285" y="193"/>
                  <a:pt x="281" y="201"/>
                </a:cubicBezTo>
                <a:cubicBezTo>
                  <a:pt x="277" y="210"/>
                  <a:pt x="273" y="219"/>
                  <a:pt x="268" y="227"/>
                </a:cubicBezTo>
                <a:cubicBezTo>
                  <a:pt x="262" y="235"/>
                  <a:pt x="256" y="242"/>
                  <a:pt x="249" y="249"/>
                </a:cubicBezTo>
                <a:cubicBezTo>
                  <a:pt x="243" y="256"/>
                  <a:pt x="235" y="262"/>
                  <a:pt x="227" y="268"/>
                </a:cubicBezTo>
                <a:cubicBezTo>
                  <a:pt x="219" y="273"/>
                  <a:pt x="211" y="278"/>
                  <a:pt x="202" y="281"/>
                </a:cubicBezTo>
                <a:cubicBezTo>
                  <a:pt x="193" y="285"/>
                  <a:pt x="184" y="288"/>
                  <a:pt x="175" y="290"/>
                </a:cubicBezTo>
                <a:cubicBezTo>
                  <a:pt x="166" y="291"/>
                  <a:pt x="156" y="292"/>
                  <a:pt x="147" y="292"/>
                </a:cubicBezTo>
                <a:cubicBezTo>
                  <a:pt x="136" y="292"/>
                  <a:pt x="127" y="291"/>
                  <a:pt x="117" y="290"/>
                </a:cubicBezTo>
                <a:cubicBezTo>
                  <a:pt x="108" y="288"/>
                  <a:pt x="99" y="285"/>
                  <a:pt x="90" y="281"/>
                </a:cubicBezTo>
                <a:cubicBezTo>
                  <a:pt x="81" y="278"/>
                  <a:pt x="73" y="273"/>
                  <a:pt x="65" y="268"/>
                </a:cubicBezTo>
                <a:cubicBezTo>
                  <a:pt x="57" y="262"/>
                  <a:pt x="49" y="256"/>
                  <a:pt x="43" y="249"/>
                </a:cubicBezTo>
                <a:cubicBezTo>
                  <a:pt x="36" y="242"/>
                  <a:pt x="30" y="235"/>
                  <a:pt x="25" y="227"/>
                </a:cubicBezTo>
                <a:cubicBezTo>
                  <a:pt x="19" y="219"/>
                  <a:pt x="15" y="210"/>
                  <a:pt x="11" y="201"/>
                </a:cubicBezTo>
                <a:cubicBezTo>
                  <a:pt x="7" y="193"/>
                  <a:pt x="5" y="184"/>
                  <a:pt x="3" y="174"/>
                </a:cubicBezTo>
                <a:cubicBezTo>
                  <a:pt x="1" y="165"/>
                  <a:pt x="0" y="155"/>
                  <a:pt x="0" y="146"/>
                </a:cubicBezTo>
                <a:cubicBezTo>
                  <a:pt x="0" y="136"/>
                  <a:pt x="1" y="127"/>
                  <a:pt x="3" y="117"/>
                </a:cubicBezTo>
                <a:cubicBezTo>
                  <a:pt x="5" y="108"/>
                  <a:pt x="7" y="99"/>
                  <a:pt x="11" y="90"/>
                </a:cubicBezTo>
                <a:cubicBezTo>
                  <a:pt x="15" y="81"/>
                  <a:pt x="19" y="73"/>
                  <a:pt x="25" y="65"/>
                </a:cubicBezTo>
                <a:cubicBezTo>
                  <a:pt x="30" y="57"/>
                  <a:pt x="36" y="50"/>
                  <a:pt x="43" y="43"/>
                </a:cubicBezTo>
                <a:cubicBezTo>
                  <a:pt x="49" y="36"/>
                  <a:pt x="57" y="30"/>
                  <a:pt x="65" y="25"/>
                </a:cubicBezTo>
                <a:cubicBezTo>
                  <a:pt x="73" y="20"/>
                  <a:pt x="81" y="15"/>
                  <a:pt x="90" y="11"/>
                </a:cubicBezTo>
                <a:cubicBezTo>
                  <a:pt x="99" y="8"/>
                  <a:pt x="108" y="5"/>
                  <a:pt x="117" y="3"/>
                </a:cubicBezTo>
                <a:cubicBezTo>
                  <a:pt x="127" y="1"/>
                  <a:pt x="136" y="0"/>
                  <a:pt x="147" y="0"/>
                </a:cubicBezTo>
                <a:cubicBezTo>
                  <a:pt x="156" y="0"/>
                  <a:pt x="166" y="1"/>
                  <a:pt x="175" y="3"/>
                </a:cubicBezTo>
                <a:cubicBezTo>
                  <a:pt x="184" y="5"/>
                  <a:pt x="193" y="8"/>
                  <a:pt x="202" y="11"/>
                </a:cubicBezTo>
                <a:cubicBezTo>
                  <a:pt x="211" y="15"/>
                  <a:pt x="219" y="20"/>
                  <a:pt x="227" y="25"/>
                </a:cubicBezTo>
                <a:cubicBezTo>
                  <a:pt x="235" y="30"/>
                  <a:pt x="243" y="36"/>
                  <a:pt x="249" y="43"/>
                </a:cubicBezTo>
                <a:cubicBezTo>
                  <a:pt x="256" y="50"/>
                  <a:pt x="262" y="57"/>
                  <a:pt x="268" y="65"/>
                </a:cubicBezTo>
                <a:cubicBezTo>
                  <a:pt x="273" y="73"/>
                  <a:pt x="277" y="81"/>
                  <a:pt x="281" y="90"/>
                </a:cubicBezTo>
                <a:cubicBezTo>
                  <a:pt x="285" y="99"/>
                  <a:pt x="287" y="108"/>
                  <a:pt x="289" y="117"/>
                </a:cubicBezTo>
                <a:cubicBezTo>
                  <a:pt x="291" y="127"/>
                  <a:pt x="292" y="136"/>
                  <a:pt x="292" y="146"/>
                </a:cubicBezTo>
                <a:close/>
              </a:path>
            </a:pathLst>
          </a:custGeom>
          <a:noFill/>
          <a:ln w="9360">
            <a:solidFill>
              <a:srgbClr val="111111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6" name=""/>
          <p:cNvSpPr txBox="1"/>
          <p:nvPr/>
        </p:nvSpPr>
        <p:spPr>
          <a:xfrm>
            <a:off x="1638360" y="3419640"/>
            <a:ext cx="9103680" cy="399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70" spc="-1" strike="noStrike">
                <a:solidFill>
                  <a:srgbClr val="083a5e"/>
                </a:solidFill>
                <a:latin typeface="NotoSansJP"/>
                <a:ea typeface="NotoSansJP"/>
              </a:rPr>
              <a:t>低解像度で文字情報が欠落</a:t>
            </a:r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した画像から、効率的に情報を再構成できない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7" name=""/>
          <p:cNvSpPr txBox="1"/>
          <p:nvPr/>
        </p:nvSpPr>
        <p:spPr>
          <a:xfrm>
            <a:off x="1638360" y="3905280"/>
            <a:ext cx="8551800" cy="399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従来の超解像技術ではアーティファクト（偽の模様）が発生しやすい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8" name=""/>
          <p:cNvSpPr/>
          <p:nvPr/>
        </p:nvSpPr>
        <p:spPr>
          <a:xfrm>
            <a:off x="1361880" y="5038560"/>
            <a:ext cx="105120" cy="105120"/>
          </a:xfrm>
          <a:custGeom>
            <a:avLst/>
            <a:gdLst/>
            <a:ahLst/>
            <a:rect l="0" t="0" r="r" b="b"/>
            <a:pathLst>
              <a:path w="292" h="292">
                <a:moveTo>
                  <a:pt x="292" y="146"/>
                </a:moveTo>
                <a:cubicBezTo>
                  <a:pt x="292" y="156"/>
                  <a:pt x="291" y="165"/>
                  <a:pt x="289" y="175"/>
                </a:cubicBezTo>
                <a:cubicBezTo>
                  <a:pt x="287" y="184"/>
                  <a:pt x="285" y="193"/>
                  <a:pt x="281" y="202"/>
                </a:cubicBezTo>
                <a:cubicBezTo>
                  <a:pt x="277" y="211"/>
                  <a:pt x="273" y="219"/>
                  <a:pt x="268" y="227"/>
                </a:cubicBezTo>
                <a:cubicBezTo>
                  <a:pt x="262" y="235"/>
                  <a:pt x="256" y="243"/>
                  <a:pt x="249" y="249"/>
                </a:cubicBezTo>
                <a:cubicBezTo>
                  <a:pt x="243" y="256"/>
                  <a:pt x="235" y="262"/>
                  <a:pt x="227" y="267"/>
                </a:cubicBezTo>
                <a:cubicBezTo>
                  <a:pt x="219" y="273"/>
                  <a:pt x="211" y="277"/>
                  <a:pt x="202" y="281"/>
                </a:cubicBezTo>
                <a:cubicBezTo>
                  <a:pt x="193" y="285"/>
                  <a:pt x="184" y="287"/>
                  <a:pt x="175" y="289"/>
                </a:cubicBezTo>
                <a:cubicBezTo>
                  <a:pt x="166" y="291"/>
                  <a:pt x="156" y="292"/>
                  <a:pt x="147" y="292"/>
                </a:cubicBezTo>
                <a:cubicBezTo>
                  <a:pt x="136" y="292"/>
                  <a:pt x="127" y="291"/>
                  <a:pt x="117" y="289"/>
                </a:cubicBezTo>
                <a:cubicBezTo>
                  <a:pt x="108" y="287"/>
                  <a:pt x="99" y="285"/>
                  <a:pt x="90" y="281"/>
                </a:cubicBezTo>
                <a:cubicBezTo>
                  <a:pt x="81" y="277"/>
                  <a:pt x="73" y="273"/>
                  <a:pt x="65" y="267"/>
                </a:cubicBezTo>
                <a:cubicBezTo>
                  <a:pt x="57" y="262"/>
                  <a:pt x="49" y="256"/>
                  <a:pt x="43" y="249"/>
                </a:cubicBezTo>
                <a:cubicBezTo>
                  <a:pt x="36" y="243"/>
                  <a:pt x="30" y="235"/>
                  <a:pt x="25" y="227"/>
                </a:cubicBezTo>
                <a:cubicBezTo>
                  <a:pt x="19" y="219"/>
                  <a:pt x="15" y="211"/>
                  <a:pt x="11" y="202"/>
                </a:cubicBezTo>
                <a:cubicBezTo>
                  <a:pt x="7" y="193"/>
                  <a:pt x="5" y="184"/>
                  <a:pt x="3" y="175"/>
                </a:cubicBezTo>
                <a:cubicBezTo>
                  <a:pt x="1" y="165"/>
                  <a:pt x="0" y="156"/>
                  <a:pt x="0" y="146"/>
                </a:cubicBezTo>
                <a:cubicBezTo>
                  <a:pt x="0" y="137"/>
                  <a:pt x="1" y="127"/>
                  <a:pt x="3" y="117"/>
                </a:cubicBezTo>
                <a:cubicBezTo>
                  <a:pt x="5" y="108"/>
                  <a:pt x="7" y="99"/>
                  <a:pt x="11" y="90"/>
                </a:cubicBezTo>
                <a:cubicBezTo>
                  <a:pt x="15" y="81"/>
                  <a:pt x="19" y="73"/>
                  <a:pt x="25" y="65"/>
                </a:cubicBezTo>
                <a:cubicBezTo>
                  <a:pt x="30" y="57"/>
                  <a:pt x="36" y="49"/>
                  <a:pt x="43" y="43"/>
                </a:cubicBezTo>
                <a:cubicBezTo>
                  <a:pt x="49" y="36"/>
                  <a:pt x="57" y="30"/>
                  <a:pt x="65" y="24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7"/>
                  <a:pt x="108" y="5"/>
                  <a:pt x="117" y="3"/>
                </a:cubicBezTo>
                <a:cubicBezTo>
                  <a:pt x="127" y="1"/>
                  <a:pt x="136" y="0"/>
                  <a:pt x="147" y="0"/>
                </a:cubicBezTo>
                <a:cubicBezTo>
                  <a:pt x="156" y="0"/>
                  <a:pt x="166" y="1"/>
                  <a:pt x="175" y="3"/>
                </a:cubicBezTo>
                <a:cubicBezTo>
                  <a:pt x="184" y="5"/>
                  <a:pt x="193" y="7"/>
                  <a:pt x="202" y="11"/>
                </a:cubicBezTo>
                <a:cubicBezTo>
                  <a:pt x="211" y="15"/>
                  <a:pt x="219" y="19"/>
                  <a:pt x="227" y="24"/>
                </a:cubicBezTo>
                <a:cubicBezTo>
                  <a:pt x="235" y="30"/>
                  <a:pt x="243" y="36"/>
                  <a:pt x="249" y="43"/>
                </a:cubicBezTo>
                <a:cubicBezTo>
                  <a:pt x="256" y="49"/>
                  <a:pt x="262" y="57"/>
                  <a:pt x="268" y="65"/>
                </a:cubicBezTo>
                <a:cubicBezTo>
                  <a:pt x="273" y="73"/>
                  <a:pt x="277" y="81"/>
                  <a:pt x="281" y="90"/>
                </a:cubicBezTo>
                <a:cubicBezTo>
                  <a:pt x="285" y="99"/>
                  <a:pt x="287" y="108"/>
                  <a:pt x="289" y="117"/>
                </a:cubicBezTo>
                <a:cubicBezTo>
                  <a:pt x="291" y="127"/>
                  <a:pt x="292" y="137"/>
                  <a:pt x="292" y="146"/>
                </a:cubicBezTo>
                <a:close/>
              </a:path>
            </a:pathLst>
          </a:custGeom>
          <a:noFill/>
          <a:ln w="9360">
            <a:solidFill>
              <a:srgbClr val="111111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9" name=""/>
          <p:cNvSpPr txBox="1"/>
          <p:nvPr/>
        </p:nvSpPr>
        <p:spPr>
          <a:xfrm>
            <a:off x="793800" y="4390920"/>
            <a:ext cx="2019960" cy="401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3. </a:t>
            </a:r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適応性の不足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0" name=""/>
          <p:cNvSpPr/>
          <p:nvPr/>
        </p:nvSpPr>
        <p:spPr>
          <a:xfrm>
            <a:off x="1361880" y="5524200"/>
            <a:ext cx="105120" cy="105120"/>
          </a:xfrm>
          <a:custGeom>
            <a:avLst/>
            <a:gdLst/>
            <a:ahLst/>
            <a:rect l="0" t="0" r="r" b="b"/>
            <a:pathLst>
              <a:path w="292" h="292">
                <a:moveTo>
                  <a:pt x="292" y="146"/>
                </a:moveTo>
                <a:cubicBezTo>
                  <a:pt x="292" y="155"/>
                  <a:pt x="291" y="165"/>
                  <a:pt x="289" y="174"/>
                </a:cubicBezTo>
                <a:cubicBezTo>
                  <a:pt x="287" y="184"/>
                  <a:pt x="285" y="193"/>
                  <a:pt x="281" y="202"/>
                </a:cubicBezTo>
                <a:cubicBezTo>
                  <a:pt x="277" y="210"/>
                  <a:pt x="273" y="219"/>
                  <a:pt x="268" y="228"/>
                </a:cubicBezTo>
                <a:cubicBezTo>
                  <a:pt x="262" y="236"/>
                  <a:pt x="256" y="243"/>
                  <a:pt x="249" y="250"/>
                </a:cubicBezTo>
                <a:cubicBezTo>
                  <a:pt x="243" y="257"/>
                  <a:pt x="235" y="263"/>
                  <a:pt x="227" y="268"/>
                </a:cubicBezTo>
                <a:cubicBezTo>
                  <a:pt x="219" y="273"/>
                  <a:pt x="211" y="278"/>
                  <a:pt x="202" y="281"/>
                </a:cubicBezTo>
                <a:cubicBezTo>
                  <a:pt x="193" y="285"/>
                  <a:pt x="184" y="288"/>
                  <a:pt x="175" y="290"/>
                </a:cubicBezTo>
                <a:cubicBezTo>
                  <a:pt x="166" y="291"/>
                  <a:pt x="156" y="292"/>
                  <a:pt x="147" y="292"/>
                </a:cubicBezTo>
                <a:cubicBezTo>
                  <a:pt x="136" y="292"/>
                  <a:pt x="127" y="291"/>
                  <a:pt x="117" y="290"/>
                </a:cubicBezTo>
                <a:cubicBezTo>
                  <a:pt x="108" y="288"/>
                  <a:pt x="99" y="285"/>
                  <a:pt x="90" y="281"/>
                </a:cubicBezTo>
                <a:cubicBezTo>
                  <a:pt x="81" y="278"/>
                  <a:pt x="73" y="273"/>
                  <a:pt x="65" y="268"/>
                </a:cubicBezTo>
                <a:cubicBezTo>
                  <a:pt x="57" y="263"/>
                  <a:pt x="49" y="257"/>
                  <a:pt x="43" y="250"/>
                </a:cubicBezTo>
                <a:cubicBezTo>
                  <a:pt x="36" y="243"/>
                  <a:pt x="30" y="236"/>
                  <a:pt x="25" y="228"/>
                </a:cubicBezTo>
                <a:cubicBezTo>
                  <a:pt x="19" y="219"/>
                  <a:pt x="15" y="210"/>
                  <a:pt x="11" y="202"/>
                </a:cubicBezTo>
                <a:cubicBezTo>
                  <a:pt x="7" y="193"/>
                  <a:pt x="5" y="184"/>
                  <a:pt x="3" y="174"/>
                </a:cubicBezTo>
                <a:cubicBezTo>
                  <a:pt x="1" y="165"/>
                  <a:pt x="0" y="155"/>
                  <a:pt x="0" y="146"/>
                </a:cubicBezTo>
                <a:cubicBezTo>
                  <a:pt x="0" y="136"/>
                  <a:pt x="1" y="127"/>
                  <a:pt x="3" y="117"/>
                </a:cubicBezTo>
                <a:cubicBezTo>
                  <a:pt x="5" y="108"/>
                  <a:pt x="7" y="99"/>
                  <a:pt x="11" y="90"/>
                </a:cubicBezTo>
                <a:cubicBezTo>
                  <a:pt x="15" y="81"/>
                  <a:pt x="19" y="73"/>
                  <a:pt x="25" y="65"/>
                </a:cubicBezTo>
                <a:cubicBezTo>
                  <a:pt x="30" y="57"/>
                  <a:pt x="36" y="50"/>
                  <a:pt x="43" y="43"/>
                </a:cubicBezTo>
                <a:cubicBezTo>
                  <a:pt x="49" y="36"/>
                  <a:pt x="57" y="30"/>
                  <a:pt x="65" y="25"/>
                </a:cubicBezTo>
                <a:cubicBezTo>
                  <a:pt x="73" y="20"/>
                  <a:pt x="81" y="15"/>
                  <a:pt x="90" y="11"/>
                </a:cubicBezTo>
                <a:cubicBezTo>
                  <a:pt x="99" y="8"/>
                  <a:pt x="108" y="5"/>
                  <a:pt x="117" y="3"/>
                </a:cubicBezTo>
                <a:cubicBezTo>
                  <a:pt x="127" y="1"/>
                  <a:pt x="136" y="0"/>
                  <a:pt x="147" y="0"/>
                </a:cubicBezTo>
                <a:cubicBezTo>
                  <a:pt x="156" y="0"/>
                  <a:pt x="166" y="1"/>
                  <a:pt x="175" y="3"/>
                </a:cubicBezTo>
                <a:cubicBezTo>
                  <a:pt x="184" y="5"/>
                  <a:pt x="193" y="8"/>
                  <a:pt x="202" y="11"/>
                </a:cubicBezTo>
                <a:cubicBezTo>
                  <a:pt x="211" y="15"/>
                  <a:pt x="219" y="20"/>
                  <a:pt x="227" y="25"/>
                </a:cubicBezTo>
                <a:cubicBezTo>
                  <a:pt x="235" y="30"/>
                  <a:pt x="243" y="36"/>
                  <a:pt x="249" y="43"/>
                </a:cubicBezTo>
                <a:cubicBezTo>
                  <a:pt x="256" y="50"/>
                  <a:pt x="262" y="57"/>
                  <a:pt x="268" y="65"/>
                </a:cubicBezTo>
                <a:cubicBezTo>
                  <a:pt x="273" y="73"/>
                  <a:pt x="277" y="81"/>
                  <a:pt x="281" y="90"/>
                </a:cubicBezTo>
                <a:cubicBezTo>
                  <a:pt x="285" y="99"/>
                  <a:pt x="287" y="108"/>
                  <a:pt x="289" y="117"/>
                </a:cubicBezTo>
                <a:cubicBezTo>
                  <a:pt x="291" y="127"/>
                  <a:pt x="292" y="136"/>
                  <a:pt x="292" y="146"/>
                </a:cubicBezTo>
                <a:close/>
              </a:path>
            </a:pathLst>
          </a:custGeom>
          <a:noFill/>
          <a:ln w="9360">
            <a:solidFill>
              <a:srgbClr val="111111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1" name=""/>
          <p:cNvSpPr txBox="1"/>
          <p:nvPr/>
        </p:nvSpPr>
        <p:spPr>
          <a:xfrm>
            <a:off x="1638360" y="4896000"/>
            <a:ext cx="9379440" cy="399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70" spc="-1" strike="noStrike">
                <a:solidFill>
                  <a:srgbClr val="083a5e"/>
                </a:solidFill>
                <a:latin typeface="NotoSansJP"/>
                <a:ea typeface="NotoSansJP"/>
              </a:rPr>
              <a:t>多様な文字フォントや、様々な種類の複合劣化</a:t>
            </a:r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に対し、柔軟に対応できない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2" name=""/>
          <p:cNvSpPr txBox="1"/>
          <p:nvPr/>
        </p:nvSpPr>
        <p:spPr>
          <a:xfrm>
            <a:off x="1638360" y="5381640"/>
            <a:ext cx="10087200" cy="401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従来の</a:t>
            </a:r>
            <a:r>
              <a:rPr b="0" lang="en-US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CNN</a:t>
            </a:r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は入力画像の解像度が固定されており、劣化状態に応じた処理が困難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3" name=""/>
          <p:cNvSpPr/>
          <p:nvPr/>
        </p:nvSpPr>
        <p:spPr>
          <a:xfrm>
            <a:off x="533160" y="561960"/>
            <a:ext cx="267120" cy="57240"/>
          </a:xfrm>
          <a:custGeom>
            <a:avLst/>
            <a:gdLst/>
            <a:ahLst/>
            <a:rect l="0" t="0" r="r" b="b"/>
            <a:pathLst>
              <a:path w="742" h="159">
                <a:moveTo>
                  <a:pt x="0" y="106"/>
                </a:moveTo>
                <a:lnTo>
                  <a:pt x="0" y="52"/>
                </a:lnTo>
                <a:cubicBezTo>
                  <a:pt x="0" y="45"/>
                  <a:pt x="2" y="39"/>
                  <a:pt x="4" y="32"/>
                </a:cubicBezTo>
                <a:cubicBezTo>
                  <a:pt x="7" y="26"/>
                  <a:pt x="11" y="20"/>
                  <a:pt x="16" y="15"/>
                </a:cubicBezTo>
                <a:cubicBezTo>
                  <a:pt x="21" y="10"/>
                  <a:pt x="26" y="6"/>
                  <a:pt x="33" y="4"/>
                </a:cubicBezTo>
                <a:cubicBezTo>
                  <a:pt x="39" y="1"/>
                  <a:pt x="46" y="0"/>
                  <a:pt x="53" y="0"/>
                </a:cubicBezTo>
                <a:lnTo>
                  <a:pt x="689" y="0"/>
                </a:lnTo>
                <a:cubicBezTo>
                  <a:pt x="696" y="0"/>
                  <a:pt x="703" y="1"/>
                  <a:pt x="709" y="4"/>
                </a:cubicBezTo>
                <a:cubicBezTo>
                  <a:pt x="716" y="6"/>
                  <a:pt x="722" y="10"/>
                  <a:pt x="727" y="15"/>
                </a:cubicBezTo>
                <a:cubicBezTo>
                  <a:pt x="731" y="20"/>
                  <a:pt x="735" y="26"/>
                  <a:pt x="738" y="32"/>
                </a:cubicBezTo>
                <a:cubicBezTo>
                  <a:pt x="741" y="39"/>
                  <a:pt x="742" y="45"/>
                  <a:pt x="742" y="52"/>
                </a:cubicBezTo>
                <a:lnTo>
                  <a:pt x="742" y="106"/>
                </a:lnTo>
                <a:cubicBezTo>
                  <a:pt x="742" y="113"/>
                  <a:pt x="741" y="120"/>
                  <a:pt x="738" y="127"/>
                </a:cubicBezTo>
                <a:cubicBezTo>
                  <a:pt x="735" y="133"/>
                  <a:pt x="731" y="139"/>
                  <a:pt x="727" y="144"/>
                </a:cubicBezTo>
                <a:cubicBezTo>
                  <a:pt x="722" y="149"/>
                  <a:pt x="716" y="153"/>
                  <a:pt x="709" y="155"/>
                </a:cubicBezTo>
                <a:cubicBezTo>
                  <a:pt x="703" y="158"/>
                  <a:pt x="696" y="159"/>
                  <a:pt x="689" y="159"/>
                </a:cubicBezTo>
                <a:lnTo>
                  <a:pt x="53" y="159"/>
                </a:lnTo>
                <a:cubicBezTo>
                  <a:pt x="46" y="159"/>
                  <a:pt x="39" y="158"/>
                  <a:pt x="33" y="155"/>
                </a:cubicBezTo>
                <a:cubicBezTo>
                  <a:pt x="26" y="153"/>
                  <a:pt x="21" y="149"/>
                  <a:pt x="16" y="144"/>
                </a:cubicBezTo>
                <a:cubicBezTo>
                  <a:pt x="11" y="139"/>
                  <a:pt x="7" y="133"/>
                  <a:pt x="4" y="127"/>
                </a:cubicBezTo>
                <a:cubicBezTo>
                  <a:pt x="2" y="120"/>
                  <a:pt x="0" y="113"/>
                  <a:pt x="0" y="106"/>
                </a:cubicBezTo>
                <a:close/>
              </a:path>
            </a:pathLst>
          </a:custGeom>
          <a:solidFill>
            <a:srgbClr val="0b4b7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4" name=""/>
          <p:cNvSpPr txBox="1"/>
          <p:nvPr/>
        </p:nvSpPr>
        <p:spPr>
          <a:xfrm>
            <a:off x="914400" y="392400"/>
            <a:ext cx="2515680" cy="3614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1950" spc="-1" strike="noStrike">
                <a:solidFill>
                  <a:srgbClr val="111111"/>
                </a:solidFill>
                <a:latin typeface="NotoSansJP"/>
                <a:ea typeface="NotoSansJP"/>
              </a:rPr>
              <a:t>解決したい</a:t>
            </a:r>
            <a:r>
              <a:rPr b="0" lang="en-US" sz="1950" spc="-1" strike="noStrike">
                <a:solidFill>
                  <a:srgbClr val="111111"/>
                </a:solidFill>
                <a:latin typeface="NotoSansJP"/>
                <a:ea typeface="NotoSansJP"/>
              </a:rPr>
              <a:t>3</a:t>
            </a:r>
            <a:r>
              <a:rPr b="0" lang="zh-CN" sz="1950" spc="-1" strike="noStrike">
                <a:solidFill>
                  <a:srgbClr val="111111"/>
                </a:solidFill>
                <a:latin typeface="NotoSansJP"/>
                <a:ea typeface="NotoSansJP"/>
              </a:rPr>
              <a:t>つの課題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5" name=""/>
          <p:cNvSpPr txBox="1"/>
          <p:nvPr/>
        </p:nvSpPr>
        <p:spPr>
          <a:xfrm>
            <a:off x="11946600" y="6436800"/>
            <a:ext cx="304560" cy="416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400" spc="-1" strike="noStrike">
                <a:solidFill>
                  <a:srgbClr val="111111"/>
                </a:solidFill>
                <a:latin typeface="NotoSansJP"/>
                <a:ea typeface="NotoSansJP"/>
              </a:rPr>
              <a:t>4</a:t>
            </a:r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c9c9c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9" name=""/>
          <p:cNvSpPr/>
          <p:nvPr/>
        </p:nvSpPr>
        <p:spPr>
          <a:xfrm>
            <a:off x="228240" y="228240"/>
            <a:ext cx="11735280" cy="6401160"/>
          </a:xfrm>
          <a:custGeom>
            <a:avLst/>
            <a:gdLst/>
            <a:ahLst/>
            <a:rect l="0" t="0" r="r" b="b"/>
            <a:pathLst>
              <a:path w="32598" h="17781">
                <a:moveTo>
                  <a:pt x="530" y="0"/>
                </a:moveTo>
                <a:lnTo>
                  <a:pt x="32069" y="0"/>
                </a:lnTo>
                <a:cubicBezTo>
                  <a:pt x="32104" y="0"/>
                  <a:pt x="32138" y="4"/>
                  <a:pt x="32172" y="11"/>
                </a:cubicBezTo>
                <a:cubicBezTo>
                  <a:pt x="32206" y="17"/>
                  <a:pt x="32239" y="27"/>
                  <a:pt x="32271" y="41"/>
                </a:cubicBezTo>
                <a:cubicBezTo>
                  <a:pt x="32304" y="54"/>
                  <a:pt x="32334" y="70"/>
                  <a:pt x="32363" y="90"/>
                </a:cubicBezTo>
                <a:cubicBezTo>
                  <a:pt x="32392" y="109"/>
                  <a:pt x="32419" y="131"/>
                  <a:pt x="32443" y="155"/>
                </a:cubicBezTo>
                <a:cubicBezTo>
                  <a:pt x="32468" y="180"/>
                  <a:pt x="32490" y="207"/>
                  <a:pt x="32509" y="236"/>
                </a:cubicBezTo>
                <a:cubicBezTo>
                  <a:pt x="32528" y="265"/>
                  <a:pt x="32545" y="295"/>
                  <a:pt x="32558" y="327"/>
                </a:cubicBezTo>
                <a:cubicBezTo>
                  <a:pt x="32571" y="359"/>
                  <a:pt x="32581" y="392"/>
                  <a:pt x="32588" y="426"/>
                </a:cubicBezTo>
                <a:cubicBezTo>
                  <a:pt x="32595" y="461"/>
                  <a:pt x="32598" y="495"/>
                  <a:pt x="32598" y="530"/>
                </a:cubicBezTo>
                <a:lnTo>
                  <a:pt x="32598" y="17252"/>
                </a:lnTo>
                <a:cubicBezTo>
                  <a:pt x="32598" y="17287"/>
                  <a:pt x="32595" y="17321"/>
                  <a:pt x="32588" y="17356"/>
                </a:cubicBezTo>
                <a:cubicBezTo>
                  <a:pt x="32581" y="17390"/>
                  <a:pt x="32571" y="17423"/>
                  <a:pt x="32558" y="17455"/>
                </a:cubicBezTo>
                <a:cubicBezTo>
                  <a:pt x="32545" y="17487"/>
                  <a:pt x="32528" y="17517"/>
                  <a:pt x="32509" y="17546"/>
                </a:cubicBezTo>
                <a:cubicBezTo>
                  <a:pt x="32490" y="17575"/>
                  <a:pt x="32468" y="17602"/>
                  <a:pt x="32443" y="17627"/>
                </a:cubicBezTo>
                <a:cubicBezTo>
                  <a:pt x="32419" y="17651"/>
                  <a:pt x="32392" y="17673"/>
                  <a:pt x="32363" y="17692"/>
                </a:cubicBezTo>
                <a:cubicBezTo>
                  <a:pt x="32334" y="17712"/>
                  <a:pt x="32304" y="17728"/>
                  <a:pt x="32271" y="17741"/>
                </a:cubicBezTo>
                <a:cubicBezTo>
                  <a:pt x="32239" y="17755"/>
                  <a:pt x="32206" y="17765"/>
                  <a:pt x="32172" y="17771"/>
                </a:cubicBezTo>
                <a:cubicBezTo>
                  <a:pt x="32138" y="17778"/>
                  <a:pt x="32104" y="17781"/>
                  <a:pt x="32069" y="17781"/>
                </a:cubicBezTo>
                <a:lnTo>
                  <a:pt x="530" y="17781"/>
                </a:lnTo>
                <a:cubicBezTo>
                  <a:pt x="495" y="17781"/>
                  <a:pt x="461" y="17778"/>
                  <a:pt x="426" y="17771"/>
                </a:cubicBezTo>
                <a:cubicBezTo>
                  <a:pt x="392" y="17765"/>
                  <a:pt x="359" y="17755"/>
                  <a:pt x="327" y="17741"/>
                </a:cubicBezTo>
                <a:cubicBezTo>
                  <a:pt x="295" y="17728"/>
                  <a:pt x="265" y="17712"/>
                  <a:pt x="236" y="17692"/>
                </a:cubicBezTo>
                <a:cubicBezTo>
                  <a:pt x="207" y="17673"/>
                  <a:pt x="180" y="17651"/>
                  <a:pt x="155" y="17627"/>
                </a:cubicBezTo>
                <a:cubicBezTo>
                  <a:pt x="131" y="17602"/>
                  <a:pt x="109" y="17575"/>
                  <a:pt x="90" y="17546"/>
                </a:cubicBezTo>
                <a:cubicBezTo>
                  <a:pt x="70" y="17517"/>
                  <a:pt x="54" y="17487"/>
                  <a:pt x="41" y="17455"/>
                </a:cubicBezTo>
                <a:cubicBezTo>
                  <a:pt x="27" y="17423"/>
                  <a:pt x="17" y="17390"/>
                  <a:pt x="11" y="17356"/>
                </a:cubicBezTo>
                <a:cubicBezTo>
                  <a:pt x="4" y="17321"/>
                  <a:pt x="0" y="17287"/>
                  <a:pt x="0" y="17252"/>
                </a:cubicBezTo>
                <a:lnTo>
                  <a:pt x="0" y="530"/>
                </a:lnTo>
                <a:cubicBezTo>
                  <a:pt x="0" y="495"/>
                  <a:pt x="4" y="461"/>
                  <a:pt x="11" y="426"/>
                </a:cubicBezTo>
                <a:cubicBezTo>
                  <a:pt x="17" y="392"/>
                  <a:pt x="27" y="359"/>
                  <a:pt x="41" y="327"/>
                </a:cubicBezTo>
                <a:cubicBezTo>
                  <a:pt x="54" y="295"/>
                  <a:pt x="70" y="265"/>
                  <a:pt x="90" y="236"/>
                </a:cubicBezTo>
                <a:cubicBezTo>
                  <a:pt x="109" y="207"/>
                  <a:pt x="131" y="180"/>
                  <a:pt x="155" y="155"/>
                </a:cubicBezTo>
                <a:cubicBezTo>
                  <a:pt x="180" y="131"/>
                  <a:pt x="207" y="109"/>
                  <a:pt x="236" y="90"/>
                </a:cubicBezTo>
                <a:cubicBezTo>
                  <a:pt x="265" y="70"/>
                  <a:pt x="295" y="54"/>
                  <a:pt x="327" y="41"/>
                </a:cubicBezTo>
                <a:cubicBezTo>
                  <a:pt x="359" y="27"/>
                  <a:pt x="392" y="17"/>
                  <a:pt x="426" y="11"/>
                </a:cubicBezTo>
                <a:cubicBezTo>
                  <a:pt x="461" y="4"/>
                  <a:pt x="495" y="0"/>
                  <a:pt x="530" y="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90" name="" descr=""/>
          <p:cNvPicPr/>
          <p:nvPr/>
        </p:nvPicPr>
        <p:blipFill>
          <a:blip r:embed="rId1"/>
          <a:stretch/>
        </p:blipFill>
        <p:spPr>
          <a:xfrm>
            <a:off x="10515600" y="38160"/>
            <a:ext cx="1142640" cy="1142640"/>
          </a:xfrm>
          <a:prstGeom prst="rect">
            <a:avLst/>
          </a:prstGeom>
          <a:ln w="0">
            <a:noFill/>
          </a:ln>
        </p:spPr>
      </p:pic>
      <p:sp>
        <p:nvSpPr>
          <p:cNvPr id="91" name=""/>
          <p:cNvSpPr txBox="1"/>
          <p:nvPr/>
        </p:nvSpPr>
        <p:spPr>
          <a:xfrm>
            <a:off x="533520" y="923760"/>
            <a:ext cx="7404480" cy="401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3</a:t>
            </a:r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つの課題に対し、それぞれに特化した機械学習手法を提案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2" name=""/>
          <p:cNvSpPr txBox="1"/>
          <p:nvPr/>
        </p:nvSpPr>
        <p:spPr>
          <a:xfrm>
            <a:off x="533520" y="1438200"/>
            <a:ext cx="4582080" cy="401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課題</a:t>
            </a:r>
            <a:r>
              <a:rPr b="0" lang="en-US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1: </a:t>
            </a:r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ロバスト性の欠如（環境光）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3" name=""/>
          <p:cNvSpPr/>
          <p:nvPr/>
        </p:nvSpPr>
        <p:spPr>
          <a:xfrm>
            <a:off x="809280" y="2600280"/>
            <a:ext cx="105120" cy="105120"/>
          </a:xfrm>
          <a:custGeom>
            <a:avLst/>
            <a:gdLst/>
            <a:ahLst/>
            <a:rect l="0" t="0" r="r" b="b"/>
            <a:pathLst>
              <a:path w="292" h="292">
                <a:moveTo>
                  <a:pt x="292" y="145"/>
                </a:moveTo>
                <a:cubicBezTo>
                  <a:pt x="292" y="155"/>
                  <a:pt x="292" y="164"/>
                  <a:pt x="290" y="174"/>
                </a:cubicBezTo>
                <a:cubicBezTo>
                  <a:pt x="288" y="183"/>
                  <a:pt x="285" y="192"/>
                  <a:pt x="281" y="202"/>
                </a:cubicBezTo>
                <a:cubicBezTo>
                  <a:pt x="278" y="211"/>
                  <a:pt x="273" y="219"/>
                  <a:pt x="268" y="227"/>
                </a:cubicBezTo>
                <a:cubicBezTo>
                  <a:pt x="263" y="235"/>
                  <a:pt x="257" y="242"/>
                  <a:pt x="250" y="249"/>
                </a:cubicBezTo>
                <a:cubicBezTo>
                  <a:pt x="243" y="256"/>
                  <a:pt x="236" y="262"/>
                  <a:pt x="228" y="267"/>
                </a:cubicBezTo>
                <a:cubicBezTo>
                  <a:pt x="219" y="272"/>
                  <a:pt x="210" y="277"/>
                  <a:pt x="202" y="281"/>
                </a:cubicBezTo>
                <a:cubicBezTo>
                  <a:pt x="193" y="284"/>
                  <a:pt x="184" y="287"/>
                  <a:pt x="174" y="289"/>
                </a:cubicBezTo>
                <a:cubicBezTo>
                  <a:pt x="165" y="291"/>
                  <a:pt x="156" y="292"/>
                  <a:pt x="146" y="292"/>
                </a:cubicBezTo>
                <a:cubicBezTo>
                  <a:pt x="136" y="292"/>
                  <a:pt x="127" y="291"/>
                  <a:pt x="118" y="289"/>
                </a:cubicBezTo>
                <a:cubicBezTo>
                  <a:pt x="108" y="287"/>
                  <a:pt x="99" y="284"/>
                  <a:pt x="90" y="281"/>
                </a:cubicBezTo>
                <a:cubicBezTo>
                  <a:pt x="81" y="277"/>
                  <a:pt x="73" y="272"/>
                  <a:pt x="65" y="267"/>
                </a:cubicBezTo>
                <a:cubicBezTo>
                  <a:pt x="57" y="262"/>
                  <a:pt x="50" y="256"/>
                  <a:pt x="43" y="249"/>
                </a:cubicBezTo>
                <a:cubicBezTo>
                  <a:pt x="36" y="242"/>
                  <a:pt x="30" y="235"/>
                  <a:pt x="25" y="227"/>
                </a:cubicBezTo>
                <a:cubicBezTo>
                  <a:pt x="20" y="219"/>
                  <a:pt x="15" y="211"/>
                  <a:pt x="12" y="202"/>
                </a:cubicBezTo>
                <a:cubicBezTo>
                  <a:pt x="8" y="192"/>
                  <a:pt x="5" y="183"/>
                  <a:pt x="3" y="174"/>
                </a:cubicBezTo>
                <a:cubicBezTo>
                  <a:pt x="1" y="164"/>
                  <a:pt x="0" y="155"/>
                  <a:pt x="0" y="145"/>
                </a:cubicBezTo>
                <a:cubicBezTo>
                  <a:pt x="0" y="136"/>
                  <a:pt x="1" y="126"/>
                  <a:pt x="3" y="117"/>
                </a:cubicBezTo>
                <a:cubicBezTo>
                  <a:pt x="5" y="107"/>
                  <a:pt x="8" y="98"/>
                  <a:pt x="12" y="89"/>
                </a:cubicBezTo>
                <a:cubicBezTo>
                  <a:pt x="15" y="81"/>
                  <a:pt x="20" y="72"/>
                  <a:pt x="25" y="64"/>
                </a:cubicBezTo>
                <a:cubicBezTo>
                  <a:pt x="30" y="56"/>
                  <a:pt x="36" y="49"/>
                  <a:pt x="43" y="42"/>
                </a:cubicBezTo>
                <a:cubicBezTo>
                  <a:pt x="50" y="35"/>
                  <a:pt x="57" y="29"/>
                  <a:pt x="65" y="24"/>
                </a:cubicBezTo>
                <a:cubicBezTo>
                  <a:pt x="73" y="19"/>
                  <a:pt x="81" y="14"/>
                  <a:pt x="90" y="11"/>
                </a:cubicBezTo>
                <a:cubicBezTo>
                  <a:pt x="99" y="7"/>
                  <a:pt x="108" y="4"/>
                  <a:pt x="118" y="2"/>
                </a:cubicBezTo>
                <a:cubicBezTo>
                  <a:pt x="127" y="1"/>
                  <a:pt x="136" y="0"/>
                  <a:pt x="146" y="0"/>
                </a:cubicBezTo>
                <a:cubicBezTo>
                  <a:pt x="156" y="0"/>
                  <a:pt x="165" y="1"/>
                  <a:pt x="174" y="2"/>
                </a:cubicBezTo>
                <a:cubicBezTo>
                  <a:pt x="184" y="4"/>
                  <a:pt x="193" y="7"/>
                  <a:pt x="202" y="11"/>
                </a:cubicBezTo>
                <a:cubicBezTo>
                  <a:pt x="210" y="14"/>
                  <a:pt x="219" y="19"/>
                  <a:pt x="228" y="24"/>
                </a:cubicBezTo>
                <a:cubicBezTo>
                  <a:pt x="236" y="29"/>
                  <a:pt x="243" y="35"/>
                  <a:pt x="250" y="42"/>
                </a:cubicBezTo>
                <a:cubicBezTo>
                  <a:pt x="257" y="49"/>
                  <a:pt x="263" y="56"/>
                  <a:pt x="268" y="64"/>
                </a:cubicBezTo>
                <a:cubicBezTo>
                  <a:pt x="273" y="72"/>
                  <a:pt x="278" y="81"/>
                  <a:pt x="281" y="89"/>
                </a:cubicBezTo>
                <a:cubicBezTo>
                  <a:pt x="285" y="98"/>
                  <a:pt x="288" y="107"/>
                  <a:pt x="290" y="117"/>
                </a:cubicBezTo>
                <a:cubicBezTo>
                  <a:pt x="292" y="126"/>
                  <a:pt x="292" y="136"/>
                  <a:pt x="292" y="145"/>
                </a:cubicBezTo>
                <a:close/>
              </a:path>
            </a:pathLst>
          </a:custGeom>
          <a:solidFill>
            <a:srgbClr val="11111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4" name=""/>
          <p:cNvSpPr txBox="1"/>
          <p:nvPr/>
        </p:nvSpPr>
        <p:spPr>
          <a:xfrm>
            <a:off x="533520" y="1942920"/>
            <a:ext cx="4160520" cy="401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70" spc="-1" strike="noStrike">
                <a:solidFill>
                  <a:srgbClr val="083a5e"/>
                </a:solidFill>
                <a:latin typeface="NotoSansJP"/>
                <a:ea typeface="NotoSansJP"/>
              </a:rPr>
              <a:t>提案</a:t>
            </a:r>
            <a:r>
              <a:rPr b="0" lang="en-US" sz="2170" spc="-1" strike="noStrike">
                <a:solidFill>
                  <a:srgbClr val="083a5e"/>
                </a:solidFill>
                <a:latin typeface="NotoSansJP"/>
                <a:ea typeface="NotoSansJP"/>
              </a:rPr>
              <a:t>1: SVR</a:t>
            </a:r>
            <a:r>
              <a:rPr b="0" lang="zh-CN" sz="2170" spc="-1" strike="noStrike">
                <a:solidFill>
                  <a:srgbClr val="083a5e"/>
                </a:solidFill>
                <a:latin typeface="NotoSansJP"/>
                <a:ea typeface="NotoSansJP"/>
              </a:rPr>
              <a:t>を用いた</a:t>
            </a:r>
            <a:r>
              <a:rPr b="0" lang="en-US" sz="2170" spc="-1" strike="noStrike">
                <a:solidFill>
                  <a:srgbClr val="083a5e"/>
                </a:solidFill>
                <a:latin typeface="NotoSansJP"/>
                <a:ea typeface="NotoSansJP"/>
              </a:rPr>
              <a:t>Retinex</a:t>
            </a:r>
            <a:r>
              <a:rPr b="0" lang="zh-CN" sz="2170" spc="-1" strike="noStrike">
                <a:solidFill>
                  <a:srgbClr val="083a5e"/>
                </a:solidFill>
                <a:latin typeface="NotoSansJP"/>
                <a:ea typeface="NotoSansJP"/>
              </a:rPr>
              <a:t>処理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5" name=""/>
          <p:cNvSpPr txBox="1"/>
          <p:nvPr/>
        </p:nvSpPr>
        <p:spPr>
          <a:xfrm>
            <a:off x="1085760" y="2457360"/>
            <a:ext cx="8757720" cy="401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サポートベクター回帰</a:t>
            </a:r>
            <a:r>
              <a:rPr b="0" lang="en-US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(SVR)</a:t>
            </a:r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で照明成分を高精度に推定し、外乱を除去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6" name=""/>
          <p:cNvSpPr txBox="1"/>
          <p:nvPr/>
        </p:nvSpPr>
        <p:spPr>
          <a:xfrm>
            <a:off x="533520" y="3019320"/>
            <a:ext cx="4306320" cy="401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課題</a:t>
            </a:r>
            <a:r>
              <a:rPr b="0" lang="en-US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2: </a:t>
            </a:r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効率性の低さ（低解像度）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7" name=""/>
          <p:cNvSpPr/>
          <p:nvPr/>
        </p:nvSpPr>
        <p:spPr>
          <a:xfrm>
            <a:off x="809280" y="4181400"/>
            <a:ext cx="105120" cy="105120"/>
          </a:xfrm>
          <a:custGeom>
            <a:avLst/>
            <a:gdLst/>
            <a:ahLst/>
            <a:rect l="0" t="0" r="r" b="b"/>
            <a:pathLst>
              <a:path w="292" h="292">
                <a:moveTo>
                  <a:pt x="292" y="145"/>
                </a:moveTo>
                <a:cubicBezTo>
                  <a:pt x="292" y="155"/>
                  <a:pt x="292" y="164"/>
                  <a:pt x="290" y="175"/>
                </a:cubicBezTo>
                <a:cubicBezTo>
                  <a:pt x="288" y="184"/>
                  <a:pt x="285" y="193"/>
                  <a:pt x="281" y="202"/>
                </a:cubicBezTo>
                <a:cubicBezTo>
                  <a:pt x="278" y="211"/>
                  <a:pt x="273" y="219"/>
                  <a:pt x="268" y="227"/>
                </a:cubicBezTo>
                <a:cubicBezTo>
                  <a:pt x="263" y="235"/>
                  <a:pt x="257" y="242"/>
                  <a:pt x="250" y="249"/>
                </a:cubicBezTo>
                <a:cubicBezTo>
                  <a:pt x="243" y="256"/>
                  <a:pt x="236" y="262"/>
                  <a:pt x="228" y="267"/>
                </a:cubicBezTo>
                <a:cubicBezTo>
                  <a:pt x="219" y="273"/>
                  <a:pt x="210" y="277"/>
                  <a:pt x="202" y="281"/>
                </a:cubicBezTo>
                <a:cubicBezTo>
                  <a:pt x="193" y="284"/>
                  <a:pt x="184" y="287"/>
                  <a:pt x="174" y="289"/>
                </a:cubicBezTo>
                <a:cubicBezTo>
                  <a:pt x="165" y="291"/>
                  <a:pt x="156" y="292"/>
                  <a:pt x="146" y="292"/>
                </a:cubicBezTo>
                <a:cubicBezTo>
                  <a:pt x="136" y="292"/>
                  <a:pt x="127" y="291"/>
                  <a:pt x="118" y="289"/>
                </a:cubicBezTo>
                <a:cubicBezTo>
                  <a:pt x="108" y="287"/>
                  <a:pt x="99" y="284"/>
                  <a:pt x="90" y="281"/>
                </a:cubicBezTo>
                <a:cubicBezTo>
                  <a:pt x="81" y="277"/>
                  <a:pt x="73" y="273"/>
                  <a:pt x="65" y="267"/>
                </a:cubicBezTo>
                <a:cubicBezTo>
                  <a:pt x="57" y="262"/>
                  <a:pt x="50" y="256"/>
                  <a:pt x="43" y="249"/>
                </a:cubicBezTo>
                <a:cubicBezTo>
                  <a:pt x="36" y="242"/>
                  <a:pt x="30" y="235"/>
                  <a:pt x="25" y="227"/>
                </a:cubicBezTo>
                <a:cubicBezTo>
                  <a:pt x="20" y="219"/>
                  <a:pt x="15" y="211"/>
                  <a:pt x="12" y="202"/>
                </a:cubicBezTo>
                <a:cubicBezTo>
                  <a:pt x="8" y="193"/>
                  <a:pt x="5" y="184"/>
                  <a:pt x="3" y="175"/>
                </a:cubicBezTo>
                <a:cubicBezTo>
                  <a:pt x="1" y="164"/>
                  <a:pt x="0" y="155"/>
                  <a:pt x="0" y="145"/>
                </a:cubicBezTo>
                <a:cubicBezTo>
                  <a:pt x="0" y="136"/>
                  <a:pt x="1" y="126"/>
                  <a:pt x="3" y="117"/>
                </a:cubicBezTo>
                <a:cubicBezTo>
                  <a:pt x="5" y="107"/>
                  <a:pt x="8" y="98"/>
                  <a:pt x="12" y="90"/>
                </a:cubicBezTo>
                <a:cubicBezTo>
                  <a:pt x="15" y="81"/>
                  <a:pt x="20" y="72"/>
                  <a:pt x="25" y="64"/>
                </a:cubicBezTo>
                <a:cubicBezTo>
                  <a:pt x="30" y="56"/>
                  <a:pt x="36" y="49"/>
                  <a:pt x="43" y="42"/>
                </a:cubicBezTo>
                <a:cubicBezTo>
                  <a:pt x="50" y="36"/>
                  <a:pt x="57" y="30"/>
                  <a:pt x="65" y="24"/>
                </a:cubicBezTo>
                <a:cubicBezTo>
                  <a:pt x="73" y="19"/>
                  <a:pt x="81" y="14"/>
                  <a:pt x="90" y="11"/>
                </a:cubicBezTo>
                <a:cubicBezTo>
                  <a:pt x="99" y="7"/>
                  <a:pt x="108" y="4"/>
                  <a:pt x="118" y="3"/>
                </a:cubicBezTo>
                <a:cubicBezTo>
                  <a:pt x="127" y="1"/>
                  <a:pt x="136" y="0"/>
                  <a:pt x="146" y="0"/>
                </a:cubicBezTo>
                <a:cubicBezTo>
                  <a:pt x="156" y="0"/>
                  <a:pt x="165" y="1"/>
                  <a:pt x="174" y="3"/>
                </a:cubicBezTo>
                <a:cubicBezTo>
                  <a:pt x="184" y="4"/>
                  <a:pt x="193" y="7"/>
                  <a:pt x="202" y="11"/>
                </a:cubicBezTo>
                <a:cubicBezTo>
                  <a:pt x="210" y="14"/>
                  <a:pt x="219" y="19"/>
                  <a:pt x="228" y="24"/>
                </a:cubicBezTo>
                <a:cubicBezTo>
                  <a:pt x="236" y="30"/>
                  <a:pt x="243" y="36"/>
                  <a:pt x="250" y="42"/>
                </a:cubicBezTo>
                <a:cubicBezTo>
                  <a:pt x="257" y="49"/>
                  <a:pt x="263" y="56"/>
                  <a:pt x="268" y="64"/>
                </a:cubicBezTo>
                <a:cubicBezTo>
                  <a:pt x="273" y="72"/>
                  <a:pt x="278" y="81"/>
                  <a:pt x="281" y="90"/>
                </a:cubicBezTo>
                <a:cubicBezTo>
                  <a:pt x="285" y="98"/>
                  <a:pt x="288" y="107"/>
                  <a:pt x="290" y="117"/>
                </a:cubicBezTo>
                <a:cubicBezTo>
                  <a:pt x="292" y="126"/>
                  <a:pt x="292" y="136"/>
                  <a:pt x="292" y="145"/>
                </a:cubicBezTo>
                <a:close/>
              </a:path>
            </a:pathLst>
          </a:custGeom>
          <a:solidFill>
            <a:srgbClr val="11111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8" name=""/>
          <p:cNvSpPr txBox="1"/>
          <p:nvPr/>
        </p:nvSpPr>
        <p:spPr>
          <a:xfrm>
            <a:off x="533520" y="3533760"/>
            <a:ext cx="5117040" cy="401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70" spc="-1" strike="noStrike">
                <a:solidFill>
                  <a:srgbClr val="083a5e"/>
                </a:solidFill>
                <a:latin typeface="NotoSansJP"/>
                <a:ea typeface="NotoSansJP"/>
              </a:rPr>
              <a:t>提案</a:t>
            </a:r>
            <a:r>
              <a:rPr b="0" lang="en-US" sz="2170" spc="-1" strike="noStrike">
                <a:solidFill>
                  <a:srgbClr val="083a5e"/>
                </a:solidFill>
                <a:latin typeface="NotoSansJP"/>
                <a:ea typeface="NotoSansJP"/>
              </a:rPr>
              <a:t>2: SVM</a:t>
            </a:r>
            <a:r>
              <a:rPr b="0" lang="zh-CN" sz="2170" spc="-1" strike="noStrike">
                <a:solidFill>
                  <a:srgbClr val="083a5e"/>
                </a:solidFill>
                <a:latin typeface="NotoSansJP"/>
                <a:ea typeface="NotoSansJP"/>
              </a:rPr>
              <a:t>を用いた画素値選択型超解像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9" name=""/>
          <p:cNvSpPr txBox="1"/>
          <p:nvPr/>
        </p:nvSpPr>
        <p:spPr>
          <a:xfrm>
            <a:off x="1085760" y="4038480"/>
            <a:ext cx="9381600" cy="401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サポートベクターマシン</a:t>
            </a:r>
            <a:r>
              <a:rPr b="0" lang="en-US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(SVM)</a:t>
            </a:r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で最適な画素を選択し、鮮明な画像を再構成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0" name=""/>
          <p:cNvSpPr txBox="1"/>
          <p:nvPr/>
        </p:nvSpPr>
        <p:spPr>
          <a:xfrm>
            <a:off x="533520" y="4610160"/>
            <a:ext cx="4582080" cy="401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課題</a:t>
            </a:r>
            <a:r>
              <a:rPr b="0" lang="en-US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3: </a:t>
            </a:r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適応性の不足（多様な劣化）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1" name=""/>
          <p:cNvSpPr/>
          <p:nvPr/>
        </p:nvSpPr>
        <p:spPr>
          <a:xfrm>
            <a:off x="809280" y="5771880"/>
            <a:ext cx="105120" cy="105120"/>
          </a:xfrm>
          <a:custGeom>
            <a:avLst/>
            <a:gdLst/>
            <a:ahLst/>
            <a:rect l="0" t="0" r="r" b="b"/>
            <a:pathLst>
              <a:path w="292" h="292">
                <a:moveTo>
                  <a:pt x="292" y="147"/>
                </a:moveTo>
                <a:cubicBezTo>
                  <a:pt x="292" y="156"/>
                  <a:pt x="292" y="166"/>
                  <a:pt x="290" y="175"/>
                </a:cubicBezTo>
                <a:cubicBezTo>
                  <a:pt x="288" y="185"/>
                  <a:pt x="285" y="194"/>
                  <a:pt x="281" y="202"/>
                </a:cubicBezTo>
                <a:cubicBezTo>
                  <a:pt x="278" y="211"/>
                  <a:pt x="273" y="220"/>
                  <a:pt x="268" y="228"/>
                </a:cubicBezTo>
                <a:cubicBezTo>
                  <a:pt x="263" y="236"/>
                  <a:pt x="257" y="243"/>
                  <a:pt x="250" y="250"/>
                </a:cubicBezTo>
                <a:cubicBezTo>
                  <a:pt x="243" y="256"/>
                  <a:pt x="236" y="262"/>
                  <a:pt x="228" y="268"/>
                </a:cubicBezTo>
                <a:cubicBezTo>
                  <a:pt x="219" y="273"/>
                  <a:pt x="210" y="278"/>
                  <a:pt x="202" y="281"/>
                </a:cubicBezTo>
                <a:cubicBezTo>
                  <a:pt x="193" y="285"/>
                  <a:pt x="184" y="288"/>
                  <a:pt x="174" y="289"/>
                </a:cubicBezTo>
                <a:cubicBezTo>
                  <a:pt x="165" y="291"/>
                  <a:pt x="156" y="292"/>
                  <a:pt x="146" y="292"/>
                </a:cubicBezTo>
                <a:cubicBezTo>
                  <a:pt x="136" y="292"/>
                  <a:pt x="127" y="291"/>
                  <a:pt x="118" y="289"/>
                </a:cubicBezTo>
                <a:cubicBezTo>
                  <a:pt x="108" y="288"/>
                  <a:pt x="99" y="285"/>
                  <a:pt x="90" y="281"/>
                </a:cubicBezTo>
                <a:cubicBezTo>
                  <a:pt x="81" y="278"/>
                  <a:pt x="73" y="273"/>
                  <a:pt x="65" y="268"/>
                </a:cubicBezTo>
                <a:cubicBezTo>
                  <a:pt x="57" y="262"/>
                  <a:pt x="50" y="256"/>
                  <a:pt x="43" y="250"/>
                </a:cubicBezTo>
                <a:cubicBezTo>
                  <a:pt x="36" y="243"/>
                  <a:pt x="30" y="236"/>
                  <a:pt x="25" y="228"/>
                </a:cubicBezTo>
                <a:cubicBezTo>
                  <a:pt x="20" y="220"/>
                  <a:pt x="15" y="211"/>
                  <a:pt x="12" y="202"/>
                </a:cubicBezTo>
                <a:cubicBezTo>
                  <a:pt x="8" y="194"/>
                  <a:pt x="5" y="185"/>
                  <a:pt x="3" y="175"/>
                </a:cubicBezTo>
                <a:cubicBezTo>
                  <a:pt x="1" y="166"/>
                  <a:pt x="0" y="156"/>
                  <a:pt x="0" y="147"/>
                </a:cubicBezTo>
                <a:cubicBezTo>
                  <a:pt x="0" y="137"/>
                  <a:pt x="1" y="128"/>
                  <a:pt x="3" y="117"/>
                </a:cubicBezTo>
                <a:cubicBezTo>
                  <a:pt x="5" y="108"/>
                  <a:pt x="8" y="99"/>
                  <a:pt x="12" y="90"/>
                </a:cubicBezTo>
                <a:cubicBezTo>
                  <a:pt x="15" y="81"/>
                  <a:pt x="20" y="73"/>
                  <a:pt x="25" y="65"/>
                </a:cubicBezTo>
                <a:cubicBezTo>
                  <a:pt x="30" y="57"/>
                  <a:pt x="36" y="50"/>
                  <a:pt x="43" y="43"/>
                </a:cubicBezTo>
                <a:cubicBezTo>
                  <a:pt x="50" y="36"/>
                  <a:pt x="57" y="30"/>
                  <a:pt x="65" y="25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8"/>
                  <a:pt x="108" y="5"/>
                  <a:pt x="118" y="3"/>
                </a:cubicBezTo>
                <a:cubicBezTo>
                  <a:pt x="127" y="1"/>
                  <a:pt x="136" y="0"/>
                  <a:pt x="146" y="0"/>
                </a:cubicBezTo>
                <a:cubicBezTo>
                  <a:pt x="156" y="0"/>
                  <a:pt x="165" y="1"/>
                  <a:pt x="174" y="3"/>
                </a:cubicBezTo>
                <a:cubicBezTo>
                  <a:pt x="184" y="5"/>
                  <a:pt x="193" y="8"/>
                  <a:pt x="202" y="11"/>
                </a:cubicBezTo>
                <a:cubicBezTo>
                  <a:pt x="210" y="15"/>
                  <a:pt x="219" y="19"/>
                  <a:pt x="228" y="25"/>
                </a:cubicBezTo>
                <a:cubicBezTo>
                  <a:pt x="236" y="30"/>
                  <a:pt x="243" y="36"/>
                  <a:pt x="250" y="43"/>
                </a:cubicBezTo>
                <a:cubicBezTo>
                  <a:pt x="257" y="50"/>
                  <a:pt x="263" y="57"/>
                  <a:pt x="268" y="65"/>
                </a:cubicBezTo>
                <a:cubicBezTo>
                  <a:pt x="273" y="73"/>
                  <a:pt x="278" y="81"/>
                  <a:pt x="281" y="90"/>
                </a:cubicBezTo>
                <a:cubicBezTo>
                  <a:pt x="285" y="99"/>
                  <a:pt x="288" y="108"/>
                  <a:pt x="290" y="117"/>
                </a:cubicBezTo>
                <a:cubicBezTo>
                  <a:pt x="292" y="128"/>
                  <a:pt x="292" y="137"/>
                  <a:pt x="292" y="147"/>
                </a:cubicBezTo>
                <a:close/>
              </a:path>
            </a:pathLst>
          </a:custGeom>
          <a:solidFill>
            <a:srgbClr val="11111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2" name=""/>
          <p:cNvSpPr txBox="1"/>
          <p:nvPr/>
        </p:nvSpPr>
        <p:spPr>
          <a:xfrm>
            <a:off x="533520" y="5114880"/>
            <a:ext cx="4738320" cy="401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70" spc="-1" strike="noStrike">
                <a:solidFill>
                  <a:srgbClr val="083a5e"/>
                </a:solidFill>
                <a:latin typeface="NotoSansJP"/>
                <a:ea typeface="NotoSansJP"/>
              </a:rPr>
              <a:t>提案</a:t>
            </a:r>
            <a:r>
              <a:rPr b="0" lang="en-US" sz="2170" spc="-1" strike="noStrike">
                <a:solidFill>
                  <a:srgbClr val="083a5e"/>
                </a:solidFill>
                <a:latin typeface="NotoSansJP"/>
                <a:ea typeface="NotoSansJP"/>
              </a:rPr>
              <a:t>3: </a:t>
            </a:r>
            <a:r>
              <a:rPr b="0" lang="zh-CN" sz="2170" spc="-1" strike="noStrike">
                <a:solidFill>
                  <a:srgbClr val="083a5e"/>
                </a:solidFill>
                <a:latin typeface="NotoSansJP"/>
                <a:ea typeface="NotoSansJP"/>
              </a:rPr>
              <a:t>多重構造</a:t>
            </a:r>
            <a:r>
              <a:rPr b="0" lang="en-US" sz="2170" spc="-1" strike="noStrike">
                <a:solidFill>
                  <a:srgbClr val="083a5e"/>
                </a:solidFill>
                <a:latin typeface="NotoSansJP"/>
                <a:ea typeface="NotoSansJP"/>
              </a:rPr>
              <a:t>CNN</a:t>
            </a:r>
            <a:r>
              <a:rPr b="0" lang="zh-CN" sz="2170" spc="-1" strike="noStrike">
                <a:solidFill>
                  <a:srgbClr val="083a5e"/>
                </a:solidFill>
                <a:latin typeface="NotoSansJP"/>
                <a:ea typeface="NotoSansJP"/>
              </a:rPr>
              <a:t>による文字認識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3" name=""/>
          <p:cNvSpPr txBox="1"/>
          <p:nvPr/>
        </p:nvSpPr>
        <p:spPr>
          <a:xfrm>
            <a:off x="1085760" y="5629320"/>
            <a:ext cx="9103680" cy="399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複数の解像度の画像を並列処理し、劣化状態に応じて最適な情報から認識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4" name=""/>
          <p:cNvSpPr txBox="1"/>
          <p:nvPr/>
        </p:nvSpPr>
        <p:spPr>
          <a:xfrm>
            <a:off x="904320" y="6610320"/>
            <a:ext cx="10518480" cy="401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これら</a:t>
            </a:r>
            <a:r>
              <a:rPr b="0" lang="en-US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3</a:t>
            </a:r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つの手法を統合し、複合劣化画像に対する総合的な認識性能の向上を目指す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5" name=""/>
          <p:cNvSpPr/>
          <p:nvPr/>
        </p:nvSpPr>
        <p:spPr>
          <a:xfrm>
            <a:off x="533160" y="561960"/>
            <a:ext cx="267120" cy="57240"/>
          </a:xfrm>
          <a:custGeom>
            <a:avLst/>
            <a:gdLst/>
            <a:ahLst/>
            <a:rect l="0" t="0" r="r" b="b"/>
            <a:pathLst>
              <a:path w="742" h="159">
                <a:moveTo>
                  <a:pt x="0" y="106"/>
                </a:moveTo>
                <a:lnTo>
                  <a:pt x="0" y="52"/>
                </a:lnTo>
                <a:cubicBezTo>
                  <a:pt x="0" y="45"/>
                  <a:pt x="2" y="39"/>
                  <a:pt x="4" y="32"/>
                </a:cubicBezTo>
                <a:cubicBezTo>
                  <a:pt x="7" y="26"/>
                  <a:pt x="11" y="20"/>
                  <a:pt x="16" y="15"/>
                </a:cubicBezTo>
                <a:cubicBezTo>
                  <a:pt x="21" y="10"/>
                  <a:pt x="26" y="6"/>
                  <a:pt x="33" y="4"/>
                </a:cubicBezTo>
                <a:cubicBezTo>
                  <a:pt x="39" y="1"/>
                  <a:pt x="46" y="0"/>
                  <a:pt x="53" y="0"/>
                </a:cubicBezTo>
                <a:lnTo>
                  <a:pt x="689" y="0"/>
                </a:lnTo>
                <a:cubicBezTo>
                  <a:pt x="696" y="0"/>
                  <a:pt x="703" y="1"/>
                  <a:pt x="709" y="4"/>
                </a:cubicBezTo>
                <a:cubicBezTo>
                  <a:pt x="716" y="6"/>
                  <a:pt x="722" y="10"/>
                  <a:pt x="727" y="15"/>
                </a:cubicBezTo>
                <a:cubicBezTo>
                  <a:pt x="731" y="20"/>
                  <a:pt x="735" y="26"/>
                  <a:pt x="738" y="32"/>
                </a:cubicBezTo>
                <a:cubicBezTo>
                  <a:pt x="741" y="39"/>
                  <a:pt x="742" y="45"/>
                  <a:pt x="742" y="52"/>
                </a:cubicBezTo>
                <a:lnTo>
                  <a:pt x="742" y="106"/>
                </a:lnTo>
                <a:cubicBezTo>
                  <a:pt x="742" y="113"/>
                  <a:pt x="741" y="120"/>
                  <a:pt x="738" y="127"/>
                </a:cubicBezTo>
                <a:cubicBezTo>
                  <a:pt x="735" y="133"/>
                  <a:pt x="731" y="139"/>
                  <a:pt x="727" y="144"/>
                </a:cubicBezTo>
                <a:cubicBezTo>
                  <a:pt x="722" y="149"/>
                  <a:pt x="716" y="153"/>
                  <a:pt x="709" y="155"/>
                </a:cubicBezTo>
                <a:cubicBezTo>
                  <a:pt x="703" y="158"/>
                  <a:pt x="696" y="159"/>
                  <a:pt x="689" y="159"/>
                </a:cubicBezTo>
                <a:lnTo>
                  <a:pt x="53" y="159"/>
                </a:lnTo>
                <a:cubicBezTo>
                  <a:pt x="46" y="159"/>
                  <a:pt x="39" y="158"/>
                  <a:pt x="33" y="155"/>
                </a:cubicBezTo>
                <a:cubicBezTo>
                  <a:pt x="26" y="153"/>
                  <a:pt x="21" y="149"/>
                  <a:pt x="16" y="144"/>
                </a:cubicBezTo>
                <a:cubicBezTo>
                  <a:pt x="11" y="139"/>
                  <a:pt x="7" y="133"/>
                  <a:pt x="4" y="127"/>
                </a:cubicBezTo>
                <a:cubicBezTo>
                  <a:pt x="2" y="120"/>
                  <a:pt x="0" y="113"/>
                  <a:pt x="0" y="106"/>
                </a:cubicBezTo>
                <a:close/>
              </a:path>
            </a:pathLst>
          </a:custGeom>
          <a:solidFill>
            <a:srgbClr val="0b4b7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6" name=""/>
          <p:cNvSpPr txBox="1"/>
          <p:nvPr/>
        </p:nvSpPr>
        <p:spPr>
          <a:xfrm>
            <a:off x="914400" y="392400"/>
            <a:ext cx="1987920" cy="360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1950" spc="-1" strike="noStrike">
                <a:solidFill>
                  <a:srgbClr val="111111"/>
                </a:solidFill>
                <a:latin typeface="NotoSansJP"/>
                <a:ea typeface="NotoSansJP"/>
              </a:rPr>
              <a:t>提案手法の全体像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7" name=""/>
          <p:cNvSpPr txBox="1"/>
          <p:nvPr/>
        </p:nvSpPr>
        <p:spPr>
          <a:xfrm>
            <a:off x="11946600" y="6436800"/>
            <a:ext cx="304560" cy="416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400" spc="-1" strike="noStrike">
                <a:solidFill>
                  <a:srgbClr val="111111"/>
                </a:solidFill>
                <a:latin typeface="NotoSansJP"/>
                <a:ea typeface="NotoSansJP"/>
              </a:rPr>
              <a:t>5</a:t>
            </a:r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0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c9c9c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1" name=""/>
          <p:cNvSpPr/>
          <p:nvPr/>
        </p:nvSpPr>
        <p:spPr>
          <a:xfrm>
            <a:off x="228240" y="228240"/>
            <a:ext cx="11735280" cy="6401160"/>
          </a:xfrm>
          <a:custGeom>
            <a:avLst/>
            <a:gdLst/>
            <a:ahLst/>
            <a:rect l="0" t="0" r="r" b="b"/>
            <a:pathLst>
              <a:path w="32598" h="17781">
                <a:moveTo>
                  <a:pt x="530" y="0"/>
                </a:moveTo>
                <a:lnTo>
                  <a:pt x="32069" y="0"/>
                </a:lnTo>
                <a:cubicBezTo>
                  <a:pt x="32104" y="0"/>
                  <a:pt x="32138" y="4"/>
                  <a:pt x="32172" y="11"/>
                </a:cubicBezTo>
                <a:cubicBezTo>
                  <a:pt x="32206" y="17"/>
                  <a:pt x="32239" y="27"/>
                  <a:pt x="32271" y="41"/>
                </a:cubicBezTo>
                <a:cubicBezTo>
                  <a:pt x="32304" y="54"/>
                  <a:pt x="32334" y="70"/>
                  <a:pt x="32363" y="90"/>
                </a:cubicBezTo>
                <a:cubicBezTo>
                  <a:pt x="32392" y="109"/>
                  <a:pt x="32419" y="131"/>
                  <a:pt x="32443" y="155"/>
                </a:cubicBezTo>
                <a:cubicBezTo>
                  <a:pt x="32468" y="180"/>
                  <a:pt x="32490" y="207"/>
                  <a:pt x="32509" y="236"/>
                </a:cubicBezTo>
                <a:cubicBezTo>
                  <a:pt x="32528" y="265"/>
                  <a:pt x="32545" y="295"/>
                  <a:pt x="32558" y="327"/>
                </a:cubicBezTo>
                <a:cubicBezTo>
                  <a:pt x="32571" y="359"/>
                  <a:pt x="32581" y="392"/>
                  <a:pt x="32588" y="426"/>
                </a:cubicBezTo>
                <a:cubicBezTo>
                  <a:pt x="32595" y="461"/>
                  <a:pt x="32598" y="495"/>
                  <a:pt x="32598" y="530"/>
                </a:cubicBezTo>
                <a:lnTo>
                  <a:pt x="32598" y="17252"/>
                </a:lnTo>
                <a:cubicBezTo>
                  <a:pt x="32598" y="17287"/>
                  <a:pt x="32595" y="17321"/>
                  <a:pt x="32588" y="17356"/>
                </a:cubicBezTo>
                <a:cubicBezTo>
                  <a:pt x="32581" y="17390"/>
                  <a:pt x="32571" y="17423"/>
                  <a:pt x="32558" y="17455"/>
                </a:cubicBezTo>
                <a:cubicBezTo>
                  <a:pt x="32545" y="17487"/>
                  <a:pt x="32528" y="17517"/>
                  <a:pt x="32509" y="17546"/>
                </a:cubicBezTo>
                <a:cubicBezTo>
                  <a:pt x="32490" y="17575"/>
                  <a:pt x="32468" y="17602"/>
                  <a:pt x="32443" y="17627"/>
                </a:cubicBezTo>
                <a:cubicBezTo>
                  <a:pt x="32419" y="17651"/>
                  <a:pt x="32392" y="17673"/>
                  <a:pt x="32363" y="17692"/>
                </a:cubicBezTo>
                <a:cubicBezTo>
                  <a:pt x="32334" y="17712"/>
                  <a:pt x="32304" y="17728"/>
                  <a:pt x="32271" y="17741"/>
                </a:cubicBezTo>
                <a:cubicBezTo>
                  <a:pt x="32239" y="17755"/>
                  <a:pt x="32206" y="17765"/>
                  <a:pt x="32172" y="17771"/>
                </a:cubicBezTo>
                <a:cubicBezTo>
                  <a:pt x="32138" y="17778"/>
                  <a:pt x="32104" y="17781"/>
                  <a:pt x="32069" y="17781"/>
                </a:cubicBezTo>
                <a:lnTo>
                  <a:pt x="530" y="17781"/>
                </a:lnTo>
                <a:cubicBezTo>
                  <a:pt x="495" y="17781"/>
                  <a:pt x="461" y="17778"/>
                  <a:pt x="426" y="17771"/>
                </a:cubicBezTo>
                <a:cubicBezTo>
                  <a:pt x="392" y="17765"/>
                  <a:pt x="359" y="17755"/>
                  <a:pt x="327" y="17741"/>
                </a:cubicBezTo>
                <a:cubicBezTo>
                  <a:pt x="295" y="17728"/>
                  <a:pt x="265" y="17712"/>
                  <a:pt x="236" y="17692"/>
                </a:cubicBezTo>
                <a:cubicBezTo>
                  <a:pt x="207" y="17673"/>
                  <a:pt x="180" y="17651"/>
                  <a:pt x="155" y="17627"/>
                </a:cubicBezTo>
                <a:cubicBezTo>
                  <a:pt x="131" y="17602"/>
                  <a:pt x="109" y="17575"/>
                  <a:pt x="90" y="17546"/>
                </a:cubicBezTo>
                <a:cubicBezTo>
                  <a:pt x="70" y="17517"/>
                  <a:pt x="54" y="17487"/>
                  <a:pt x="41" y="17455"/>
                </a:cubicBezTo>
                <a:cubicBezTo>
                  <a:pt x="27" y="17423"/>
                  <a:pt x="17" y="17390"/>
                  <a:pt x="11" y="17356"/>
                </a:cubicBezTo>
                <a:cubicBezTo>
                  <a:pt x="4" y="17321"/>
                  <a:pt x="0" y="17287"/>
                  <a:pt x="0" y="17252"/>
                </a:cubicBezTo>
                <a:lnTo>
                  <a:pt x="0" y="530"/>
                </a:lnTo>
                <a:cubicBezTo>
                  <a:pt x="0" y="495"/>
                  <a:pt x="4" y="461"/>
                  <a:pt x="11" y="426"/>
                </a:cubicBezTo>
                <a:cubicBezTo>
                  <a:pt x="17" y="392"/>
                  <a:pt x="27" y="359"/>
                  <a:pt x="41" y="327"/>
                </a:cubicBezTo>
                <a:cubicBezTo>
                  <a:pt x="54" y="295"/>
                  <a:pt x="70" y="265"/>
                  <a:pt x="90" y="236"/>
                </a:cubicBezTo>
                <a:cubicBezTo>
                  <a:pt x="109" y="207"/>
                  <a:pt x="131" y="180"/>
                  <a:pt x="155" y="155"/>
                </a:cubicBezTo>
                <a:cubicBezTo>
                  <a:pt x="180" y="131"/>
                  <a:pt x="207" y="109"/>
                  <a:pt x="236" y="90"/>
                </a:cubicBezTo>
                <a:cubicBezTo>
                  <a:pt x="265" y="70"/>
                  <a:pt x="295" y="54"/>
                  <a:pt x="327" y="41"/>
                </a:cubicBezTo>
                <a:cubicBezTo>
                  <a:pt x="359" y="27"/>
                  <a:pt x="392" y="17"/>
                  <a:pt x="426" y="11"/>
                </a:cubicBezTo>
                <a:cubicBezTo>
                  <a:pt x="461" y="4"/>
                  <a:pt x="495" y="0"/>
                  <a:pt x="530" y="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112" name="" descr=""/>
          <p:cNvPicPr/>
          <p:nvPr/>
        </p:nvPicPr>
        <p:blipFill>
          <a:blip r:embed="rId1"/>
          <a:stretch/>
        </p:blipFill>
        <p:spPr>
          <a:xfrm>
            <a:off x="10515600" y="38160"/>
            <a:ext cx="1142640" cy="1142640"/>
          </a:xfrm>
          <a:prstGeom prst="rect">
            <a:avLst/>
          </a:prstGeom>
          <a:ln w="0">
            <a:noFill/>
          </a:ln>
        </p:spPr>
      </p:pic>
      <p:sp>
        <p:nvSpPr>
          <p:cNvPr id="113" name=""/>
          <p:cNvSpPr txBox="1"/>
          <p:nvPr/>
        </p:nvSpPr>
        <p:spPr>
          <a:xfrm>
            <a:off x="533520" y="923760"/>
            <a:ext cx="9309600" cy="401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サポートベクター回帰</a:t>
            </a:r>
            <a:r>
              <a:rPr b="0" lang="en-US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(SVR)</a:t>
            </a:r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により、環境光の外乱に頑健な画質改善を実現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4" name=""/>
          <p:cNvSpPr/>
          <p:nvPr/>
        </p:nvSpPr>
        <p:spPr>
          <a:xfrm>
            <a:off x="809280" y="2085840"/>
            <a:ext cx="105120" cy="105120"/>
          </a:xfrm>
          <a:custGeom>
            <a:avLst/>
            <a:gdLst/>
            <a:ahLst/>
            <a:rect l="0" t="0" r="r" b="b"/>
            <a:pathLst>
              <a:path w="292" h="292">
                <a:moveTo>
                  <a:pt x="292" y="145"/>
                </a:moveTo>
                <a:cubicBezTo>
                  <a:pt x="292" y="155"/>
                  <a:pt x="292" y="164"/>
                  <a:pt x="290" y="175"/>
                </a:cubicBezTo>
                <a:cubicBezTo>
                  <a:pt x="288" y="184"/>
                  <a:pt x="285" y="193"/>
                  <a:pt x="281" y="202"/>
                </a:cubicBezTo>
                <a:cubicBezTo>
                  <a:pt x="278" y="211"/>
                  <a:pt x="273" y="219"/>
                  <a:pt x="268" y="227"/>
                </a:cubicBezTo>
                <a:cubicBezTo>
                  <a:pt x="263" y="235"/>
                  <a:pt x="257" y="243"/>
                  <a:pt x="250" y="249"/>
                </a:cubicBezTo>
                <a:cubicBezTo>
                  <a:pt x="243" y="256"/>
                  <a:pt x="236" y="262"/>
                  <a:pt x="228" y="267"/>
                </a:cubicBezTo>
                <a:cubicBezTo>
                  <a:pt x="219" y="273"/>
                  <a:pt x="210" y="277"/>
                  <a:pt x="202" y="281"/>
                </a:cubicBezTo>
                <a:cubicBezTo>
                  <a:pt x="193" y="284"/>
                  <a:pt x="184" y="287"/>
                  <a:pt x="174" y="289"/>
                </a:cubicBezTo>
                <a:cubicBezTo>
                  <a:pt x="165" y="291"/>
                  <a:pt x="156" y="292"/>
                  <a:pt x="146" y="292"/>
                </a:cubicBezTo>
                <a:cubicBezTo>
                  <a:pt x="136" y="292"/>
                  <a:pt x="127" y="291"/>
                  <a:pt x="118" y="289"/>
                </a:cubicBezTo>
                <a:cubicBezTo>
                  <a:pt x="108" y="287"/>
                  <a:pt x="99" y="284"/>
                  <a:pt x="90" y="281"/>
                </a:cubicBezTo>
                <a:cubicBezTo>
                  <a:pt x="81" y="277"/>
                  <a:pt x="73" y="273"/>
                  <a:pt x="65" y="267"/>
                </a:cubicBezTo>
                <a:cubicBezTo>
                  <a:pt x="57" y="262"/>
                  <a:pt x="50" y="256"/>
                  <a:pt x="43" y="249"/>
                </a:cubicBezTo>
                <a:cubicBezTo>
                  <a:pt x="36" y="243"/>
                  <a:pt x="30" y="235"/>
                  <a:pt x="25" y="227"/>
                </a:cubicBezTo>
                <a:cubicBezTo>
                  <a:pt x="20" y="219"/>
                  <a:pt x="15" y="211"/>
                  <a:pt x="12" y="202"/>
                </a:cubicBezTo>
                <a:cubicBezTo>
                  <a:pt x="8" y="193"/>
                  <a:pt x="5" y="184"/>
                  <a:pt x="3" y="175"/>
                </a:cubicBezTo>
                <a:cubicBezTo>
                  <a:pt x="1" y="164"/>
                  <a:pt x="0" y="155"/>
                  <a:pt x="0" y="145"/>
                </a:cubicBezTo>
                <a:cubicBezTo>
                  <a:pt x="0" y="136"/>
                  <a:pt x="1" y="126"/>
                  <a:pt x="3" y="117"/>
                </a:cubicBezTo>
                <a:cubicBezTo>
                  <a:pt x="5" y="108"/>
                  <a:pt x="8" y="99"/>
                  <a:pt x="12" y="90"/>
                </a:cubicBezTo>
                <a:cubicBezTo>
                  <a:pt x="15" y="81"/>
                  <a:pt x="20" y="72"/>
                  <a:pt x="25" y="65"/>
                </a:cubicBezTo>
                <a:cubicBezTo>
                  <a:pt x="30" y="57"/>
                  <a:pt x="36" y="49"/>
                  <a:pt x="43" y="42"/>
                </a:cubicBezTo>
                <a:cubicBezTo>
                  <a:pt x="50" y="36"/>
                  <a:pt x="57" y="30"/>
                  <a:pt x="65" y="24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7"/>
                  <a:pt x="108" y="5"/>
                  <a:pt x="118" y="3"/>
                </a:cubicBezTo>
                <a:cubicBezTo>
                  <a:pt x="127" y="1"/>
                  <a:pt x="136" y="0"/>
                  <a:pt x="146" y="0"/>
                </a:cubicBezTo>
                <a:cubicBezTo>
                  <a:pt x="156" y="0"/>
                  <a:pt x="165" y="1"/>
                  <a:pt x="174" y="3"/>
                </a:cubicBezTo>
                <a:cubicBezTo>
                  <a:pt x="184" y="5"/>
                  <a:pt x="193" y="7"/>
                  <a:pt x="202" y="11"/>
                </a:cubicBezTo>
                <a:cubicBezTo>
                  <a:pt x="210" y="15"/>
                  <a:pt x="219" y="19"/>
                  <a:pt x="228" y="24"/>
                </a:cubicBezTo>
                <a:cubicBezTo>
                  <a:pt x="236" y="30"/>
                  <a:pt x="243" y="36"/>
                  <a:pt x="250" y="42"/>
                </a:cubicBezTo>
                <a:cubicBezTo>
                  <a:pt x="257" y="49"/>
                  <a:pt x="263" y="57"/>
                  <a:pt x="268" y="65"/>
                </a:cubicBezTo>
                <a:cubicBezTo>
                  <a:pt x="273" y="72"/>
                  <a:pt x="278" y="81"/>
                  <a:pt x="281" y="90"/>
                </a:cubicBezTo>
                <a:cubicBezTo>
                  <a:pt x="285" y="99"/>
                  <a:pt x="288" y="108"/>
                  <a:pt x="290" y="117"/>
                </a:cubicBezTo>
                <a:cubicBezTo>
                  <a:pt x="292" y="126"/>
                  <a:pt x="292" y="136"/>
                  <a:pt x="292" y="145"/>
                </a:cubicBezTo>
                <a:close/>
              </a:path>
            </a:pathLst>
          </a:custGeom>
          <a:solidFill>
            <a:srgbClr val="11111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5" name=""/>
          <p:cNvSpPr txBox="1"/>
          <p:nvPr/>
        </p:nvSpPr>
        <p:spPr>
          <a:xfrm>
            <a:off x="533520" y="1438200"/>
            <a:ext cx="3249000" cy="401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従来手法 </a:t>
            </a:r>
            <a:r>
              <a:rPr b="0" lang="en-US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(Retinex) </a:t>
            </a:r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の課題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6" name=""/>
          <p:cNvSpPr txBox="1"/>
          <p:nvPr/>
        </p:nvSpPr>
        <p:spPr>
          <a:xfrm>
            <a:off x="1085760" y="1942920"/>
            <a:ext cx="4690080" cy="399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照明成分の推定精度が低く、白飛びな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7" name=""/>
          <p:cNvSpPr/>
          <p:nvPr/>
        </p:nvSpPr>
        <p:spPr>
          <a:xfrm>
            <a:off x="809280" y="2990520"/>
            <a:ext cx="105120" cy="105120"/>
          </a:xfrm>
          <a:custGeom>
            <a:avLst/>
            <a:gdLst/>
            <a:ahLst/>
            <a:rect l="0" t="0" r="r" b="b"/>
            <a:pathLst>
              <a:path w="292" h="292">
                <a:moveTo>
                  <a:pt x="292" y="146"/>
                </a:moveTo>
                <a:cubicBezTo>
                  <a:pt x="292" y="155"/>
                  <a:pt x="292" y="165"/>
                  <a:pt x="290" y="174"/>
                </a:cubicBezTo>
                <a:cubicBezTo>
                  <a:pt x="288" y="184"/>
                  <a:pt x="285" y="193"/>
                  <a:pt x="281" y="202"/>
                </a:cubicBezTo>
                <a:cubicBezTo>
                  <a:pt x="278" y="210"/>
                  <a:pt x="273" y="219"/>
                  <a:pt x="268" y="227"/>
                </a:cubicBezTo>
                <a:cubicBezTo>
                  <a:pt x="263" y="235"/>
                  <a:pt x="257" y="242"/>
                  <a:pt x="250" y="249"/>
                </a:cubicBezTo>
                <a:cubicBezTo>
                  <a:pt x="243" y="256"/>
                  <a:pt x="236" y="262"/>
                  <a:pt x="228" y="267"/>
                </a:cubicBezTo>
                <a:cubicBezTo>
                  <a:pt x="219" y="272"/>
                  <a:pt x="210" y="277"/>
                  <a:pt x="202" y="281"/>
                </a:cubicBezTo>
                <a:cubicBezTo>
                  <a:pt x="193" y="285"/>
                  <a:pt x="184" y="288"/>
                  <a:pt x="174" y="290"/>
                </a:cubicBezTo>
                <a:cubicBezTo>
                  <a:pt x="165" y="292"/>
                  <a:pt x="156" y="292"/>
                  <a:pt x="146" y="292"/>
                </a:cubicBezTo>
                <a:cubicBezTo>
                  <a:pt x="136" y="292"/>
                  <a:pt x="127" y="292"/>
                  <a:pt x="118" y="290"/>
                </a:cubicBezTo>
                <a:cubicBezTo>
                  <a:pt x="108" y="288"/>
                  <a:pt x="99" y="285"/>
                  <a:pt x="90" y="281"/>
                </a:cubicBezTo>
                <a:cubicBezTo>
                  <a:pt x="81" y="277"/>
                  <a:pt x="73" y="272"/>
                  <a:pt x="65" y="267"/>
                </a:cubicBezTo>
                <a:cubicBezTo>
                  <a:pt x="57" y="262"/>
                  <a:pt x="50" y="256"/>
                  <a:pt x="43" y="249"/>
                </a:cubicBezTo>
                <a:cubicBezTo>
                  <a:pt x="36" y="242"/>
                  <a:pt x="30" y="235"/>
                  <a:pt x="25" y="227"/>
                </a:cubicBezTo>
                <a:cubicBezTo>
                  <a:pt x="20" y="219"/>
                  <a:pt x="15" y="210"/>
                  <a:pt x="12" y="202"/>
                </a:cubicBezTo>
                <a:cubicBezTo>
                  <a:pt x="8" y="193"/>
                  <a:pt x="5" y="184"/>
                  <a:pt x="3" y="174"/>
                </a:cubicBezTo>
                <a:cubicBezTo>
                  <a:pt x="1" y="165"/>
                  <a:pt x="0" y="155"/>
                  <a:pt x="0" y="146"/>
                </a:cubicBezTo>
                <a:cubicBezTo>
                  <a:pt x="0" y="136"/>
                  <a:pt x="1" y="127"/>
                  <a:pt x="3" y="118"/>
                </a:cubicBezTo>
                <a:cubicBezTo>
                  <a:pt x="5" y="108"/>
                  <a:pt x="8" y="99"/>
                  <a:pt x="12" y="90"/>
                </a:cubicBezTo>
                <a:cubicBezTo>
                  <a:pt x="15" y="81"/>
                  <a:pt x="20" y="73"/>
                  <a:pt x="25" y="65"/>
                </a:cubicBezTo>
                <a:cubicBezTo>
                  <a:pt x="30" y="57"/>
                  <a:pt x="36" y="50"/>
                  <a:pt x="43" y="43"/>
                </a:cubicBezTo>
                <a:cubicBezTo>
                  <a:pt x="50" y="36"/>
                  <a:pt x="57" y="30"/>
                  <a:pt x="65" y="25"/>
                </a:cubicBezTo>
                <a:cubicBezTo>
                  <a:pt x="73" y="20"/>
                  <a:pt x="81" y="15"/>
                  <a:pt x="90" y="11"/>
                </a:cubicBezTo>
                <a:cubicBezTo>
                  <a:pt x="99" y="8"/>
                  <a:pt x="108" y="5"/>
                  <a:pt x="118" y="3"/>
                </a:cubicBezTo>
                <a:cubicBezTo>
                  <a:pt x="127" y="1"/>
                  <a:pt x="136" y="0"/>
                  <a:pt x="146" y="0"/>
                </a:cubicBezTo>
                <a:cubicBezTo>
                  <a:pt x="156" y="0"/>
                  <a:pt x="165" y="1"/>
                  <a:pt x="174" y="3"/>
                </a:cubicBezTo>
                <a:cubicBezTo>
                  <a:pt x="184" y="5"/>
                  <a:pt x="193" y="8"/>
                  <a:pt x="202" y="11"/>
                </a:cubicBezTo>
                <a:cubicBezTo>
                  <a:pt x="210" y="15"/>
                  <a:pt x="219" y="20"/>
                  <a:pt x="228" y="25"/>
                </a:cubicBezTo>
                <a:cubicBezTo>
                  <a:pt x="236" y="30"/>
                  <a:pt x="243" y="36"/>
                  <a:pt x="250" y="43"/>
                </a:cubicBezTo>
                <a:cubicBezTo>
                  <a:pt x="257" y="50"/>
                  <a:pt x="263" y="57"/>
                  <a:pt x="268" y="65"/>
                </a:cubicBezTo>
                <a:cubicBezTo>
                  <a:pt x="273" y="73"/>
                  <a:pt x="278" y="81"/>
                  <a:pt x="281" y="90"/>
                </a:cubicBezTo>
                <a:cubicBezTo>
                  <a:pt x="285" y="99"/>
                  <a:pt x="288" y="108"/>
                  <a:pt x="290" y="118"/>
                </a:cubicBezTo>
                <a:cubicBezTo>
                  <a:pt x="292" y="127"/>
                  <a:pt x="292" y="136"/>
                  <a:pt x="292" y="146"/>
                </a:cubicBezTo>
                <a:close/>
              </a:path>
            </a:pathLst>
          </a:custGeom>
          <a:solidFill>
            <a:srgbClr val="11111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8" name=""/>
          <p:cNvSpPr txBox="1"/>
          <p:nvPr/>
        </p:nvSpPr>
        <p:spPr>
          <a:xfrm>
            <a:off x="1085760" y="2362320"/>
            <a:ext cx="3035160" cy="399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どを十分に除去できない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9" name=""/>
          <p:cNvSpPr txBox="1"/>
          <p:nvPr/>
        </p:nvSpPr>
        <p:spPr>
          <a:xfrm>
            <a:off x="1085760" y="2847960"/>
            <a:ext cx="4763520" cy="401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Halo</a:t>
            </a:r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アーティファクト（輪郭の不自然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0" name=""/>
          <p:cNvSpPr txBox="1"/>
          <p:nvPr/>
        </p:nvSpPr>
        <p:spPr>
          <a:xfrm>
            <a:off x="1085760" y="3257640"/>
            <a:ext cx="3035160" cy="399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な強調）が発生しやすい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1" name=""/>
          <p:cNvSpPr/>
          <p:nvPr/>
        </p:nvSpPr>
        <p:spPr>
          <a:xfrm>
            <a:off x="809280" y="4895640"/>
            <a:ext cx="105120" cy="105120"/>
          </a:xfrm>
          <a:custGeom>
            <a:avLst/>
            <a:gdLst/>
            <a:ahLst/>
            <a:rect l="0" t="0" r="r" b="b"/>
            <a:pathLst>
              <a:path w="292" h="292">
                <a:moveTo>
                  <a:pt x="292" y="146"/>
                </a:moveTo>
                <a:cubicBezTo>
                  <a:pt x="292" y="155"/>
                  <a:pt x="292" y="165"/>
                  <a:pt x="290" y="174"/>
                </a:cubicBezTo>
                <a:cubicBezTo>
                  <a:pt x="288" y="183"/>
                  <a:pt x="285" y="192"/>
                  <a:pt x="281" y="201"/>
                </a:cubicBezTo>
                <a:cubicBezTo>
                  <a:pt x="278" y="210"/>
                  <a:pt x="273" y="219"/>
                  <a:pt x="268" y="227"/>
                </a:cubicBezTo>
                <a:cubicBezTo>
                  <a:pt x="263" y="235"/>
                  <a:pt x="257" y="243"/>
                  <a:pt x="250" y="250"/>
                </a:cubicBezTo>
                <a:cubicBezTo>
                  <a:pt x="243" y="256"/>
                  <a:pt x="236" y="262"/>
                  <a:pt x="228" y="268"/>
                </a:cubicBezTo>
                <a:cubicBezTo>
                  <a:pt x="219" y="273"/>
                  <a:pt x="210" y="277"/>
                  <a:pt x="202" y="281"/>
                </a:cubicBezTo>
                <a:cubicBezTo>
                  <a:pt x="193" y="285"/>
                  <a:pt x="184" y="287"/>
                  <a:pt x="174" y="289"/>
                </a:cubicBezTo>
                <a:cubicBezTo>
                  <a:pt x="165" y="291"/>
                  <a:pt x="156" y="292"/>
                  <a:pt x="146" y="292"/>
                </a:cubicBezTo>
                <a:cubicBezTo>
                  <a:pt x="136" y="292"/>
                  <a:pt x="127" y="291"/>
                  <a:pt x="118" y="289"/>
                </a:cubicBezTo>
                <a:cubicBezTo>
                  <a:pt x="108" y="287"/>
                  <a:pt x="99" y="285"/>
                  <a:pt x="90" y="281"/>
                </a:cubicBezTo>
                <a:cubicBezTo>
                  <a:pt x="81" y="277"/>
                  <a:pt x="73" y="273"/>
                  <a:pt x="65" y="268"/>
                </a:cubicBezTo>
                <a:cubicBezTo>
                  <a:pt x="57" y="262"/>
                  <a:pt x="50" y="256"/>
                  <a:pt x="43" y="250"/>
                </a:cubicBezTo>
                <a:cubicBezTo>
                  <a:pt x="36" y="243"/>
                  <a:pt x="30" y="235"/>
                  <a:pt x="25" y="227"/>
                </a:cubicBezTo>
                <a:cubicBezTo>
                  <a:pt x="20" y="219"/>
                  <a:pt x="15" y="210"/>
                  <a:pt x="12" y="201"/>
                </a:cubicBezTo>
                <a:cubicBezTo>
                  <a:pt x="8" y="192"/>
                  <a:pt x="5" y="183"/>
                  <a:pt x="3" y="174"/>
                </a:cubicBezTo>
                <a:cubicBezTo>
                  <a:pt x="1" y="165"/>
                  <a:pt x="0" y="155"/>
                  <a:pt x="0" y="146"/>
                </a:cubicBezTo>
                <a:cubicBezTo>
                  <a:pt x="0" y="136"/>
                  <a:pt x="1" y="127"/>
                  <a:pt x="3" y="117"/>
                </a:cubicBezTo>
                <a:cubicBezTo>
                  <a:pt x="5" y="108"/>
                  <a:pt x="8" y="99"/>
                  <a:pt x="12" y="90"/>
                </a:cubicBezTo>
                <a:cubicBezTo>
                  <a:pt x="15" y="81"/>
                  <a:pt x="20" y="73"/>
                  <a:pt x="25" y="65"/>
                </a:cubicBezTo>
                <a:cubicBezTo>
                  <a:pt x="30" y="57"/>
                  <a:pt x="36" y="49"/>
                  <a:pt x="43" y="43"/>
                </a:cubicBezTo>
                <a:cubicBezTo>
                  <a:pt x="50" y="36"/>
                  <a:pt x="57" y="30"/>
                  <a:pt x="65" y="25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8"/>
                  <a:pt x="108" y="5"/>
                  <a:pt x="118" y="3"/>
                </a:cubicBezTo>
                <a:cubicBezTo>
                  <a:pt x="127" y="1"/>
                  <a:pt x="136" y="0"/>
                  <a:pt x="146" y="0"/>
                </a:cubicBezTo>
                <a:cubicBezTo>
                  <a:pt x="156" y="0"/>
                  <a:pt x="165" y="1"/>
                  <a:pt x="174" y="3"/>
                </a:cubicBezTo>
                <a:cubicBezTo>
                  <a:pt x="184" y="5"/>
                  <a:pt x="193" y="8"/>
                  <a:pt x="202" y="11"/>
                </a:cubicBezTo>
                <a:cubicBezTo>
                  <a:pt x="210" y="15"/>
                  <a:pt x="219" y="19"/>
                  <a:pt x="228" y="25"/>
                </a:cubicBezTo>
                <a:cubicBezTo>
                  <a:pt x="236" y="30"/>
                  <a:pt x="243" y="36"/>
                  <a:pt x="250" y="43"/>
                </a:cubicBezTo>
                <a:cubicBezTo>
                  <a:pt x="257" y="49"/>
                  <a:pt x="263" y="57"/>
                  <a:pt x="268" y="65"/>
                </a:cubicBezTo>
                <a:cubicBezTo>
                  <a:pt x="273" y="73"/>
                  <a:pt x="278" y="81"/>
                  <a:pt x="281" y="90"/>
                </a:cubicBezTo>
                <a:cubicBezTo>
                  <a:pt x="285" y="99"/>
                  <a:pt x="288" y="108"/>
                  <a:pt x="290" y="117"/>
                </a:cubicBezTo>
                <a:cubicBezTo>
                  <a:pt x="292" y="127"/>
                  <a:pt x="292" y="136"/>
                  <a:pt x="292" y="146"/>
                </a:cubicBezTo>
                <a:close/>
              </a:path>
            </a:pathLst>
          </a:custGeom>
          <a:solidFill>
            <a:srgbClr val="11111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2" name=""/>
          <p:cNvSpPr txBox="1"/>
          <p:nvPr/>
        </p:nvSpPr>
        <p:spPr>
          <a:xfrm>
            <a:off x="533520" y="4238640"/>
            <a:ext cx="1104120" cy="399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70" spc="-1" strike="noStrike">
                <a:solidFill>
                  <a:srgbClr val="083a5e"/>
                </a:solidFill>
                <a:latin typeface="NotoSansJP"/>
                <a:ea typeface="NotoSansJP"/>
              </a:rPr>
              <a:t>提案手法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3" name=""/>
          <p:cNvSpPr txBox="1"/>
          <p:nvPr/>
        </p:nvSpPr>
        <p:spPr>
          <a:xfrm>
            <a:off x="1085760" y="4753080"/>
            <a:ext cx="4755960" cy="401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機械学習の一種である</a:t>
            </a:r>
            <a:r>
              <a:rPr b="0" lang="en-US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SVR</a:t>
            </a:r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を用いて、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4" name=""/>
          <p:cNvSpPr/>
          <p:nvPr/>
        </p:nvSpPr>
        <p:spPr>
          <a:xfrm>
            <a:off x="809280" y="5790960"/>
            <a:ext cx="105120" cy="105120"/>
          </a:xfrm>
          <a:custGeom>
            <a:avLst/>
            <a:gdLst/>
            <a:ahLst/>
            <a:rect l="0" t="0" r="r" b="b"/>
            <a:pathLst>
              <a:path w="292" h="292">
                <a:moveTo>
                  <a:pt x="292" y="147"/>
                </a:moveTo>
                <a:cubicBezTo>
                  <a:pt x="292" y="156"/>
                  <a:pt x="292" y="166"/>
                  <a:pt x="290" y="175"/>
                </a:cubicBezTo>
                <a:cubicBezTo>
                  <a:pt x="288" y="184"/>
                  <a:pt x="285" y="194"/>
                  <a:pt x="281" y="202"/>
                </a:cubicBezTo>
                <a:cubicBezTo>
                  <a:pt x="278" y="211"/>
                  <a:pt x="273" y="220"/>
                  <a:pt x="268" y="228"/>
                </a:cubicBezTo>
                <a:cubicBezTo>
                  <a:pt x="263" y="235"/>
                  <a:pt x="257" y="243"/>
                  <a:pt x="250" y="250"/>
                </a:cubicBezTo>
                <a:cubicBezTo>
                  <a:pt x="243" y="256"/>
                  <a:pt x="236" y="262"/>
                  <a:pt x="228" y="268"/>
                </a:cubicBezTo>
                <a:cubicBezTo>
                  <a:pt x="219" y="273"/>
                  <a:pt x="210" y="277"/>
                  <a:pt x="202" y="281"/>
                </a:cubicBezTo>
                <a:cubicBezTo>
                  <a:pt x="193" y="285"/>
                  <a:pt x="184" y="288"/>
                  <a:pt x="174" y="289"/>
                </a:cubicBezTo>
                <a:cubicBezTo>
                  <a:pt x="165" y="291"/>
                  <a:pt x="156" y="292"/>
                  <a:pt x="146" y="292"/>
                </a:cubicBezTo>
                <a:cubicBezTo>
                  <a:pt x="136" y="292"/>
                  <a:pt x="127" y="291"/>
                  <a:pt x="118" y="289"/>
                </a:cubicBezTo>
                <a:cubicBezTo>
                  <a:pt x="108" y="288"/>
                  <a:pt x="99" y="285"/>
                  <a:pt x="90" y="281"/>
                </a:cubicBezTo>
                <a:cubicBezTo>
                  <a:pt x="81" y="277"/>
                  <a:pt x="73" y="273"/>
                  <a:pt x="65" y="268"/>
                </a:cubicBezTo>
                <a:cubicBezTo>
                  <a:pt x="57" y="262"/>
                  <a:pt x="50" y="256"/>
                  <a:pt x="43" y="250"/>
                </a:cubicBezTo>
                <a:cubicBezTo>
                  <a:pt x="36" y="243"/>
                  <a:pt x="30" y="235"/>
                  <a:pt x="25" y="228"/>
                </a:cubicBezTo>
                <a:cubicBezTo>
                  <a:pt x="20" y="220"/>
                  <a:pt x="15" y="211"/>
                  <a:pt x="12" y="202"/>
                </a:cubicBezTo>
                <a:cubicBezTo>
                  <a:pt x="8" y="194"/>
                  <a:pt x="5" y="184"/>
                  <a:pt x="3" y="175"/>
                </a:cubicBezTo>
                <a:cubicBezTo>
                  <a:pt x="1" y="166"/>
                  <a:pt x="0" y="156"/>
                  <a:pt x="0" y="147"/>
                </a:cubicBezTo>
                <a:cubicBezTo>
                  <a:pt x="0" y="137"/>
                  <a:pt x="1" y="128"/>
                  <a:pt x="3" y="118"/>
                </a:cubicBezTo>
                <a:cubicBezTo>
                  <a:pt x="5" y="109"/>
                  <a:pt x="8" y="100"/>
                  <a:pt x="12" y="91"/>
                </a:cubicBezTo>
                <a:cubicBezTo>
                  <a:pt x="15" y="82"/>
                  <a:pt x="20" y="74"/>
                  <a:pt x="25" y="66"/>
                </a:cubicBezTo>
                <a:cubicBezTo>
                  <a:pt x="30" y="57"/>
                  <a:pt x="36" y="50"/>
                  <a:pt x="43" y="43"/>
                </a:cubicBezTo>
                <a:cubicBezTo>
                  <a:pt x="50" y="36"/>
                  <a:pt x="57" y="30"/>
                  <a:pt x="65" y="25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8"/>
                  <a:pt x="108" y="5"/>
                  <a:pt x="118" y="3"/>
                </a:cubicBezTo>
                <a:cubicBezTo>
                  <a:pt x="127" y="1"/>
                  <a:pt x="136" y="0"/>
                  <a:pt x="146" y="0"/>
                </a:cubicBezTo>
                <a:cubicBezTo>
                  <a:pt x="156" y="0"/>
                  <a:pt x="165" y="1"/>
                  <a:pt x="174" y="3"/>
                </a:cubicBezTo>
                <a:cubicBezTo>
                  <a:pt x="184" y="5"/>
                  <a:pt x="193" y="8"/>
                  <a:pt x="202" y="11"/>
                </a:cubicBezTo>
                <a:cubicBezTo>
                  <a:pt x="210" y="15"/>
                  <a:pt x="219" y="19"/>
                  <a:pt x="228" y="25"/>
                </a:cubicBezTo>
                <a:cubicBezTo>
                  <a:pt x="236" y="30"/>
                  <a:pt x="243" y="36"/>
                  <a:pt x="250" y="43"/>
                </a:cubicBezTo>
                <a:cubicBezTo>
                  <a:pt x="257" y="50"/>
                  <a:pt x="263" y="57"/>
                  <a:pt x="268" y="66"/>
                </a:cubicBezTo>
                <a:cubicBezTo>
                  <a:pt x="273" y="74"/>
                  <a:pt x="278" y="82"/>
                  <a:pt x="281" y="91"/>
                </a:cubicBezTo>
                <a:cubicBezTo>
                  <a:pt x="285" y="100"/>
                  <a:pt x="288" y="109"/>
                  <a:pt x="290" y="118"/>
                </a:cubicBezTo>
                <a:cubicBezTo>
                  <a:pt x="292" y="128"/>
                  <a:pt x="292" y="137"/>
                  <a:pt x="292" y="147"/>
                </a:cubicBezTo>
                <a:close/>
              </a:path>
            </a:pathLst>
          </a:custGeom>
          <a:solidFill>
            <a:srgbClr val="11111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5" name=""/>
          <p:cNvSpPr txBox="1"/>
          <p:nvPr/>
        </p:nvSpPr>
        <p:spPr>
          <a:xfrm>
            <a:off x="1085760" y="5162400"/>
            <a:ext cx="4690080" cy="399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画像中の照明成分をより高精度に推定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6" name=""/>
          <p:cNvSpPr txBox="1"/>
          <p:nvPr/>
        </p:nvSpPr>
        <p:spPr>
          <a:xfrm>
            <a:off x="1085760" y="5648400"/>
            <a:ext cx="4842720" cy="401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これにより、</a:t>
            </a:r>
            <a:r>
              <a:rPr b="0" lang="en-US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Halo</a:t>
            </a:r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を抑制しつつ、環境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7" name=""/>
          <p:cNvSpPr txBox="1"/>
          <p:nvPr/>
        </p:nvSpPr>
        <p:spPr>
          <a:xfrm>
            <a:off x="1085760" y="6057720"/>
            <a:ext cx="3035160" cy="399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光の外乱を効果的に除去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8" name=""/>
          <p:cNvSpPr txBox="1"/>
          <p:nvPr/>
        </p:nvSpPr>
        <p:spPr>
          <a:xfrm>
            <a:off x="6669360" y="1438200"/>
            <a:ext cx="4825440" cy="401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画質改善効果の比較 </a:t>
            </a:r>
            <a:r>
              <a:rPr b="0" lang="en-US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(</a:t>
            </a:r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論文図</a:t>
            </a:r>
            <a:r>
              <a:rPr b="0" lang="en-US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2.9</a:t>
            </a:r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より</a:t>
            </a:r>
            <a:r>
              <a:rPr b="0" lang="en-US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)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9" name=""/>
          <p:cNvSpPr txBox="1"/>
          <p:nvPr/>
        </p:nvSpPr>
        <p:spPr>
          <a:xfrm>
            <a:off x="6321960" y="1942920"/>
            <a:ext cx="5426280" cy="401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[</a:t>
            </a:r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図</a:t>
            </a:r>
            <a:r>
              <a:rPr b="0" lang="en-US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: (a)</a:t>
            </a:r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補正前</a:t>
            </a:r>
            <a:r>
              <a:rPr b="0" lang="en-US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, (b)SSR(</a:t>
            </a:r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従来法</a:t>
            </a:r>
            <a:r>
              <a:rPr b="0" lang="en-US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), (c)2MSR(</a:t>
            </a:r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従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0" name=""/>
          <p:cNvSpPr txBox="1"/>
          <p:nvPr/>
        </p:nvSpPr>
        <p:spPr>
          <a:xfrm>
            <a:off x="6278400" y="2362320"/>
            <a:ext cx="5397840" cy="401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来法</a:t>
            </a:r>
            <a:r>
              <a:rPr b="0" lang="en-US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), (d)</a:t>
            </a:r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提案法 のナンバープレート画像比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1" name=""/>
          <p:cNvSpPr txBox="1"/>
          <p:nvPr/>
        </p:nvSpPr>
        <p:spPr>
          <a:xfrm>
            <a:off x="7101720" y="2771640"/>
            <a:ext cx="3751560" cy="401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較。提案法が最も自然で鮮明</a:t>
            </a:r>
            <a:r>
              <a:rPr b="0" lang="en-US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]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2" name=""/>
          <p:cNvSpPr txBox="1"/>
          <p:nvPr/>
        </p:nvSpPr>
        <p:spPr>
          <a:xfrm>
            <a:off x="6229440" y="3286080"/>
            <a:ext cx="5420520" cy="401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提案手法</a:t>
            </a:r>
            <a:r>
              <a:rPr b="0" lang="en-US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(d)</a:t>
            </a:r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は、白飛びが抑制され、文字が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3" name=""/>
          <p:cNvSpPr txBox="1"/>
          <p:nvPr/>
        </p:nvSpPr>
        <p:spPr>
          <a:xfrm>
            <a:off x="6229440" y="3695760"/>
            <a:ext cx="3310920" cy="399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最もクリアになっている。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4" name=""/>
          <p:cNvSpPr/>
          <p:nvPr/>
        </p:nvSpPr>
        <p:spPr>
          <a:xfrm>
            <a:off x="533160" y="561960"/>
            <a:ext cx="267120" cy="57240"/>
          </a:xfrm>
          <a:custGeom>
            <a:avLst/>
            <a:gdLst/>
            <a:ahLst/>
            <a:rect l="0" t="0" r="r" b="b"/>
            <a:pathLst>
              <a:path w="742" h="159">
                <a:moveTo>
                  <a:pt x="0" y="106"/>
                </a:moveTo>
                <a:lnTo>
                  <a:pt x="0" y="52"/>
                </a:lnTo>
                <a:cubicBezTo>
                  <a:pt x="0" y="45"/>
                  <a:pt x="2" y="39"/>
                  <a:pt x="4" y="32"/>
                </a:cubicBezTo>
                <a:cubicBezTo>
                  <a:pt x="7" y="26"/>
                  <a:pt x="11" y="20"/>
                  <a:pt x="16" y="15"/>
                </a:cubicBezTo>
                <a:cubicBezTo>
                  <a:pt x="21" y="10"/>
                  <a:pt x="26" y="6"/>
                  <a:pt x="33" y="4"/>
                </a:cubicBezTo>
                <a:cubicBezTo>
                  <a:pt x="39" y="1"/>
                  <a:pt x="46" y="0"/>
                  <a:pt x="53" y="0"/>
                </a:cubicBezTo>
                <a:lnTo>
                  <a:pt x="689" y="0"/>
                </a:lnTo>
                <a:cubicBezTo>
                  <a:pt x="696" y="0"/>
                  <a:pt x="703" y="1"/>
                  <a:pt x="709" y="4"/>
                </a:cubicBezTo>
                <a:cubicBezTo>
                  <a:pt x="716" y="6"/>
                  <a:pt x="722" y="10"/>
                  <a:pt x="727" y="15"/>
                </a:cubicBezTo>
                <a:cubicBezTo>
                  <a:pt x="731" y="20"/>
                  <a:pt x="735" y="26"/>
                  <a:pt x="738" y="32"/>
                </a:cubicBezTo>
                <a:cubicBezTo>
                  <a:pt x="741" y="39"/>
                  <a:pt x="742" y="45"/>
                  <a:pt x="742" y="52"/>
                </a:cubicBezTo>
                <a:lnTo>
                  <a:pt x="742" y="106"/>
                </a:lnTo>
                <a:cubicBezTo>
                  <a:pt x="742" y="113"/>
                  <a:pt x="741" y="120"/>
                  <a:pt x="738" y="127"/>
                </a:cubicBezTo>
                <a:cubicBezTo>
                  <a:pt x="735" y="133"/>
                  <a:pt x="731" y="139"/>
                  <a:pt x="727" y="144"/>
                </a:cubicBezTo>
                <a:cubicBezTo>
                  <a:pt x="722" y="149"/>
                  <a:pt x="716" y="153"/>
                  <a:pt x="709" y="155"/>
                </a:cubicBezTo>
                <a:cubicBezTo>
                  <a:pt x="703" y="158"/>
                  <a:pt x="696" y="159"/>
                  <a:pt x="689" y="159"/>
                </a:cubicBezTo>
                <a:lnTo>
                  <a:pt x="53" y="159"/>
                </a:lnTo>
                <a:cubicBezTo>
                  <a:pt x="46" y="159"/>
                  <a:pt x="39" y="158"/>
                  <a:pt x="33" y="155"/>
                </a:cubicBezTo>
                <a:cubicBezTo>
                  <a:pt x="26" y="153"/>
                  <a:pt x="21" y="149"/>
                  <a:pt x="16" y="144"/>
                </a:cubicBezTo>
                <a:cubicBezTo>
                  <a:pt x="11" y="139"/>
                  <a:pt x="7" y="133"/>
                  <a:pt x="4" y="127"/>
                </a:cubicBezTo>
                <a:cubicBezTo>
                  <a:pt x="2" y="120"/>
                  <a:pt x="0" y="113"/>
                  <a:pt x="0" y="106"/>
                </a:cubicBezTo>
                <a:close/>
              </a:path>
            </a:pathLst>
          </a:custGeom>
          <a:solidFill>
            <a:srgbClr val="0b4b7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35" name=""/>
          <p:cNvSpPr txBox="1"/>
          <p:nvPr/>
        </p:nvSpPr>
        <p:spPr>
          <a:xfrm>
            <a:off x="914400" y="392400"/>
            <a:ext cx="4244760" cy="3614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1950" spc="-1" strike="noStrike">
                <a:solidFill>
                  <a:srgbClr val="111111"/>
                </a:solidFill>
                <a:latin typeface="NotoSansJP"/>
                <a:ea typeface="NotoSansJP"/>
              </a:rPr>
              <a:t>提案手法</a:t>
            </a:r>
            <a:r>
              <a:rPr b="0" lang="en-US" sz="1950" spc="-1" strike="noStrike">
                <a:solidFill>
                  <a:srgbClr val="111111"/>
                </a:solidFill>
                <a:latin typeface="NotoSansJP"/>
                <a:ea typeface="NotoSansJP"/>
              </a:rPr>
              <a:t>1: SVR</a:t>
            </a:r>
            <a:r>
              <a:rPr b="0" lang="zh-CN" sz="1950" spc="-1" strike="noStrike">
                <a:solidFill>
                  <a:srgbClr val="111111"/>
                </a:solidFill>
                <a:latin typeface="NotoSansJP"/>
                <a:ea typeface="NotoSansJP"/>
              </a:rPr>
              <a:t>を用いた</a:t>
            </a:r>
            <a:r>
              <a:rPr b="0" lang="en-US" sz="1950" spc="-1" strike="noStrike">
                <a:solidFill>
                  <a:srgbClr val="111111"/>
                </a:solidFill>
                <a:latin typeface="NotoSansJP"/>
                <a:ea typeface="NotoSansJP"/>
              </a:rPr>
              <a:t>Retinex</a:t>
            </a:r>
            <a:r>
              <a:rPr b="0" lang="zh-CN" sz="1950" spc="-1" strike="noStrike">
                <a:solidFill>
                  <a:srgbClr val="111111"/>
                </a:solidFill>
                <a:latin typeface="NotoSansJP"/>
                <a:ea typeface="NotoSansJP"/>
              </a:rPr>
              <a:t>処理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6" name=""/>
          <p:cNvSpPr txBox="1"/>
          <p:nvPr/>
        </p:nvSpPr>
        <p:spPr>
          <a:xfrm>
            <a:off x="11946600" y="6436800"/>
            <a:ext cx="304560" cy="416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400" spc="-1" strike="noStrike">
                <a:solidFill>
                  <a:srgbClr val="111111"/>
                </a:solidFill>
                <a:latin typeface="NotoSansJP"/>
                <a:ea typeface="NotoSansJP"/>
              </a:rPr>
              <a:t>6</a:t>
            </a:r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c9c9c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0" name=""/>
          <p:cNvSpPr/>
          <p:nvPr/>
        </p:nvSpPr>
        <p:spPr>
          <a:xfrm>
            <a:off x="228240" y="228240"/>
            <a:ext cx="11735280" cy="6401160"/>
          </a:xfrm>
          <a:custGeom>
            <a:avLst/>
            <a:gdLst/>
            <a:ahLst/>
            <a:rect l="0" t="0" r="r" b="b"/>
            <a:pathLst>
              <a:path w="32598" h="17781">
                <a:moveTo>
                  <a:pt x="530" y="0"/>
                </a:moveTo>
                <a:lnTo>
                  <a:pt x="32069" y="0"/>
                </a:lnTo>
                <a:cubicBezTo>
                  <a:pt x="32104" y="0"/>
                  <a:pt x="32138" y="4"/>
                  <a:pt x="32172" y="11"/>
                </a:cubicBezTo>
                <a:cubicBezTo>
                  <a:pt x="32206" y="17"/>
                  <a:pt x="32239" y="27"/>
                  <a:pt x="32271" y="41"/>
                </a:cubicBezTo>
                <a:cubicBezTo>
                  <a:pt x="32304" y="54"/>
                  <a:pt x="32334" y="70"/>
                  <a:pt x="32363" y="90"/>
                </a:cubicBezTo>
                <a:cubicBezTo>
                  <a:pt x="32392" y="109"/>
                  <a:pt x="32419" y="131"/>
                  <a:pt x="32443" y="155"/>
                </a:cubicBezTo>
                <a:cubicBezTo>
                  <a:pt x="32468" y="180"/>
                  <a:pt x="32490" y="207"/>
                  <a:pt x="32509" y="236"/>
                </a:cubicBezTo>
                <a:cubicBezTo>
                  <a:pt x="32528" y="265"/>
                  <a:pt x="32545" y="295"/>
                  <a:pt x="32558" y="327"/>
                </a:cubicBezTo>
                <a:cubicBezTo>
                  <a:pt x="32571" y="359"/>
                  <a:pt x="32581" y="392"/>
                  <a:pt x="32588" y="426"/>
                </a:cubicBezTo>
                <a:cubicBezTo>
                  <a:pt x="32595" y="461"/>
                  <a:pt x="32598" y="495"/>
                  <a:pt x="32598" y="530"/>
                </a:cubicBezTo>
                <a:lnTo>
                  <a:pt x="32598" y="17252"/>
                </a:lnTo>
                <a:cubicBezTo>
                  <a:pt x="32598" y="17287"/>
                  <a:pt x="32595" y="17321"/>
                  <a:pt x="32588" y="17356"/>
                </a:cubicBezTo>
                <a:cubicBezTo>
                  <a:pt x="32581" y="17390"/>
                  <a:pt x="32571" y="17423"/>
                  <a:pt x="32558" y="17455"/>
                </a:cubicBezTo>
                <a:cubicBezTo>
                  <a:pt x="32545" y="17487"/>
                  <a:pt x="32528" y="17517"/>
                  <a:pt x="32509" y="17546"/>
                </a:cubicBezTo>
                <a:cubicBezTo>
                  <a:pt x="32490" y="17575"/>
                  <a:pt x="32468" y="17602"/>
                  <a:pt x="32443" y="17627"/>
                </a:cubicBezTo>
                <a:cubicBezTo>
                  <a:pt x="32419" y="17651"/>
                  <a:pt x="32392" y="17673"/>
                  <a:pt x="32363" y="17692"/>
                </a:cubicBezTo>
                <a:cubicBezTo>
                  <a:pt x="32334" y="17712"/>
                  <a:pt x="32304" y="17728"/>
                  <a:pt x="32271" y="17741"/>
                </a:cubicBezTo>
                <a:cubicBezTo>
                  <a:pt x="32239" y="17755"/>
                  <a:pt x="32206" y="17765"/>
                  <a:pt x="32172" y="17771"/>
                </a:cubicBezTo>
                <a:cubicBezTo>
                  <a:pt x="32138" y="17778"/>
                  <a:pt x="32104" y="17781"/>
                  <a:pt x="32069" y="17781"/>
                </a:cubicBezTo>
                <a:lnTo>
                  <a:pt x="530" y="17781"/>
                </a:lnTo>
                <a:cubicBezTo>
                  <a:pt x="495" y="17781"/>
                  <a:pt x="461" y="17778"/>
                  <a:pt x="426" y="17771"/>
                </a:cubicBezTo>
                <a:cubicBezTo>
                  <a:pt x="392" y="17765"/>
                  <a:pt x="359" y="17755"/>
                  <a:pt x="327" y="17741"/>
                </a:cubicBezTo>
                <a:cubicBezTo>
                  <a:pt x="295" y="17728"/>
                  <a:pt x="265" y="17712"/>
                  <a:pt x="236" y="17692"/>
                </a:cubicBezTo>
                <a:cubicBezTo>
                  <a:pt x="207" y="17673"/>
                  <a:pt x="180" y="17651"/>
                  <a:pt x="155" y="17627"/>
                </a:cubicBezTo>
                <a:cubicBezTo>
                  <a:pt x="131" y="17602"/>
                  <a:pt x="109" y="17575"/>
                  <a:pt x="90" y="17546"/>
                </a:cubicBezTo>
                <a:cubicBezTo>
                  <a:pt x="70" y="17517"/>
                  <a:pt x="54" y="17487"/>
                  <a:pt x="41" y="17455"/>
                </a:cubicBezTo>
                <a:cubicBezTo>
                  <a:pt x="27" y="17423"/>
                  <a:pt x="17" y="17390"/>
                  <a:pt x="11" y="17356"/>
                </a:cubicBezTo>
                <a:cubicBezTo>
                  <a:pt x="4" y="17321"/>
                  <a:pt x="0" y="17287"/>
                  <a:pt x="0" y="17252"/>
                </a:cubicBezTo>
                <a:lnTo>
                  <a:pt x="0" y="530"/>
                </a:lnTo>
                <a:cubicBezTo>
                  <a:pt x="0" y="495"/>
                  <a:pt x="4" y="461"/>
                  <a:pt x="11" y="426"/>
                </a:cubicBezTo>
                <a:cubicBezTo>
                  <a:pt x="17" y="392"/>
                  <a:pt x="27" y="359"/>
                  <a:pt x="41" y="327"/>
                </a:cubicBezTo>
                <a:cubicBezTo>
                  <a:pt x="54" y="295"/>
                  <a:pt x="70" y="265"/>
                  <a:pt x="90" y="236"/>
                </a:cubicBezTo>
                <a:cubicBezTo>
                  <a:pt x="109" y="207"/>
                  <a:pt x="131" y="180"/>
                  <a:pt x="155" y="155"/>
                </a:cubicBezTo>
                <a:cubicBezTo>
                  <a:pt x="180" y="131"/>
                  <a:pt x="207" y="109"/>
                  <a:pt x="236" y="90"/>
                </a:cubicBezTo>
                <a:cubicBezTo>
                  <a:pt x="265" y="70"/>
                  <a:pt x="295" y="54"/>
                  <a:pt x="327" y="41"/>
                </a:cubicBezTo>
                <a:cubicBezTo>
                  <a:pt x="359" y="27"/>
                  <a:pt x="392" y="17"/>
                  <a:pt x="426" y="11"/>
                </a:cubicBezTo>
                <a:cubicBezTo>
                  <a:pt x="461" y="4"/>
                  <a:pt x="495" y="0"/>
                  <a:pt x="530" y="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141" name="" descr=""/>
          <p:cNvPicPr/>
          <p:nvPr/>
        </p:nvPicPr>
        <p:blipFill>
          <a:blip r:embed="rId1"/>
          <a:stretch/>
        </p:blipFill>
        <p:spPr>
          <a:xfrm>
            <a:off x="10515600" y="38160"/>
            <a:ext cx="1142640" cy="1142640"/>
          </a:xfrm>
          <a:prstGeom prst="rect">
            <a:avLst/>
          </a:prstGeom>
          <a:ln w="0">
            <a:noFill/>
          </a:ln>
        </p:spPr>
      </p:pic>
      <p:sp>
        <p:nvSpPr>
          <p:cNvPr id="142" name=""/>
          <p:cNvSpPr txBox="1"/>
          <p:nvPr/>
        </p:nvSpPr>
        <p:spPr>
          <a:xfrm>
            <a:off x="533520" y="923760"/>
            <a:ext cx="9933120" cy="401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サポートベクターマシン</a:t>
            </a:r>
            <a:r>
              <a:rPr b="0" lang="en-US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(SVM)</a:t>
            </a:r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により、低解像度から鮮明な画像を効率的に復元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3" name=""/>
          <p:cNvSpPr/>
          <p:nvPr/>
        </p:nvSpPr>
        <p:spPr>
          <a:xfrm>
            <a:off x="809280" y="2085840"/>
            <a:ext cx="105120" cy="105120"/>
          </a:xfrm>
          <a:custGeom>
            <a:avLst/>
            <a:gdLst/>
            <a:ahLst/>
            <a:rect l="0" t="0" r="r" b="b"/>
            <a:pathLst>
              <a:path w="292" h="292">
                <a:moveTo>
                  <a:pt x="292" y="145"/>
                </a:moveTo>
                <a:cubicBezTo>
                  <a:pt x="292" y="155"/>
                  <a:pt x="292" y="164"/>
                  <a:pt x="290" y="175"/>
                </a:cubicBezTo>
                <a:cubicBezTo>
                  <a:pt x="288" y="184"/>
                  <a:pt x="285" y="193"/>
                  <a:pt x="281" y="202"/>
                </a:cubicBezTo>
                <a:cubicBezTo>
                  <a:pt x="278" y="211"/>
                  <a:pt x="273" y="219"/>
                  <a:pt x="268" y="227"/>
                </a:cubicBezTo>
                <a:cubicBezTo>
                  <a:pt x="263" y="235"/>
                  <a:pt x="257" y="243"/>
                  <a:pt x="250" y="249"/>
                </a:cubicBezTo>
                <a:cubicBezTo>
                  <a:pt x="243" y="256"/>
                  <a:pt x="236" y="262"/>
                  <a:pt x="228" y="267"/>
                </a:cubicBezTo>
                <a:cubicBezTo>
                  <a:pt x="219" y="273"/>
                  <a:pt x="210" y="277"/>
                  <a:pt x="202" y="281"/>
                </a:cubicBezTo>
                <a:cubicBezTo>
                  <a:pt x="193" y="284"/>
                  <a:pt x="184" y="287"/>
                  <a:pt x="174" y="289"/>
                </a:cubicBezTo>
                <a:cubicBezTo>
                  <a:pt x="165" y="291"/>
                  <a:pt x="156" y="292"/>
                  <a:pt x="146" y="292"/>
                </a:cubicBezTo>
                <a:cubicBezTo>
                  <a:pt x="136" y="292"/>
                  <a:pt x="127" y="291"/>
                  <a:pt x="118" y="289"/>
                </a:cubicBezTo>
                <a:cubicBezTo>
                  <a:pt x="108" y="287"/>
                  <a:pt x="99" y="284"/>
                  <a:pt x="90" y="281"/>
                </a:cubicBezTo>
                <a:cubicBezTo>
                  <a:pt x="81" y="277"/>
                  <a:pt x="73" y="273"/>
                  <a:pt x="65" y="267"/>
                </a:cubicBezTo>
                <a:cubicBezTo>
                  <a:pt x="57" y="262"/>
                  <a:pt x="50" y="256"/>
                  <a:pt x="43" y="249"/>
                </a:cubicBezTo>
                <a:cubicBezTo>
                  <a:pt x="36" y="243"/>
                  <a:pt x="30" y="235"/>
                  <a:pt x="25" y="227"/>
                </a:cubicBezTo>
                <a:cubicBezTo>
                  <a:pt x="20" y="219"/>
                  <a:pt x="15" y="211"/>
                  <a:pt x="12" y="202"/>
                </a:cubicBezTo>
                <a:cubicBezTo>
                  <a:pt x="8" y="193"/>
                  <a:pt x="5" y="184"/>
                  <a:pt x="3" y="175"/>
                </a:cubicBezTo>
                <a:cubicBezTo>
                  <a:pt x="1" y="164"/>
                  <a:pt x="0" y="155"/>
                  <a:pt x="0" y="145"/>
                </a:cubicBezTo>
                <a:cubicBezTo>
                  <a:pt x="0" y="136"/>
                  <a:pt x="1" y="126"/>
                  <a:pt x="3" y="117"/>
                </a:cubicBezTo>
                <a:cubicBezTo>
                  <a:pt x="5" y="108"/>
                  <a:pt x="8" y="99"/>
                  <a:pt x="12" y="90"/>
                </a:cubicBezTo>
                <a:cubicBezTo>
                  <a:pt x="15" y="81"/>
                  <a:pt x="20" y="72"/>
                  <a:pt x="25" y="65"/>
                </a:cubicBezTo>
                <a:cubicBezTo>
                  <a:pt x="30" y="57"/>
                  <a:pt x="36" y="49"/>
                  <a:pt x="43" y="42"/>
                </a:cubicBezTo>
                <a:cubicBezTo>
                  <a:pt x="50" y="36"/>
                  <a:pt x="57" y="30"/>
                  <a:pt x="65" y="24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7"/>
                  <a:pt x="108" y="5"/>
                  <a:pt x="118" y="3"/>
                </a:cubicBezTo>
                <a:cubicBezTo>
                  <a:pt x="127" y="1"/>
                  <a:pt x="136" y="0"/>
                  <a:pt x="146" y="0"/>
                </a:cubicBezTo>
                <a:cubicBezTo>
                  <a:pt x="156" y="0"/>
                  <a:pt x="165" y="1"/>
                  <a:pt x="174" y="3"/>
                </a:cubicBezTo>
                <a:cubicBezTo>
                  <a:pt x="184" y="5"/>
                  <a:pt x="193" y="7"/>
                  <a:pt x="202" y="11"/>
                </a:cubicBezTo>
                <a:cubicBezTo>
                  <a:pt x="210" y="15"/>
                  <a:pt x="219" y="19"/>
                  <a:pt x="228" y="24"/>
                </a:cubicBezTo>
                <a:cubicBezTo>
                  <a:pt x="236" y="30"/>
                  <a:pt x="243" y="36"/>
                  <a:pt x="250" y="42"/>
                </a:cubicBezTo>
                <a:cubicBezTo>
                  <a:pt x="257" y="49"/>
                  <a:pt x="263" y="57"/>
                  <a:pt x="268" y="65"/>
                </a:cubicBezTo>
                <a:cubicBezTo>
                  <a:pt x="273" y="72"/>
                  <a:pt x="278" y="81"/>
                  <a:pt x="281" y="90"/>
                </a:cubicBezTo>
                <a:cubicBezTo>
                  <a:pt x="285" y="99"/>
                  <a:pt x="288" y="108"/>
                  <a:pt x="290" y="117"/>
                </a:cubicBezTo>
                <a:cubicBezTo>
                  <a:pt x="292" y="126"/>
                  <a:pt x="292" y="136"/>
                  <a:pt x="292" y="145"/>
                </a:cubicBezTo>
                <a:close/>
              </a:path>
            </a:pathLst>
          </a:custGeom>
          <a:solidFill>
            <a:srgbClr val="11111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44" name=""/>
          <p:cNvSpPr txBox="1"/>
          <p:nvPr/>
        </p:nvSpPr>
        <p:spPr>
          <a:xfrm>
            <a:off x="533520" y="1438200"/>
            <a:ext cx="3339720" cy="401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従来手法 </a:t>
            </a:r>
            <a:r>
              <a:rPr b="0" lang="en-US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(</a:t>
            </a:r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超解像</a:t>
            </a:r>
            <a:r>
              <a:rPr b="0" lang="en-US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) </a:t>
            </a:r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の課題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5" name=""/>
          <p:cNvSpPr txBox="1"/>
          <p:nvPr/>
        </p:nvSpPr>
        <p:spPr>
          <a:xfrm>
            <a:off x="1085760" y="1942920"/>
            <a:ext cx="4690080" cy="399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複数の低解像度画像を合成する際、情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6" name=""/>
          <p:cNvSpPr txBox="1"/>
          <p:nvPr/>
        </p:nvSpPr>
        <p:spPr>
          <a:xfrm>
            <a:off x="1085760" y="2362320"/>
            <a:ext cx="4690080" cy="399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報が欠落している部分にアーティファ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7" name=""/>
          <p:cNvSpPr/>
          <p:nvPr/>
        </p:nvSpPr>
        <p:spPr>
          <a:xfrm>
            <a:off x="809280" y="3400200"/>
            <a:ext cx="105120" cy="105120"/>
          </a:xfrm>
          <a:custGeom>
            <a:avLst/>
            <a:gdLst/>
            <a:ahLst/>
            <a:rect l="0" t="0" r="r" b="b"/>
            <a:pathLst>
              <a:path w="292" h="292">
                <a:moveTo>
                  <a:pt x="292" y="147"/>
                </a:moveTo>
                <a:cubicBezTo>
                  <a:pt x="292" y="156"/>
                  <a:pt x="292" y="166"/>
                  <a:pt x="290" y="175"/>
                </a:cubicBezTo>
                <a:cubicBezTo>
                  <a:pt x="288" y="184"/>
                  <a:pt x="285" y="194"/>
                  <a:pt x="281" y="202"/>
                </a:cubicBezTo>
                <a:cubicBezTo>
                  <a:pt x="278" y="211"/>
                  <a:pt x="273" y="220"/>
                  <a:pt x="268" y="227"/>
                </a:cubicBezTo>
                <a:cubicBezTo>
                  <a:pt x="263" y="235"/>
                  <a:pt x="257" y="243"/>
                  <a:pt x="250" y="250"/>
                </a:cubicBezTo>
                <a:cubicBezTo>
                  <a:pt x="243" y="256"/>
                  <a:pt x="236" y="262"/>
                  <a:pt x="228" y="268"/>
                </a:cubicBezTo>
                <a:cubicBezTo>
                  <a:pt x="219" y="273"/>
                  <a:pt x="210" y="277"/>
                  <a:pt x="202" y="281"/>
                </a:cubicBezTo>
                <a:cubicBezTo>
                  <a:pt x="193" y="285"/>
                  <a:pt x="184" y="288"/>
                  <a:pt x="174" y="289"/>
                </a:cubicBezTo>
                <a:cubicBezTo>
                  <a:pt x="165" y="291"/>
                  <a:pt x="156" y="292"/>
                  <a:pt x="146" y="292"/>
                </a:cubicBezTo>
                <a:cubicBezTo>
                  <a:pt x="136" y="292"/>
                  <a:pt x="127" y="291"/>
                  <a:pt x="118" y="289"/>
                </a:cubicBezTo>
                <a:cubicBezTo>
                  <a:pt x="108" y="288"/>
                  <a:pt x="99" y="285"/>
                  <a:pt x="90" y="281"/>
                </a:cubicBezTo>
                <a:cubicBezTo>
                  <a:pt x="81" y="277"/>
                  <a:pt x="73" y="273"/>
                  <a:pt x="65" y="268"/>
                </a:cubicBezTo>
                <a:cubicBezTo>
                  <a:pt x="57" y="262"/>
                  <a:pt x="50" y="256"/>
                  <a:pt x="43" y="250"/>
                </a:cubicBezTo>
                <a:cubicBezTo>
                  <a:pt x="36" y="243"/>
                  <a:pt x="30" y="235"/>
                  <a:pt x="25" y="227"/>
                </a:cubicBezTo>
                <a:cubicBezTo>
                  <a:pt x="20" y="220"/>
                  <a:pt x="15" y="211"/>
                  <a:pt x="12" y="202"/>
                </a:cubicBezTo>
                <a:cubicBezTo>
                  <a:pt x="8" y="194"/>
                  <a:pt x="5" y="184"/>
                  <a:pt x="3" y="175"/>
                </a:cubicBezTo>
                <a:cubicBezTo>
                  <a:pt x="1" y="166"/>
                  <a:pt x="0" y="156"/>
                  <a:pt x="0" y="147"/>
                </a:cubicBezTo>
                <a:cubicBezTo>
                  <a:pt x="0" y="137"/>
                  <a:pt x="1" y="128"/>
                  <a:pt x="3" y="118"/>
                </a:cubicBezTo>
                <a:cubicBezTo>
                  <a:pt x="5" y="109"/>
                  <a:pt x="8" y="100"/>
                  <a:pt x="12" y="91"/>
                </a:cubicBezTo>
                <a:cubicBezTo>
                  <a:pt x="15" y="82"/>
                  <a:pt x="20" y="74"/>
                  <a:pt x="25" y="66"/>
                </a:cubicBezTo>
                <a:cubicBezTo>
                  <a:pt x="30" y="58"/>
                  <a:pt x="36" y="51"/>
                  <a:pt x="43" y="44"/>
                </a:cubicBezTo>
                <a:cubicBezTo>
                  <a:pt x="50" y="37"/>
                  <a:pt x="57" y="31"/>
                  <a:pt x="65" y="26"/>
                </a:cubicBezTo>
                <a:cubicBezTo>
                  <a:pt x="73" y="20"/>
                  <a:pt x="81" y="16"/>
                  <a:pt x="90" y="11"/>
                </a:cubicBezTo>
                <a:cubicBezTo>
                  <a:pt x="99" y="8"/>
                  <a:pt x="108" y="5"/>
                  <a:pt x="118" y="3"/>
                </a:cubicBezTo>
                <a:cubicBezTo>
                  <a:pt x="127" y="1"/>
                  <a:pt x="136" y="0"/>
                  <a:pt x="146" y="0"/>
                </a:cubicBezTo>
                <a:cubicBezTo>
                  <a:pt x="156" y="0"/>
                  <a:pt x="165" y="1"/>
                  <a:pt x="174" y="3"/>
                </a:cubicBezTo>
                <a:cubicBezTo>
                  <a:pt x="184" y="5"/>
                  <a:pt x="193" y="8"/>
                  <a:pt x="202" y="11"/>
                </a:cubicBezTo>
                <a:cubicBezTo>
                  <a:pt x="210" y="16"/>
                  <a:pt x="219" y="20"/>
                  <a:pt x="228" y="26"/>
                </a:cubicBezTo>
                <a:cubicBezTo>
                  <a:pt x="236" y="31"/>
                  <a:pt x="243" y="37"/>
                  <a:pt x="250" y="44"/>
                </a:cubicBezTo>
                <a:cubicBezTo>
                  <a:pt x="257" y="51"/>
                  <a:pt x="263" y="58"/>
                  <a:pt x="268" y="66"/>
                </a:cubicBezTo>
                <a:cubicBezTo>
                  <a:pt x="273" y="74"/>
                  <a:pt x="278" y="82"/>
                  <a:pt x="281" y="91"/>
                </a:cubicBezTo>
                <a:cubicBezTo>
                  <a:pt x="285" y="100"/>
                  <a:pt x="288" y="109"/>
                  <a:pt x="290" y="118"/>
                </a:cubicBezTo>
                <a:cubicBezTo>
                  <a:pt x="292" y="128"/>
                  <a:pt x="292" y="137"/>
                  <a:pt x="292" y="147"/>
                </a:cubicBezTo>
                <a:close/>
              </a:path>
            </a:pathLst>
          </a:custGeom>
          <a:solidFill>
            <a:srgbClr val="11111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48" name=""/>
          <p:cNvSpPr txBox="1"/>
          <p:nvPr/>
        </p:nvSpPr>
        <p:spPr>
          <a:xfrm>
            <a:off x="1085760" y="2771640"/>
            <a:ext cx="4138560" cy="399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クト（偽の模様）が発生しやすい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9" name=""/>
          <p:cNvSpPr txBox="1"/>
          <p:nvPr/>
        </p:nvSpPr>
        <p:spPr>
          <a:xfrm>
            <a:off x="1085760" y="3257640"/>
            <a:ext cx="4863600" cy="401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特に文字の輪郭</a:t>
            </a:r>
            <a:r>
              <a:rPr b="0" lang="en-US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(</a:t>
            </a:r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エッジ</a:t>
            </a:r>
            <a:r>
              <a:rPr b="0" lang="en-US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)</a:t>
            </a:r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がぼやけてし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0" name=""/>
          <p:cNvSpPr txBox="1"/>
          <p:nvPr/>
        </p:nvSpPr>
        <p:spPr>
          <a:xfrm>
            <a:off x="1085760" y="3676680"/>
            <a:ext cx="552240" cy="399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まう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1" name=""/>
          <p:cNvSpPr/>
          <p:nvPr/>
        </p:nvSpPr>
        <p:spPr>
          <a:xfrm>
            <a:off x="809280" y="5305320"/>
            <a:ext cx="105120" cy="105120"/>
          </a:xfrm>
          <a:custGeom>
            <a:avLst/>
            <a:gdLst/>
            <a:ahLst/>
            <a:rect l="0" t="0" r="r" b="b"/>
            <a:pathLst>
              <a:path w="292" h="292">
                <a:moveTo>
                  <a:pt x="292" y="145"/>
                </a:moveTo>
                <a:cubicBezTo>
                  <a:pt x="292" y="155"/>
                  <a:pt x="292" y="164"/>
                  <a:pt x="290" y="174"/>
                </a:cubicBezTo>
                <a:cubicBezTo>
                  <a:pt x="288" y="183"/>
                  <a:pt x="285" y="192"/>
                  <a:pt x="281" y="201"/>
                </a:cubicBezTo>
                <a:cubicBezTo>
                  <a:pt x="278" y="210"/>
                  <a:pt x="273" y="218"/>
                  <a:pt x="268" y="226"/>
                </a:cubicBezTo>
                <a:cubicBezTo>
                  <a:pt x="263" y="234"/>
                  <a:pt x="257" y="241"/>
                  <a:pt x="250" y="248"/>
                </a:cubicBezTo>
                <a:cubicBezTo>
                  <a:pt x="243" y="256"/>
                  <a:pt x="236" y="262"/>
                  <a:pt x="228" y="267"/>
                </a:cubicBezTo>
                <a:cubicBezTo>
                  <a:pt x="219" y="273"/>
                  <a:pt x="210" y="277"/>
                  <a:pt x="202" y="281"/>
                </a:cubicBezTo>
                <a:cubicBezTo>
                  <a:pt x="193" y="284"/>
                  <a:pt x="184" y="287"/>
                  <a:pt x="174" y="289"/>
                </a:cubicBezTo>
                <a:cubicBezTo>
                  <a:pt x="165" y="291"/>
                  <a:pt x="156" y="292"/>
                  <a:pt x="146" y="292"/>
                </a:cubicBezTo>
                <a:cubicBezTo>
                  <a:pt x="136" y="292"/>
                  <a:pt x="127" y="291"/>
                  <a:pt x="118" y="289"/>
                </a:cubicBezTo>
                <a:cubicBezTo>
                  <a:pt x="108" y="287"/>
                  <a:pt x="99" y="284"/>
                  <a:pt x="90" y="281"/>
                </a:cubicBezTo>
                <a:cubicBezTo>
                  <a:pt x="81" y="277"/>
                  <a:pt x="73" y="273"/>
                  <a:pt x="65" y="267"/>
                </a:cubicBezTo>
                <a:cubicBezTo>
                  <a:pt x="57" y="262"/>
                  <a:pt x="50" y="256"/>
                  <a:pt x="43" y="248"/>
                </a:cubicBezTo>
                <a:cubicBezTo>
                  <a:pt x="36" y="241"/>
                  <a:pt x="30" y="234"/>
                  <a:pt x="25" y="226"/>
                </a:cubicBezTo>
                <a:cubicBezTo>
                  <a:pt x="20" y="218"/>
                  <a:pt x="15" y="210"/>
                  <a:pt x="12" y="201"/>
                </a:cubicBezTo>
                <a:cubicBezTo>
                  <a:pt x="8" y="192"/>
                  <a:pt x="5" y="183"/>
                  <a:pt x="3" y="174"/>
                </a:cubicBezTo>
                <a:cubicBezTo>
                  <a:pt x="1" y="164"/>
                  <a:pt x="0" y="155"/>
                  <a:pt x="0" y="145"/>
                </a:cubicBezTo>
                <a:cubicBezTo>
                  <a:pt x="0" y="136"/>
                  <a:pt x="1" y="126"/>
                  <a:pt x="3" y="117"/>
                </a:cubicBezTo>
                <a:cubicBezTo>
                  <a:pt x="5" y="108"/>
                  <a:pt x="8" y="98"/>
                  <a:pt x="12" y="90"/>
                </a:cubicBezTo>
                <a:cubicBezTo>
                  <a:pt x="15" y="81"/>
                  <a:pt x="20" y="72"/>
                  <a:pt x="25" y="64"/>
                </a:cubicBezTo>
                <a:cubicBezTo>
                  <a:pt x="30" y="57"/>
                  <a:pt x="36" y="49"/>
                  <a:pt x="43" y="42"/>
                </a:cubicBezTo>
                <a:cubicBezTo>
                  <a:pt x="50" y="36"/>
                  <a:pt x="57" y="30"/>
                  <a:pt x="65" y="24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7"/>
                  <a:pt x="108" y="4"/>
                  <a:pt x="118" y="3"/>
                </a:cubicBezTo>
                <a:cubicBezTo>
                  <a:pt x="127" y="1"/>
                  <a:pt x="136" y="0"/>
                  <a:pt x="146" y="0"/>
                </a:cubicBezTo>
                <a:cubicBezTo>
                  <a:pt x="156" y="0"/>
                  <a:pt x="165" y="1"/>
                  <a:pt x="174" y="3"/>
                </a:cubicBezTo>
                <a:cubicBezTo>
                  <a:pt x="184" y="4"/>
                  <a:pt x="193" y="7"/>
                  <a:pt x="202" y="11"/>
                </a:cubicBezTo>
                <a:cubicBezTo>
                  <a:pt x="210" y="15"/>
                  <a:pt x="219" y="19"/>
                  <a:pt x="228" y="24"/>
                </a:cubicBezTo>
                <a:cubicBezTo>
                  <a:pt x="236" y="30"/>
                  <a:pt x="243" y="36"/>
                  <a:pt x="250" y="42"/>
                </a:cubicBezTo>
                <a:cubicBezTo>
                  <a:pt x="257" y="49"/>
                  <a:pt x="263" y="57"/>
                  <a:pt x="268" y="64"/>
                </a:cubicBezTo>
                <a:cubicBezTo>
                  <a:pt x="273" y="72"/>
                  <a:pt x="278" y="81"/>
                  <a:pt x="281" y="90"/>
                </a:cubicBezTo>
                <a:cubicBezTo>
                  <a:pt x="285" y="98"/>
                  <a:pt x="288" y="108"/>
                  <a:pt x="290" y="117"/>
                </a:cubicBezTo>
                <a:cubicBezTo>
                  <a:pt x="292" y="126"/>
                  <a:pt x="292" y="136"/>
                  <a:pt x="292" y="145"/>
                </a:cubicBezTo>
                <a:close/>
              </a:path>
            </a:pathLst>
          </a:custGeom>
          <a:solidFill>
            <a:srgbClr val="11111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52" name=""/>
          <p:cNvSpPr txBox="1"/>
          <p:nvPr/>
        </p:nvSpPr>
        <p:spPr>
          <a:xfrm>
            <a:off x="533520" y="4657680"/>
            <a:ext cx="1104120" cy="399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70" spc="-1" strike="noStrike">
                <a:solidFill>
                  <a:srgbClr val="083a5e"/>
                </a:solidFill>
                <a:latin typeface="NotoSansJP"/>
                <a:ea typeface="NotoSansJP"/>
              </a:rPr>
              <a:t>提案手法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3" name=""/>
          <p:cNvSpPr txBox="1"/>
          <p:nvPr/>
        </p:nvSpPr>
        <p:spPr>
          <a:xfrm>
            <a:off x="1085760" y="5162400"/>
            <a:ext cx="4414320" cy="399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複数の低解像度フレームの中から、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4" name=""/>
          <p:cNvSpPr txBox="1"/>
          <p:nvPr/>
        </p:nvSpPr>
        <p:spPr>
          <a:xfrm>
            <a:off x="1085760" y="5581800"/>
            <a:ext cx="4748400" cy="401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SVM</a:t>
            </a:r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を用いて「最も確からしい」画素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5" name=""/>
          <p:cNvSpPr/>
          <p:nvPr/>
        </p:nvSpPr>
        <p:spPr>
          <a:xfrm>
            <a:off x="809280" y="6619680"/>
            <a:ext cx="105120" cy="105120"/>
          </a:xfrm>
          <a:custGeom>
            <a:avLst/>
            <a:gdLst/>
            <a:ahLst/>
            <a:rect l="0" t="0" r="r" b="b"/>
            <a:pathLst>
              <a:path w="292" h="292">
                <a:moveTo>
                  <a:pt x="292" y="147"/>
                </a:moveTo>
                <a:cubicBezTo>
                  <a:pt x="292" y="156"/>
                  <a:pt x="292" y="166"/>
                  <a:pt x="290" y="175"/>
                </a:cubicBezTo>
                <a:cubicBezTo>
                  <a:pt x="288" y="184"/>
                  <a:pt x="285" y="193"/>
                  <a:pt x="281" y="202"/>
                </a:cubicBezTo>
                <a:cubicBezTo>
                  <a:pt x="278" y="211"/>
                  <a:pt x="273" y="219"/>
                  <a:pt x="268" y="227"/>
                </a:cubicBezTo>
                <a:cubicBezTo>
                  <a:pt x="263" y="235"/>
                  <a:pt x="257" y="243"/>
                  <a:pt x="250" y="249"/>
                </a:cubicBezTo>
                <a:cubicBezTo>
                  <a:pt x="243" y="256"/>
                  <a:pt x="236" y="262"/>
                  <a:pt x="228" y="268"/>
                </a:cubicBezTo>
                <a:cubicBezTo>
                  <a:pt x="219" y="273"/>
                  <a:pt x="210" y="277"/>
                  <a:pt x="202" y="281"/>
                </a:cubicBezTo>
                <a:cubicBezTo>
                  <a:pt x="193" y="285"/>
                  <a:pt x="184" y="287"/>
                  <a:pt x="174" y="289"/>
                </a:cubicBezTo>
                <a:cubicBezTo>
                  <a:pt x="165" y="291"/>
                  <a:pt x="156" y="292"/>
                  <a:pt x="146" y="292"/>
                </a:cubicBezTo>
                <a:cubicBezTo>
                  <a:pt x="136" y="292"/>
                  <a:pt x="127" y="291"/>
                  <a:pt x="118" y="289"/>
                </a:cubicBezTo>
                <a:cubicBezTo>
                  <a:pt x="108" y="287"/>
                  <a:pt x="99" y="285"/>
                  <a:pt x="90" y="281"/>
                </a:cubicBezTo>
                <a:cubicBezTo>
                  <a:pt x="81" y="277"/>
                  <a:pt x="73" y="273"/>
                  <a:pt x="65" y="268"/>
                </a:cubicBezTo>
                <a:cubicBezTo>
                  <a:pt x="57" y="262"/>
                  <a:pt x="50" y="256"/>
                  <a:pt x="43" y="249"/>
                </a:cubicBezTo>
                <a:cubicBezTo>
                  <a:pt x="36" y="243"/>
                  <a:pt x="30" y="235"/>
                  <a:pt x="25" y="227"/>
                </a:cubicBezTo>
                <a:cubicBezTo>
                  <a:pt x="20" y="219"/>
                  <a:pt x="15" y="211"/>
                  <a:pt x="12" y="202"/>
                </a:cubicBezTo>
                <a:cubicBezTo>
                  <a:pt x="8" y="193"/>
                  <a:pt x="5" y="184"/>
                  <a:pt x="3" y="175"/>
                </a:cubicBezTo>
                <a:cubicBezTo>
                  <a:pt x="1" y="166"/>
                  <a:pt x="0" y="156"/>
                  <a:pt x="0" y="147"/>
                </a:cubicBezTo>
                <a:cubicBezTo>
                  <a:pt x="0" y="137"/>
                  <a:pt x="1" y="128"/>
                  <a:pt x="3" y="118"/>
                </a:cubicBezTo>
                <a:cubicBezTo>
                  <a:pt x="5" y="109"/>
                  <a:pt x="8" y="100"/>
                  <a:pt x="12" y="90"/>
                </a:cubicBezTo>
                <a:cubicBezTo>
                  <a:pt x="15" y="81"/>
                  <a:pt x="20" y="73"/>
                  <a:pt x="25" y="65"/>
                </a:cubicBezTo>
                <a:cubicBezTo>
                  <a:pt x="30" y="57"/>
                  <a:pt x="36" y="49"/>
                  <a:pt x="43" y="43"/>
                </a:cubicBezTo>
                <a:cubicBezTo>
                  <a:pt x="50" y="36"/>
                  <a:pt x="57" y="30"/>
                  <a:pt x="65" y="25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7"/>
                  <a:pt x="108" y="5"/>
                  <a:pt x="118" y="3"/>
                </a:cubicBezTo>
                <a:cubicBezTo>
                  <a:pt x="127" y="1"/>
                  <a:pt x="136" y="0"/>
                  <a:pt x="146" y="0"/>
                </a:cubicBezTo>
                <a:cubicBezTo>
                  <a:pt x="156" y="0"/>
                  <a:pt x="165" y="1"/>
                  <a:pt x="174" y="3"/>
                </a:cubicBezTo>
                <a:cubicBezTo>
                  <a:pt x="184" y="5"/>
                  <a:pt x="193" y="7"/>
                  <a:pt x="202" y="11"/>
                </a:cubicBezTo>
                <a:cubicBezTo>
                  <a:pt x="210" y="15"/>
                  <a:pt x="219" y="19"/>
                  <a:pt x="228" y="25"/>
                </a:cubicBezTo>
                <a:cubicBezTo>
                  <a:pt x="236" y="30"/>
                  <a:pt x="243" y="36"/>
                  <a:pt x="250" y="43"/>
                </a:cubicBezTo>
                <a:cubicBezTo>
                  <a:pt x="257" y="49"/>
                  <a:pt x="263" y="57"/>
                  <a:pt x="268" y="65"/>
                </a:cubicBezTo>
                <a:cubicBezTo>
                  <a:pt x="273" y="73"/>
                  <a:pt x="278" y="81"/>
                  <a:pt x="281" y="90"/>
                </a:cubicBezTo>
                <a:cubicBezTo>
                  <a:pt x="285" y="100"/>
                  <a:pt x="288" y="109"/>
                  <a:pt x="290" y="118"/>
                </a:cubicBezTo>
                <a:cubicBezTo>
                  <a:pt x="292" y="128"/>
                  <a:pt x="292" y="137"/>
                  <a:pt x="292" y="147"/>
                </a:cubicBezTo>
                <a:close/>
              </a:path>
            </a:pathLst>
          </a:custGeom>
          <a:solidFill>
            <a:srgbClr val="11111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56" name=""/>
          <p:cNvSpPr txBox="1"/>
          <p:nvPr/>
        </p:nvSpPr>
        <p:spPr>
          <a:xfrm>
            <a:off x="1085760" y="5991120"/>
            <a:ext cx="4138560" cy="399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を選択して高解像度画像を再構成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7" name=""/>
          <p:cNvSpPr txBox="1"/>
          <p:nvPr/>
        </p:nvSpPr>
        <p:spPr>
          <a:xfrm>
            <a:off x="1085760" y="6477120"/>
            <a:ext cx="4690080" cy="399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アーティファクトを抑制し、鮮明なエ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8" name=""/>
          <p:cNvSpPr txBox="1"/>
          <p:nvPr/>
        </p:nvSpPr>
        <p:spPr>
          <a:xfrm>
            <a:off x="6725880" y="1438200"/>
            <a:ext cx="4706640" cy="401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超解像結果の比較 </a:t>
            </a:r>
            <a:r>
              <a:rPr b="0" lang="en-US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(</a:t>
            </a:r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論文図</a:t>
            </a:r>
            <a:r>
              <a:rPr b="0" lang="en-US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3.10</a:t>
            </a:r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より</a:t>
            </a:r>
            <a:r>
              <a:rPr b="0" lang="en-US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)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9" name=""/>
          <p:cNvSpPr txBox="1"/>
          <p:nvPr/>
        </p:nvSpPr>
        <p:spPr>
          <a:xfrm>
            <a:off x="6306120" y="1942920"/>
            <a:ext cx="5503320" cy="401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[</a:t>
            </a:r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図</a:t>
            </a:r>
            <a:r>
              <a:rPr b="0" lang="en-US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: (a)</a:t>
            </a:r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従来超解像</a:t>
            </a:r>
            <a:r>
              <a:rPr b="0" lang="en-US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, (b)</a:t>
            </a:r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提案超解像 のナンバ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0" name=""/>
          <p:cNvSpPr txBox="1"/>
          <p:nvPr/>
        </p:nvSpPr>
        <p:spPr>
          <a:xfrm>
            <a:off x="6328080" y="2362320"/>
            <a:ext cx="5241600" cy="399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ープレート画像比較。提案法の方が文字の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1" name=""/>
          <p:cNvSpPr txBox="1"/>
          <p:nvPr/>
        </p:nvSpPr>
        <p:spPr>
          <a:xfrm>
            <a:off x="7938720" y="2771640"/>
            <a:ext cx="2096640" cy="401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輪郭がシャープ</a:t>
            </a:r>
            <a:r>
              <a:rPr b="0" lang="en-US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]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2" name=""/>
          <p:cNvSpPr txBox="1"/>
          <p:nvPr/>
        </p:nvSpPr>
        <p:spPr>
          <a:xfrm>
            <a:off x="6229440" y="3286080"/>
            <a:ext cx="5579640" cy="401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提案手法</a:t>
            </a:r>
            <a:r>
              <a:rPr b="0" lang="en-US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(b)</a:t>
            </a:r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は、従来手法</a:t>
            </a:r>
            <a:r>
              <a:rPr b="0" lang="en-US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(a)</a:t>
            </a:r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に比べて文字の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3" name=""/>
          <p:cNvSpPr txBox="1"/>
          <p:nvPr/>
        </p:nvSpPr>
        <p:spPr>
          <a:xfrm>
            <a:off x="6229440" y="3695760"/>
            <a:ext cx="4138560" cy="399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エッジが鮮明に復元されている。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4" name=""/>
          <p:cNvSpPr/>
          <p:nvPr/>
        </p:nvSpPr>
        <p:spPr>
          <a:xfrm>
            <a:off x="533160" y="561960"/>
            <a:ext cx="267120" cy="57240"/>
          </a:xfrm>
          <a:custGeom>
            <a:avLst/>
            <a:gdLst/>
            <a:ahLst/>
            <a:rect l="0" t="0" r="r" b="b"/>
            <a:pathLst>
              <a:path w="742" h="159">
                <a:moveTo>
                  <a:pt x="0" y="106"/>
                </a:moveTo>
                <a:lnTo>
                  <a:pt x="0" y="52"/>
                </a:lnTo>
                <a:cubicBezTo>
                  <a:pt x="0" y="45"/>
                  <a:pt x="2" y="39"/>
                  <a:pt x="4" y="32"/>
                </a:cubicBezTo>
                <a:cubicBezTo>
                  <a:pt x="7" y="26"/>
                  <a:pt x="11" y="20"/>
                  <a:pt x="16" y="15"/>
                </a:cubicBezTo>
                <a:cubicBezTo>
                  <a:pt x="21" y="10"/>
                  <a:pt x="26" y="6"/>
                  <a:pt x="33" y="4"/>
                </a:cubicBezTo>
                <a:cubicBezTo>
                  <a:pt x="39" y="1"/>
                  <a:pt x="46" y="0"/>
                  <a:pt x="53" y="0"/>
                </a:cubicBezTo>
                <a:lnTo>
                  <a:pt x="689" y="0"/>
                </a:lnTo>
                <a:cubicBezTo>
                  <a:pt x="696" y="0"/>
                  <a:pt x="703" y="1"/>
                  <a:pt x="709" y="4"/>
                </a:cubicBezTo>
                <a:cubicBezTo>
                  <a:pt x="716" y="6"/>
                  <a:pt x="722" y="10"/>
                  <a:pt x="727" y="15"/>
                </a:cubicBezTo>
                <a:cubicBezTo>
                  <a:pt x="731" y="20"/>
                  <a:pt x="735" y="26"/>
                  <a:pt x="738" y="32"/>
                </a:cubicBezTo>
                <a:cubicBezTo>
                  <a:pt x="741" y="39"/>
                  <a:pt x="742" y="45"/>
                  <a:pt x="742" y="52"/>
                </a:cubicBezTo>
                <a:lnTo>
                  <a:pt x="742" y="106"/>
                </a:lnTo>
                <a:cubicBezTo>
                  <a:pt x="742" y="113"/>
                  <a:pt x="741" y="120"/>
                  <a:pt x="738" y="127"/>
                </a:cubicBezTo>
                <a:cubicBezTo>
                  <a:pt x="735" y="133"/>
                  <a:pt x="731" y="139"/>
                  <a:pt x="727" y="144"/>
                </a:cubicBezTo>
                <a:cubicBezTo>
                  <a:pt x="722" y="149"/>
                  <a:pt x="716" y="153"/>
                  <a:pt x="709" y="155"/>
                </a:cubicBezTo>
                <a:cubicBezTo>
                  <a:pt x="703" y="158"/>
                  <a:pt x="696" y="159"/>
                  <a:pt x="689" y="159"/>
                </a:cubicBezTo>
                <a:lnTo>
                  <a:pt x="53" y="159"/>
                </a:lnTo>
                <a:cubicBezTo>
                  <a:pt x="46" y="159"/>
                  <a:pt x="39" y="158"/>
                  <a:pt x="33" y="155"/>
                </a:cubicBezTo>
                <a:cubicBezTo>
                  <a:pt x="26" y="153"/>
                  <a:pt x="21" y="149"/>
                  <a:pt x="16" y="144"/>
                </a:cubicBezTo>
                <a:cubicBezTo>
                  <a:pt x="11" y="139"/>
                  <a:pt x="7" y="133"/>
                  <a:pt x="4" y="127"/>
                </a:cubicBezTo>
                <a:cubicBezTo>
                  <a:pt x="2" y="120"/>
                  <a:pt x="0" y="113"/>
                  <a:pt x="0" y="106"/>
                </a:cubicBezTo>
                <a:close/>
              </a:path>
            </a:pathLst>
          </a:custGeom>
          <a:solidFill>
            <a:srgbClr val="0b4b7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65" name=""/>
          <p:cNvSpPr txBox="1"/>
          <p:nvPr/>
        </p:nvSpPr>
        <p:spPr>
          <a:xfrm>
            <a:off x="914400" y="392400"/>
            <a:ext cx="5105160" cy="3614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1950" spc="-1" strike="noStrike">
                <a:solidFill>
                  <a:srgbClr val="111111"/>
                </a:solidFill>
                <a:latin typeface="NotoSansJP"/>
                <a:ea typeface="NotoSansJP"/>
              </a:rPr>
              <a:t>提案手法</a:t>
            </a:r>
            <a:r>
              <a:rPr b="0" lang="en-US" sz="1950" spc="-1" strike="noStrike">
                <a:solidFill>
                  <a:srgbClr val="111111"/>
                </a:solidFill>
                <a:latin typeface="NotoSansJP"/>
                <a:ea typeface="NotoSansJP"/>
              </a:rPr>
              <a:t>2: SVM</a:t>
            </a:r>
            <a:r>
              <a:rPr b="0" lang="zh-CN" sz="1950" spc="-1" strike="noStrike">
                <a:solidFill>
                  <a:srgbClr val="111111"/>
                </a:solidFill>
                <a:latin typeface="NotoSansJP"/>
                <a:ea typeface="NotoSansJP"/>
              </a:rPr>
              <a:t>を用いた画素値選択型超解像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6" name=""/>
          <p:cNvSpPr txBox="1"/>
          <p:nvPr/>
        </p:nvSpPr>
        <p:spPr>
          <a:xfrm>
            <a:off x="11946600" y="6436800"/>
            <a:ext cx="304560" cy="416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400" spc="-1" strike="noStrike">
                <a:solidFill>
                  <a:srgbClr val="111111"/>
                </a:solidFill>
                <a:latin typeface="NotoSansJP"/>
                <a:ea typeface="NotoSansJP"/>
              </a:rPr>
              <a:t>7</a:t>
            </a:r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c9c9c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0" name=""/>
          <p:cNvSpPr/>
          <p:nvPr/>
        </p:nvSpPr>
        <p:spPr>
          <a:xfrm>
            <a:off x="228240" y="228240"/>
            <a:ext cx="11735280" cy="6401160"/>
          </a:xfrm>
          <a:custGeom>
            <a:avLst/>
            <a:gdLst/>
            <a:ahLst/>
            <a:rect l="0" t="0" r="r" b="b"/>
            <a:pathLst>
              <a:path w="32598" h="17781">
                <a:moveTo>
                  <a:pt x="530" y="0"/>
                </a:moveTo>
                <a:lnTo>
                  <a:pt x="32069" y="0"/>
                </a:lnTo>
                <a:cubicBezTo>
                  <a:pt x="32104" y="0"/>
                  <a:pt x="32138" y="4"/>
                  <a:pt x="32172" y="11"/>
                </a:cubicBezTo>
                <a:cubicBezTo>
                  <a:pt x="32206" y="17"/>
                  <a:pt x="32239" y="27"/>
                  <a:pt x="32271" y="41"/>
                </a:cubicBezTo>
                <a:cubicBezTo>
                  <a:pt x="32304" y="54"/>
                  <a:pt x="32334" y="70"/>
                  <a:pt x="32363" y="90"/>
                </a:cubicBezTo>
                <a:cubicBezTo>
                  <a:pt x="32392" y="109"/>
                  <a:pt x="32419" y="131"/>
                  <a:pt x="32443" y="155"/>
                </a:cubicBezTo>
                <a:cubicBezTo>
                  <a:pt x="32468" y="180"/>
                  <a:pt x="32490" y="207"/>
                  <a:pt x="32509" y="236"/>
                </a:cubicBezTo>
                <a:cubicBezTo>
                  <a:pt x="32528" y="265"/>
                  <a:pt x="32545" y="295"/>
                  <a:pt x="32558" y="327"/>
                </a:cubicBezTo>
                <a:cubicBezTo>
                  <a:pt x="32571" y="359"/>
                  <a:pt x="32581" y="392"/>
                  <a:pt x="32588" y="426"/>
                </a:cubicBezTo>
                <a:cubicBezTo>
                  <a:pt x="32595" y="461"/>
                  <a:pt x="32598" y="495"/>
                  <a:pt x="32598" y="530"/>
                </a:cubicBezTo>
                <a:lnTo>
                  <a:pt x="32598" y="17252"/>
                </a:lnTo>
                <a:cubicBezTo>
                  <a:pt x="32598" y="17287"/>
                  <a:pt x="32595" y="17321"/>
                  <a:pt x="32588" y="17356"/>
                </a:cubicBezTo>
                <a:cubicBezTo>
                  <a:pt x="32581" y="17390"/>
                  <a:pt x="32571" y="17423"/>
                  <a:pt x="32558" y="17455"/>
                </a:cubicBezTo>
                <a:cubicBezTo>
                  <a:pt x="32545" y="17487"/>
                  <a:pt x="32528" y="17517"/>
                  <a:pt x="32509" y="17546"/>
                </a:cubicBezTo>
                <a:cubicBezTo>
                  <a:pt x="32490" y="17575"/>
                  <a:pt x="32468" y="17602"/>
                  <a:pt x="32443" y="17627"/>
                </a:cubicBezTo>
                <a:cubicBezTo>
                  <a:pt x="32419" y="17651"/>
                  <a:pt x="32392" y="17673"/>
                  <a:pt x="32363" y="17692"/>
                </a:cubicBezTo>
                <a:cubicBezTo>
                  <a:pt x="32334" y="17712"/>
                  <a:pt x="32304" y="17728"/>
                  <a:pt x="32271" y="17741"/>
                </a:cubicBezTo>
                <a:cubicBezTo>
                  <a:pt x="32239" y="17755"/>
                  <a:pt x="32206" y="17765"/>
                  <a:pt x="32172" y="17771"/>
                </a:cubicBezTo>
                <a:cubicBezTo>
                  <a:pt x="32138" y="17778"/>
                  <a:pt x="32104" y="17781"/>
                  <a:pt x="32069" y="17781"/>
                </a:cubicBezTo>
                <a:lnTo>
                  <a:pt x="530" y="17781"/>
                </a:lnTo>
                <a:cubicBezTo>
                  <a:pt x="495" y="17781"/>
                  <a:pt x="461" y="17778"/>
                  <a:pt x="426" y="17771"/>
                </a:cubicBezTo>
                <a:cubicBezTo>
                  <a:pt x="392" y="17765"/>
                  <a:pt x="359" y="17755"/>
                  <a:pt x="327" y="17741"/>
                </a:cubicBezTo>
                <a:cubicBezTo>
                  <a:pt x="295" y="17728"/>
                  <a:pt x="265" y="17712"/>
                  <a:pt x="236" y="17692"/>
                </a:cubicBezTo>
                <a:cubicBezTo>
                  <a:pt x="207" y="17673"/>
                  <a:pt x="180" y="17651"/>
                  <a:pt x="155" y="17627"/>
                </a:cubicBezTo>
                <a:cubicBezTo>
                  <a:pt x="131" y="17602"/>
                  <a:pt x="109" y="17575"/>
                  <a:pt x="90" y="17546"/>
                </a:cubicBezTo>
                <a:cubicBezTo>
                  <a:pt x="70" y="17517"/>
                  <a:pt x="54" y="17487"/>
                  <a:pt x="41" y="17455"/>
                </a:cubicBezTo>
                <a:cubicBezTo>
                  <a:pt x="27" y="17423"/>
                  <a:pt x="17" y="17390"/>
                  <a:pt x="11" y="17356"/>
                </a:cubicBezTo>
                <a:cubicBezTo>
                  <a:pt x="4" y="17321"/>
                  <a:pt x="0" y="17287"/>
                  <a:pt x="0" y="17252"/>
                </a:cubicBezTo>
                <a:lnTo>
                  <a:pt x="0" y="530"/>
                </a:lnTo>
                <a:cubicBezTo>
                  <a:pt x="0" y="495"/>
                  <a:pt x="4" y="461"/>
                  <a:pt x="11" y="426"/>
                </a:cubicBezTo>
                <a:cubicBezTo>
                  <a:pt x="17" y="392"/>
                  <a:pt x="27" y="359"/>
                  <a:pt x="41" y="327"/>
                </a:cubicBezTo>
                <a:cubicBezTo>
                  <a:pt x="54" y="295"/>
                  <a:pt x="70" y="265"/>
                  <a:pt x="90" y="236"/>
                </a:cubicBezTo>
                <a:cubicBezTo>
                  <a:pt x="109" y="207"/>
                  <a:pt x="131" y="180"/>
                  <a:pt x="155" y="155"/>
                </a:cubicBezTo>
                <a:cubicBezTo>
                  <a:pt x="180" y="131"/>
                  <a:pt x="207" y="109"/>
                  <a:pt x="236" y="90"/>
                </a:cubicBezTo>
                <a:cubicBezTo>
                  <a:pt x="265" y="70"/>
                  <a:pt x="295" y="54"/>
                  <a:pt x="327" y="41"/>
                </a:cubicBezTo>
                <a:cubicBezTo>
                  <a:pt x="359" y="27"/>
                  <a:pt x="392" y="17"/>
                  <a:pt x="426" y="11"/>
                </a:cubicBezTo>
                <a:cubicBezTo>
                  <a:pt x="461" y="4"/>
                  <a:pt x="495" y="0"/>
                  <a:pt x="530" y="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171" name="" descr=""/>
          <p:cNvPicPr/>
          <p:nvPr/>
        </p:nvPicPr>
        <p:blipFill>
          <a:blip r:embed="rId1"/>
          <a:stretch/>
        </p:blipFill>
        <p:spPr>
          <a:xfrm>
            <a:off x="10515600" y="38160"/>
            <a:ext cx="1142640" cy="1142640"/>
          </a:xfrm>
          <a:prstGeom prst="rect">
            <a:avLst/>
          </a:prstGeom>
          <a:ln w="0">
            <a:noFill/>
          </a:ln>
        </p:spPr>
      </p:pic>
      <p:sp>
        <p:nvSpPr>
          <p:cNvPr id="172" name=""/>
          <p:cNvSpPr txBox="1"/>
          <p:nvPr/>
        </p:nvSpPr>
        <p:spPr>
          <a:xfrm>
            <a:off x="533520" y="923760"/>
            <a:ext cx="9535320" cy="401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複数の解像度を並列処理する</a:t>
            </a:r>
            <a:r>
              <a:rPr b="0" lang="en-US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CNN</a:t>
            </a:r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アーキテクチャにより、多様な劣化に適応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3" name=""/>
          <p:cNvSpPr/>
          <p:nvPr/>
        </p:nvSpPr>
        <p:spPr>
          <a:xfrm>
            <a:off x="809280" y="2085840"/>
            <a:ext cx="105120" cy="105120"/>
          </a:xfrm>
          <a:custGeom>
            <a:avLst/>
            <a:gdLst/>
            <a:ahLst/>
            <a:rect l="0" t="0" r="r" b="b"/>
            <a:pathLst>
              <a:path w="292" h="292">
                <a:moveTo>
                  <a:pt x="292" y="145"/>
                </a:moveTo>
                <a:cubicBezTo>
                  <a:pt x="292" y="155"/>
                  <a:pt x="292" y="164"/>
                  <a:pt x="290" y="175"/>
                </a:cubicBezTo>
                <a:cubicBezTo>
                  <a:pt x="288" y="184"/>
                  <a:pt x="285" y="193"/>
                  <a:pt x="281" y="202"/>
                </a:cubicBezTo>
                <a:cubicBezTo>
                  <a:pt x="278" y="211"/>
                  <a:pt x="273" y="219"/>
                  <a:pt x="268" y="227"/>
                </a:cubicBezTo>
                <a:cubicBezTo>
                  <a:pt x="263" y="235"/>
                  <a:pt x="257" y="243"/>
                  <a:pt x="250" y="249"/>
                </a:cubicBezTo>
                <a:cubicBezTo>
                  <a:pt x="243" y="256"/>
                  <a:pt x="236" y="262"/>
                  <a:pt x="228" y="267"/>
                </a:cubicBezTo>
                <a:cubicBezTo>
                  <a:pt x="219" y="273"/>
                  <a:pt x="210" y="277"/>
                  <a:pt x="202" y="281"/>
                </a:cubicBezTo>
                <a:cubicBezTo>
                  <a:pt x="193" y="284"/>
                  <a:pt x="184" y="287"/>
                  <a:pt x="174" y="289"/>
                </a:cubicBezTo>
                <a:cubicBezTo>
                  <a:pt x="165" y="291"/>
                  <a:pt x="156" y="292"/>
                  <a:pt x="146" y="292"/>
                </a:cubicBezTo>
                <a:cubicBezTo>
                  <a:pt x="136" y="292"/>
                  <a:pt x="127" y="291"/>
                  <a:pt x="118" y="289"/>
                </a:cubicBezTo>
                <a:cubicBezTo>
                  <a:pt x="108" y="287"/>
                  <a:pt x="99" y="284"/>
                  <a:pt x="90" y="281"/>
                </a:cubicBezTo>
                <a:cubicBezTo>
                  <a:pt x="81" y="277"/>
                  <a:pt x="73" y="273"/>
                  <a:pt x="65" y="267"/>
                </a:cubicBezTo>
                <a:cubicBezTo>
                  <a:pt x="57" y="262"/>
                  <a:pt x="50" y="256"/>
                  <a:pt x="43" y="249"/>
                </a:cubicBezTo>
                <a:cubicBezTo>
                  <a:pt x="36" y="243"/>
                  <a:pt x="30" y="235"/>
                  <a:pt x="25" y="227"/>
                </a:cubicBezTo>
                <a:cubicBezTo>
                  <a:pt x="20" y="219"/>
                  <a:pt x="15" y="211"/>
                  <a:pt x="12" y="202"/>
                </a:cubicBezTo>
                <a:cubicBezTo>
                  <a:pt x="8" y="193"/>
                  <a:pt x="5" y="184"/>
                  <a:pt x="3" y="175"/>
                </a:cubicBezTo>
                <a:cubicBezTo>
                  <a:pt x="1" y="164"/>
                  <a:pt x="0" y="155"/>
                  <a:pt x="0" y="145"/>
                </a:cubicBezTo>
                <a:cubicBezTo>
                  <a:pt x="0" y="136"/>
                  <a:pt x="1" y="126"/>
                  <a:pt x="3" y="117"/>
                </a:cubicBezTo>
                <a:cubicBezTo>
                  <a:pt x="5" y="108"/>
                  <a:pt x="8" y="99"/>
                  <a:pt x="12" y="90"/>
                </a:cubicBezTo>
                <a:cubicBezTo>
                  <a:pt x="15" y="81"/>
                  <a:pt x="20" y="72"/>
                  <a:pt x="25" y="65"/>
                </a:cubicBezTo>
                <a:cubicBezTo>
                  <a:pt x="30" y="57"/>
                  <a:pt x="36" y="49"/>
                  <a:pt x="43" y="42"/>
                </a:cubicBezTo>
                <a:cubicBezTo>
                  <a:pt x="50" y="36"/>
                  <a:pt x="57" y="30"/>
                  <a:pt x="65" y="24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7"/>
                  <a:pt x="108" y="5"/>
                  <a:pt x="118" y="3"/>
                </a:cubicBezTo>
                <a:cubicBezTo>
                  <a:pt x="127" y="1"/>
                  <a:pt x="136" y="0"/>
                  <a:pt x="146" y="0"/>
                </a:cubicBezTo>
                <a:cubicBezTo>
                  <a:pt x="156" y="0"/>
                  <a:pt x="165" y="1"/>
                  <a:pt x="174" y="3"/>
                </a:cubicBezTo>
                <a:cubicBezTo>
                  <a:pt x="184" y="5"/>
                  <a:pt x="193" y="7"/>
                  <a:pt x="202" y="11"/>
                </a:cubicBezTo>
                <a:cubicBezTo>
                  <a:pt x="210" y="15"/>
                  <a:pt x="219" y="19"/>
                  <a:pt x="228" y="24"/>
                </a:cubicBezTo>
                <a:cubicBezTo>
                  <a:pt x="236" y="30"/>
                  <a:pt x="243" y="36"/>
                  <a:pt x="250" y="42"/>
                </a:cubicBezTo>
                <a:cubicBezTo>
                  <a:pt x="257" y="49"/>
                  <a:pt x="263" y="57"/>
                  <a:pt x="268" y="65"/>
                </a:cubicBezTo>
                <a:cubicBezTo>
                  <a:pt x="273" y="72"/>
                  <a:pt x="278" y="81"/>
                  <a:pt x="281" y="90"/>
                </a:cubicBezTo>
                <a:cubicBezTo>
                  <a:pt x="285" y="99"/>
                  <a:pt x="288" y="108"/>
                  <a:pt x="290" y="117"/>
                </a:cubicBezTo>
                <a:cubicBezTo>
                  <a:pt x="292" y="126"/>
                  <a:pt x="292" y="136"/>
                  <a:pt x="292" y="145"/>
                </a:cubicBezTo>
                <a:close/>
              </a:path>
            </a:pathLst>
          </a:custGeom>
          <a:solidFill>
            <a:srgbClr val="11111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74" name=""/>
          <p:cNvSpPr txBox="1"/>
          <p:nvPr/>
        </p:nvSpPr>
        <p:spPr>
          <a:xfrm>
            <a:off x="533520" y="1438200"/>
            <a:ext cx="4170240" cy="401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従来手法 </a:t>
            </a:r>
            <a:r>
              <a:rPr b="0" lang="en-US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(</a:t>
            </a:r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単一構造</a:t>
            </a:r>
            <a:r>
              <a:rPr b="0" lang="en-US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CNN) </a:t>
            </a:r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の課題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5" name=""/>
          <p:cNvSpPr txBox="1"/>
          <p:nvPr/>
        </p:nvSpPr>
        <p:spPr>
          <a:xfrm>
            <a:off x="1085760" y="1942920"/>
            <a:ext cx="4690080" cy="399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入力画像の解像度が固定されているた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6" name=""/>
          <p:cNvSpPr txBox="1"/>
          <p:nvPr/>
        </p:nvSpPr>
        <p:spPr>
          <a:xfrm>
            <a:off x="1085760" y="2362320"/>
            <a:ext cx="4690080" cy="399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め、劣化の度合いに応じた最適な処理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7" name=""/>
          <p:cNvSpPr/>
          <p:nvPr/>
        </p:nvSpPr>
        <p:spPr>
          <a:xfrm>
            <a:off x="809280" y="3400200"/>
            <a:ext cx="105120" cy="105120"/>
          </a:xfrm>
          <a:custGeom>
            <a:avLst/>
            <a:gdLst/>
            <a:ahLst/>
            <a:rect l="0" t="0" r="r" b="b"/>
            <a:pathLst>
              <a:path w="292" h="292">
                <a:moveTo>
                  <a:pt x="292" y="147"/>
                </a:moveTo>
                <a:cubicBezTo>
                  <a:pt x="292" y="156"/>
                  <a:pt x="292" y="166"/>
                  <a:pt x="290" y="175"/>
                </a:cubicBezTo>
                <a:cubicBezTo>
                  <a:pt x="288" y="184"/>
                  <a:pt x="285" y="194"/>
                  <a:pt x="281" y="202"/>
                </a:cubicBezTo>
                <a:cubicBezTo>
                  <a:pt x="278" y="211"/>
                  <a:pt x="273" y="220"/>
                  <a:pt x="268" y="227"/>
                </a:cubicBezTo>
                <a:cubicBezTo>
                  <a:pt x="263" y="235"/>
                  <a:pt x="257" y="243"/>
                  <a:pt x="250" y="250"/>
                </a:cubicBezTo>
                <a:cubicBezTo>
                  <a:pt x="243" y="256"/>
                  <a:pt x="236" y="262"/>
                  <a:pt x="228" y="268"/>
                </a:cubicBezTo>
                <a:cubicBezTo>
                  <a:pt x="219" y="273"/>
                  <a:pt x="210" y="277"/>
                  <a:pt x="202" y="281"/>
                </a:cubicBezTo>
                <a:cubicBezTo>
                  <a:pt x="193" y="285"/>
                  <a:pt x="184" y="288"/>
                  <a:pt x="174" y="289"/>
                </a:cubicBezTo>
                <a:cubicBezTo>
                  <a:pt x="165" y="291"/>
                  <a:pt x="156" y="292"/>
                  <a:pt x="146" y="292"/>
                </a:cubicBezTo>
                <a:cubicBezTo>
                  <a:pt x="136" y="292"/>
                  <a:pt x="127" y="291"/>
                  <a:pt x="118" y="289"/>
                </a:cubicBezTo>
                <a:cubicBezTo>
                  <a:pt x="108" y="288"/>
                  <a:pt x="99" y="285"/>
                  <a:pt x="90" y="281"/>
                </a:cubicBezTo>
                <a:cubicBezTo>
                  <a:pt x="81" y="277"/>
                  <a:pt x="73" y="273"/>
                  <a:pt x="65" y="268"/>
                </a:cubicBezTo>
                <a:cubicBezTo>
                  <a:pt x="57" y="262"/>
                  <a:pt x="50" y="256"/>
                  <a:pt x="43" y="250"/>
                </a:cubicBezTo>
                <a:cubicBezTo>
                  <a:pt x="36" y="243"/>
                  <a:pt x="30" y="235"/>
                  <a:pt x="25" y="227"/>
                </a:cubicBezTo>
                <a:cubicBezTo>
                  <a:pt x="20" y="220"/>
                  <a:pt x="15" y="211"/>
                  <a:pt x="12" y="202"/>
                </a:cubicBezTo>
                <a:cubicBezTo>
                  <a:pt x="8" y="194"/>
                  <a:pt x="5" y="184"/>
                  <a:pt x="3" y="175"/>
                </a:cubicBezTo>
                <a:cubicBezTo>
                  <a:pt x="1" y="166"/>
                  <a:pt x="0" y="156"/>
                  <a:pt x="0" y="147"/>
                </a:cubicBezTo>
                <a:cubicBezTo>
                  <a:pt x="0" y="137"/>
                  <a:pt x="1" y="128"/>
                  <a:pt x="3" y="118"/>
                </a:cubicBezTo>
                <a:cubicBezTo>
                  <a:pt x="5" y="109"/>
                  <a:pt x="8" y="100"/>
                  <a:pt x="12" y="91"/>
                </a:cubicBezTo>
                <a:cubicBezTo>
                  <a:pt x="15" y="82"/>
                  <a:pt x="20" y="74"/>
                  <a:pt x="25" y="66"/>
                </a:cubicBezTo>
                <a:cubicBezTo>
                  <a:pt x="30" y="58"/>
                  <a:pt x="36" y="51"/>
                  <a:pt x="43" y="44"/>
                </a:cubicBezTo>
                <a:cubicBezTo>
                  <a:pt x="50" y="37"/>
                  <a:pt x="57" y="31"/>
                  <a:pt x="65" y="26"/>
                </a:cubicBezTo>
                <a:cubicBezTo>
                  <a:pt x="73" y="20"/>
                  <a:pt x="81" y="16"/>
                  <a:pt x="90" y="11"/>
                </a:cubicBezTo>
                <a:cubicBezTo>
                  <a:pt x="99" y="8"/>
                  <a:pt x="108" y="5"/>
                  <a:pt x="118" y="3"/>
                </a:cubicBezTo>
                <a:cubicBezTo>
                  <a:pt x="127" y="1"/>
                  <a:pt x="136" y="0"/>
                  <a:pt x="146" y="0"/>
                </a:cubicBezTo>
                <a:cubicBezTo>
                  <a:pt x="156" y="0"/>
                  <a:pt x="165" y="1"/>
                  <a:pt x="174" y="3"/>
                </a:cubicBezTo>
                <a:cubicBezTo>
                  <a:pt x="184" y="5"/>
                  <a:pt x="193" y="8"/>
                  <a:pt x="202" y="11"/>
                </a:cubicBezTo>
                <a:cubicBezTo>
                  <a:pt x="210" y="16"/>
                  <a:pt x="219" y="20"/>
                  <a:pt x="228" y="26"/>
                </a:cubicBezTo>
                <a:cubicBezTo>
                  <a:pt x="236" y="31"/>
                  <a:pt x="243" y="37"/>
                  <a:pt x="250" y="44"/>
                </a:cubicBezTo>
                <a:cubicBezTo>
                  <a:pt x="257" y="51"/>
                  <a:pt x="263" y="58"/>
                  <a:pt x="268" y="66"/>
                </a:cubicBezTo>
                <a:cubicBezTo>
                  <a:pt x="273" y="74"/>
                  <a:pt x="278" y="82"/>
                  <a:pt x="281" y="91"/>
                </a:cubicBezTo>
                <a:cubicBezTo>
                  <a:pt x="285" y="100"/>
                  <a:pt x="288" y="109"/>
                  <a:pt x="290" y="118"/>
                </a:cubicBezTo>
                <a:cubicBezTo>
                  <a:pt x="292" y="128"/>
                  <a:pt x="292" y="137"/>
                  <a:pt x="292" y="147"/>
                </a:cubicBezTo>
                <a:close/>
              </a:path>
            </a:pathLst>
          </a:custGeom>
          <a:solidFill>
            <a:srgbClr val="11111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78" name=""/>
          <p:cNvSpPr txBox="1"/>
          <p:nvPr/>
        </p:nvSpPr>
        <p:spPr>
          <a:xfrm>
            <a:off x="1085760" y="2771640"/>
            <a:ext cx="1379880" cy="399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ができない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9" name=""/>
          <p:cNvSpPr txBox="1"/>
          <p:nvPr/>
        </p:nvSpPr>
        <p:spPr>
          <a:xfrm>
            <a:off x="1085760" y="3257640"/>
            <a:ext cx="4690080" cy="399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劣化が強い画像では認識性能が大幅に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0" name=""/>
          <p:cNvSpPr txBox="1"/>
          <p:nvPr/>
        </p:nvSpPr>
        <p:spPr>
          <a:xfrm>
            <a:off x="1085760" y="3676680"/>
            <a:ext cx="1104120" cy="399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低下する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1" name=""/>
          <p:cNvSpPr/>
          <p:nvPr/>
        </p:nvSpPr>
        <p:spPr>
          <a:xfrm>
            <a:off x="809280" y="5305320"/>
            <a:ext cx="105120" cy="105120"/>
          </a:xfrm>
          <a:custGeom>
            <a:avLst/>
            <a:gdLst/>
            <a:ahLst/>
            <a:rect l="0" t="0" r="r" b="b"/>
            <a:pathLst>
              <a:path w="292" h="292">
                <a:moveTo>
                  <a:pt x="292" y="145"/>
                </a:moveTo>
                <a:cubicBezTo>
                  <a:pt x="292" y="155"/>
                  <a:pt x="292" y="164"/>
                  <a:pt x="290" y="174"/>
                </a:cubicBezTo>
                <a:cubicBezTo>
                  <a:pt x="288" y="183"/>
                  <a:pt x="285" y="192"/>
                  <a:pt x="281" y="201"/>
                </a:cubicBezTo>
                <a:cubicBezTo>
                  <a:pt x="278" y="210"/>
                  <a:pt x="273" y="218"/>
                  <a:pt x="268" y="226"/>
                </a:cubicBezTo>
                <a:cubicBezTo>
                  <a:pt x="263" y="234"/>
                  <a:pt x="257" y="241"/>
                  <a:pt x="250" y="248"/>
                </a:cubicBezTo>
                <a:cubicBezTo>
                  <a:pt x="243" y="256"/>
                  <a:pt x="236" y="262"/>
                  <a:pt x="228" y="267"/>
                </a:cubicBezTo>
                <a:cubicBezTo>
                  <a:pt x="219" y="273"/>
                  <a:pt x="210" y="277"/>
                  <a:pt x="202" y="281"/>
                </a:cubicBezTo>
                <a:cubicBezTo>
                  <a:pt x="193" y="284"/>
                  <a:pt x="184" y="287"/>
                  <a:pt x="174" y="289"/>
                </a:cubicBezTo>
                <a:cubicBezTo>
                  <a:pt x="165" y="291"/>
                  <a:pt x="156" y="292"/>
                  <a:pt x="146" y="292"/>
                </a:cubicBezTo>
                <a:cubicBezTo>
                  <a:pt x="136" y="292"/>
                  <a:pt x="127" y="291"/>
                  <a:pt x="118" y="289"/>
                </a:cubicBezTo>
                <a:cubicBezTo>
                  <a:pt x="108" y="287"/>
                  <a:pt x="99" y="284"/>
                  <a:pt x="90" y="281"/>
                </a:cubicBezTo>
                <a:cubicBezTo>
                  <a:pt x="81" y="277"/>
                  <a:pt x="73" y="273"/>
                  <a:pt x="65" y="267"/>
                </a:cubicBezTo>
                <a:cubicBezTo>
                  <a:pt x="57" y="262"/>
                  <a:pt x="50" y="256"/>
                  <a:pt x="43" y="248"/>
                </a:cubicBezTo>
                <a:cubicBezTo>
                  <a:pt x="36" y="241"/>
                  <a:pt x="30" y="234"/>
                  <a:pt x="25" y="226"/>
                </a:cubicBezTo>
                <a:cubicBezTo>
                  <a:pt x="20" y="218"/>
                  <a:pt x="15" y="210"/>
                  <a:pt x="12" y="201"/>
                </a:cubicBezTo>
                <a:cubicBezTo>
                  <a:pt x="8" y="192"/>
                  <a:pt x="5" y="183"/>
                  <a:pt x="3" y="174"/>
                </a:cubicBezTo>
                <a:cubicBezTo>
                  <a:pt x="1" y="164"/>
                  <a:pt x="0" y="155"/>
                  <a:pt x="0" y="145"/>
                </a:cubicBezTo>
                <a:cubicBezTo>
                  <a:pt x="0" y="136"/>
                  <a:pt x="1" y="126"/>
                  <a:pt x="3" y="117"/>
                </a:cubicBezTo>
                <a:cubicBezTo>
                  <a:pt x="5" y="108"/>
                  <a:pt x="8" y="98"/>
                  <a:pt x="12" y="90"/>
                </a:cubicBezTo>
                <a:cubicBezTo>
                  <a:pt x="15" y="81"/>
                  <a:pt x="20" y="72"/>
                  <a:pt x="25" y="64"/>
                </a:cubicBezTo>
                <a:cubicBezTo>
                  <a:pt x="30" y="57"/>
                  <a:pt x="36" y="49"/>
                  <a:pt x="43" y="42"/>
                </a:cubicBezTo>
                <a:cubicBezTo>
                  <a:pt x="50" y="36"/>
                  <a:pt x="57" y="30"/>
                  <a:pt x="65" y="24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7"/>
                  <a:pt x="108" y="4"/>
                  <a:pt x="118" y="3"/>
                </a:cubicBezTo>
                <a:cubicBezTo>
                  <a:pt x="127" y="1"/>
                  <a:pt x="136" y="0"/>
                  <a:pt x="146" y="0"/>
                </a:cubicBezTo>
                <a:cubicBezTo>
                  <a:pt x="156" y="0"/>
                  <a:pt x="165" y="1"/>
                  <a:pt x="174" y="3"/>
                </a:cubicBezTo>
                <a:cubicBezTo>
                  <a:pt x="184" y="4"/>
                  <a:pt x="193" y="7"/>
                  <a:pt x="202" y="11"/>
                </a:cubicBezTo>
                <a:cubicBezTo>
                  <a:pt x="210" y="15"/>
                  <a:pt x="219" y="19"/>
                  <a:pt x="228" y="24"/>
                </a:cubicBezTo>
                <a:cubicBezTo>
                  <a:pt x="236" y="30"/>
                  <a:pt x="243" y="36"/>
                  <a:pt x="250" y="42"/>
                </a:cubicBezTo>
                <a:cubicBezTo>
                  <a:pt x="257" y="49"/>
                  <a:pt x="263" y="57"/>
                  <a:pt x="268" y="64"/>
                </a:cubicBezTo>
                <a:cubicBezTo>
                  <a:pt x="273" y="72"/>
                  <a:pt x="278" y="81"/>
                  <a:pt x="281" y="90"/>
                </a:cubicBezTo>
                <a:cubicBezTo>
                  <a:pt x="285" y="98"/>
                  <a:pt x="288" y="108"/>
                  <a:pt x="290" y="117"/>
                </a:cubicBezTo>
                <a:cubicBezTo>
                  <a:pt x="292" y="126"/>
                  <a:pt x="292" y="136"/>
                  <a:pt x="292" y="145"/>
                </a:cubicBezTo>
                <a:close/>
              </a:path>
            </a:pathLst>
          </a:custGeom>
          <a:solidFill>
            <a:srgbClr val="11111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82" name=""/>
          <p:cNvSpPr txBox="1"/>
          <p:nvPr/>
        </p:nvSpPr>
        <p:spPr>
          <a:xfrm>
            <a:off x="533520" y="4657680"/>
            <a:ext cx="1104120" cy="399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70" spc="-1" strike="noStrike">
                <a:solidFill>
                  <a:srgbClr val="083a5e"/>
                </a:solidFill>
                <a:latin typeface="NotoSansJP"/>
                <a:ea typeface="NotoSansJP"/>
              </a:rPr>
              <a:t>提案手法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3" name=""/>
          <p:cNvSpPr txBox="1"/>
          <p:nvPr/>
        </p:nvSpPr>
        <p:spPr>
          <a:xfrm>
            <a:off x="1085760" y="5162400"/>
            <a:ext cx="4690080" cy="399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入力画像を複数の解像度（イメージピ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4" name=""/>
          <p:cNvSpPr/>
          <p:nvPr/>
        </p:nvSpPr>
        <p:spPr>
          <a:xfrm>
            <a:off x="809280" y="6200640"/>
            <a:ext cx="105120" cy="105120"/>
          </a:xfrm>
          <a:custGeom>
            <a:avLst/>
            <a:gdLst/>
            <a:ahLst/>
            <a:rect l="0" t="0" r="r" b="b"/>
            <a:pathLst>
              <a:path w="292" h="292">
                <a:moveTo>
                  <a:pt x="292" y="146"/>
                </a:moveTo>
                <a:cubicBezTo>
                  <a:pt x="292" y="156"/>
                  <a:pt x="292" y="165"/>
                  <a:pt x="290" y="175"/>
                </a:cubicBezTo>
                <a:cubicBezTo>
                  <a:pt x="288" y="184"/>
                  <a:pt x="285" y="193"/>
                  <a:pt x="281" y="202"/>
                </a:cubicBezTo>
                <a:cubicBezTo>
                  <a:pt x="278" y="211"/>
                  <a:pt x="273" y="219"/>
                  <a:pt x="268" y="227"/>
                </a:cubicBezTo>
                <a:cubicBezTo>
                  <a:pt x="263" y="235"/>
                  <a:pt x="257" y="243"/>
                  <a:pt x="250" y="249"/>
                </a:cubicBezTo>
                <a:cubicBezTo>
                  <a:pt x="243" y="256"/>
                  <a:pt x="236" y="262"/>
                  <a:pt x="228" y="267"/>
                </a:cubicBezTo>
                <a:cubicBezTo>
                  <a:pt x="219" y="273"/>
                  <a:pt x="210" y="277"/>
                  <a:pt x="202" y="281"/>
                </a:cubicBezTo>
                <a:cubicBezTo>
                  <a:pt x="193" y="284"/>
                  <a:pt x="184" y="287"/>
                  <a:pt x="174" y="289"/>
                </a:cubicBezTo>
                <a:cubicBezTo>
                  <a:pt x="165" y="291"/>
                  <a:pt x="156" y="292"/>
                  <a:pt x="146" y="292"/>
                </a:cubicBezTo>
                <a:cubicBezTo>
                  <a:pt x="136" y="292"/>
                  <a:pt x="127" y="291"/>
                  <a:pt x="118" y="289"/>
                </a:cubicBezTo>
                <a:cubicBezTo>
                  <a:pt x="108" y="287"/>
                  <a:pt x="99" y="284"/>
                  <a:pt x="90" y="281"/>
                </a:cubicBezTo>
                <a:cubicBezTo>
                  <a:pt x="81" y="277"/>
                  <a:pt x="73" y="273"/>
                  <a:pt x="65" y="267"/>
                </a:cubicBezTo>
                <a:cubicBezTo>
                  <a:pt x="57" y="262"/>
                  <a:pt x="50" y="256"/>
                  <a:pt x="43" y="249"/>
                </a:cubicBezTo>
                <a:cubicBezTo>
                  <a:pt x="36" y="243"/>
                  <a:pt x="30" y="235"/>
                  <a:pt x="25" y="227"/>
                </a:cubicBezTo>
                <a:cubicBezTo>
                  <a:pt x="20" y="219"/>
                  <a:pt x="15" y="211"/>
                  <a:pt x="12" y="202"/>
                </a:cubicBezTo>
                <a:cubicBezTo>
                  <a:pt x="8" y="193"/>
                  <a:pt x="5" y="184"/>
                  <a:pt x="3" y="175"/>
                </a:cubicBezTo>
                <a:cubicBezTo>
                  <a:pt x="1" y="165"/>
                  <a:pt x="0" y="156"/>
                  <a:pt x="0" y="146"/>
                </a:cubicBezTo>
                <a:cubicBezTo>
                  <a:pt x="0" y="137"/>
                  <a:pt x="1" y="127"/>
                  <a:pt x="3" y="118"/>
                </a:cubicBezTo>
                <a:cubicBezTo>
                  <a:pt x="5" y="109"/>
                  <a:pt x="8" y="100"/>
                  <a:pt x="12" y="90"/>
                </a:cubicBezTo>
                <a:cubicBezTo>
                  <a:pt x="15" y="81"/>
                  <a:pt x="20" y="72"/>
                  <a:pt x="25" y="65"/>
                </a:cubicBezTo>
                <a:cubicBezTo>
                  <a:pt x="30" y="57"/>
                  <a:pt x="36" y="49"/>
                  <a:pt x="43" y="42"/>
                </a:cubicBezTo>
                <a:cubicBezTo>
                  <a:pt x="50" y="36"/>
                  <a:pt x="57" y="30"/>
                  <a:pt x="65" y="24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7"/>
                  <a:pt x="108" y="5"/>
                  <a:pt x="118" y="3"/>
                </a:cubicBezTo>
                <a:cubicBezTo>
                  <a:pt x="127" y="1"/>
                  <a:pt x="136" y="0"/>
                  <a:pt x="146" y="0"/>
                </a:cubicBezTo>
                <a:cubicBezTo>
                  <a:pt x="156" y="0"/>
                  <a:pt x="165" y="1"/>
                  <a:pt x="174" y="3"/>
                </a:cubicBezTo>
                <a:cubicBezTo>
                  <a:pt x="184" y="5"/>
                  <a:pt x="193" y="7"/>
                  <a:pt x="202" y="11"/>
                </a:cubicBezTo>
                <a:cubicBezTo>
                  <a:pt x="210" y="15"/>
                  <a:pt x="219" y="19"/>
                  <a:pt x="228" y="24"/>
                </a:cubicBezTo>
                <a:cubicBezTo>
                  <a:pt x="236" y="30"/>
                  <a:pt x="243" y="36"/>
                  <a:pt x="250" y="42"/>
                </a:cubicBezTo>
                <a:cubicBezTo>
                  <a:pt x="257" y="49"/>
                  <a:pt x="263" y="57"/>
                  <a:pt x="268" y="65"/>
                </a:cubicBezTo>
                <a:cubicBezTo>
                  <a:pt x="273" y="72"/>
                  <a:pt x="278" y="81"/>
                  <a:pt x="281" y="90"/>
                </a:cubicBezTo>
                <a:cubicBezTo>
                  <a:pt x="285" y="100"/>
                  <a:pt x="288" y="109"/>
                  <a:pt x="290" y="118"/>
                </a:cubicBezTo>
                <a:cubicBezTo>
                  <a:pt x="292" y="127"/>
                  <a:pt x="292" y="137"/>
                  <a:pt x="292" y="146"/>
                </a:cubicBezTo>
                <a:close/>
              </a:path>
            </a:pathLst>
          </a:custGeom>
          <a:solidFill>
            <a:srgbClr val="11111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85" name=""/>
          <p:cNvSpPr txBox="1"/>
          <p:nvPr/>
        </p:nvSpPr>
        <p:spPr>
          <a:xfrm>
            <a:off x="1085760" y="5581800"/>
            <a:ext cx="2207520" cy="399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ラミッド）に変換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6" name=""/>
          <p:cNvSpPr txBox="1"/>
          <p:nvPr/>
        </p:nvSpPr>
        <p:spPr>
          <a:xfrm>
            <a:off x="1085760" y="6057720"/>
            <a:ext cx="4846320" cy="401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各解像度を並列の</a:t>
            </a:r>
            <a:r>
              <a:rPr b="0" lang="en-US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CNN</a:t>
            </a:r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で処理し、結果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7" name=""/>
          <p:cNvSpPr txBox="1"/>
          <p:nvPr/>
        </p:nvSpPr>
        <p:spPr>
          <a:xfrm>
            <a:off x="1085760" y="6477120"/>
            <a:ext cx="828360" cy="399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を統合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8" name=""/>
          <p:cNvSpPr txBox="1"/>
          <p:nvPr/>
        </p:nvSpPr>
        <p:spPr>
          <a:xfrm>
            <a:off x="6264720" y="1438200"/>
            <a:ext cx="5653080" cy="401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提案手法のアーキテクチャ </a:t>
            </a:r>
            <a:r>
              <a:rPr b="0" lang="en-US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(</a:t>
            </a:r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論文図</a:t>
            </a:r>
            <a:r>
              <a:rPr b="0" lang="en-US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4.5</a:t>
            </a:r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より</a:t>
            </a:r>
            <a:r>
              <a:rPr b="0" lang="en-US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)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9" name=""/>
          <p:cNvSpPr txBox="1"/>
          <p:nvPr/>
        </p:nvSpPr>
        <p:spPr>
          <a:xfrm>
            <a:off x="6330240" y="1942920"/>
            <a:ext cx="5567760" cy="401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[</a:t>
            </a:r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図</a:t>
            </a:r>
            <a:r>
              <a:rPr b="0" lang="en-US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: </a:t>
            </a:r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多重解像度画像が複数の</a:t>
            </a:r>
            <a:r>
              <a:rPr b="0" lang="en-US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CNN</a:t>
            </a:r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に並列入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0" name=""/>
          <p:cNvSpPr txBox="1"/>
          <p:nvPr/>
        </p:nvSpPr>
        <p:spPr>
          <a:xfrm>
            <a:off x="6548040" y="2362320"/>
            <a:ext cx="4854960" cy="401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力され、その結果が統合される構成図</a:t>
            </a:r>
            <a:r>
              <a:rPr b="0" lang="en-US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]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1" name=""/>
          <p:cNvSpPr/>
          <p:nvPr/>
        </p:nvSpPr>
        <p:spPr>
          <a:xfrm>
            <a:off x="533160" y="561960"/>
            <a:ext cx="267120" cy="57240"/>
          </a:xfrm>
          <a:custGeom>
            <a:avLst/>
            <a:gdLst/>
            <a:ahLst/>
            <a:rect l="0" t="0" r="r" b="b"/>
            <a:pathLst>
              <a:path w="742" h="159">
                <a:moveTo>
                  <a:pt x="0" y="106"/>
                </a:moveTo>
                <a:lnTo>
                  <a:pt x="0" y="52"/>
                </a:lnTo>
                <a:cubicBezTo>
                  <a:pt x="0" y="45"/>
                  <a:pt x="2" y="39"/>
                  <a:pt x="4" y="32"/>
                </a:cubicBezTo>
                <a:cubicBezTo>
                  <a:pt x="7" y="26"/>
                  <a:pt x="11" y="20"/>
                  <a:pt x="16" y="15"/>
                </a:cubicBezTo>
                <a:cubicBezTo>
                  <a:pt x="21" y="10"/>
                  <a:pt x="26" y="6"/>
                  <a:pt x="33" y="4"/>
                </a:cubicBezTo>
                <a:cubicBezTo>
                  <a:pt x="39" y="1"/>
                  <a:pt x="46" y="0"/>
                  <a:pt x="53" y="0"/>
                </a:cubicBezTo>
                <a:lnTo>
                  <a:pt x="689" y="0"/>
                </a:lnTo>
                <a:cubicBezTo>
                  <a:pt x="696" y="0"/>
                  <a:pt x="703" y="1"/>
                  <a:pt x="709" y="4"/>
                </a:cubicBezTo>
                <a:cubicBezTo>
                  <a:pt x="716" y="6"/>
                  <a:pt x="722" y="10"/>
                  <a:pt x="727" y="15"/>
                </a:cubicBezTo>
                <a:cubicBezTo>
                  <a:pt x="731" y="20"/>
                  <a:pt x="735" y="26"/>
                  <a:pt x="738" y="32"/>
                </a:cubicBezTo>
                <a:cubicBezTo>
                  <a:pt x="741" y="39"/>
                  <a:pt x="742" y="45"/>
                  <a:pt x="742" y="52"/>
                </a:cubicBezTo>
                <a:lnTo>
                  <a:pt x="742" y="106"/>
                </a:lnTo>
                <a:cubicBezTo>
                  <a:pt x="742" y="113"/>
                  <a:pt x="741" y="120"/>
                  <a:pt x="738" y="127"/>
                </a:cubicBezTo>
                <a:cubicBezTo>
                  <a:pt x="735" y="133"/>
                  <a:pt x="731" y="139"/>
                  <a:pt x="727" y="144"/>
                </a:cubicBezTo>
                <a:cubicBezTo>
                  <a:pt x="722" y="149"/>
                  <a:pt x="716" y="153"/>
                  <a:pt x="709" y="155"/>
                </a:cubicBezTo>
                <a:cubicBezTo>
                  <a:pt x="703" y="158"/>
                  <a:pt x="696" y="159"/>
                  <a:pt x="689" y="159"/>
                </a:cubicBezTo>
                <a:lnTo>
                  <a:pt x="53" y="159"/>
                </a:lnTo>
                <a:cubicBezTo>
                  <a:pt x="46" y="159"/>
                  <a:pt x="39" y="158"/>
                  <a:pt x="33" y="155"/>
                </a:cubicBezTo>
                <a:cubicBezTo>
                  <a:pt x="26" y="153"/>
                  <a:pt x="21" y="149"/>
                  <a:pt x="16" y="144"/>
                </a:cubicBezTo>
                <a:cubicBezTo>
                  <a:pt x="11" y="139"/>
                  <a:pt x="7" y="133"/>
                  <a:pt x="4" y="127"/>
                </a:cubicBezTo>
                <a:cubicBezTo>
                  <a:pt x="2" y="120"/>
                  <a:pt x="0" y="113"/>
                  <a:pt x="0" y="106"/>
                </a:cubicBezTo>
                <a:close/>
              </a:path>
            </a:pathLst>
          </a:custGeom>
          <a:solidFill>
            <a:srgbClr val="0b4b7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92" name=""/>
          <p:cNvSpPr txBox="1"/>
          <p:nvPr/>
        </p:nvSpPr>
        <p:spPr>
          <a:xfrm>
            <a:off x="914400" y="392400"/>
            <a:ext cx="4764240" cy="3614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1950" spc="-1" strike="noStrike">
                <a:solidFill>
                  <a:srgbClr val="111111"/>
                </a:solidFill>
                <a:latin typeface="NotoSansJP"/>
                <a:ea typeface="NotoSansJP"/>
              </a:rPr>
              <a:t>提案手法</a:t>
            </a:r>
            <a:r>
              <a:rPr b="0" lang="en-US" sz="1950" spc="-1" strike="noStrike">
                <a:solidFill>
                  <a:srgbClr val="111111"/>
                </a:solidFill>
                <a:latin typeface="NotoSansJP"/>
                <a:ea typeface="NotoSansJP"/>
              </a:rPr>
              <a:t>3: </a:t>
            </a:r>
            <a:r>
              <a:rPr b="0" lang="zh-CN" sz="1950" spc="-1" strike="noStrike">
                <a:solidFill>
                  <a:srgbClr val="111111"/>
                </a:solidFill>
                <a:latin typeface="NotoSansJP"/>
                <a:ea typeface="NotoSansJP"/>
              </a:rPr>
              <a:t>多重構造</a:t>
            </a:r>
            <a:r>
              <a:rPr b="0" lang="en-US" sz="1950" spc="-1" strike="noStrike">
                <a:solidFill>
                  <a:srgbClr val="111111"/>
                </a:solidFill>
                <a:latin typeface="NotoSansJP"/>
                <a:ea typeface="NotoSansJP"/>
              </a:rPr>
              <a:t>CNN</a:t>
            </a:r>
            <a:r>
              <a:rPr b="0" lang="zh-CN" sz="1950" spc="-1" strike="noStrike">
                <a:solidFill>
                  <a:srgbClr val="111111"/>
                </a:solidFill>
                <a:latin typeface="NotoSansJP"/>
                <a:ea typeface="NotoSansJP"/>
              </a:rPr>
              <a:t>による文字認識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3" name=""/>
          <p:cNvSpPr txBox="1"/>
          <p:nvPr/>
        </p:nvSpPr>
        <p:spPr>
          <a:xfrm>
            <a:off x="11946600" y="6436800"/>
            <a:ext cx="304560" cy="416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400" spc="-1" strike="noStrike">
                <a:solidFill>
                  <a:srgbClr val="111111"/>
                </a:solidFill>
                <a:latin typeface="NotoSansJP"/>
                <a:ea typeface="NotoSansJP"/>
              </a:rPr>
              <a:t>8</a:t>
            </a:r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c9c9c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7" name=""/>
          <p:cNvSpPr/>
          <p:nvPr/>
        </p:nvSpPr>
        <p:spPr>
          <a:xfrm>
            <a:off x="228240" y="228240"/>
            <a:ext cx="11735280" cy="6401160"/>
          </a:xfrm>
          <a:custGeom>
            <a:avLst/>
            <a:gdLst/>
            <a:ahLst/>
            <a:rect l="0" t="0" r="r" b="b"/>
            <a:pathLst>
              <a:path w="32598" h="17781">
                <a:moveTo>
                  <a:pt x="530" y="0"/>
                </a:moveTo>
                <a:lnTo>
                  <a:pt x="32069" y="0"/>
                </a:lnTo>
                <a:cubicBezTo>
                  <a:pt x="32104" y="0"/>
                  <a:pt x="32138" y="4"/>
                  <a:pt x="32172" y="11"/>
                </a:cubicBezTo>
                <a:cubicBezTo>
                  <a:pt x="32206" y="17"/>
                  <a:pt x="32239" y="27"/>
                  <a:pt x="32271" y="41"/>
                </a:cubicBezTo>
                <a:cubicBezTo>
                  <a:pt x="32304" y="54"/>
                  <a:pt x="32334" y="70"/>
                  <a:pt x="32363" y="90"/>
                </a:cubicBezTo>
                <a:cubicBezTo>
                  <a:pt x="32392" y="109"/>
                  <a:pt x="32419" y="131"/>
                  <a:pt x="32443" y="155"/>
                </a:cubicBezTo>
                <a:cubicBezTo>
                  <a:pt x="32468" y="180"/>
                  <a:pt x="32490" y="207"/>
                  <a:pt x="32509" y="236"/>
                </a:cubicBezTo>
                <a:cubicBezTo>
                  <a:pt x="32528" y="265"/>
                  <a:pt x="32545" y="295"/>
                  <a:pt x="32558" y="327"/>
                </a:cubicBezTo>
                <a:cubicBezTo>
                  <a:pt x="32571" y="359"/>
                  <a:pt x="32581" y="392"/>
                  <a:pt x="32588" y="426"/>
                </a:cubicBezTo>
                <a:cubicBezTo>
                  <a:pt x="32595" y="461"/>
                  <a:pt x="32598" y="495"/>
                  <a:pt x="32598" y="530"/>
                </a:cubicBezTo>
                <a:lnTo>
                  <a:pt x="32598" y="17252"/>
                </a:lnTo>
                <a:cubicBezTo>
                  <a:pt x="32598" y="17287"/>
                  <a:pt x="32595" y="17321"/>
                  <a:pt x="32588" y="17356"/>
                </a:cubicBezTo>
                <a:cubicBezTo>
                  <a:pt x="32581" y="17390"/>
                  <a:pt x="32571" y="17423"/>
                  <a:pt x="32558" y="17455"/>
                </a:cubicBezTo>
                <a:cubicBezTo>
                  <a:pt x="32545" y="17487"/>
                  <a:pt x="32528" y="17517"/>
                  <a:pt x="32509" y="17546"/>
                </a:cubicBezTo>
                <a:cubicBezTo>
                  <a:pt x="32490" y="17575"/>
                  <a:pt x="32468" y="17602"/>
                  <a:pt x="32443" y="17627"/>
                </a:cubicBezTo>
                <a:cubicBezTo>
                  <a:pt x="32419" y="17651"/>
                  <a:pt x="32392" y="17673"/>
                  <a:pt x="32363" y="17692"/>
                </a:cubicBezTo>
                <a:cubicBezTo>
                  <a:pt x="32334" y="17712"/>
                  <a:pt x="32304" y="17728"/>
                  <a:pt x="32271" y="17741"/>
                </a:cubicBezTo>
                <a:cubicBezTo>
                  <a:pt x="32239" y="17755"/>
                  <a:pt x="32206" y="17765"/>
                  <a:pt x="32172" y="17771"/>
                </a:cubicBezTo>
                <a:cubicBezTo>
                  <a:pt x="32138" y="17778"/>
                  <a:pt x="32104" y="17781"/>
                  <a:pt x="32069" y="17781"/>
                </a:cubicBezTo>
                <a:lnTo>
                  <a:pt x="530" y="17781"/>
                </a:lnTo>
                <a:cubicBezTo>
                  <a:pt x="495" y="17781"/>
                  <a:pt x="461" y="17778"/>
                  <a:pt x="426" y="17771"/>
                </a:cubicBezTo>
                <a:cubicBezTo>
                  <a:pt x="392" y="17765"/>
                  <a:pt x="359" y="17755"/>
                  <a:pt x="327" y="17741"/>
                </a:cubicBezTo>
                <a:cubicBezTo>
                  <a:pt x="295" y="17728"/>
                  <a:pt x="265" y="17712"/>
                  <a:pt x="236" y="17692"/>
                </a:cubicBezTo>
                <a:cubicBezTo>
                  <a:pt x="207" y="17673"/>
                  <a:pt x="180" y="17651"/>
                  <a:pt x="155" y="17627"/>
                </a:cubicBezTo>
                <a:cubicBezTo>
                  <a:pt x="131" y="17602"/>
                  <a:pt x="109" y="17575"/>
                  <a:pt x="90" y="17546"/>
                </a:cubicBezTo>
                <a:cubicBezTo>
                  <a:pt x="70" y="17517"/>
                  <a:pt x="54" y="17487"/>
                  <a:pt x="41" y="17455"/>
                </a:cubicBezTo>
                <a:cubicBezTo>
                  <a:pt x="27" y="17423"/>
                  <a:pt x="17" y="17390"/>
                  <a:pt x="11" y="17356"/>
                </a:cubicBezTo>
                <a:cubicBezTo>
                  <a:pt x="4" y="17321"/>
                  <a:pt x="0" y="17287"/>
                  <a:pt x="0" y="17252"/>
                </a:cubicBezTo>
                <a:lnTo>
                  <a:pt x="0" y="530"/>
                </a:lnTo>
                <a:cubicBezTo>
                  <a:pt x="0" y="495"/>
                  <a:pt x="4" y="461"/>
                  <a:pt x="11" y="426"/>
                </a:cubicBezTo>
                <a:cubicBezTo>
                  <a:pt x="17" y="392"/>
                  <a:pt x="27" y="359"/>
                  <a:pt x="41" y="327"/>
                </a:cubicBezTo>
                <a:cubicBezTo>
                  <a:pt x="54" y="295"/>
                  <a:pt x="70" y="265"/>
                  <a:pt x="90" y="236"/>
                </a:cubicBezTo>
                <a:cubicBezTo>
                  <a:pt x="109" y="207"/>
                  <a:pt x="131" y="180"/>
                  <a:pt x="155" y="155"/>
                </a:cubicBezTo>
                <a:cubicBezTo>
                  <a:pt x="180" y="131"/>
                  <a:pt x="207" y="109"/>
                  <a:pt x="236" y="90"/>
                </a:cubicBezTo>
                <a:cubicBezTo>
                  <a:pt x="265" y="70"/>
                  <a:pt x="295" y="54"/>
                  <a:pt x="327" y="41"/>
                </a:cubicBezTo>
                <a:cubicBezTo>
                  <a:pt x="359" y="27"/>
                  <a:pt x="392" y="17"/>
                  <a:pt x="426" y="11"/>
                </a:cubicBezTo>
                <a:cubicBezTo>
                  <a:pt x="461" y="4"/>
                  <a:pt x="495" y="0"/>
                  <a:pt x="530" y="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198" name="" descr=""/>
          <p:cNvPicPr/>
          <p:nvPr/>
        </p:nvPicPr>
        <p:blipFill>
          <a:blip r:embed="rId1"/>
          <a:stretch/>
        </p:blipFill>
        <p:spPr>
          <a:xfrm>
            <a:off x="10515600" y="38160"/>
            <a:ext cx="1142640" cy="1142640"/>
          </a:xfrm>
          <a:prstGeom prst="rect">
            <a:avLst/>
          </a:prstGeom>
          <a:ln w="0">
            <a:noFill/>
          </a:ln>
        </p:spPr>
      </p:pic>
      <p:sp>
        <p:nvSpPr>
          <p:cNvPr id="199" name=""/>
          <p:cNvSpPr/>
          <p:nvPr/>
        </p:nvSpPr>
        <p:spPr>
          <a:xfrm>
            <a:off x="809280" y="1581120"/>
            <a:ext cx="105120" cy="105120"/>
          </a:xfrm>
          <a:custGeom>
            <a:avLst/>
            <a:gdLst/>
            <a:ahLst/>
            <a:rect l="0" t="0" r="r" b="b"/>
            <a:pathLst>
              <a:path w="292" h="292">
                <a:moveTo>
                  <a:pt x="292" y="146"/>
                </a:moveTo>
                <a:cubicBezTo>
                  <a:pt x="292" y="156"/>
                  <a:pt x="292" y="165"/>
                  <a:pt x="290" y="174"/>
                </a:cubicBezTo>
                <a:cubicBezTo>
                  <a:pt x="288" y="184"/>
                  <a:pt x="285" y="193"/>
                  <a:pt x="281" y="202"/>
                </a:cubicBezTo>
                <a:cubicBezTo>
                  <a:pt x="278" y="211"/>
                  <a:pt x="273" y="219"/>
                  <a:pt x="268" y="227"/>
                </a:cubicBezTo>
                <a:cubicBezTo>
                  <a:pt x="263" y="235"/>
                  <a:pt x="257" y="242"/>
                  <a:pt x="250" y="249"/>
                </a:cubicBezTo>
                <a:cubicBezTo>
                  <a:pt x="243" y="256"/>
                  <a:pt x="236" y="262"/>
                  <a:pt x="228" y="267"/>
                </a:cubicBezTo>
                <a:cubicBezTo>
                  <a:pt x="219" y="272"/>
                  <a:pt x="210" y="277"/>
                  <a:pt x="202" y="281"/>
                </a:cubicBezTo>
                <a:cubicBezTo>
                  <a:pt x="193" y="284"/>
                  <a:pt x="184" y="287"/>
                  <a:pt x="174" y="289"/>
                </a:cubicBezTo>
                <a:cubicBezTo>
                  <a:pt x="165" y="291"/>
                  <a:pt x="156" y="292"/>
                  <a:pt x="146" y="292"/>
                </a:cubicBezTo>
                <a:cubicBezTo>
                  <a:pt x="136" y="292"/>
                  <a:pt x="127" y="291"/>
                  <a:pt x="118" y="289"/>
                </a:cubicBezTo>
                <a:cubicBezTo>
                  <a:pt x="108" y="287"/>
                  <a:pt x="99" y="284"/>
                  <a:pt x="90" y="281"/>
                </a:cubicBezTo>
                <a:cubicBezTo>
                  <a:pt x="81" y="277"/>
                  <a:pt x="73" y="272"/>
                  <a:pt x="65" y="267"/>
                </a:cubicBezTo>
                <a:cubicBezTo>
                  <a:pt x="57" y="262"/>
                  <a:pt x="50" y="256"/>
                  <a:pt x="43" y="249"/>
                </a:cubicBezTo>
                <a:cubicBezTo>
                  <a:pt x="36" y="242"/>
                  <a:pt x="30" y="235"/>
                  <a:pt x="25" y="227"/>
                </a:cubicBezTo>
                <a:cubicBezTo>
                  <a:pt x="20" y="219"/>
                  <a:pt x="15" y="211"/>
                  <a:pt x="12" y="202"/>
                </a:cubicBezTo>
                <a:cubicBezTo>
                  <a:pt x="8" y="193"/>
                  <a:pt x="5" y="184"/>
                  <a:pt x="3" y="174"/>
                </a:cubicBezTo>
                <a:cubicBezTo>
                  <a:pt x="1" y="165"/>
                  <a:pt x="0" y="156"/>
                  <a:pt x="0" y="146"/>
                </a:cubicBezTo>
                <a:cubicBezTo>
                  <a:pt x="0" y="137"/>
                  <a:pt x="1" y="127"/>
                  <a:pt x="3" y="117"/>
                </a:cubicBezTo>
                <a:cubicBezTo>
                  <a:pt x="5" y="107"/>
                  <a:pt x="8" y="98"/>
                  <a:pt x="12" y="89"/>
                </a:cubicBezTo>
                <a:cubicBezTo>
                  <a:pt x="15" y="81"/>
                  <a:pt x="20" y="72"/>
                  <a:pt x="25" y="64"/>
                </a:cubicBezTo>
                <a:cubicBezTo>
                  <a:pt x="30" y="56"/>
                  <a:pt x="36" y="49"/>
                  <a:pt x="43" y="42"/>
                </a:cubicBezTo>
                <a:cubicBezTo>
                  <a:pt x="50" y="35"/>
                  <a:pt x="57" y="29"/>
                  <a:pt x="65" y="24"/>
                </a:cubicBezTo>
                <a:cubicBezTo>
                  <a:pt x="73" y="19"/>
                  <a:pt x="81" y="14"/>
                  <a:pt x="90" y="11"/>
                </a:cubicBezTo>
                <a:cubicBezTo>
                  <a:pt x="99" y="7"/>
                  <a:pt x="108" y="4"/>
                  <a:pt x="118" y="2"/>
                </a:cubicBezTo>
                <a:cubicBezTo>
                  <a:pt x="127" y="1"/>
                  <a:pt x="136" y="0"/>
                  <a:pt x="146" y="0"/>
                </a:cubicBezTo>
                <a:cubicBezTo>
                  <a:pt x="156" y="0"/>
                  <a:pt x="165" y="1"/>
                  <a:pt x="174" y="2"/>
                </a:cubicBezTo>
                <a:cubicBezTo>
                  <a:pt x="184" y="4"/>
                  <a:pt x="193" y="7"/>
                  <a:pt x="202" y="11"/>
                </a:cubicBezTo>
                <a:cubicBezTo>
                  <a:pt x="210" y="14"/>
                  <a:pt x="219" y="19"/>
                  <a:pt x="228" y="24"/>
                </a:cubicBezTo>
                <a:cubicBezTo>
                  <a:pt x="236" y="29"/>
                  <a:pt x="243" y="35"/>
                  <a:pt x="250" y="42"/>
                </a:cubicBezTo>
                <a:cubicBezTo>
                  <a:pt x="257" y="49"/>
                  <a:pt x="263" y="56"/>
                  <a:pt x="268" y="64"/>
                </a:cubicBezTo>
                <a:cubicBezTo>
                  <a:pt x="273" y="72"/>
                  <a:pt x="278" y="81"/>
                  <a:pt x="281" y="89"/>
                </a:cubicBezTo>
                <a:cubicBezTo>
                  <a:pt x="285" y="98"/>
                  <a:pt x="288" y="107"/>
                  <a:pt x="290" y="117"/>
                </a:cubicBezTo>
                <a:cubicBezTo>
                  <a:pt x="292" y="127"/>
                  <a:pt x="292" y="137"/>
                  <a:pt x="292" y="146"/>
                </a:cubicBezTo>
                <a:close/>
              </a:path>
            </a:pathLst>
          </a:custGeom>
          <a:solidFill>
            <a:srgbClr val="11111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00" name=""/>
          <p:cNvSpPr txBox="1"/>
          <p:nvPr/>
        </p:nvSpPr>
        <p:spPr>
          <a:xfrm>
            <a:off x="533520" y="923760"/>
            <a:ext cx="4138560" cy="399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提案手法の有効性を定量的に評価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1" name=""/>
          <p:cNvSpPr/>
          <p:nvPr/>
        </p:nvSpPr>
        <p:spPr>
          <a:xfrm>
            <a:off x="1361880" y="1990440"/>
            <a:ext cx="105120" cy="105120"/>
          </a:xfrm>
          <a:custGeom>
            <a:avLst/>
            <a:gdLst/>
            <a:ahLst/>
            <a:rect l="0" t="0" r="r" b="b"/>
            <a:pathLst>
              <a:path w="292" h="292">
                <a:moveTo>
                  <a:pt x="292" y="147"/>
                </a:moveTo>
                <a:cubicBezTo>
                  <a:pt x="292" y="156"/>
                  <a:pt x="291" y="166"/>
                  <a:pt x="289" y="175"/>
                </a:cubicBezTo>
                <a:cubicBezTo>
                  <a:pt x="287" y="185"/>
                  <a:pt x="285" y="194"/>
                  <a:pt x="281" y="202"/>
                </a:cubicBezTo>
                <a:cubicBezTo>
                  <a:pt x="277" y="211"/>
                  <a:pt x="273" y="220"/>
                  <a:pt x="268" y="228"/>
                </a:cubicBezTo>
                <a:cubicBezTo>
                  <a:pt x="262" y="236"/>
                  <a:pt x="256" y="243"/>
                  <a:pt x="249" y="250"/>
                </a:cubicBezTo>
                <a:cubicBezTo>
                  <a:pt x="243" y="256"/>
                  <a:pt x="235" y="262"/>
                  <a:pt x="227" y="268"/>
                </a:cubicBezTo>
                <a:cubicBezTo>
                  <a:pt x="219" y="273"/>
                  <a:pt x="211" y="278"/>
                  <a:pt x="202" y="281"/>
                </a:cubicBezTo>
                <a:cubicBezTo>
                  <a:pt x="193" y="285"/>
                  <a:pt x="184" y="288"/>
                  <a:pt x="175" y="290"/>
                </a:cubicBezTo>
                <a:cubicBezTo>
                  <a:pt x="166" y="291"/>
                  <a:pt x="156" y="292"/>
                  <a:pt x="147" y="292"/>
                </a:cubicBezTo>
                <a:cubicBezTo>
                  <a:pt x="136" y="292"/>
                  <a:pt x="127" y="291"/>
                  <a:pt x="117" y="290"/>
                </a:cubicBezTo>
                <a:cubicBezTo>
                  <a:pt x="108" y="288"/>
                  <a:pt x="99" y="285"/>
                  <a:pt x="90" y="281"/>
                </a:cubicBezTo>
                <a:cubicBezTo>
                  <a:pt x="81" y="278"/>
                  <a:pt x="73" y="273"/>
                  <a:pt x="65" y="268"/>
                </a:cubicBezTo>
                <a:cubicBezTo>
                  <a:pt x="57" y="262"/>
                  <a:pt x="49" y="256"/>
                  <a:pt x="43" y="250"/>
                </a:cubicBezTo>
                <a:cubicBezTo>
                  <a:pt x="36" y="243"/>
                  <a:pt x="30" y="236"/>
                  <a:pt x="25" y="228"/>
                </a:cubicBezTo>
                <a:cubicBezTo>
                  <a:pt x="19" y="220"/>
                  <a:pt x="15" y="211"/>
                  <a:pt x="11" y="202"/>
                </a:cubicBezTo>
                <a:cubicBezTo>
                  <a:pt x="7" y="194"/>
                  <a:pt x="5" y="185"/>
                  <a:pt x="3" y="175"/>
                </a:cubicBezTo>
                <a:cubicBezTo>
                  <a:pt x="1" y="166"/>
                  <a:pt x="0" y="156"/>
                  <a:pt x="0" y="147"/>
                </a:cubicBezTo>
                <a:cubicBezTo>
                  <a:pt x="0" y="136"/>
                  <a:pt x="1" y="127"/>
                  <a:pt x="3" y="117"/>
                </a:cubicBezTo>
                <a:cubicBezTo>
                  <a:pt x="5" y="108"/>
                  <a:pt x="7" y="99"/>
                  <a:pt x="11" y="90"/>
                </a:cubicBezTo>
                <a:cubicBezTo>
                  <a:pt x="15" y="81"/>
                  <a:pt x="19" y="73"/>
                  <a:pt x="25" y="65"/>
                </a:cubicBezTo>
                <a:cubicBezTo>
                  <a:pt x="30" y="57"/>
                  <a:pt x="36" y="50"/>
                  <a:pt x="43" y="43"/>
                </a:cubicBezTo>
                <a:cubicBezTo>
                  <a:pt x="49" y="36"/>
                  <a:pt x="57" y="30"/>
                  <a:pt x="65" y="25"/>
                </a:cubicBezTo>
                <a:cubicBezTo>
                  <a:pt x="73" y="20"/>
                  <a:pt x="81" y="15"/>
                  <a:pt x="90" y="11"/>
                </a:cubicBezTo>
                <a:cubicBezTo>
                  <a:pt x="99" y="8"/>
                  <a:pt x="108" y="5"/>
                  <a:pt x="117" y="3"/>
                </a:cubicBezTo>
                <a:cubicBezTo>
                  <a:pt x="127" y="1"/>
                  <a:pt x="136" y="0"/>
                  <a:pt x="147" y="0"/>
                </a:cubicBezTo>
                <a:cubicBezTo>
                  <a:pt x="156" y="0"/>
                  <a:pt x="166" y="1"/>
                  <a:pt x="175" y="3"/>
                </a:cubicBezTo>
                <a:cubicBezTo>
                  <a:pt x="184" y="5"/>
                  <a:pt x="193" y="8"/>
                  <a:pt x="202" y="11"/>
                </a:cubicBezTo>
                <a:cubicBezTo>
                  <a:pt x="211" y="15"/>
                  <a:pt x="219" y="20"/>
                  <a:pt x="227" y="25"/>
                </a:cubicBezTo>
                <a:cubicBezTo>
                  <a:pt x="235" y="30"/>
                  <a:pt x="243" y="36"/>
                  <a:pt x="249" y="43"/>
                </a:cubicBezTo>
                <a:cubicBezTo>
                  <a:pt x="256" y="50"/>
                  <a:pt x="262" y="57"/>
                  <a:pt x="268" y="65"/>
                </a:cubicBezTo>
                <a:cubicBezTo>
                  <a:pt x="273" y="73"/>
                  <a:pt x="277" y="81"/>
                  <a:pt x="281" y="90"/>
                </a:cubicBezTo>
                <a:cubicBezTo>
                  <a:pt x="285" y="99"/>
                  <a:pt x="287" y="108"/>
                  <a:pt x="289" y="117"/>
                </a:cubicBezTo>
                <a:cubicBezTo>
                  <a:pt x="291" y="127"/>
                  <a:pt x="292" y="136"/>
                  <a:pt x="292" y="147"/>
                </a:cubicBezTo>
                <a:close/>
              </a:path>
            </a:pathLst>
          </a:custGeom>
          <a:noFill/>
          <a:ln w="9360">
            <a:solidFill>
              <a:srgbClr val="111111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2" name=""/>
          <p:cNvSpPr txBox="1"/>
          <p:nvPr/>
        </p:nvSpPr>
        <p:spPr>
          <a:xfrm>
            <a:off x="1085760" y="1438200"/>
            <a:ext cx="1655640" cy="399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データセット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3" name=""/>
          <p:cNvSpPr/>
          <p:nvPr/>
        </p:nvSpPr>
        <p:spPr>
          <a:xfrm>
            <a:off x="1361880" y="2476440"/>
            <a:ext cx="105120" cy="105120"/>
          </a:xfrm>
          <a:custGeom>
            <a:avLst/>
            <a:gdLst/>
            <a:ahLst/>
            <a:rect l="0" t="0" r="r" b="b"/>
            <a:pathLst>
              <a:path w="292" h="292">
                <a:moveTo>
                  <a:pt x="292" y="145"/>
                </a:moveTo>
                <a:cubicBezTo>
                  <a:pt x="292" y="155"/>
                  <a:pt x="291" y="164"/>
                  <a:pt x="289" y="174"/>
                </a:cubicBezTo>
                <a:cubicBezTo>
                  <a:pt x="287" y="183"/>
                  <a:pt x="285" y="192"/>
                  <a:pt x="281" y="201"/>
                </a:cubicBezTo>
                <a:cubicBezTo>
                  <a:pt x="277" y="210"/>
                  <a:pt x="273" y="218"/>
                  <a:pt x="268" y="226"/>
                </a:cubicBezTo>
                <a:cubicBezTo>
                  <a:pt x="262" y="234"/>
                  <a:pt x="256" y="241"/>
                  <a:pt x="249" y="248"/>
                </a:cubicBezTo>
                <a:cubicBezTo>
                  <a:pt x="243" y="256"/>
                  <a:pt x="235" y="262"/>
                  <a:pt x="227" y="267"/>
                </a:cubicBezTo>
                <a:cubicBezTo>
                  <a:pt x="219" y="272"/>
                  <a:pt x="211" y="277"/>
                  <a:pt x="202" y="281"/>
                </a:cubicBezTo>
                <a:cubicBezTo>
                  <a:pt x="193" y="284"/>
                  <a:pt x="184" y="287"/>
                  <a:pt x="175" y="289"/>
                </a:cubicBezTo>
                <a:cubicBezTo>
                  <a:pt x="166" y="291"/>
                  <a:pt x="156" y="292"/>
                  <a:pt x="147" y="292"/>
                </a:cubicBezTo>
                <a:cubicBezTo>
                  <a:pt x="136" y="292"/>
                  <a:pt x="127" y="291"/>
                  <a:pt x="117" y="289"/>
                </a:cubicBezTo>
                <a:cubicBezTo>
                  <a:pt x="108" y="287"/>
                  <a:pt x="99" y="284"/>
                  <a:pt x="90" y="281"/>
                </a:cubicBezTo>
                <a:cubicBezTo>
                  <a:pt x="81" y="277"/>
                  <a:pt x="73" y="272"/>
                  <a:pt x="65" y="267"/>
                </a:cubicBezTo>
                <a:cubicBezTo>
                  <a:pt x="57" y="262"/>
                  <a:pt x="49" y="256"/>
                  <a:pt x="43" y="248"/>
                </a:cubicBezTo>
                <a:cubicBezTo>
                  <a:pt x="36" y="241"/>
                  <a:pt x="30" y="234"/>
                  <a:pt x="25" y="226"/>
                </a:cubicBezTo>
                <a:cubicBezTo>
                  <a:pt x="19" y="218"/>
                  <a:pt x="15" y="210"/>
                  <a:pt x="11" y="201"/>
                </a:cubicBezTo>
                <a:cubicBezTo>
                  <a:pt x="7" y="192"/>
                  <a:pt x="5" y="183"/>
                  <a:pt x="3" y="174"/>
                </a:cubicBezTo>
                <a:cubicBezTo>
                  <a:pt x="1" y="164"/>
                  <a:pt x="0" y="155"/>
                  <a:pt x="0" y="145"/>
                </a:cubicBezTo>
                <a:cubicBezTo>
                  <a:pt x="0" y="136"/>
                  <a:pt x="1" y="126"/>
                  <a:pt x="3" y="117"/>
                </a:cubicBezTo>
                <a:cubicBezTo>
                  <a:pt x="5" y="107"/>
                  <a:pt x="7" y="98"/>
                  <a:pt x="11" y="89"/>
                </a:cubicBezTo>
                <a:cubicBezTo>
                  <a:pt x="15" y="81"/>
                  <a:pt x="19" y="72"/>
                  <a:pt x="25" y="64"/>
                </a:cubicBezTo>
                <a:cubicBezTo>
                  <a:pt x="30" y="56"/>
                  <a:pt x="36" y="49"/>
                  <a:pt x="43" y="42"/>
                </a:cubicBezTo>
                <a:cubicBezTo>
                  <a:pt x="49" y="36"/>
                  <a:pt x="57" y="29"/>
                  <a:pt x="65" y="24"/>
                </a:cubicBezTo>
                <a:cubicBezTo>
                  <a:pt x="73" y="19"/>
                  <a:pt x="81" y="14"/>
                  <a:pt x="90" y="11"/>
                </a:cubicBezTo>
                <a:cubicBezTo>
                  <a:pt x="99" y="7"/>
                  <a:pt x="108" y="4"/>
                  <a:pt x="117" y="2"/>
                </a:cubicBezTo>
                <a:cubicBezTo>
                  <a:pt x="127" y="1"/>
                  <a:pt x="136" y="0"/>
                  <a:pt x="147" y="0"/>
                </a:cubicBezTo>
                <a:cubicBezTo>
                  <a:pt x="156" y="0"/>
                  <a:pt x="166" y="1"/>
                  <a:pt x="175" y="2"/>
                </a:cubicBezTo>
                <a:cubicBezTo>
                  <a:pt x="184" y="4"/>
                  <a:pt x="193" y="7"/>
                  <a:pt x="202" y="11"/>
                </a:cubicBezTo>
                <a:cubicBezTo>
                  <a:pt x="211" y="14"/>
                  <a:pt x="219" y="19"/>
                  <a:pt x="227" y="24"/>
                </a:cubicBezTo>
                <a:cubicBezTo>
                  <a:pt x="235" y="29"/>
                  <a:pt x="243" y="36"/>
                  <a:pt x="249" y="42"/>
                </a:cubicBezTo>
                <a:cubicBezTo>
                  <a:pt x="256" y="49"/>
                  <a:pt x="262" y="56"/>
                  <a:pt x="268" y="64"/>
                </a:cubicBezTo>
                <a:cubicBezTo>
                  <a:pt x="273" y="72"/>
                  <a:pt x="277" y="81"/>
                  <a:pt x="281" y="89"/>
                </a:cubicBezTo>
                <a:cubicBezTo>
                  <a:pt x="285" y="98"/>
                  <a:pt x="287" y="107"/>
                  <a:pt x="289" y="117"/>
                </a:cubicBezTo>
                <a:cubicBezTo>
                  <a:pt x="291" y="126"/>
                  <a:pt x="292" y="136"/>
                  <a:pt x="292" y="145"/>
                </a:cubicBezTo>
                <a:close/>
              </a:path>
            </a:pathLst>
          </a:custGeom>
          <a:noFill/>
          <a:ln w="9360">
            <a:solidFill>
              <a:srgbClr val="111111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4" name=""/>
          <p:cNvSpPr txBox="1"/>
          <p:nvPr/>
        </p:nvSpPr>
        <p:spPr>
          <a:xfrm>
            <a:off x="1638360" y="1847880"/>
            <a:ext cx="6896880" cy="399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実環境の様々な条件下で撮影したナンバープレート画像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5" name=""/>
          <p:cNvSpPr txBox="1"/>
          <p:nvPr/>
        </p:nvSpPr>
        <p:spPr>
          <a:xfrm>
            <a:off x="1638360" y="2333520"/>
            <a:ext cx="9829440" cy="401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計算機上でシミュレーションによる複合劣化（低解像度化、ノイズ、</a:t>
            </a:r>
            <a:r>
              <a:rPr b="0" lang="en-US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JPEG</a:t>
            </a:r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圧縮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6" name=""/>
          <p:cNvSpPr/>
          <p:nvPr/>
        </p:nvSpPr>
        <p:spPr>
          <a:xfrm>
            <a:off x="809280" y="3371760"/>
            <a:ext cx="105120" cy="105120"/>
          </a:xfrm>
          <a:custGeom>
            <a:avLst/>
            <a:gdLst/>
            <a:ahLst/>
            <a:rect l="0" t="0" r="r" b="b"/>
            <a:pathLst>
              <a:path w="292" h="292">
                <a:moveTo>
                  <a:pt x="292" y="146"/>
                </a:moveTo>
                <a:cubicBezTo>
                  <a:pt x="292" y="156"/>
                  <a:pt x="292" y="165"/>
                  <a:pt x="290" y="175"/>
                </a:cubicBezTo>
                <a:cubicBezTo>
                  <a:pt x="288" y="184"/>
                  <a:pt x="285" y="193"/>
                  <a:pt x="281" y="202"/>
                </a:cubicBezTo>
                <a:cubicBezTo>
                  <a:pt x="278" y="211"/>
                  <a:pt x="273" y="219"/>
                  <a:pt x="268" y="227"/>
                </a:cubicBezTo>
                <a:cubicBezTo>
                  <a:pt x="263" y="235"/>
                  <a:pt x="257" y="242"/>
                  <a:pt x="250" y="249"/>
                </a:cubicBezTo>
                <a:cubicBezTo>
                  <a:pt x="243" y="256"/>
                  <a:pt x="236" y="262"/>
                  <a:pt x="228" y="267"/>
                </a:cubicBezTo>
                <a:cubicBezTo>
                  <a:pt x="219" y="273"/>
                  <a:pt x="210" y="277"/>
                  <a:pt x="202" y="281"/>
                </a:cubicBezTo>
                <a:cubicBezTo>
                  <a:pt x="193" y="284"/>
                  <a:pt x="184" y="287"/>
                  <a:pt x="174" y="289"/>
                </a:cubicBezTo>
                <a:cubicBezTo>
                  <a:pt x="165" y="291"/>
                  <a:pt x="156" y="292"/>
                  <a:pt x="146" y="292"/>
                </a:cubicBezTo>
                <a:cubicBezTo>
                  <a:pt x="136" y="292"/>
                  <a:pt x="127" y="291"/>
                  <a:pt x="118" y="289"/>
                </a:cubicBezTo>
                <a:cubicBezTo>
                  <a:pt x="108" y="287"/>
                  <a:pt x="99" y="284"/>
                  <a:pt x="90" y="281"/>
                </a:cubicBezTo>
                <a:cubicBezTo>
                  <a:pt x="81" y="277"/>
                  <a:pt x="73" y="273"/>
                  <a:pt x="65" y="267"/>
                </a:cubicBezTo>
                <a:cubicBezTo>
                  <a:pt x="57" y="262"/>
                  <a:pt x="50" y="256"/>
                  <a:pt x="43" y="249"/>
                </a:cubicBezTo>
                <a:cubicBezTo>
                  <a:pt x="36" y="242"/>
                  <a:pt x="30" y="235"/>
                  <a:pt x="25" y="227"/>
                </a:cubicBezTo>
                <a:cubicBezTo>
                  <a:pt x="20" y="219"/>
                  <a:pt x="15" y="211"/>
                  <a:pt x="12" y="202"/>
                </a:cubicBezTo>
                <a:cubicBezTo>
                  <a:pt x="8" y="193"/>
                  <a:pt x="5" y="184"/>
                  <a:pt x="3" y="175"/>
                </a:cubicBezTo>
                <a:cubicBezTo>
                  <a:pt x="1" y="165"/>
                  <a:pt x="0" y="156"/>
                  <a:pt x="0" y="146"/>
                </a:cubicBezTo>
                <a:cubicBezTo>
                  <a:pt x="0" y="137"/>
                  <a:pt x="1" y="127"/>
                  <a:pt x="3" y="118"/>
                </a:cubicBezTo>
                <a:cubicBezTo>
                  <a:pt x="5" y="109"/>
                  <a:pt x="8" y="99"/>
                  <a:pt x="12" y="90"/>
                </a:cubicBezTo>
                <a:cubicBezTo>
                  <a:pt x="15" y="81"/>
                  <a:pt x="20" y="72"/>
                  <a:pt x="25" y="64"/>
                </a:cubicBezTo>
                <a:cubicBezTo>
                  <a:pt x="30" y="56"/>
                  <a:pt x="36" y="49"/>
                  <a:pt x="43" y="42"/>
                </a:cubicBezTo>
                <a:cubicBezTo>
                  <a:pt x="50" y="36"/>
                  <a:pt x="57" y="30"/>
                  <a:pt x="65" y="24"/>
                </a:cubicBezTo>
                <a:cubicBezTo>
                  <a:pt x="73" y="19"/>
                  <a:pt x="81" y="14"/>
                  <a:pt x="90" y="11"/>
                </a:cubicBezTo>
                <a:cubicBezTo>
                  <a:pt x="99" y="7"/>
                  <a:pt x="108" y="4"/>
                  <a:pt x="118" y="3"/>
                </a:cubicBezTo>
                <a:cubicBezTo>
                  <a:pt x="127" y="1"/>
                  <a:pt x="136" y="0"/>
                  <a:pt x="146" y="0"/>
                </a:cubicBezTo>
                <a:cubicBezTo>
                  <a:pt x="156" y="0"/>
                  <a:pt x="165" y="1"/>
                  <a:pt x="174" y="3"/>
                </a:cubicBezTo>
                <a:cubicBezTo>
                  <a:pt x="184" y="4"/>
                  <a:pt x="193" y="7"/>
                  <a:pt x="202" y="11"/>
                </a:cubicBezTo>
                <a:cubicBezTo>
                  <a:pt x="210" y="14"/>
                  <a:pt x="219" y="19"/>
                  <a:pt x="228" y="24"/>
                </a:cubicBezTo>
                <a:cubicBezTo>
                  <a:pt x="236" y="30"/>
                  <a:pt x="243" y="36"/>
                  <a:pt x="250" y="42"/>
                </a:cubicBezTo>
                <a:cubicBezTo>
                  <a:pt x="257" y="49"/>
                  <a:pt x="263" y="56"/>
                  <a:pt x="268" y="64"/>
                </a:cubicBezTo>
                <a:cubicBezTo>
                  <a:pt x="273" y="72"/>
                  <a:pt x="278" y="81"/>
                  <a:pt x="281" y="90"/>
                </a:cubicBezTo>
                <a:cubicBezTo>
                  <a:pt x="285" y="99"/>
                  <a:pt x="288" y="109"/>
                  <a:pt x="290" y="118"/>
                </a:cubicBezTo>
                <a:cubicBezTo>
                  <a:pt x="292" y="127"/>
                  <a:pt x="292" y="137"/>
                  <a:pt x="292" y="146"/>
                </a:cubicBezTo>
                <a:close/>
              </a:path>
            </a:pathLst>
          </a:custGeom>
          <a:solidFill>
            <a:srgbClr val="11111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07" name=""/>
          <p:cNvSpPr txBox="1"/>
          <p:nvPr/>
        </p:nvSpPr>
        <p:spPr>
          <a:xfrm>
            <a:off x="1638360" y="2752560"/>
            <a:ext cx="1655640" cy="399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など）を付与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8" name=""/>
          <p:cNvSpPr/>
          <p:nvPr/>
        </p:nvSpPr>
        <p:spPr>
          <a:xfrm>
            <a:off x="1361880" y="3790800"/>
            <a:ext cx="105120" cy="105120"/>
          </a:xfrm>
          <a:custGeom>
            <a:avLst/>
            <a:gdLst/>
            <a:ahLst/>
            <a:rect l="0" t="0" r="r" b="b"/>
            <a:pathLst>
              <a:path w="292" h="292">
                <a:moveTo>
                  <a:pt x="292" y="146"/>
                </a:moveTo>
                <a:cubicBezTo>
                  <a:pt x="292" y="156"/>
                  <a:pt x="291" y="165"/>
                  <a:pt x="289" y="175"/>
                </a:cubicBezTo>
                <a:cubicBezTo>
                  <a:pt x="287" y="184"/>
                  <a:pt x="285" y="193"/>
                  <a:pt x="281" y="202"/>
                </a:cubicBezTo>
                <a:cubicBezTo>
                  <a:pt x="277" y="211"/>
                  <a:pt x="273" y="219"/>
                  <a:pt x="268" y="227"/>
                </a:cubicBezTo>
                <a:cubicBezTo>
                  <a:pt x="262" y="235"/>
                  <a:pt x="256" y="243"/>
                  <a:pt x="249" y="249"/>
                </a:cubicBezTo>
                <a:cubicBezTo>
                  <a:pt x="243" y="256"/>
                  <a:pt x="235" y="262"/>
                  <a:pt x="227" y="267"/>
                </a:cubicBezTo>
                <a:cubicBezTo>
                  <a:pt x="219" y="273"/>
                  <a:pt x="211" y="277"/>
                  <a:pt x="202" y="281"/>
                </a:cubicBezTo>
                <a:cubicBezTo>
                  <a:pt x="193" y="285"/>
                  <a:pt x="184" y="287"/>
                  <a:pt x="175" y="289"/>
                </a:cubicBezTo>
                <a:cubicBezTo>
                  <a:pt x="166" y="291"/>
                  <a:pt x="156" y="292"/>
                  <a:pt x="147" y="292"/>
                </a:cubicBezTo>
                <a:cubicBezTo>
                  <a:pt x="136" y="292"/>
                  <a:pt x="127" y="291"/>
                  <a:pt x="117" y="289"/>
                </a:cubicBezTo>
                <a:cubicBezTo>
                  <a:pt x="108" y="287"/>
                  <a:pt x="99" y="285"/>
                  <a:pt x="90" y="281"/>
                </a:cubicBezTo>
                <a:cubicBezTo>
                  <a:pt x="81" y="277"/>
                  <a:pt x="73" y="273"/>
                  <a:pt x="65" y="267"/>
                </a:cubicBezTo>
                <a:cubicBezTo>
                  <a:pt x="57" y="262"/>
                  <a:pt x="49" y="256"/>
                  <a:pt x="43" y="249"/>
                </a:cubicBezTo>
                <a:cubicBezTo>
                  <a:pt x="36" y="243"/>
                  <a:pt x="30" y="235"/>
                  <a:pt x="25" y="227"/>
                </a:cubicBezTo>
                <a:cubicBezTo>
                  <a:pt x="19" y="219"/>
                  <a:pt x="15" y="211"/>
                  <a:pt x="11" y="202"/>
                </a:cubicBezTo>
                <a:cubicBezTo>
                  <a:pt x="7" y="193"/>
                  <a:pt x="5" y="184"/>
                  <a:pt x="3" y="175"/>
                </a:cubicBezTo>
                <a:cubicBezTo>
                  <a:pt x="1" y="165"/>
                  <a:pt x="0" y="156"/>
                  <a:pt x="0" y="146"/>
                </a:cubicBezTo>
                <a:cubicBezTo>
                  <a:pt x="0" y="137"/>
                  <a:pt x="1" y="127"/>
                  <a:pt x="3" y="118"/>
                </a:cubicBezTo>
                <a:cubicBezTo>
                  <a:pt x="5" y="109"/>
                  <a:pt x="7" y="100"/>
                  <a:pt x="11" y="90"/>
                </a:cubicBezTo>
                <a:cubicBezTo>
                  <a:pt x="15" y="81"/>
                  <a:pt x="19" y="73"/>
                  <a:pt x="25" y="65"/>
                </a:cubicBezTo>
                <a:cubicBezTo>
                  <a:pt x="30" y="57"/>
                  <a:pt x="36" y="49"/>
                  <a:pt x="43" y="43"/>
                </a:cubicBezTo>
                <a:cubicBezTo>
                  <a:pt x="49" y="36"/>
                  <a:pt x="57" y="30"/>
                  <a:pt x="65" y="24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7"/>
                  <a:pt x="108" y="5"/>
                  <a:pt x="117" y="3"/>
                </a:cubicBezTo>
                <a:cubicBezTo>
                  <a:pt x="127" y="1"/>
                  <a:pt x="136" y="0"/>
                  <a:pt x="147" y="0"/>
                </a:cubicBezTo>
                <a:cubicBezTo>
                  <a:pt x="156" y="0"/>
                  <a:pt x="166" y="1"/>
                  <a:pt x="175" y="3"/>
                </a:cubicBezTo>
                <a:cubicBezTo>
                  <a:pt x="184" y="5"/>
                  <a:pt x="193" y="7"/>
                  <a:pt x="202" y="11"/>
                </a:cubicBezTo>
                <a:cubicBezTo>
                  <a:pt x="211" y="15"/>
                  <a:pt x="219" y="19"/>
                  <a:pt x="227" y="24"/>
                </a:cubicBezTo>
                <a:cubicBezTo>
                  <a:pt x="235" y="30"/>
                  <a:pt x="243" y="36"/>
                  <a:pt x="249" y="43"/>
                </a:cubicBezTo>
                <a:cubicBezTo>
                  <a:pt x="256" y="49"/>
                  <a:pt x="262" y="57"/>
                  <a:pt x="268" y="65"/>
                </a:cubicBezTo>
                <a:cubicBezTo>
                  <a:pt x="273" y="73"/>
                  <a:pt x="277" y="81"/>
                  <a:pt x="281" y="90"/>
                </a:cubicBezTo>
                <a:cubicBezTo>
                  <a:pt x="285" y="100"/>
                  <a:pt x="287" y="109"/>
                  <a:pt x="289" y="118"/>
                </a:cubicBezTo>
                <a:cubicBezTo>
                  <a:pt x="291" y="127"/>
                  <a:pt x="292" y="137"/>
                  <a:pt x="292" y="146"/>
                </a:cubicBezTo>
                <a:close/>
              </a:path>
            </a:pathLst>
          </a:custGeom>
          <a:noFill/>
          <a:ln w="9360">
            <a:solidFill>
              <a:srgbClr val="111111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9" name=""/>
          <p:cNvSpPr txBox="1"/>
          <p:nvPr/>
        </p:nvSpPr>
        <p:spPr>
          <a:xfrm>
            <a:off x="1085760" y="3228840"/>
            <a:ext cx="1104120" cy="399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比較対象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0" name=""/>
          <p:cNvSpPr/>
          <p:nvPr/>
        </p:nvSpPr>
        <p:spPr>
          <a:xfrm>
            <a:off x="1361880" y="4276440"/>
            <a:ext cx="105120" cy="105120"/>
          </a:xfrm>
          <a:custGeom>
            <a:avLst/>
            <a:gdLst/>
            <a:ahLst/>
            <a:rect l="0" t="0" r="r" b="b"/>
            <a:pathLst>
              <a:path w="292" h="292">
                <a:moveTo>
                  <a:pt x="292" y="146"/>
                </a:moveTo>
                <a:cubicBezTo>
                  <a:pt x="292" y="155"/>
                  <a:pt x="291" y="165"/>
                  <a:pt x="289" y="174"/>
                </a:cubicBezTo>
                <a:cubicBezTo>
                  <a:pt x="287" y="184"/>
                  <a:pt x="285" y="193"/>
                  <a:pt x="281" y="202"/>
                </a:cubicBezTo>
                <a:cubicBezTo>
                  <a:pt x="277" y="211"/>
                  <a:pt x="273" y="220"/>
                  <a:pt x="268" y="228"/>
                </a:cubicBezTo>
                <a:cubicBezTo>
                  <a:pt x="262" y="236"/>
                  <a:pt x="256" y="243"/>
                  <a:pt x="249" y="250"/>
                </a:cubicBezTo>
                <a:cubicBezTo>
                  <a:pt x="243" y="256"/>
                  <a:pt x="235" y="262"/>
                  <a:pt x="227" y="268"/>
                </a:cubicBezTo>
                <a:cubicBezTo>
                  <a:pt x="219" y="273"/>
                  <a:pt x="211" y="278"/>
                  <a:pt x="202" y="281"/>
                </a:cubicBezTo>
                <a:cubicBezTo>
                  <a:pt x="193" y="285"/>
                  <a:pt x="184" y="288"/>
                  <a:pt x="175" y="290"/>
                </a:cubicBezTo>
                <a:cubicBezTo>
                  <a:pt x="166" y="291"/>
                  <a:pt x="156" y="292"/>
                  <a:pt x="147" y="292"/>
                </a:cubicBezTo>
                <a:cubicBezTo>
                  <a:pt x="136" y="292"/>
                  <a:pt x="127" y="291"/>
                  <a:pt x="117" y="290"/>
                </a:cubicBezTo>
                <a:cubicBezTo>
                  <a:pt x="108" y="288"/>
                  <a:pt x="99" y="285"/>
                  <a:pt x="90" y="281"/>
                </a:cubicBezTo>
                <a:cubicBezTo>
                  <a:pt x="81" y="278"/>
                  <a:pt x="73" y="273"/>
                  <a:pt x="65" y="268"/>
                </a:cubicBezTo>
                <a:cubicBezTo>
                  <a:pt x="57" y="262"/>
                  <a:pt x="49" y="256"/>
                  <a:pt x="43" y="250"/>
                </a:cubicBezTo>
                <a:cubicBezTo>
                  <a:pt x="36" y="243"/>
                  <a:pt x="30" y="236"/>
                  <a:pt x="25" y="228"/>
                </a:cubicBezTo>
                <a:cubicBezTo>
                  <a:pt x="19" y="220"/>
                  <a:pt x="15" y="211"/>
                  <a:pt x="11" y="202"/>
                </a:cubicBezTo>
                <a:cubicBezTo>
                  <a:pt x="7" y="193"/>
                  <a:pt x="5" y="184"/>
                  <a:pt x="3" y="174"/>
                </a:cubicBezTo>
                <a:cubicBezTo>
                  <a:pt x="1" y="165"/>
                  <a:pt x="0" y="155"/>
                  <a:pt x="0" y="146"/>
                </a:cubicBezTo>
                <a:cubicBezTo>
                  <a:pt x="0" y="136"/>
                  <a:pt x="1" y="127"/>
                  <a:pt x="3" y="117"/>
                </a:cubicBezTo>
                <a:cubicBezTo>
                  <a:pt x="5" y="108"/>
                  <a:pt x="7" y="99"/>
                  <a:pt x="11" y="90"/>
                </a:cubicBezTo>
                <a:cubicBezTo>
                  <a:pt x="15" y="81"/>
                  <a:pt x="19" y="73"/>
                  <a:pt x="25" y="65"/>
                </a:cubicBezTo>
                <a:cubicBezTo>
                  <a:pt x="30" y="57"/>
                  <a:pt x="36" y="50"/>
                  <a:pt x="43" y="43"/>
                </a:cubicBezTo>
                <a:cubicBezTo>
                  <a:pt x="49" y="36"/>
                  <a:pt x="57" y="30"/>
                  <a:pt x="65" y="25"/>
                </a:cubicBezTo>
                <a:cubicBezTo>
                  <a:pt x="73" y="20"/>
                  <a:pt x="81" y="15"/>
                  <a:pt x="90" y="11"/>
                </a:cubicBezTo>
                <a:cubicBezTo>
                  <a:pt x="99" y="8"/>
                  <a:pt x="108" y="5"/>
                  <a:pt x="117" y="3"/>
                </a:cubicBezTo>
                <a:cubicBezTo>
                  <a:pt x="127" y="1"/>
                  <a:pt x="136" y="0"/>
                  <a:pt x="147" y="0"/>
                </a:cubicBezTo>
                <a:cubicBezTo>
                  <a:pt x="156" y="0"/>
                  <a:pt x="166" y="1"/>
                  <a:pt x="175" y="3"/>
                </a:cubicBezTo>
                <a:cubicBezTo>
                  <a:pt x="184" y="5"/>
                  <a:pt x="193" y="8"/>
                  <a:pt x="202" y="11"/>
                </a:cubicBezTo>
                <a:cubicBezTo>
                  <a:pt x="211" y="15"/>
                  <a:pt x="219" y="20"/>
                  <a:pt x="227" y="25"/>
                </a:cubicBezTo>
                <a:cubicBezTo>
                  <a:pt x="235" y="30"/>
                  <a:pt x="243" y="36"/>
                  <a:pt x="249" y="43"/>
                </a:cubicBezTo>
                <a:cubicBezTo>
                  <a:pt x="256" y="50"/>
                  <a:pt x="262" y="57"/>
                  <a:pt x="268" y="65"/>
                </a:cubicBezTo>
                <a:cubicBezTo>
                  <a:pt x="273" y="73"/>
                  <a:pt x="277" y="81"/>
                  <a:pt x="281" y="90"/>
                </a:cubicBezTo>
                <a:cubicBezTo>
                  <a:pt x="285" y="99"/>
                  <a:pt x="287" y="108"/>
                  <a:pt x="289" y="117"/>
                </a:cubicBezTo>
                <a:cubicBezTo>
                  <a:pt x="291" y="127"/>
                  <a:pt x="292" y="136"/>
                  <a:pt x="292" y="146"/>
                </a:cubicBezTo>
                <a:close/>
              </a:path>
            </a:pathLst>
          </a:custGeom>
          <a:noFill/>
          <a:ln w="9360">
            <a:solidFill>
              <a:srgbClr val="111111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1" name=""/>
          <p:cNvSpPr txBox="1"/>
          <p:nvPr/>
        </p:nvSpPr>
        <p:spPr>
          <a:xfrm>
            <a:off x="1638360" y="3648240"/>
            <a:ext cx="7682040" cy="401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画質改善</a:t>
            </a:r>
            <a:r>
              <a:rPr b="0" lang="en-US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**: </a:t>
            </a:r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従来の</a:t>
            </a:r>
            <a:r>
              <a:rPr b="0" lang="en-US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Retinex</a:t>
            </a:r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法 </a:t>
            </a:r>
            <a:r>
              <a:rPr b="0" lang="en-US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(SSR, 2MSR)</a:t>
            </a:r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、従来の超解像法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2" name=""/>
          <p:cNvSpPr/>
          <p:nvPr/>
        </p:nvSpPr>
        <p:spPr>
          <a:xfrm>
            <a:off x="809280" y="4752720"/>
            <a:ext cx="105120" cy="105120"/>
          </a:xfrm>
          <a:custGeom>
            <a:avLst/>
            <a:gdLst/>
            <a:ahLst/>
            <a:rect l="0" t="0" r="r" b="b"/>
            <a:pathLst>
              <a:path w="292" h="292">
                <a:moveTo>
                  <a:pt x="292" y="147"/>
                </a:moveTo>
                <a:cubicBezTo>
                  <a:pt x="292" y="156"/>
                  <a:pt x="292" y="166"/>
                  <a:pt x="290" y="175"/>
                </a:cubicBezTo>
                <a:cubicBezTo>
                  <a:pt x="288" y="184"/>
                  <a:pt x="285" y="194"/>
                  <a:pt x="281" y="202"/>
                </a:cubicBezTo>
                <a:cubicBezTo>
                  <a:pt x="278" y="211"/>
                  <a:pt x="273" y="220"/>
                  <a:pt x="268" y="228"/>
                </a:cubicBezTo>
                <a:cubicBezTo>
                  <a:pt x="263" y="236"/>
                  <a:pt x="257" y="243"/>
                  <a:pt x="250" y="250"/>
                </a:cubicBezTo>
                <a:cubicBezTo>
                  <a:pt x="243" y="256"/>
                  <a:pt x="236" y="262"/>
                  <a:pt x="228" y="268"/>
                </a:cubicBezTo>
                <a:cubicBezTo>
                  <a:pt x="219" y="273"/>
                  <a:pt x="210" y="278"/>
                  <a:pt x="202" y="281"/>
                </a:cubicBezTo>
                <a:cubicBezTo>
                  <a:pt x="193" y="285"/>
                  <a:pt x="184" y="288"/>
                  <a:pt x="174" y="289"/>
                </a:cubicBezTo>
                <a:cubicBezTo>
                  <a:pt x="165" y="291"/>
                  <a:pt x="156" y="292"/>
                  <a:pt x="146" y="292"/>
                </a:cubicBezTo>
                <a:cubicBezTo>
                  <a:pt x="136" y="292"/>
                  <a:pt x="127" y="291"/>
                  <a:pt x="118" y="289"/>
                </a:cubicBezTo>
                <a:cubicBezTo>
                  <a:pt x="108" y="288"/>
                  <a:pt x="99" y="285"/>
                  <a:pt x="90" y="281"/>
                </a:cubicBezTo>
                <a:cubicBezTo>
                  <a:pt x="81" y="278"/>
                  <a:pt x="73" y="273"/>
                  <a:pt x="65" y="268"/>
                </a:cubicBezTo>
                <a:cubicBezTo>
                  <a:pt x="57" y="262"/>
                  <a:pt x="50" y="256"/>
                  <a:pt x="43" y="250"/>
                </a:cubicBezTo>
                <a:cubicBezTo>
                  <a:pt x="36" y="243"/>
                  <a:pt x="30" y="236"/>
                  <a:pt x="25" y="228"/>
                </a:cubicBezTo>
                <a:cubicBezTo>
                  <a:pt x="20" y="220"/>
                  <a:pt x="15" y="211"/>
                  <a:pt x="12" y="202"/>
                </a:cubicBezTo>
                <a:cubicBezTo>
                  <a:pt x="8" y="194"/>
                  <a:pt x="5" y="184"/>
                  <a:pt x="3" y="175"/>
                </a:cubicBezTo>
                <a:cubicBezTo>
                  <a:pt x="1" y="166"/>
                  <a:pt x="0" y="156"/>
                  <a:pt x="0" y="147"/>
                </a:cubicBezTo>
                <a:cubicBezTo>
                  <a:pt x="0" y="137"/>
                  <a:pt x="1" y="128"/>
                  <a:pt x="3" y="118"/>
                </a:cubicBezTo>
                <a:cubicBezTo>
                  <a:pt x="5" y="109"/>
                  <a:pt x="8" y="100"/>
                  <a:pt x="12" y="91"/>
                </a:cubicBezTo>
                <a:cubicBezTo>
                  <a:pt x="15" y="82"/>
                  <a:pt x="20" y="74"/>
                  <a:pt x="25" y="66"/>
                </a:cubicBezTo>
                <a:cubicBezTo>
                  <a:pt x="30" y="58"/>
                  <a:pt x="36" y="51"/>
                  <a:pt x="43" y="44"/>
                </a:cubicBezTo>
                <a:cubicBezTo>
                  <a:pt x="50" y="36"/>
                  <a:pt x="57" y="30"/>
                  <a:pt x="65" y="25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8"/>
                  <a:pt x="108" y="5"/>
                  <a:pt x="118" y="3"/>
                </a:cubicBezTo>
                <a:cubicBezTo>
                  <a:pt x="127" y="1"/>
                  <a:pt x="136" y="0"/>
                  <a:pt x="146" y="0"/>
                </a:cubicBezTo>
                <a:cubicBezTo>
                  <a:pt x="156" y="0"/>
                  <a:pt x="165" y="1"/>
                  <a:pt x="174" y="3"/>
                </a:cubicBezTo>
                <a:cubicBezTo>
                  <a:pt x="184" y="5"/>
                  <a:pt x="193" y="8"/>
                  <a:pt x="202" y="11"/>
                </a:cubicBezTo>
                <a:cubicBezTo>
                  <a:pt x="210" y="15"/>
                  <a:pt x="219" y="19"/>
                  <a:pt x="228" y="25"/>
                </a:cubicBezTo>
                <a:cubicBezTo>
                  <a:pt x="236" y="30"/>
                  <a:pt x="243" y="36"/>
                  <a:pt x="250" y="44"/>
                </a:cubicBezTo>
                <a:cubicBezTo>
                  <a:pt x="257" y="51"/>
                  <a:pt x="263" y="58"/>
                  <a:pt x="268" y="66"/>
                </a:cubicBezTo>
                <a:cubicBezTo>
                  <a:pt x="273" y="74"/>
                  <a:pt x="278" y="82"/>
                  <a:pt x="281" y="91"/>
                </a:cubicBezTo>
                <a:cubicBezTo>
                  <a:pt x="285" y="100"/>
                  <a:pt x="288" y="109"/>
                  <a:pt x="290" y="118"/>
                </a:cubicBezTo>
                <a:cubicBezTo>
                  <a:pt x="292" y="128"/>
                  <a:pt x="292" y="137"/>
                  <a:pt x="292" y="147"/>
                </a:cubicBezTo>
                <a:close/>
              </a:path>
            </a:pathLst>
          </a:custGeom>
          <a:solidFill>
            <a:srgbClr val="11111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13" name=""/>
          <p:cNvSpPr txBox="1"/>
          <p:nvPr/>
        </p:nvSpPr>
        <p:spPr>
          <a:xfrm>
            <a:off x="1638360" y="4133880"/>
            <a:ext cx="9298440" cy="401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文字認識</a:t>
            </a:r>
            <a:r>
              <a:rPr b="0" lang="en-US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**: </a:t>
            </a:r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一般的な単一構造の</a:t>
            </a:r>
            <a:r>
              <a:rPr b="0" lang="en-US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CNN</a:t>
            </a:r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、従来の複数候補選択アルゴリズム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4" name=""/>
          <p:cNvSpPr/>
          <p:nvPr/>
        </p:nvSpPr>
        <p:spPr>
          <a:xfrm>
            <a:off x="1361880" y="5171760"/>
            <a:ext cx="105120" cy="105120"/>
          </a:xfrm>
          <a:custGeom>
            <a:avLst/>
            <a:gdLst/>
            <a:ahLst/>
            <a:rect l="0" t="0" r="r" b="b"/>
            <a:pathLst>
              <a:path w="292" h="292">
                <a:moveTo>
                  <a:pt x="292" y="147"/>
                </a:moveTo>
                <a:cubicBezTo>
                  <a:pt x="292" y="156"/>
                  <a:pt x="291" y="166"/>
                  <a:pt x="289" y="175"/>
                </a:cubicBezTo>
                <a:cubicBezTo>
                  <a:pt x="287" y="185"/>
                  <a:pt x="285" y="194"/>
                  <a:pt x="281" y="203"/>
                </a:cubicBezTo>
                <a:cubicBezTo>
                  <a:pt x="277" y="211"/>
                  <a:pt x="273" y="220"/>
                  <a:pt x="268" y="228"/>
                </a:cubicBezTo>
                <a:cubicBezTo>
                  <a:pt x="262" y="236"/>
                  <a:pt x="256" y="243"/>
                  <a:pt x="249" y="250"/>
                </a:cubicBezTo>
                <a:cubicBezTo>
                  <a:pt x="243" y="257"/>
                  <a:pt x="235" y="263"/>
                  <a:pt x="227" y="268"/>
                </a:cubicBezTo>
                <a:cubicBezTo>
                  <a:pt x="219" y="273"/>
                  <a:pt x="211" y="278"/>
                  <a:pt x="202" y="281"/>
                </a:cubicBezTo>
                <a:cubicBezTo>
                  <a:pt x="193" y="285"/>
                  <a:pt x="184" y="288"/>
                  <a:pt x="175" y="290"/>
                </a:cubicBezTo>
                <a:cubicBezTo>
                  <a:pt x="166" y="291"/>
                  <a:pt x="156" y="292"/>
                  <a:pt x="147" y="292"/>
                </a:cubicBezTo>
                <a:cubicBezTo>
                  <a:pt x="136" y="292"/>
                  <a:pt x="127" y="291"/>
                  <a:pt x="117" y="290"/>
                </a:cubicBezTo>
                <a:cubicBezTo>
                  <a:pt x="108" y="288"/>
                  <a:pt x="99" y="285"/>
                  <a:pt x="90" y="281"/>
                </a:cubicBezTo>
                <a:cubicBezTo>
                  <a:pt x="81" y="278"/>
                  <a:pt x="73" y="273"/>
                  <a:pt x="65" y="268"/>
                </a:cubicBezTo>
                <a:cubicBezTo>
                  <a:pt x="57" y="263"/>
                  <a:pt x="49" y="257"/>
                  <a:pt x="43" y="250"/>
                </a:cubicBezTo>
                <a:cubicBezTo>
                  <a:pt x="36" y="243"/>
                  <a:pt x="30" y="236"/>
                  <a:pt x="25" y="228"/>
                </a:cubicBezTo>
                <a:cubicBezTo>
                  <a:pt x="19" y="220"/>
                  <a:pt x="15" y="211"/>
                  <a:pt x="11" y="203"/>
                </a:cubicBezTo>
                <a:cubicBezTo>
                  <a:pt x="7" y="194"/>
                  <a:pt x="5" y="185"/>
                  <a:pt x="3" y="175"/>
                </a:cubicBezTo>
                <a:cubicBezTo>
                  <a:pt x="1" y="166"/>
                  <a:pt x="0" y="156"/>
                  <a:pt x="0" y="147"/>
                </a:cubicBezTo>
                <a:cubicBezTo>
                  <a:pt x="0" y="137"/>
                  <a:pt x="1" y="128"/>
                  <a:pt x="3" y="119"/>
                </a:cubicBezTo>
                <a:cubicBezTo>
                  <a:pt x="5" y="109"/>
                  <a:pt x="7" y="100"/>
                  <a:pt x="11" y="91"/>
                </a:cubicBezTo>
                <a:cubicBezTo>
                  <a:pt x="15" y="82"/>
                  <a:pt x="19" y="74"/>
                  <a:pt x="25" y="66"/>
                </a:cubicBezTo>
                <a:cubicBezTo>
                  <a:pt x="30" y="58"/>
                  <a:pt x="36" y="51"/>
                  <a:pt x="43" y="44"/>
                </a:cubicBezTo>
                <a:cubicBezTo>
                  <a:pt x="49" y="36"/>
                  <a:pt x="57" y="30"/>
                  <a:pt x="65" y="25"/>
                </a:cubicBezTo>
                <a:cubicBezTo>
                  <a:pt x="73" y="20"/>
                  <a:pt x="81" y="15"/>
                  <a:pt x="90" y="11"/>
                </a:cubicBezTo>
                <a:cubicBezTo>
                  <a:pt x="99" y="8"/>
                  <a:pt x="108" y="5"/>
                  <a:pt x="117" y="3"/>
                </a:cubicBezTo>
                <a:cubicBezTo>
                  <a:pt x="127" y="1"/>
                  <a:pt x="136" y="0"/>
                  <a:pt x="147" y="0"/>
                </a:cubicBezTo>
                <a:cubicBezTo>
                  <a:pt x="156" y="0"/>
                  <a:pt x="166" y="1"/>
                  <a:pt x="175" y="3"/>
                </a:cubicBezTo>
                <a:cubicBezTo>
                  <a:pt x="184" y="5"/>
                  <a:pt x="193" y="8"/>
                  <a:pt x="202" y="11"/>
                </a:cubicBezTo>
                <a:cubicBezTo>
                  <a:pt x="211" y="15"/>
                  <a:pt x="219" y="20"/>
                  <a:pt x="227" y="25"/>
                </a:cubicBezTo>
                <a:cubicBezTo>
                  <a:pt x="235" y="30"/>
                  <a:pt x="243" y="36"/>
                  <a:pt x="249" y="44"/>
                </a:cubicBezTo>
                <a:cubicBezTo>
                  <a:pt x="256" y="51"/>
                  <a:pt x="262" y="58"/>
                  <a:pt x="268" y="66"/>
                </a:cubicBezTo>
                <a:cubicBezTo>
                  <a:pt x="273" y="74"/>
                  <a:pt x="277" y="82"/>
                  <a:pt x="281" y="91"/>
                </a:cubicBezTo>
                <a:cubicBezTo>
                  <a:pt x="285" y="100"/>
                  <a:pt x="287" y="109"/>
                  <a:pt x="289" y="119"/>
                </a:cubicBezTo>
                <a:cubicBezTo>
                  <a:pt x="291" y="128"/>
                  <a:pt x="292" y="137"/>
                  <a:pt x="292" y="147"/>
                </a:cubicBezTo>
                <a:close/>
              </a:path>
            </a:pathLst>
          </a:custGeom>
          <a:noFill/>
          <a:ln w="9360">
            <a:solidFill>
              <a:srgbClr val="111111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5" name=""/>
          <p:cNvSpPr txBox="1"/>
          <p:nvPr/>
        </p:nvSpPr>
        <p:spPr>
          <a:xfrm>
            <a:off x="1085760" y="4610160"/>
            <a:ext cx="1104120" cy="399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評価指標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6" name=""/>
          <p:cNvSpPr/>
          <p:nvPr/>
        </p:nvSpPr>
        <p:spPr>
          <a:xfrm>
            <a:off x="1361880" y="5657760"/>
            <a:ext cx="105120" cy="105120"/>
          </a:xfrm>
          <a:custGeom>
            <a:avLst/>
            <a:gdLst/>
            <a:ahLst/>
            <a:rect l="0" t="0" r="r" b="b"/>
            <a:pathLst>
              <a:path w="292" h="292">
                <a:moveTo>
                  <a:pt x="292" y="146"/>
                </a:moveTo>
                <a:cubicBezTo>
                  <a:pt x="292" y="156"/>
                  <a:pt x="291" y="165"/>
                  <a:pt x="289" y="175"/>
                </a:cubicBezTo>
                <a:cubicBezTo>
                  <a:pt x="287" y="184"/>
                  <a:pt x="285" y="193"/>
                  <a:pt x="281" y="202"/>
                </a:cubicBezTo>
                <a:cubicBezTo>
                  <a:pt x="277" y="211"/>
                  <a:pt x="273" y="219"/>
                  <a:pt x="268" y="227"/>
                </a:cubicBezTo>
                <a:cubicBezTo>
                  <a:pt x="262" y="235"/>
                  <a:pt x="256" y="242"/>
                  <a:pt x="249" y="249"/>
                </a:cubicBezTo>
                <a:cubicBezTo>
                  <a:pt x="243" y="256"/>
                  <a:pt x="235" y="262"/>
                  <a:pt x="227" y="267"/>
                </a:cubicBezTo>
                <a:cubicBezTo>
                  <a:pt x="219" y="273"/>
                  <a:pt x="211" y="277"/>
                  <a:pt x="202" y="281"/>
                </a:cubicBezTo>
                <a:cubicBezTo>
                  <a:pt x="193" y="284"/>
                  <a:pt x="184" y="287"/>
                  <a:pt x="175" y="289"/>
                </a:cubicBezTo>
                <a:cubicBezTo>
                  <a:pt x="166" y="291"/>
                  <a:pt x="156" y="292"/>
                  <a:pt x="147" y="292"/>
                </a:cubicBezTo>
                <a:cubicBezTo>
                  <a:pt x="136" y="292"/>
                  <a:pt x="127" y="291"/>
                  <a:pt x="117" y="289"/>
                </a:cubicBezTo>
                <a:cubicBezTo>
                  <a:pt x="108" y="287"/>
                  <a:pt x="99" y="284"/>
                  <a:pt x="90" y="281"/>
                </a:cubicBezTo>
                <a:cubicBezTo>
                  <a:pt x="81" y="277"/>
                  <a:pt x="73" y="273"/>
                  <a:pt x="65" y="267"/>
                </a:cubicBezTo>
                <a:cubicBezTo>
                  <a:pt x="57" y="262"/>
                  <a:pt x="49" y="256"/>
                  <a:pt x="43" y="249"/>
                </a:cubicBezTo>
                <a:cubicBezTo>
                  <a:pt x="36" y="242"/>
                  <a:pt x="30" y="235"/>
                  <a:pt x="25" y="227"/>
                </a:cubicBezTo>
                <a:cubicBezTo>
                  <a:pt x="19" y="219"/>
                  <a:pt x="15" y="211"/>
                  <a:pt x="11" y="202"/>
                </a:cubicBezTo>
                <a:cubicBezTo>
                  <a:pt x="7" y="193"/>
                  <a:pt x="5" y="184"/>
                  <a:pt x="3" y="175"/>
                </a:cubicBezTo>
                <a:cubicBezTo>
                  <a:pt x="1" y="165"/>
                  <a:pt x="0" y="156"/>
                  <a:pt x="0" y="146"/>
                </a:cubicBezTo>
                <a:cubicBezTo>
                  <a:pt x="0" y="136"/>
                  <a:pt x="1" y="126"/>
                  <a:pt x="3" y="117"/>
                </a:cubicBezTo>
                <a:cubicBezTo>
                  <a:pt x="5" y="108"/>
                  <a:pt x="7" y="98"/>
                  <a:pt x="11" y="90"/>
                </a:cubicBezTo>
                <a:cubicBezTo>
                  <a:pt x="15" y="81"/>
                  <a:pt x="19" y="72"/>
                  <a:pt x="25" y="64"/>
                </a:cubicBezTo>
                <a:cubicBezTo>
                  <a:pt x="30" y="56"/>
                  <a:pt x="36" y="49"/>
                  <a:pt x="43" y="42"/>
                </a:cubicBezTo>
                <a:cubicBezTo>
                  <a:pt x="49" y="36"/>
                  <a:pt x="57" y="30"/>
                  <a:pt x="65" y="24"/>
                </a:cubicBezTo>
                <a:cubicBezTo>
                  <a:pt x="73" y="19"/>
                  <a:pt x="81" y="14"/>
                  <a:pt x="90" y="11"/>
                </a:cubicBezTo>
                <a:cubicBezTo>
                  <a:pt x="99" y="7"/>
                  <a:pt x="108" y="4"/>
                  <a:pt x="117" y="3"/>
                </a:cubicBezTo>
                <a:cubicBezTo>
                  <a:pt x="127" y="1"/>
                  <a:pt x="136" y="0"/>
                  <a:pt x="147" y="0"/>
                </a:cubicBezTo>
                <a:cubicBezTo>
                  <a:pt x="156" y="0"/>
                  <a:pt x="166" y="1"/>
                  <a:pt x="175" y="3"/>
                </a:cubicBezTo>
                <a:cubicBezTo>
                  <a:pt x="184" y="4"/>
                  <a:pt x="193" y="7"/>
                  <a:pt x="202" y="11"/>
                </a:cubicBezTo>
                <a:cubicBezTo>
                  <a:pt x="211" y="14"/>
                  <a:pt x="219" y="19"/>
                  <a:pt x="227" y="24"/>
                </a:cubicBezTo>
                <a:cubicBezTo>
                  <a:pt x="235" y="30"/>
                  <a:pt x="243" y="36"/>
                  <a:pt x="249" y="42"/>
                </a:cubicBezTo>
                <a:cubicBezTo>
                  <a:pt x="256" y="49"/>
                  <a:pt x="262" y="56"/>
                  <a:pt x="268" y="64"/>
                </a:cubicBezTo>
                <a:cubicBezTo>
                  <a:pt x="273" y="72"/>
                  <a:pt x="277" y="81"/>
                  <a:pt x="281" y="90"/>
                </a:cubicBezTo>
                <a:cubicBezTo>
                  <a:pt x="285" y="98"/>
                  <a:pt x="287" y="108"/>
                  <a:pt x="289" y="117"/>
                </a:cubicBezTo>
                <a:cubicBezTo>
                  <a:pt x="291" y="126"/>
                  <a:pt x="292" y="136"/>
                  <a:pt x="292" y="146"/>
                </a:cubicBezTo>
                <a:close/>
              </a:path>
            </a:pathLst>
          </a:custGeom>
          <a:noFill/>
          <a:ln w="9360">
            <a:solidFill>
              <a:srgbClr val="111111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7" name=""/>
          <p:cNvSpPr txBox="1"/>
          <p:nvPr/>
        </p:nvSpPr>
        <p:spPr>
          <a:xfrm>
            <a:off x="1638360" y="5029200"/>
            <a:ext cx="6108120" cy="401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文字認識正答率</a:t>
            </a:r>
            <a:r>
              <a:rPr b="0" lang="en-US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**: </a:t>
            </a:r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文字を正しく認識できた割合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8" name=""/>
          <p:cNvSpPr/>
          <p:nvPr/>
        </p:nvSpPr>
        <p:spPr>
          <a:xfrm>
            <a:off x="1361880" y="6134040"/>
            <a:ext cx="105120" cy="105120"/>
          </a:xfrm>
          <a:custGeom>
            <a:avLst/>
            <a:gdLst/>
            <a:ahLst/>
            <a:rect l="0" t="0" r="r" b="b"/>
            <a:pathLst>
              <a:path w="292" h="292">
                <a:moveTo>
                  <a:pt x="292" y="145"/>
                </a:moveTo>
                <a:cubicBezTo>
                  <a:pt x="292" y="155"/>
                  <a:pt x="291" y="164"/>
                  <a:pt x="289" y="174"/>
                </a:cubicBezTo>
                <a:cubicBezTo>
                  <a:pt x="287" y="183"/>
                  <a:pt x="285" y="192"/>
                  <a:pt x="281" y="201"/>
                </a:cubicBezTo>
                <a:cubicBezTo>
                  <a:pt x="277" y="210"/>
                  <a:pt x="273" y="218"/>
                  <a:pt x="268" y="226"/>
                </a:cubicBezTo>
                <a:cubicBezTo>
                  <a:pt x="262" y="234"/>
                  <a:pt x="256" y="241"/>
                  <a:pt x="249" y="248"/>
                </a:cubicBezTo>
                <a:cubicBezTo>
                  <a:pt x="243" y="255"/>
                  <a:pt x="235" y="261"/>
                  <a:pt x="227" y="266"/>
                </a:cubicBezTo>
                <a:cubicBezTo>
                  <a:pt x="219" y="271"/>
                  <a:pt x="211" y="277"/>
                  <a:pt x="202" y="281"/>
                </a:cubicBezTo>
                <a:cubicBezTo>
                  <a:pt x="193" y="284"/>
                  <a:pt x="184" y="287"/>
                  <a:pt x="175" y="289"/>
                </a:cubicBezTo>
                <a:cubicBezTo>
                  <a:pt x="166" y="291"/>
                  <a:pt x="156" y="292"/>
                  <a:pt x="147" y="292"/>
                </a:cubicBezTo>
                <a:cubicBezTo>
                  <a:pt x="136" y="292"/>
                  <a:pt x="127" y="291"/>
                  <a:pt x="117" y="289"/>
                </a:cubicBezTo>
                <a:cubicBezTo>
                  <a:pt x="108" y="287"/>
                  <a:pt x="99" y="284"/>
                  <a:pt x="90" y="281"/>
                </a:cubicBezTo>
                <a:cubicBezTo>
                  <a:pt x="81" y="277"/>
                  <a:pt x="73" y="271"/>
                  <a:pt x="65" y="266"/>
                </a:cubicBezTo>
                <a:cubicBezTo>
                  <a:pt x="57" y="261"/>
                  <a:pt x="49" y="255"/>
                  <a:pt x="43" y="248"/>
                </a:cubicBezTo>
                <a:cubicBezTo>
                  <a:pt x="36" y="241"/>
                  <a:pt x="30" y="234"/>
                  <a:pt x="25" y="226"/>
                </a:cubicBezTo>
                <a:cubicBezTo>
                  <a:pt x="19" y="218"/>
                  <a:pt x="15" y="210"/>
                  <a:pt x="11" y="201"/>
                </a:cubicBezTo>
                <a:cubicBezTo>
                  <a:pt x="7" y="192"/>
                  <a:pt x="5" y="183"/>
                  <a:pt x="3" y="174"/>
                </a:cubicBezTo>
                <a:cubicBezTo>
                  <a:pt x="1" y="164"/>
                  <a:pt x="0" y="155"/>
                  <a:pt x="0" y="145"/>
                </a:cubicBezTo>
                <a:cubicBezTo>
                  <a:pt x="0" y="136"/>
                  <a:pt x="1" y="126"/>
                  <a:pt x="3" y="117"/>
                </a:cubicBezTo>
                <a:cubicBezTo>
                  <a:pt x="5" y="107"/>
                  <a:pt x="7" y="98"/>
                  <a:pt x="11" y="89"/>
                </a:cubicBezTo>
                <a:cubicBezTo>
                  <a:pt x="15" y="81"/>
                  <a:pt x="19" y="72"/>
                  <a:pt x="25" y="64"/>
                </a:cubicBezTo>
                <a:cubicBezTo>
                  <a:pt x="30" y="56"/>
                  <a:pt x="36" y="49"/>
                  <a:pt x="43" y="42"/>
                </a:cubicBezTo>
                <a:cubicBezTo>
                  <a:pt x="49" y="36"/>
                  <a:pt x="57" y="29"/>
                  <a:pt x="65" y="24"/>
                </a:cubicBezTo>
                <a:cubicBezTo>
                  <a:pt x="73" y="19"/>
                  <a:pt x="81" y="14"/>
                  <a:pt x="90" y="11"/>
                </a:cubicBezTo>
                <a:cubicBezTo>
                  <a:pt x="99" y="7"/>
                  <a:pt x="108" y="4"/>
                  <a:pt x="117" y="2"/>
                </a:cubicBezTo>
                <a:cubicBezTo>
                  <a:pt x="127" y="1"/>
                  <a:pt x="136" y="0"/>
                  <a:pt x="147" y="0"/>
                </a:cubicBezTo>
                <a:cubicBezTo>
                  <a:pt x="156" y="0"/>
                  <a:pt x="166" y="1"/>
                  <a:pt x="175" y="2"/>
                </a:cubicBezTo>
                <a:cubicBezTo>
                  <a:pt x="184" y="4"/>
                  <a:pt x="193" y="7"/>
                  <a:pt x="202" y="11"/>
                </a:cubicBezTo>
                <a:cubicBezTo>
                  <a:pt x="211" y="14"/>
                  <a:pt x="219" y="19"/>
                  <a:pt x="227" y="24"/>
                </a:cubicBezTo>
                <a:cubicBezTo>
                  <a:pt x="235" y="29"/>
                  <a:pt x="243" y="36"/>
                  <a:pt x="249" y="42"/>
                </a:cubicBezTo>
                <a:cubicBezTo>
                  <a:pt x="256" y="49"/>
                  <a:pt x="262" y="56"/>
                  <a:pt x="268" y="64"/>
                </a:cubicBezTo>
                <a:cubicBezTo>
                  <a:pt x="273" y="72"/>
                  <a:pt x="277" y="81"/>
                  <a:pt x="281" y="89"/>
                </a:cubicBezTo>
                <a:cubicBezTo>
                  <a:pt x="285" y="98"/>
                  <a:pt x="287" y="107"/>
                  <a:pt x="289" y="117"/>
                </a:cubicBezTo>
                <a:cubicBezTo>
                  <a:pt x="291" y="126"/>
                  <a:pt x="292" y="136"/>
                  <a:pt x="292" y="145"/>
                </a:cubicBezTo>
                <a:close/>
              </a:path>
            </a:pathLst>
          </a:custGeom>
          <a:noFill/>
          <a:ln w="9360">
            <a:solidFill>
              <a:srgbClr val="111111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9" name=""/>
          <p:cNvSpPr txBox="1"/>
          <p:nvPr/>
        </p:nvSpPr>
        <p:spPr>
          <a:xfrm>
            <a:off x="1638360" y="5514840"/>
            <a:ext cx="9417960" cy="401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平均候補数</a:t>
            </a:r>
            <a:r>
              <a:rPr b="0" lang="en-US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**: </a:t>
            </a:r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正解を得るまでに必要な候補の平均数（少ないほど実用的）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0" name=""/>
          <p:cNvSpPr txBox="1"/>
          <p:nvPr/>
        </p:nvSpPr>
        <p:spPr>
          <a:xfrm>
            <a:off x="1638360" y="5991120"/>
            <a:ext cx="8038800" cy="401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視覚的評価</a:t>
            </a:r>
            <a:r>
              <a:rPr b="0" lang="en-US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**: </a:t>
            </a:r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改善後の画像の鮮明さやアーティファクトの有無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1" name=""/>
          <p:cNvSpPr/>
          <p:nvPr/>
        </p:nvSpPr>
        <p:spPr>
          <a:xfrm>
            <a:off x="533160" y="561960"/>
            <a:ext cx="267120" cy="57240"/>
          </a:xfrm>
          <a:custGeom>
            <a:avLst/>
            <a:gdLst/>
            <a:ahLst/>
            <a:rect l="0" t="0" r="r" b="b"/>
            <a:pathLst>
              <a:path w="742" h="159">
                <a:moveTo>
                  <a:pt x="0" y="106"/>
                </a:moveTo>
                <a:lnTo>
                  <a:pt x="0" y="52"/>
                </a:lnTo>
                <a:cubicBezTo>
                  <a:pt x="0" y="45"/>
                  <a:pt x="2" y="39"/>
                  <a:pt x="4" y="32"/>
                </a:cubicBezTo>
                <a:cubicBezTo>
                  <a:pt x="7" y="26"/>
                  <a:pt x="11" y="20"/>
                  <a:pt x="16" y="15"/>
                </a:cubicBezTo>
                <a:cubicBezTo>
                  <a:pt x="21" y="10"/>
                  <a:pt x="26" y="6"/>
                  <a:pt x="33" y="4"/>
                </a:cubicBezTo>
                <a:cubicBezTo>
                  <a:pt x="39" y="1"/>
                  <a:pt x="46" y="0"/>
                  <a:pt x="53" y="0"/>
                </a:cubicBezTo>
                <a:lnTo>
                  <a:pt x="689" y="0"/>
                </a:lnTo>
                <a:cubicBezTo>
                  <a:pt x="696" y="0"/>
                  <a:pt x="703" y="1"/>
                  <a:pt x="709" y="4"/>
                </a:cubicBezTo>
                <a:cubicBezTo>
                  <a:pt x="716" y="6"/>
                  <a:pt x="722" y="10"/>
                  <a:pt x="727" y="15"/>
                </a:cubicBezTo>
                <a:cubicBezTo>
                  <a:pt x="731" y="20"/>
                  <a:pt x="735" y="26"/>
                  <a:pt x="738" y="32"/>
                </a:cubicBezTo>
                <a:cubicBezTo>
                  <a:pt x="741" y="39"/>
                  <a:pt x="742" y="45"/>
                  <a:pt x="742" y="52"/>
                </a:cubicBezTo>
                <a:lnTo>
                  <a:pt x="742" y="106"/>
                </a:lnTo>
                <a:cubicBezTo>
                  <a:pt x="742" y="113"/>
                  <a:pt x="741" y="120"/>
                  <a:pt x="738" y="127"/>
                </a:cubicBezTo>
                <a:cubicBezTo>
                  <a:pt x="735" y="133"/>
                  <a:pt x="731" y="139"/>
                  <a:pt x="727" y="144"/>
                </a:cubicBezTo>
                <a:cubicBezTo>
                  <a:pt x="722" y="149"/>
                  <a:pt x="716" y="153"/>
                  <a:pt x="709" y="155"/>
                </a:cubicBezTo>
                <a:cubicBezTo>
                  <a:pt x="703" y="158"/>
                  <a:pt x="696" y="159"/>
                  <a:pt x="689" y="159"/>
                </a:cubicBezTo>
                <a:lnTo>
                  <a:pt x="53" y="159"/>
                </a:lnTo>
                <a:cubicBezTo>
                  <a:pt x="46" y="159"/>
                  <a:pt x="39" y="158"/>
                  <a:pt x="33" y="155"/>
                </a:cubicBezTo>
                <a:cubicBezTo>
                  <a:pt x="26" y="153"/>
                  <a:pt x="21" y="149"/>
                  <a:pt x="16" y="144"/>
                </a:cubicBezTo>
                <a:cubicBezTo>
                  <a:pt x="11" y="139"/>
                  <a:pt x="7" y="133"/>
                  <a:pt x="4" y="127"/>
                </a:cubicBezTo>
                <a:cubicBezTo>
                  <a:pt x="2" y="120"/>
                  <a:pt x="0" y="113"/>
                  <a:pt x="0" y="106"/>
                </a:cubicBezTo>
                <a:close/>
              </a:path>
            </a:pathLst>
          </a:custGeom>
          <a:solidFill>
            <a:srgbClr val="0b4b7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22" name=""/>
          <p:cNvSpPr txBox="1"/>
          <p:nvPr/>
        </p:nvSpPr>
        <p:spPr>
          <a:xfrm>
            <a:off x="914400" y="392400"/>
            <a:ext cx="994320" cy="360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1950" spc="-1" strike="noStrike">
                <a:solidFill>
                  <a:srgbClr val="111111"/>
                </a:solidFill>
                <a:latin typeface="NotoSansJP"/>
                <a:ea typeface="NotoSansJP"/>
              </a:rPr>
              <a:t>実験設定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3" name=""/>
          <p:cNvSpPr txBox="1"/>
          <p:nvPr/>
        </p:nvSpPr>
        <p:spPr>
          <a:xfrm>
            <a:off x="11946600" y="6436800"/>
            <a:ext cx="304560" cy="416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400" spc="-1" strike="noStrike">
                <a:solidFill>
                  <a:srgbClr val="111111"/>
                </a:solidFill>
                <a:latin typeface="NotoSansJP"/>
                <a:ea typeface="NotoSansJP"/>
              </a:rPr>
              <a:t>9</a:t>
            </a:r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c9c9c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7" name=""/>
          <p:cNvSpPr/>
          <p:nvPr/>
        </p:nvSpPr>
        <p:spPr>
          <a:xfrm>
            <a:off x="228240" y="228240"/>
            <a:ext cx="11735280" cy="6401160"/>
          </a:xfrm>
          <a:custGeom>
            <a:avLst/>
            <a:gdLst/>
            <a:ahLst/>
            <a:rect l="0" t="0" r="r" b="b"/>
            <a:pathLst>
              <a:path w="32598" h="17781">
                <a:moveTo>
                  <a:pt x="530" y="0"/>
                </a:moveTo>
                <a:lnTo>
                  <a:pt x="32069" y="0"/>
                </a:lnTo>
                <a:cubicBezTo>
                  <a:pt x="32104" y="0"/>
                  <a:pt x="32138" y="4"/>
                  <a:pt x="32172" y="11"/>
                </a:cubicBezTo>
                <a:cubicBezTo>
                  <a:pt x="32206" y="17"/>
                  <a:pt x="32239" y="27"/>
                  <a:pt x="32271" y="41"/>
                </a:cubicBezTo>
                <a:cubicBezTo>
                  <a:pt x="32304" y="54"/>
                  <a:pt x="32334" y="70"/>
                  <a:pt x="32363" y="90"/>
                </a:cubicBezTo>
                <a:cubicBezTo>
                  <a:pt x="32392" y="109"/>
                  <a:pt x="32419" y="131"/>
                  <a:pt x="32443" y="155"/>
                </a:cubicBezTo>
                <a:cubicBezTo>
                  <a:pt x="32468" y="180"/>
                  <a:pt x="32490" y="207"/>
                  <a:pt x="32509" y="236"/>
                </a:cubicBezTo>
                <a:cubicBezTo>
                  <a:pt x="32528" y="265"/>
                  <a:pt x="32545" y="295"/>
                  <a:pt x="32558" y="327"/>
                </a:cubicBezTo>
                <a:cubicBezTo>
                  <a:pt x="32571" y="359"/>
                  <a:pt x="32581" y="392"/>
                  <a:pt x="32588" y="426"/>
                </a:cubicBezTo>
                <a:cubicBezTo>
                  <a:pt x="32595" y="461"/>
                  <a:pt x="32598" y="495"/>
                  <a:pt x="32598" y="530"/>
                </a:cubicBezTo>
                <a:lnTo>
                  <a:pt x="32598" y="17252"/>
                </a:lnTo>
                <a:cubicBezTo>
                  <a:pt x="32598" y="17287"/>
                  <a:pt x="32595" y="17321"/>
                  <a:pt x="32588" y="17356"/>
                </a:cubicBezTo>
                <a:cubicBezTo>
                  <a:pt x="32581" y="17390"/>
                  <a:pt x="32571" y="17423"/>
                  <a:pt x="32558" y="17455"/>
                </a:cubicBezTo>
                <a:cubicBezTo>
                  <a:pt x="32545" y="17487"/>
                  <a:pt x="32528" y="17517"/>
                  <a:pt x="32509" y="17546"/>
                </a:cubicBezTo>
                <a:cubicBezTo>
                  <a:pt x="32490" y="17575"/>
                  <a:pt x="32468" y="17602"/>
                  <a:pt x="32443" y="17627"/>
                </a:cubicBezTo>
                <a:cubicBezTo>
                  <a:pt x="32419" y="17651"/>
                  <a:pt x="32392" y="17673"/>
                  <a:pt x="32363" y="17692"/>
                </a:cubicBezTo>
                <a:cubicBezTo>
                  <a:pt x="32334" y="17712"/>
                  <a:pt x="32304" y="17728"/>
                  <a:pt x="32271" y="17741"/>
                </a:cubicBezTo>
                <a:cubicBezTo>
                  <a:pt x="32239" y="17755"/>
                  <a:pt x="32206" y="17765"/>
                  <a:pt x="32172" y="17771"/>
                </a:cubicBezTo>
                <a:cubicBezTo>
                  <a:pt x="32138" y="17778"/>
                  <a:pt x="32104" y="17781"/>
                  <a:pt x="32069" y="17781"/>
                </a:cubicBezTo>
                <a:lnTo>
                  <a:pt x="530" y="17781"/>
                </a:lnTo>
                <a:cubicBezTo>
                  <a:pt x="495" y="17781"/>
                  <a:pt x="461" y="17778"/>
                  <a:pt x="426" y="17771"/>
                </a:cubicBezTo>
                <a:cubicBezTo>
                  <a:pt x="392" y="17765"/>
                  <a:pt x="359" y="17755"/>
                  <a:pt x="327" y="17741"/>
                </a:cubicBezTo>
                <a:cubicBezTo>
                  <a:pt x="295" y="17728"/>
                  <a:pt x="265" y="17712"/>
                  <a:pt x="236" y="17692"/>
                </a:cubicBezTo>
                <a:cubicBezTo>
                  <a:pt x="207" y="17673"/>
                  <a:pt x="180" y="17651"/>
                  <a:pt x="155" y="17627"/>
                </a:cubicBezTo>
                <a:cubicBezTo>
                  <a:pt x="131" y="17602"/>
                  <a:pt x="109" y="17575"/>
                  <a:pt x="90" y="17546"/>
                </a:cubicBezTo>
                <a:cubicBezTo>
                  <a:pt x="70" y="17517"/>
                  <a:pt x="54" y="17487"/>
                  <a:pt x="41" y="17455"/>
                </a:cubicBezTo>
                <a:cubicBezTo>
                  <a:pt x="27" y="17423"/>
                  <a:pt x="17" y="17390"/>
                  <a:pt x="11" y="17356"/>
                </a:cubicBezTo>
                <a:cubicBezTo>
                  <a:pt x="4" y="17321"/>
                  <a:pt x="0" y="17287"/>
                  <a:pt x="0" y="17252"/>
                </a:cubicBezTo>
                <a:lnTo>
                  <a:pt x="0" y="530"/>
                </a:lnTo>
                <a:cubicBezTo>
                  <a:pt x="0" y="495"/>
                  <a:pt x="4" y="461"/>
                  <a:pt x="11" y="426"/>
                </a:cubicBezTo>
                <a:cubicBezTo>
                  <a:pt x="17" y="392"/>
                  <a:pt x="27" y="359"/>
                  <a:pt x="41" y="327"/>
                </a:cubicBezTo>
                <a:cubicBezTo>
                  <a:pt x="54" y="295"/>
                  <a:pt x="70" y="265"/>
                  <a:pt x="90" y="236"/>
                </a:cubicBezTo>
                <a:cubicBezTo>
                  <a:pt x="109" y="207"/>
                  <a:pt x="131" y="180"/>
                  <a:pt x="155" y="155"/>
                </a:cubicBezTo>
                <a:cubicBezTo>
                  <a:pt x="180" y="131"/>
                  <a:pt x="207" y="109"/>
                  <a:pt x="236" y="90"/>
                </a:cubicBezTo>
                <a:cubicBezTo>
                  <a:pt x="265" y="70"/>
                  <a:pt x="295" y="54"/>
                  <a:pt x="327" y="41"/>
                </a:cubicBezTo>
                <a:cubicBezTo>
                  <a:pt x="359" y="27"/>
                  <a:pt x="392" y="17"/>
                  <a:pt x="426" y="11"/>
                </a:cubicBezTo>
                <a:cubicBezTo>
                  <a:pt x="461" y="4"/>
                  <a:pt x="495" y="0"/>
                  <a:pt x="530" y="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228" name="" descr=""/>
          <p:cNvPicPr/>
          <p:nvPr/>
        </p:nvPicPr>
        <p:blipFill>
          <a:blip r:embed="rId1"/>
          <a:stretch/>
        </p:blipFill>
        <p:spPr>
          <a:xfrm>
            <a:off x="10515600" y="38160"/>
            <a:ext cx="1142640" cy="1142640"/>
          </a:xfrm>
          <a:prstGeom prst="rect">
            <a:avLst/>
          </a:prstGeom>
          <a:ln w="0">
            <a:noFill/>
          </a:ln>
        </p:spPr>
      </p:pic>
      <p:sp>
        <p:nvSpPr>
          <p:cNvPr id="229" name=""/>
          <p:cNvSpPr txBox="1"/>
          <p:nvPr/>
        </p:nvSpPr>
        <p:spPr>
          <a:xfrm>
            <a:off x="533520" y="923760"/>
            <a:ext cx="6621120" cy="399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いずれの手法も、従来手法を大幅に上回る性能を達成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0" name=""/>
          <p:cNvSpPr txBox="1"/>
          <p:nvPr/>
        </p:nvSpPr>
        <p:spPr>
          <a:xfrm>
            <a:off x="533520" y="1438200"/>
            <a:ext cx="5053320" cy="401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SVR</a:t>
            </a:r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を用いた</a:t>
            </a:r>
            <a:r>
              <a:rPr b="0" lang="en-US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Retinex</a:t>
            </a:r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処理 </a:t>
            </a:r>
            <a:r>
              <a:rPr b="0" lang="en-US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(</a:t>
            </a:r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ロバスト性</a:t>
            </a:r>
            <a:r>
              <a:rPr b="0" lang="en-US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)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1" name=""/>
          <p:cNvSpPr txBox="1"/>
          <p:nvPr/>
        </p:nvSpPr>
        <p:spPr>
          <a:xfrm>
            <a:off x="606960" y="1942920"/>
            <a:ext cx="11474280" cy="401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[</a:t>
            </a:r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図</a:t>
            </a:r>
            <a:r>
              <a:rPr b="0" lang="en-US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: </a:t>
            </a:r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論文図</a:t>
            </a:r>
            <a:r>
              <a:rPr b="0" lang="en-US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2.13</a:t>
            </a:r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のグラフ。提案</a:t>
            </a:r>
            <a:r>
              <a:rPr b="0" lang="en-US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Retinex</a:t>
            </a:r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が他の手法</a:t>
            </a:r>
            <a:r>
              <a:rPr b="0" lang="en-US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(SSR, 2MSR)</a:t>
            </a:r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より高い正答率を維持して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2" name=""/>
          <p:cNvSpPr txBox="1"/>
          <p:nvPr/>
        </p:nvSpPr>
        <p:spPr>
          <a:xfrm>
            <a:off x="5772960" y="2362320"/>
            <a:ext cx="717120" cy="401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いる</a:t>
            </a:r>
            <a:r>
              <a:rPr b="0" lang="en-US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]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3" name=""/>
          <p:cNvSpPr txBox="1"/>
          <p:nvPr/>
        </p:nvSpPr>
        <p:spPr>
          <a:xfrm>
            <a:off x="533520" y="2867040"/>
            <a:ext cx="6203520" cy="401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従来法に対し、文字認識の正答率が</a:t>
            </a:r>
            <a:r>
              <a:rPr b="0" lang="zh-CN" sz="2170" spc="-1" strike="noStrike">
                <a:solidFill>
                  <a:srgbClr val="c9342f"/>
                </a:solidFill>
                <a:latin typeface="NotoSansJP"/>
                <a:ea typeface="NotoSansJP"/>
              </a:rPr>
              <a:t>最大</a:t>
            </a:r>
            <a:r>
              <a:rPr b="0" lang="en-US" sz="2170" spc="-1" strike="noStrike">
                <a:solidFill>
                  <a:srgbClr val="c9342f"/>
                </a:solidFill>
                <a:latin typeface="NotoSansJP"/>
                <a:ea typeface="NotoSansJP"/>
              </a:rPr>
              <a:t>32%</a:t>
            </a:r>
            <a:r>
              <a:rPr b="0" lang="zh-CN" sz="2170" spc="-1" strike="noStrike">
                <a:solidFill>
                  <a:srgbClr val="c9342f"/>
                </a:solidFill>
                <a:latin typeface="NotoSansJP"/>
                <a:ea typeface="NotoSansJP"/>
              </a:rPr>
              <a:t>向上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4" name=""/>
          <p:cNvSpPr txBox="1"/>
          <p:nvPr/>
        </p:nvSpPr>
        <p:spPr>
          <a:xfrm>
            <a:off x="533520" y="3381480"/>
            <a:ext cx="3803040" cy="401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SVM</a:t>
            </a:r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を用いた超解像 </a:t>
            </a:r>
            <a:r>
              <a:rPr b="0" lang="en-US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(</a:t>
            </a:r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効率性</a:t>
            </a:r>
            <a:r>
              <a:rPr b="0" lang="en-US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)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5" name=""/>
          <p:cNvSpPr txBox="1"/>
          <p:nvPr/>
        </p:nvSpPr>
        <p:spPr>
          <a:xfrm>
            <a:off x="542520" y="3886200"/>
            <a:ext cx="11457720" cy="401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[</a:t>
            </a:r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図</a:t>
            </a:r>
            <a:r>
              <a:rPr b="0" lang="en-US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: </a:t>
            </a:r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論文表</a:t>
            </a:r>
            <a:r>
              <a:rPr b="0" lang="en-US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5.7</a:t>
            </a:r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の正答率をグラフ化したもの。提案超解像が従来超解像より高い正答率を示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6" name=""/>
          <p:cNvSpPr txBox="1"/>
          <p:nvPr/>
        </p:nvSpPr>
        <p:spPr>
          <a:xfrm>
            <a:off x="5501160" y="4305240"/>
            <a:ext cx="1269000" cy="401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している</a:t>
            </a:r>
            <a:r>
              <a:rPr b="0" lang="en-US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]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7" name=""/>
          <p:cNvSpPr txBox="1"/>
          <p:nvPr/>
        </p:nvSpPr>
        <p:spPr>
          <a:xfrm>
            <a:off x="533520" y="4809960"/>
            <a:ext cx="6203520" cy="401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従来法に対し、文字認識の正答率が</a:t>
            </a:r>
            <a:r>
              <a:rPr b="0" lang="zh-CN" sz="2170" spc="-1" strike="noStrike">
                <a:solidFill>
                  <a:srgbClr val="c9342f"/>
                </a:solidFill>
                <a:latin typeface="NotoSansJP"/>
                <a:ea typeface="NotoSansJP"/>
              </a:rPr>
              <a:t>最大</a:t>
            </a:r>
            <a:r>
              <a:rPr b="0" lang="en-US" sz="2170" spc="-1" strike="noStrike">
                <a:solidFill>
                  <a:srgbClr val="c9342f"/>
                </a:solidFill>
                <a:latin typeface="NotoSansJP"/>
                <a:ea typeface="NotoSansJP"/>
              </a:rPr>
              <a:t>32%</a:t>
            </a:r>
            <a:r>
              <a:rPr b="0" lang="zh-CN" sz="2170" spc="-1" strike="noStrike">
                <a:solidFill>
                  <a:srgbClr val="c9342f"/>
                </a:solidFill>
                <a:latin typeface="NotoSansJP"/>
                <a:ea typeface="NotoSansJP"/>
              </a:rPr>
              <a:t>向上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8" name=""/>
          <p:cNvSpPr txBox="1"/>
          <p:nvPr/>
        </p:nvSpPr>
        <p:spPr>
          <a:xfrm>
            <a:off x="533520" y="5324400"/>
            <a:ext cx="5004360" cy="401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多重構造</a:t>
            </a:r>
            <a:r>
              <a:rPr b="0" lang="en-US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CNN</a:t>
            </a:r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による文字認識 </a:t>
            </a:r>
            <a:r>
              <a:rPr b="0" lang="en-US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(</a:t>
            </a:r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適応性</a:t>
            </a:r>
            <a:r>
              <a:rPr b="0" lang="en-US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)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9" name=""/>
          <p:cNvSpPr txBox="1"/>
          <p:nvPr/>
        </p:nvSpPr>
        <p:spPr>
          <a:xfrm>
            <a:off x="565200" y="5829120"/>
            <a:ext cx="11566800" cy="401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[</a:t>
            </a:r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図</a:t>
            </a:r>
            <a:r>
              <a:rPr b="0" lang="en-US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: </a:t>
            </a:r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論文図</a:t>
            </a:r>
            <a:r>
              <a:rPr b="0" lang="en-US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4.8(a)</a:t>
            </a:r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のグラフ。提案の文字認識法が他の手法</a:t>
            </a:r>
            <a:r>
              <a:rPr b="0" lang="en-US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(CA, CT</a:t>
            </a:r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など</a:t>
            </a:r>
            <a:r>
              <a:rPr b="0" lang="en-US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)</a:t>
            </a:r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より高い正答率を維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0" name=""/>
          <p:cNvSpPr txBox="1"/>
          <p:nvPr/>
        </p:nvSpPr>
        <p:spPr>
          <a:xfrm>
            <a:off x="5362920" y="6248520"/>
            <a:ext cx="1544760" cy="401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持している</a:t>
            </a:r>
            <a:r>
              <a:rPr b="0" lang="en-US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]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1" name=""/>
          <p:cNvSpPr txBox="1"/>
          <p:nvPr/>
        </p:nvSpPr>
        <p:spPr>
          <a:xfrm>
            <a:off x="533520" y="6753240"/>
            <a:ext cx="10256040" cy="401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従来法に対し 文字認識の正答率が</a:t>
            </a:r>
            <a:r>
              <a:rPr b="0" lang="zh-CN" sz="2170" spc="-1" strike="noStrike">
                <a:solidFill>
                  <a:srgbClr val="c9342f"/>
                </a:solidFill>
                <a:latin typeface="NotoSansJP"/>
                <a:ea typeface="NotoSansJP"/>
              </a:rPr>
              <a:t>最大</a:t>
            </a:r>
            <a:r>
              <a:rPr b="0" lang="en-US" sz="2170" spc="-1" strike="noStrike">
                <a:solidFill>
                  <a:srgbClr val="c9342f"/>
                </a:solidFill>
                <a:latin typeface="NotoSansJP"/>
                <a:ea typeface="NotoSansJP"/>
              </a:rPr>
              <a:t>7 2%</a:t>
            </a:r>
            <a:r>
              <a:rPr b="0" lang="zh-CN" sz="2170" spc="-1" strike="noStrike">
                <a:solidFill>
                  <a:srgbClr val="c9342f"/>
                </a:solidFill>
                <a:latin typeface="NotoSansJP"/>
                <a:ea typeface="NotoSansJP"/>
              </a:rPr>
              <a:t>向上</a:t>
            </a:r>
            <a:r>
              <a:rPr b="0" lang="en-US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 特に劣化が強い領域で優位性が顕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2" name=""/>
          <p:cNvSpPr/>
          <p:nvPr/>
        </p:nvSpPr>
        <p:spPr>
          <a:xfrm>
            <a:off x="533160" y="561960"/>
            <a:ext cx="267120" cy="57240"/>
          </a:xfrm>
          <a:custGeom>
            <a:avLst/>
            <a:gdLst/>
            <a:ahLst/>
            <a:rect l="0" t="0" r="r" b="b"/>
            <a:pathLst>
              <a:path w="742" h="159">
                <a:moveTo>
                  <a:pt x="0" y="106"/>
                </a:moveTo>
                <a:lnTo>
                  <a:pt x="0" y="52"/>
                </a:lnTo>
                <a:cubicBezTo>
                  <a:pt x="0" y="45"/>
                  <a:pt x="2" y="39"/>
                  <a:pt x="4" y="32"/>
                </a:cubicBezTo>
                <a:cubicBezTo>
                  <a:pt x="7" y="26"/>
                  <a:pt x="11" y="20"/>
                  <a:pt x="16" y="15"/>
                </a:cubicBezTo>
                <a:cubicBezTo>
                  <a:pt x="21" y="10"/>
                  <a:pt x="26" y="6"/>
                  <a:pt x="33" y="4"/>
                </a:cubicBezTo>
                <a:cubicBezTo>
                  <a:pt x="39" y="1"/>
                  <a:pt x="46" y="0"/>
                  <a:pt x="53" y="0"/>
                </a:cubicBezTo>
                <a:lnTo>
                  <a:pt x="689" y="0"/>
                </a:lnTo>
                <a:cubicBezTo>
                  <a:pt x="696" y="0"/>
                  <a:pt x="703" y="1"/>
                  <a:pt x="709" y="4"/>
                </a:cubicBezTo>
                <a:cubicBezTo>
                  <a:pt x="716" y="6"/>
                  <a:pt x="722" y="10"/>
                  <a:pt x="727" y="15"/>
                </a:cubicBezTo>
                <a:cubicBezTo>
                  <a:pt x="731" y="20"/>
                  <a:pt x="735" y="26"/>
                  <a:pt x="738" y="32"/>
                </a:cubicBezTo>
                <a:cubicBezTo>
                  <a:pt x="741" y="39"/>
                  <a:pt x="742" y="45"/>
                  <a:pt x="742" y="52"/>
                </a:cubicBezTo>
                <a:lnTo>
                  <a:pt x="742" y="106"/>
                </a:lnTo>
                <a:cubicBezTo>
                  <a:pt x="742" y="113"/>
                  <a:pt x="741" y="120"/>
                  <a:pt x="738" y="127"/>
                </a:cubicBezTo>
                <a:cubicBezTo>
                  <a:pt x="735" y="133"/>
                  <a:pt x="731" y="139"/>
                  <a:pt x="727" y="144"/>
                </a:cubicBezTo>
                <a:cubicBezTo>
                  <a:pt x="722" y="149"/>
                  <a:pt x="716" y="153"/>
                  <a:pt x="709" y="155"/>
                </a:cubicBezTo>
                <a:cubicBezTo>
                  <a:pt x="703" y="158"/>
                  <a:pt x="696" y="159"/>
                  <a:pt x="689" y="159"/>
                </a:cubicBezTo>
                <a:lnTo>
                  <a:pt x="53" y="159"/>
                </a:lnTo>
                <a:cubicBezTo>
                  <a:pt x="46" y="159"/>
                  <a:pt x="39" y="158"/>
                  <a:pt x="33" y="155"/>
                </a:cubicBezTo>
                <a:cubicBezTo>
                  <a:pt x="26" y="153"/>
                  <a:pt x="21" y="149"/>
                  <a:pt x="16" y="144"/>
                </a:cubicBezTo>
                <a:cubicBezTo>
                  <a:pt x="11" y="139"/>
                  <a:pt x="7" y="133"/>
                  <a:pt x="4" y="127"/>
                </a:cubicBezTo>
                <a:cubicBezTo>
                  <a:pt x="2" y="120"/>
                  <a:pt x="0" y="113"/>
                  <a:pt x="0" y="106"/>
                </a:cubicBezTo>
                <a:close/>
              </a:path>
            </a:pathLst>
          </a:custGeom>
          <a:solidFill>
            <a:srgbClr val="0b4b7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43" name=""/>
          <p:cNvSpPr txBox="1"/>
          <p:nvPr/>
        </p:nvSpPr>
        <p:spPr>
          <a:xfrm>
            <a:off x="914400" y="392400"/>
            <a:ext cx="3133080" cy="3614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1950" spc="-1" strike="noStrike">
                <a:solidFill>
                  <a:srgbClr val="111111"/>
                </a:solidFill>
                <a:latin typeface="NotoSansJP"/>
                <a:ea typeface="NotoSansJP"/>
              </a:rPr>
              <a:t>結果</a:t>
            </a:r>
            <a:r>
              <a:rPr b="0" lang="en-US" sz="1950" spc="-1" strike="noStrike">
                <a:solidFill>
                  <a:srgbClr val="111111"/>
                </a:solidFill>
                <a:latin typeface="NotoSansJP"/>
                <a:ea typeface="NotoSansJP"/>
              </a:rPr>
              <a:t>1: </a:t>
            </a:r>
            <a:r>
              <a:rPr b="0" lang="zh-CN" sz="1950" spc="-1" strike="noStrike">
                <a:solidFill>
                  <a:srgbClr val="111111"/>
                </a:solidFill>
                <a:latin typeface="NotoSansJP"/>
                <a:ea typeface="NotoSansJP"/>
              </a:rPr>
              <a:t>各提案手法の有効性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4" name=""/>
          <p:cNvSpPr txBox="1"/>
          <p:nvPr/>
        </p:nvSpPr>
        <p:spPr>
          <a:xfrm>
            <a:off x="11777400" y="6436800"/>
            <a:ext cx="348120" cy="416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400" spc="-1" strike="noStrike">
                <a:solidFill>
                  <a:srgbClr val="111111"/>
                </a:solidFill>
                <a:latin typeface="NotoSansJP"/>
                <a:ea typeface="NotoSansJP"/>
              </a:rPr>
              <a:t>10</a:t>
            </a:r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c9c9c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8" name=""/>
          <p:cNvSpPr/>
          <p:nvPr/>
        </p:nvSpPr>
        <p:spPr>
          <a:xfrm>
            <a:off x="228240" y="228240"/>
            <a:ext cx="11735280" cy="6401160"/>
          </a:xfrm>
          <a:custGeom>
            <a:avLst/>
            <a:gdLst/>
            <a:ahLst/>
            <a:rect l="0" t="0" r="r" b="b"/>
            <a:pathLst>
              <a:path w="32598" h="17781">
                <a:moveTo>
                  <a:pt x="530" y="0"/>
                </a:moveTo>
                <a:lnTo>
                  <a:pt x="32069" y="0"/>
                </a:lnTo>
                <a:cubicBezTo>
                  <a:pt x="32104" y="0"/>
                  <a:pt x="32138" y="4"/>
                  <a:pt x="32172" y="11"/>
                </a:cubicBezTo>
                <a:cubicBezTo>
                  <a:pt x="32206" y="17"/>
                  <a:pt x="32239" y="27"/>
                  <a:pt x="32271" y="41"/>
                </a:cubicBezTo>
                <a:cubicBezTo>
                  <a:pt x="32304" y="54"/>
                  <a:pt x="32334" y="70"/>
                  <a:pt x="32363" y="90"/>
                </a:cubicBezTo>
                <a:cubicBezTo>
                  <a:pt x="32392" y="109"/>
                  <a:pt x="32419" y="131"/>
                  <a:pt x="32443" y="155"/>
                </a:cubicBezTo>
                <a:cubicBezTo>
                  <a:pt x="32468" y="180"/>
                  <a:pt x="32490" y="207"/>
                  <a:pt x="32509" y="236"/>
                </a:cubicBezTo>
                <a:cubicBezTo>
                  <a:pt x="32528" y="265"/>
                  <a:pt x="32545" y="295"/>
                  <a:pt x="32558" y="327"/>
                </a:cubicBezTo>
                <a:cubicBezTo>
                  <a:pt x="32571" y="359"/>
                  <a:pt x="32581" y="392"/>
                  <a:pt x="32588" y="426"/>
                </a:cubicBezTo>
                <a:cubicBezTo>
                  <a:pt x="32595" y="461"/>
                  <a:pt x="32598" y="495"/>
                  <a:pt x="32598" y="530"/>
                </a:cubicBezTo>
                <a:lnTo>
                  <a:pt x="32598" y="17252"/>
                </a:lnTo>
                <a:cubicBezTo>
                  <a:pt x="32598" y="17287"/>
                  <a:pt x="32595" y="17321"/>
                  <a:pt x="32588" y="17356"/>
                </a:cubicBezTo>
                <a:cubicBezTo>
                  <a:pt x="32581" y="17390"/>
                  <a:pt x="32571" y="17423"/>
                  <a:pt x="32558" y="17455"/>
                </a:cubicBezTo>
                <a:cubicBezTo>
                  <a:pt x="32545" y="17487"/>
                  <a:pt x="32528" y="17517"/>
                  <a:pt x="32509" y="17546"/>
                </a:cubicBezTo>
                <a:cubicBezTo>
                  <a:pt x="32490" y="17575"/>
                  <a:pt x="32468" y="17602"/>
                  <a:pt x="32443" y="17627"/>
                </a:cubicBezTo>
                <a:cubicBezTo>
                  <a:pt x="32419" y="17651"/>
                  <a:pt x="32392" y="17673"/>
                  <a:pt x="32363" y="17692"/>
                </a:cubicBezTo>
                <a:cubicBezTo>
                  <a:pt x="32334" y="17712"/>
                  <a:pt x="32304" y="17728"/>
                  <a:pt x="32271" y="17741"/>
                </a:cubicBezTo>
                <a:cubicBezTo>
                  <a:pt x="32239" y="17755"/>
                  <a:pt x="32206" y="17765"/>
                  <a:pt x="32172" y="17771"/>
                </a:cubicBezTo>
                <a:cubicBezTo>
                  <a:pt x="32138" y="17778"/>
                  <a:pt x="32104" y="17781"/>
                  <a:pt x="32069" y="17781"/>
                </a:cubicBezTo>
                <a:lnTo>
                  <a:pt x="530" y="17781"/>
                </a:lnTo>
                <a:cubicBezTo>
                  <a:pt x="495" y="17781"/>
                  <a:pt x="461" y="17778"/>
                  <a:pt x="426" y="17771"/>
                </a:cubicBezTo>
                <a:cubicBezTo>
                  <a:pt x="392" y="17765"/>
                  <a:pt x="359" y="17755"/>
                  <a:pt x="327" y="17741"/>
                </a:cubicBezTo>
                <a:cubicBezTo>
                  <a:pt x="295" y="17728"/>
                  <a:pt x="265" y="17712"/>
                  <a:pt x="236" y="17692"/>
                </a:cubicBezTo>
                <a:cubicBezTo>
                  <a:pt x="207" y="17673"/>
                  <a:pt x="180" y="17651"/>
                  <a:pt x="155" y="17627"/>
                </a:cubicBezTo>
                <a:cubicBezTo>
                  <a:pt x="131" y="17602"/>
                  <a:pt x="109" y="17575"/>
                  <a:pt x="90" y="17546"/>
                </a:cubicBezTo>
                <a:cubicBezTo>
                  <a:pt x="70" y="17517"/>
                  <a:pt x="54" y="17487"/>
                  <a:pt x="41" y="17455"/>
                </a:cubicBezTo>
                <a:cubicBezTo>
                  <a:pt x="27" y="17423"/>
                  <a:pt x="17" y="17390"/>
                  <a:pt x="11" y="17356"/>
                </a:cubicBezTo>
                <a:cubicBezTo>
                  <a:pt x="4" y="17321"/>
                  <a:pt x="0" y="17287"/>
                  <a:pt x="0" y="17252"/>
                </a:cubicBezTo>
                <a:lnTo>
                  <a:pt x="0" y="530"/>
                </a:lnTo>
                <a:cubicBezTo>
                  <a:pt x="0" y="495"/>
                  <a:pt x="4" y="461"/>
                  <a:pt x="11" y="426"/>
                </a:cubicBezTo>
                <a:cubicBezTo>
                  <a:pt x="17" y="392"/>
                  <a:pt x="27" y="359"/>
                  <a:pt x="41" y="327"/>
                </a:cubicBezTo>
                <a:cubicBezTo>
                  <a:pt x="54" y="295"/>
                  <a:pt x="70" y="265"/>
                  <a:pt x="90" y="236"/>
                </a:cubicBezTo>
                <a:cubicBezTo>
                  <a:pt x="109" y="207"/>
                  <a:pt x="131" y="180"/>
                  <a:pt x="155" y="155"/>
                </a:cubicBezTo>
                <a:cubicBezTo>
                  <a:pt x="180" y="131"/>
                  <a:pt x="207" y="109"/>
                  <a:pt x="236" y="90"/>
                </a:cubicBezTo>
                <a:cubicBezTo>
                  <a:pt x="265" y="70"/>
                  <a:pt x="295" y="54"/>
                  <a:pt x="327" y="41"/>
                </a:cubicBezTo>
                <a:cubicBezTo>
                  <a:pt x="359" y="27"/>
                  <a:pt x="392" y="17"/>
                  <a:pt x="426" y="11"/>
                </a:cubicBezTo>
                <a:cubicBezTo>
                  <a:pt x="461" y="4"/>
                  <a:pt x="495" y="0"/>
                  <a:pt x="530" y="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249" name="" descr=""/>
          <p:cNvPicPr/>
          <p:nvPr/>
        </p:nvPicPr>
        <p:blipFill>
          <a:blip r:embed="rId1"/>
          <a:stretch/>
        </p:blipFill>
        <p:spPr>
          <a:xfrm>
            <a:off x="10515600" y="38160"/>
            <a:ext cx="1142640" cy="1142640"/>
          </a:xfrm>
          <a:prstGeom prst="rect">
            <a:avLst/>
          </a:prstGeom>
          <a:ln w="0">
            <a:noFill/>
          </a:ln>
        </p:spPr>
      </p:pic>
      <p:sp>
        <p:nvSpPr>
          <p:cNvPr id="250" name=""/>
          <p:cNvSpPr txBox="1"/>
          <p:nvPr/>
        </p:nvSpPr>
        <p:spPr>
          <a:xfrm>
            <a:off x="533520" y="923760"/>
            <a:ext cx="6069240" cy="399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認識性能が飛躍的に向上し、高い実用性を示した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1" name=""/>
          <p:cNvSpPr/>
          <p:nvPr/>
        </p:nvSpPr>
        <p:spPr>
          <a:xfrm>
            <a:off x="809280" y="2085840"/>
            <a:ext cx="105120" cy="105120"/>
          </a:xfrm>
          <a:custGeom>
            <a:avLst/>
            <a:gdLst/>
            <a:ahLst/>
            <a:rect l="0" t="0" r="r" b="b"/>
            <a:pathLst>
              <a:path w="292" h="292">
                <a:moveTo>
                  <a:pt x="292" y="145"/>
                </a:moveTo>
                <a:cubicBezTo>
                  <a:pt x="292" y="155"/>
                  <a:pt x="292" y="164"/>
                  <a:pt x="290" y="175"/>
                </a:cubicBezTo>
                <a:cubicBezTo>
                  <a:pt x="288" y="184"/>
                  <a:pt x="285" y="193"/>
                  <a:pt x="281" y="202"/>
                </a:cubicBezTo>
                <a:cubicBezTo>
                  <a:pt x="278" y="211"/>
                  <a:pt x="273" y="219"/>
                  <a:pt x="268" y="227"/>
                </a:cubicBezTo>
                <a:cubicBezTo>
                  <a:pt x="263" y="235"/>
                  <a:pt x="257" y="243"/>
                  <a:pt x="250" y="249"/>
                </a:cubicBezTo>
                <a:cubicBezTo>
                  <a:pt x="243" y="256"/>
                  <a:pt x="236" y="262"/>
                  <a:pt x="228" y="267"/>
                </a:cubicBezTo>
                <a:cubicBezTo>
                  <a:pt x="219" y="273"/>
                  <a:pt x="210" y="277"/>
                  <a:pt x="202" y="281"/>
                </a:cubicBezTo>
                <a:cubicBezTo>
                  <a:pt x="193" y="284"/>
                  <a:pt x="184" y="287"/>
                  <a:pt x="174" y="289"/>
                </a:cubicBezTo>
                <a:cubicBezTo>
                  <a:pt x="165" y="291"/>
                  <a:pt x="156" y="292"/>
                  <a:pt x="146" y="292"/>
                </a:cubicBezTo>
                <a:cubicBezTo>
                  <a:pt x="136" y="292"/>
                  <a:pt x="127" y="291"/>
                  <a:pt x="118" y="289"/>
                </a:cubicBezTo>
                <a:cubicBezTo>
                  <a:pt x="108" y="287"/>
                  <a:pt x="99" y="284"/>
                  <a:pt x="90" y="281"/>
                </a:cubicBezTo>
                <a:cubicBezTo>
                  <a:pt x="81" y="277"/>
                  <a:pt x="73" y="273"/>
                  <a:pt x="65" y="267"/>
                </a:cubicBezTo>
                <a:cubicBezTo>
                  <a:pt x="57" y="262"/>
                  <a:pt x="50" y="256"/>
                  <a:pt x="43" y="249"/>
                </a:cubicBezTo>
                <a:cubicBezTo>
                  <a:pt x="36" y="243"/>
                  <a:pt x="30" y="235"/>
                  <a:pt x="25" y="227"/>
                </a:cubicBezTo>
                <a:cubicBezTo>
                  <a:pt x="20" y="219"/>
                  <a:pt x="15" y="211"/>
                  <a:pt x="12" y="202"/>
                </a:cubicBezTo>
                <a:cubicBezTo>
                  <a:pt x="8" y="193"/>
                  <a:pt x="5" y="184"/>
                  <a:pt x="3" y="175"/>
                </a:cubicBezTo>
                <a:cubicBezTo>
                  <a:pt x="1" y="164"/>
                  <a:pt x="0" y="155"/>
                  <a:pt x="0" y="145"/>
                </a:cubicBezTo>
                <a:cubicBezTo>
                  <a:pt x="0" y="136"/>
                  <a:pt x="1" y="126"/>
                  <a:pt x="3" y="117"/>
                </a:cubicBezTo>
                <a:cubicBezTo>
                  <a:pt x="5" y="108"/>
                  <a:pt x="8" y="99"/>
                  <a:pt x="12" y="90"/>
                </a:cubicBezTo>
                <a:cubicBezTo>
                  <a:pt x="15" y="81"/>
                  <a:pt x="20" y="72"/>
                  <a:pt x="25" y="65"/>
                </a:cubicBezTo>
                <a:cubicBezTo>
                  <a:pt x="30" y="57"/>
                  <a:pt x="36" y="49"/>
                  <a:pt x="43" y="42"/>
                </a:cubicBezTo>
                <a:cubicBezTo>
                  <a:pt x="50" y="36"/>
                  <a:pt x="57" y="30"/>
                  <a:pt x="65" y="24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7"/>
                  <a:pt x="108" y="5"/>
                  <a:pt x="118" y="3"/>
                </a:cubicBezTo>
                <a:cubicBezTo>
                  <a:pt x="127" y="1"/>
                  <a:pt x="136" y="0"/>
                  <a:pt x="146" y="0"/>
                </a:cubicBezTo>
                <a:cubicBezTo>
                  <a:pt x="156" y="0"/>
                  <a:pt x="165" y="1"/>
                  <a:pt x="174" y="3"/>
                </a:cubicBezTo>
                <a:cubicBezTo>
                  <a:pt x="184" y="5"/>
                  <a:pt x="193" y="7"/>
                  <a:pt x="202" y="11"/>
                </a:cubicBezTo>
                <a:cubicBezTo>
                  <a:pt x="210" y="15"/>
                  <a:pt x="219" y="19"/>
                  <a:pt x="228" y="24"/>
                </a:cubicBezTo>
                <a:cubicBezTo>
                  <a:pt x="236" y="30"/>
                  <a:pt x="243" y="36"/>
                  <a:pt x="250" y="42"/>
                </a:cubicBezTo>
                <a:cubicBezTo>
                  <a:pt x="257" y="49"/>
                  <a:pt x="263" y="57"/>
                  <a:pt x="268" y="65"/>
                </a:cubicBezTo>
                <a:cubicBezTo>
                  <a:pt x="273" y="72"/>
                  <a:pt x="278" y="81"/>
                  <a:pt x="281" y="90"/>
                </a:cubicBezTo>
                <a:cubicBezTo>
                  <a:pt x="285" y="99"/>
                  <a:pt x="288" y="108"/>
                  <a:pt x="290" y="117"/>
                </a:cubicBezTo>
                <a:cubicBezTo>
                  <a:pt x="292" y="126"/>
                  <a:pt x="292" y="136"/>
                  <a:pt x="292" y="145"/>
                </a:cubicBezTo>
                <a:close/>
              </a:path>
            </a:pathLst>
          </a:custGeom>
          <a:solidFill>
            <a:srgbClr val="11111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52" name=""/>
          <p:cNvSpPr txBox="1"/>
          <p:nvPr/>
        </p:nvSpPr>
        <p:spPr>
          <a:xfrm>
            <a:off x="533520" y="1438200"/>
            <a:ext cx="2207520" cy="399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総合的な性能向上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3" name=""/>
          <p:cNvSpPr txBox="1"/>
          <p:nvPr/>
        </p:nvSpPr>
        <p:spPr>
          <a:xfrm>
            <a:off x="1085760" y="1942920"/>
            <a:ext cx="5001480" cy="401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提案した</a:t>
            </a:r>
            <a:r>
              <a:rPr b="0" lang="en-US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3</a:t>
            </a:r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つの手法をすべて統合した場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4" name=""/>
          <p:cNvSpPr txBox="1"/>
          <p:nvPr/>
        </p:nvSpPr>
        <p:spPr>
          <a:xfrm>
            <a:off x="1085760" y="2362320"/>
            <a:ext cx="4414320" cy="399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合、従来手法の組み合わせと比較し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5" name=""/>
          <p:cNvSpPr txBox="1"/>
          <p:nvPr/>
        </p:nvSpPr>
        <p:spPr>
          <a:xfrm>
            <a:off x="1085760" y="2771640"/>
            <a:ext cx="4725720" cy="401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て、文字認識の</a:t>
            </a:r>
            <a:r>
              <a:rPr b="0" lang="zh-CN" sz="2170" spc="-1" strike="noStrike">
                <a:solidFill>
                  <a:srgbClr val="c9342f"/>
                </a:solidFill>
                <a:latin typeface="NotoSansJP"/>
                <a:ea typeface="NotoSansJP"/>
              </a:rPr>
              <a:t>正答率が約</a:t>
            </a:r>
            <a:r>
              <a:rPr b="0" lang="en-US" sz="2170" spc="-1" strike="noStrike">
                <a:solidFill>
                  <a:srgbClr val="c9342f"/>
                </a:solidFill>
                <a:latin typeface="NotoSansJP"/>
                <a:ea typeface="NotoSansJP"/>
              </a:rPr>
              <a:t>2</a:t>
            </a:r>
            <a:r>
              <a:rPr b="0" lang="zh-CN" sz="2170" spc="-1" strike="noStrike">
                <a:solidFill>
                  <a:srgbClr val="c9342f"/>
                </a:solidFill>
                <a:latin typeface="NotoSansJP"/>
                <a:ea typeface="NotoSansJP"/>
              </a:rPr>
              <a:t>倍に向上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6" name=""/>
          <p:cNvSpPr/>
          <p:nvPr/>
        </p:nvSpPr>
        <p:spPr>
          <a:xfrm>
            <a:off x="809280" y="4410000"/>
            <a:ext cx="105120" cy="105120"/>
          </a:xfrm>
          <a:custGeom>
            <a:avLst/>
            <a:gdLst/>
            <a:ahLst/>
            <a:rect l="0" t="0" r="r" b="b"/>
            <a:pathLst>
              <a:path w="292" h="292">
                <a:moveTo>
                  <a:pt x="292" y="146"/>
                </a:moveTo>
                <a:cubicBezTo>
                  <a:pt x="292" y="156"/>
                  <a:pt x="292" y="165"/>
                  <a:pt x="290" y="175"/>
                </a:cubicBezTo>
                <a:cubicBezTo>
                  <a:pt x="288" y="184"/>
                  <a:pt x="285" y="193"/>
                  <a:pt x="281" y="202"/>
                </a:cubicBezTo>
                <a:cubicBezTo>
                  <a:pt x="278" y="211"/>
                  <a:pt x="273" y="219"/>
                  <a:pt x="268" y="227"/>
                </a:cubicBezTo>
                <a:cubicBezTo>
                  <a:pt x="263" y="235"/>
                  <a:pt x="257" y="242"/>
                  <a:pt x="250" y="249"/>
                </a:cubicBezTo>
                <a:cubicBezTo>
                  <a:pt x="243" y="256"/>
                  <a:pt x="236" y="262"/>
                  <a:pt x="228" y="267"/>
                </a:cubicBezTo>
                <a:cubicBezTo>
                  <a:pt x="219" y="273"/>
                  <a:pt x="210" y="277"/>
                  <a:pt x="202" y="281"/>
                </a:cubicBezTo>
                <a:cubicBezTo>
                  <a:pt x="193" y="284"/>
                  <a:pt x="184" y="287"/>
                  <a:pt x="174" y="289"/>
                </a:cubicBezTo>
                <a:cubicBezTo>
                  <a:pt x="165" y="291"/>
                  <a:pt x="156" y="292"/>
                  <a:pt x="146" y="292"/>
                </a:cubicBezTo>
                <a:cubicBezTo>
                  <a:pt x="136" y="292"/>
                  <a:pt x="127" y="291"/>
                  <a:pt x="118" y="289"/>
                </a:cubicBezTo>
                <a:cubicBezTo>
                  <a:pt x="108" y="287"/>
                  <a:pt x="99" y="284"/>
                  <a:pt x="90" y="281"/>
                </a:cubicBezTo>
                <a:cubicBezTo>
                  <a:pt x="81" y="277"/>
                  <a:pt x="73" y="273"/>
                  <a:pt x="65" y="267"/>
                </a:cubicBezTo>
                <a:cubicBezTo>
                  <a:pt x="57" y="262"/>
                  <a:pt x="50" y="256"/>
                  <a:pt x="43" y="249"/>
                </a:cubicBezTo>
                <a:cubicBezTo>
                  <a:pt x="36" y="242"/>
                  <a:pt x="30" y="235"/>
                  <a:pt x="25" y="227"/>
                </a:cubicBezTo>
                <a:cubicBezTo>
                  <a:pt x="20" y="219"/>
                  <a:pt x="15" y="211"/>
                  <a:pt x="12" y="202"/>
                </a:cubicBezTo>
                <a:cubicBezTo>
                  <a:pt x="8" y="193"/>
                  <a:pt x="5" y="184"/>
                  <a:pt x="3" y="175"/>
                </a:cubicBezTo>
                <a:cubicBezTo>
                  <a:pt x="1" y="165"/>
                  <a:pt x="0" y="156"/>
                  <a:pt x="0" y="146"/>
                </a:cubicBezTo>
                <a:cubicBezTo>
                  <a:pt x="0" y="137"/>
                  <a:pt x="1" y="127"/>
                  <a:pt x="3" y="117"/>
                </a:cubicBezTo>
                <a:cubicBezTo>
                  <a:pt x="5" y="107"/>
                  <a:pt x="8" y="98"/>
                  <a:pt x="12" y="90"/>
                </a:cubicBezTo>
                <a:cubicBezTo>
                  <a:pt x="15" y="81"/>
                  <a:pt x="20" y="72"/>
                  <a:pt x="25" y="64"/>
                </a:cubicBezTo>
                <a:cubicBezTo>
                  <a:pt x="30" y="56"/>
                  <a:pt x="36" y="49"/>
                  <a:pt x="43" y="42"/>
                </a:cubicBezTo>
                <a:cubicBezTo>
                  <a:pt x="50" y="36"/>
                  <a:pt x="57" y="30"/>
                  <a:pt x="65" y="24"/>
                </a:cubicBezTo>
                <a:cubicBezTo>
                  <a:pt x="73" y="19"/>
                  <a:pt x="81" y="14"/>
                  <a:pt x="90" y="11"/>
                </a:cubicBezTo>
                <a:cubicBezTo>
                  <a:pt x="99" y="7"/>
                  <a:pt x="108" y="4"/>
                  <a:pt x="118" y="3"/>
                </a:cubicBezTo>
                <a:cubicBezTo>
                  <a:pt x="127" y="1"/>
                  <a:pt x="136" y="0"/>
                  <a:pt x="146" y="0"/>
                </a:cubicBezTo>
                <a:cubicBezTo>
                  <a:pt x="156" y="0"/>
                  <a:pt x="165" y="1"/>
                  <a:pt x="174" y="3"/>
                </a:cubicBezTo>
                <a:cubicBezTo>
                  <a:pt x="184" y="4"/>
                  <a:pt x="193" y="7"/>
                  <a:pt x="202" y="11"/>
                </a:cubicBezTo>
                <a:cubicBezTo>
                  <a:pt x="210" y="14"/>
                  <a:pt x="219" y="19"/>
                  <a:pt x="228" y="24"/>
                </a:cubicBezTo>
                <a:cubicBezTo>
                  <a:pt x="236" y="30"/>
                  <a:pt x="243" y="36"/>
                  <a:pt x="250" y="42"/>
                </a:cubicBezTo>
                <a:cubicBezTo>
                  <a:pt x="257" y="49"/>
                  <a:pt x="263" y="56"/>
                  <a:pt x="268" y="64"/>
                </a:cubicBezTo>
                <a:cubicBezTo>
                  <a:pt x="273" y="72"/>
                  <a:pt x="278" y="81"/>
                  <a:pt x="281" y="90"/>
                </a:cubicBezTo>
                <a:cubicBezTo>
                  <a:pt x="285" y="98"/>
                  <a:pt x="288" y="107"/>
                  <a:pt x="290" y="117"/>
                </a:cubicBezTo>
                <a:cubicBezTo>
                  <a:pt x="292" y="127"/>
                  <a:pt x="292" y="137"/>
                  <a:pt x="292" y="146"/>
                </a:cubicBezTo>
                <a:close/>
              </a:path>
            </a:pathLst>
          </a:custGeom>
          <a:solidFill>
            <a:srgbClr val="11111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57" name=""/>
          <p:cNvSpPr txBox="1"/>
          <p:nvPr/>
        </p:nvSpPr>
        <p:spPr>
          <a:xfrm>
            <a:off x="533520" y="3753000"/>
            <a:ext cx="2759040" cy="399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実用面でのインパクト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8" name=""/>
          <p:cNvSpPr txBox="1"/>
          <p:nvPr/>
        </p:nvSpPr>
        <p:spPr>
          <a:xfrm>
            <a:off x="1085760" y="4267080"/>
            <a:ext cx="4690080" cy="399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犯罪捜査における</a:t>
            </a:r>
            <a:r>
              <a:rPr b="0" lang="zh-CN" sz="2170" spc="-1" strike="noStrike">
                <a:solidFill>
                  <a:srgbClr val="c9342f"/>
                </a:solidFill>
                <a:latin typeface="NotoSansJP"/>
                <a:ea typeface="NotoSansJP"/>
              </a:rPr>
              <a:t>車両の絞り込み台数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9" name=""/>
          <p:cNvSpPr txBox="1"/>
          <p:nvPr/>
        </p:nvSpPr>
        <p:spPr>
          <a:xfrm>
            <a:off x="1085760" y="4676760"/>
            <a:ext cx="4943160" cy="401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70" spc="-1" strike="noStrike">
                <a:solidFill>
                  <a:srgbClr val="c9342f"/>
                </a:solidFill>
                <a:latin typeface="NotoSansJP"/>
                <a:ea typeface="NotoSansJP"/>
              </a:rPr>
              <a:t>を従来の約</a:t>
            </a:r>
            <a:r>
              <a:rPr b="0" lang="en-US" sz="2170" spc="-1" strike="noStrike">
                <a:solidFill>
                  <a:srgbClr val="c9342f"/>
                </a:solidFill>
                <a:latin typeface="NotoSansJP"/>
                <a:ea typeface="NotoSansJP"/>
              </a:rPr>
              <a:t>2%</a:t>
            </a:r>
            <a:r>
              <a:rPr b="0" lang="zh-CN" sz="2170" spc="-1" strike="noStrike">
                <a:solidFill>
                  <a:srgbClr val="c9342f"/>
                </a:solidFill>
                <a:latin typeface="NotoSansJP"/>
                <a:ea typeface="NotoSansJP"/>
              </a:rPr>
              <a:t>にまで削減</a:t>
            </a:r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できる可能性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0" name=""/>
          <p:cNvSpPr/>
          <p:nvPr/>
        </p:nvSpPr>
        <p:spPr>
          <a:xfrm>
            <a:off x="809280" y="5724360"/>
            <a:ext cx="105120" cy="105120"/>
          </a:xfrm>
          <a:custGeom>
            <a:avLst/>
            <a:gdLst/>
            <a:ahLst/>
            <a:rect l="0" t="0" r="r" b="b"/>
            <a:pathLst>
              <a:path w="292" h="292">
                <a:moveTo>
                  <a:pt x="292" y="145"/>
                </a:moveTo>
                <a:cubicBezTo>
                  <a:pt x="292" y="155"/>
                  <a:pt x="292" y="164"/>
                  <a:pt x="290" y="174"/>
                </a:cubicBezTo>
                <a:cubicBezTo>
                  <a:pt x="288" y="183"/>
                  <a:pt x="285" y="192"/>
                  <a:pt x="281" y="201"/>
                </a:cubicBezTo>
                <a:cubicBezTo>
                  <a:pt x="278" y="210"/>
                  <a:pt x="273" y="218"/>
                  <a:pt x="268" y="226"/>
                </a:cubicBezTo>
                <a:cubicBezTo>
                  <a:pt x="263" y="234"/>
                  <a:pt x="257" y="242"/>
                  <a:pt x="250" y="248"/>
                </a:cubicBezTo>
                <a:cubicBezTo>
                  <a:pt x="243" y="256"/>
                  <a:pt x="236" y="262"/>
                  <a:pt x="228" y="267"/>
                </a:cubicBezTo>
                <a:cubicBezTo>
                  <a:pt x="219" y="273"/>
                  <a:pt x="210" y="277"/>
                  <a:pt x="202" y="281"/>
                </a:cubicBezTo>
                <a:cubicBezTo>
                  <a:pt x="193" y="285"/>
                  <a:pt x="184" y="287"/>
                  <a:pt x="174" y="289"/>
                </a:cubicBezTo>
                <a:cubicBezTo>
                  <a:pt x="165" y="291"/>
                  <a:pt x="156" y="292"/>
                  <a:pt x="146" y="292"/>
                </a:cubicBezTo>
                <a:cubicBezTo>
                  <a:pt x="136" y="292"/>
                  <a:pt x="127" y="291"/>
                  <a:pt x="118" y="289"/>
                </a:cubicBezTo>
                <a:cubicBezTo>
                  <a:pt x="108" y="287"/>
                  <a:pt x="99" y="285"/>
                  <a:pt x="90" y="281"/>
                </a:cubicBezTo>
                <a:cubicBezTo>
                  <a:pt x="81" y="277"/>
                  <a:pt x="73" y="273"/>
                  <a:pt x="65" y="267"/>
                </a:cubicBezTo>
                <a:cubicBezTo>
                  <a:pt x="57" y="262"/>
                  <a:pt x="50" y="256"/>
                  <a:pt x="43" y="248"/>
                </a:cubicBezTo>
                <a:cubicBezTo>
                  <a:pt x="36" y="242"/>
                  <a:pt x="30" y="234"/>
                  <a:pt x="25" y="226"/>
                </a:cubicBezTo>
                <a:cubicBezTo>
                  <a:pt x="20" y="218"/>
                  <a:pt x="15" y="210"/>
                  <a:pt x="12" y="201"/>
                </a:cubicBezTo>
                <a:cubicBezTo>
                  <a:pt x="8" y="192"/>
                  <a:pt x="5" y="183"/>
                  <a:pt x="3" y="174"/>
                </a:cubicBezTo>
                <a:cubicBezTo>
                  <a:pt x="1" y="164"/>
                  <a:pt x="0" y="155"/>
                  <a:pt x="0" y="145"/>
                </a:cubicBezTo>
                <a:cubicBezTo>
                  <a:pt x="0" y="136"/>
                  <a:pt x="1" y="126"/>
                  <a:pt x="3" y="117"/>
                </a:cubicBezTo>
                <a:cubicBezTo>
                  <a:pt x="5" y="108"/>
                  <a:pt x="8" y="99"/>
                  <a:pt x="12" y="90"/>
                </a:cubicBezTo>
                <a:cubicBezTo>
                  <a:pt x="15" y="81"/>
                  <a:pt x="20" y="73"/>
                  <a:pt x="25" y="65"/>
                </a:cubicBezTo>
                <a:cubicBezTo>
                  <a:pt x="30" y="57"/>
                  <a:pt x="36" y="49"/>
                  <a:pt x="43" y="43"/>
                </a:cubicBezTo>
                <a:cubicBezTo>
                  <a:pt x="50" y="36"/>
                  <a:pt x="57" y="30"/>
                  <a:pt x="65" y="24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7"/>
                  <a:pt x="108" y="5"/>
                  <a:pt x="118" y="3"/>
                </a:cubicBezTo>
                <a:cubicBezTo>
                  <a:pt x="127" y="1"/>
                  <a:pt x="136" y="0"/>
                  <a:pt x="146" y="0"/>
                </a:cubicBezTo>
                <a:cubicBezTo>
                  <a:pt x="156" y="0"/>
                  <a:pt x="165" y="1"/>
                  <a:pt x="174" y="3"/>
                </a:cubicBezTo>
                <a:cubicBezTo>
                  <a:pt x="184" y="5"/>
                  <a:pt x="193" y="7"/>
                  <a:pt x="202" y="11"/>
                </a:cubicBezTo>
                <a:cubicBezTo>
                  <a:pt x="210" y="15"/>
                  <a:pt x="219" y="19"/>
                  <a:pt x="228" y="24"/>
                </a:cubicBezTo>
                <a:cubicBezTo>
                  <a:pt x="236" y="30"/>
                  <a:pt x="243" y="36"/>
                  <a:pt x="250" y="43"/>
                </a:cubicBezTo>
                <a:cubicBezTo>
                  <a:pt x="257" y="49"/>
                  <a:pt x="263" y="57"/>
                  <a:pt x="268" y="65"/>
                </a:cubicBezTo>
                <a:cubicBezTo>
                  <a:pt x="273" y="73"/>
                  <a:pt x="278" y="81"/>
                  <a:pt x="281" y="90"/>
                </a:cubicBezTo>
                <a:cubicBezTo>
                  <a:pt x="285" y="99"/>
                  <a:pt x="288" y="108"/>
                  <a:pt x="290" y="117"/>
                </a:cubicBezTo>
                <a:cubicBezTo>
                  <a:pt x="292" y="126"/>
                  <a:pt x="292" y="136"/>
                  <a:pt x="292" y="145"/>
                </a:cubicBezTo>
                <a:close/>
              </a:path>
            </a:pathLst>
          </a:custGeom>
          <a:solidFill>
            <a:srgbClr val="11111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61" name=""/>
          <p:cNvSpPr txBox="1"/>
          <p:nvPr/>
        </p:nvSpPr>
        <p:spPr>
          <a:xfrm>
            <a:off x="1085760" y="5095800"/>
            <a:ext cx="828360" cy="399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を示唆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2" name=""/>
          <p:cNvSpPr txBox="1"/>
          <p:nvPr/>
        </p:nvSpPr>
        <p:spPr>
          <a:xfrm>
            <a:off x="1085760" y="5581800"/>
            <a:ext cx="4690080" cy="399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捜査の大幅な効率化と、人的‧時間的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3" name=""/>
          <p:cNvSpPr txBox="1"/>
          <p:nvPr/>
        </p:nvSpPr>
        <p:spPr>
          <a:xfrm>
            <a:off x="1085760" y="5991120"/>
            <a:ext cx="3310920" cy="399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コストの劇的な削減に貢献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4" name=""/>
          <p:cNvSpPr txBox="1"/>
          <p:nvPr/>
        </p:nvSpPr>
        <p:spPr>
          <a:xfrm>
            <a:off x="6309000" y="1438200"/>
            <a:ext cx="5379840" cy="401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劣化強度と平均候補数の関係 </a:t>
            </a:r>
            <a:r>
              <a:rPr b="0" lang="en-US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(</a:t>
            </a:r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論文図</a:t>
            </a:r>
            <a:r>
              <a:rPr b="0" lang="en-US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5.12)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5" name=""/>
          <p:cNvSpPr txBox="1"/>
          <p:nvPr/>
        </p:nvSpPr>
        <p:spPr>
          <a:xfrm>
            <a:off x="6266520" y="1942920"/>
            <a:ext cx="5785920" cy="401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[</a:t>
            </a:r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図</a:t>
            </a:r>
            <a:r>
              <a:rPr b="0" lang="en-US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: </a:t>
            </a:r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劣化が強くなっても、提案手法</a:t>
            </a:r>
            <a:r>
              <a:rPr b="0" lang="en-US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(</a:t>
            </a:r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紫の線</a:t>
            </a:r>
            <a:r>
              <a:rPr b="0" lang="en-US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)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6" name=""/>
          <p:cNvSpPr txBox="1"/>
          <p:nvPr/>
        </p:nvSpPr>
        <p:spPr>
          <a:xfrm>
            <a:off x="6364440" y="2362320"/>
            <a:ext cx="5415120" cy="401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は実用レベルの平均候補数</a:t>
            </a:r>
            <a:r>
              <a:rPr b="0" lang="en-US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(</a:t>
            </a:r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赤の破線</a:t>
            </a:r>
            <a:r>
              <a:rPr b="0" lang="en-US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)</a:t>
            </a:r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以下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7" name=""/>
          <p:cNvSpPr txBox="1"/>
          <p:nvPr/>
        </p:nvSpPr>
        <p:spPr>
          <a:xfrm>
            <a:off x="7520400" y="2771640"/>
            <a:ext cx="2923920" cy="401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を維持しているグラフ</a:t>
            </a:r>
            <a:r>
              <a:rPr b="0" lang="en-US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]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8" name=""/>
          <p:cNvSpPr txBox="1"/>
          <p:nvPr/>
        </p:nvSpPr>
        <p:spPr>
          <a:xfrm>
            <a:off x="6229440" y="3286080"/>
            <a:ext cx="5241600" cy="399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提案手法は、幅広い劣化強度に対して実用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9" name=""/>
          <p:cNvSpPr txBox="1"/>
          <p:nvPr/>
        </p:nvSpPr>
        <p:spPr>
          <a:xfrm>
            <a:off x="6229440" y="3695760"/>
            <a:ext cx="5553360" cy="401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的な候補数（平均</a:t>
            </a:r>
            <a:r>
              <a:rPr b="0" lang="en-US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2</a:t>
            </a:r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候補以下）で正解を提示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0" name=""/>
          <p:cNvSpPr txBox="1"/>
          <p:nvPr/>
        </p:nvSpPr>
        <p:spPr>
          <a:xfrm>
            <a:off x="6229440" y="4114800"/>
            <a:ext cx="1104120" cy="399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できる。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1" name=""/>
          <p:cNvSpPr/>
          <p:nvPr/>
        </p:nvSpPr>
        <p:spPr>
          <a:xfrm>
            <a:off x="533160" y="561960"/>
            <a:ext cx="267120" cy="57240"/>
          </a:xfrm>
          <a:custGeom>
            <a:avLst/>
            <a:gdLst/>
            <a:ahLst/>
            <a:rect l="0" t="0" r="r" b="b"/>
            <a:pathLst>
              <a:path w="742" h="159">
                <a:moveTo>
                  <a:pt x="0" y="106"/>
                </a:moveTo>
                <a:lnTo>
                  <a:pt x="0" y="52"/>
                </a:lnTo>
                <a:cubicBezTo>
                  <a:pt x="0" y="45"/>
                  <a:pt x="2" y="39"/>
                  <a:pt x="4" y="32"/>
                </a:cubicBezTo>
                <a:cubicBezTo>
                  <a:pt x="7" y="26"/>
                  <a:pt x="11" y="20"/>
                  <a:pt x="16" y="15"/>
                </a:cubicBezTo>
                <a:cubicBezTo>
                  <a:pt x="21" y="10"/>
                  <a:pt x="26" y="6"/>
                  <a:pt x="33" y="4"/>
                </a:cubicBezTo>
                <a:cubicBezTo>
                  <a:pt x="39" y="1"/>
                  <a:pt x="46" y="0"/>
                  <a:pt x="53" y="0"/>
                </a:cubicBezTo>
                <a:lnTo>
                  <a:pt x="689" y="0"/>
                </a:lnTo>
                <a:cubicBezTo>
                  <a:pt x="696" y="0"/>
                  <a:pt x="703" y="1"/>
                  <a:pt x="709" y="4"/>
                </a:cubicBezTo>
                <a:cubicBezTo>
                  <a:pt x="716" y="6"/>
                  <a:pt x="722" y="10"/>
                  <a:pt x="727" y="15"/>
                </a:cubicBezTo>
                <a:cubicBezTo>
                  <a:pt x="731" y="20"/>
                  <a:pt x="735" y="26"/>
                  <a:pt x="738" y="32"/>
                </a:cubicBezTo>
                <a:cubicBezTo>
                  <a:pt x="741" y="39"/>
                  <a:pt x="742" y="45"/>
                  <a:pt x="742" y="52"/>
                </a:cubicBezTo>
                <a:lnTo>
                  <a:pt x="742" y="106"/>
                </a:lnTo>
                <a:cubicBezTo>
                  <a:pt x="742" y="113"/>
                  <a:pt x="741" y="120"/>
                  <a:pt x="738" y="127"/>
                </a:cubicBezTo>
                <a:cubicBezTo>
                  <a:pt x="735" y="133"/>
                  <a:pt x="731" y="139"/>
                  <a:pt x="727" y="144"/>
                </a:cubicBezTo>
                <a:cubicBezTo>
                  <a:pt x="722" y="149"/>
                  <a:pt x="716" y="153"/>
                  <a:pt x="709" y="155"/>
                </a:cubicBezTo>
                <a:cubicBezTo>
                  <a:pt x="703" y="158"/>
                  <a:pt x="696" y="159"/>
                  <a:pt x="689" y="159"/>
                </a:cubicBezTo>
                <a:lnTo>
                  <a:pt x="53" y="159"/>
                </a:lnTo>
                <a:cubicBezTo>
                  <a:pt x="46" y="159"/>
                  <a:pt x="39" y="158"/>
                  <a:pt x="33" y="155"/>
                </a:cubicBezTo>
                <a:cubicBezTo>
                  <a:pt x="26" y="153"/>
                  <a:pt x="21" y="149"/>
                  <a:pt x="16" y="144"/>
                </a:cubicBezTo>
                <a:cubicBezTo>
                  <a:pt x="11" y="139"/>
                  <a:pt x="7" y="133"/>
                  <a:pt x="4" y="127"/>
                </a:cubicBezTo>
                <a:cubicBezTo>
                  <a:pt x="2" y="120"/>
                  <a:pt x="0" y="113"/>
                  <a:pt x="0" y="106"/>
                </a:cubicBezTo>
                <a:close/>
              </a:path>
            </a:pathLst>
          </a:custGeom>
          <a:solidFill>
            <a:srgbClr val="0b4b7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72" name=""/>
          <p:cNvSpPr txBox="1"/>
          <p:nvPr/>
        </p:nvSpPr>
        <p:spPr>
          <a:xfrm>
            <a:off x="914400" y="392400"/>
            <a:ext cx="3629880" cy="3614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1950" spc="-1" strike="noStrike">
                <a:solidFill>
                  <a:srgbClr val="111111"/>
                </a:solidFill>
                <a:latin typeface="NotoSansJP"/>
                <a:ea typeface="NotoSansJP"/>
              </a:rPr>
              <a:t>結果</a:t>
            </a:r>
            <a:r>
              <a:rPr b="0" lang="en-US" sz="1950" spc="-1" strike="noStrike">
                <a:solidFill>
                  <a:srgbClr val="111111"/>
                </a:solidFill>
                <a:latin typeface="NotoSansJP"/>
                <a:ea typeface="NotoSansJP"/>
              </a:rPr>
              <a:t>2: </a:t>
            </a:r>
            <a:r>
              <a:rPr b="0" lang="zh-CN" sz="1950" spc="-1" strike="noStrike">
                <a:solidFill>
                  <a:srgbClr val="111111"/>
                </a:solidFill>
                <a:latin typeface="NotoSansJP"/>
                <a:ea typeface="NotoSansJP"/>
              </a:rPr>
              <a:t>全手法の統合による効果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3" name=""/>
          <p:cNvSpPr txBox="1"/>
          <p:nvPr/>
        </p:nvSpPr>
        <p:spPr>
          <a:xfrm>
            <a:off x="11777400" y="6436800"/>
            <a:ext cx="348120" cy="416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400" spc="-1" strike="noStrike">
                <a:solidFill>
                  <a:srgbClr val="111111"/>
                </a:solidFill>
                <a:latin typeface="NotoSansJP"/>
                <a:ea typeface="NotoSansJP"/>
              </a:rPr>
              <a:t>11</a:t>
            </a:r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c9c9c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7" name=""/>
          <p:cNvSpPr/>
          <p:nvPr/>
        </p:nvSpPr>
        <p:spPr>
          <a:xfrm>
            <a:off x="228240" y="228240"/>
            <a:ext cx="11735280" cy="6401160"/>
          </a:xfrm>
          <a:custGeom>
            <a:avLst/>
            <a:gdLst/>
            <a:ahLst/>
            <a:rect l="0" t="0" r="r" b="b"/>
            <a:pathLst>
              <a:path w="32598" h="17781">
                <a:moveTo>
                  <a:pt x="530" y="0"/>
                </a:moveTo>
                <a:lnTo>
                  <a:pt x="32069" y="0"/>
                </a:lnTo>
                <a:cubicBezTo>
                  <a:pt x="32104" y="0"/>
                  <a:pt x="32138" y="4"/>
                  <a:pt x="32172" y="11"/>
                </a:cubicBezTo>
                <a:cubicBezTo>
                  <a:pt x="32206" y="17"/>
                  <a:pt x="32239" y="27"/>
                  <a:pt x="32271" y="41"/>
                </a:cubicBezTo>
                <a:cubicBezTo>
                  <a:pt x="32304" y="54"/>
                  <a:pt x="32334" y="70"/>
                  <a:pt x="32363" y="90"/>
                </a:cubicBezTo>
                <a:cubicBezTo>
                  <a:pt x="32392" y="109"/>
                  <a:pt x="32419" y="131"/>
                  <a:pt x="32443" y="155"/>
                </a:cubicBezTo>
                <a:cubicBezTo>
                  <a:pt x="32468" y="180"/>
                  <a:pt x="32490" y="207"/>
                  <a:pt x="32509" y="236"/>
                </a:cubicBezTo>
                <a:cubicBezTo>
                  <a:pt x="32528" y="265"/>
                  <a:pt x="32545" y="295"/>
                  <a:pt x="32558" y="327"/>
                </a:cubicBezTo>
                <a:cubicBezTo>
                  <a:pt x="32571" y="359"/>
                  <a:pt x="32581" y="392"/>
                  <a:pt x="32588" y="426"/>
                </a:cubicBezTo>
                <a:cubicBezTo>
                  <a:pt x="32595" y="461"/>
                  <a:pt x="32598" y="495"/>
                  <a:pt x="32598" y="530"/>
                </a:cubicBezTo>
                <a:lnTo>
                  <a:pt x="32598" y="17252"/>
                </a:lnTo>
                <a:cubicBezTo>
                  <a:pt x="32598" y="17287"/>
                  <a:pt x="32595" y="17321"/>
                  <a:pt x="32588" y="17356"/>
                </a:cubicBezTo>
                <a:cubicBezTo>
                  <a:pt x="32581" y="17390"/>
                  <a:pt x="32571" y="17423"/>
                  <a:pt x="32558" y="17455"/>
                </a:cubicBezTo>
                <a:cubicBezTo>
                  <a:pt x="32545" y="17487"/>
                  <a:pt x="32528" y="17517"/>
                  <a:pt x="32509" y="17546"/>
                </a:cubicBezTo>
                <a:cubicBezTo>
                  <a:pt x="32490" y="17575"/>
                  <a:pt x="32468" y="17602"/>
                  <a:pt x="32443" y="17627"/>
                </a:cubicBezTo>
                <a:cubicBezTo>
                  <a:pt x="32419" y="17651"/>
                  <a:pt x="32392" y="17673"/>
                  <a:pt x="32363" y="17692"/>
                </a:cubicBezTo>
                <a:cubicBezTo>
                  <a:pt x="32334" y="17712"/>
                  <a:pt x="32304" y="17728"/>
                  <a:pt x="32271" y="17741"/>
                </a:cubicBezTo>
                <a:cubicBezTo>
                  <a:pt x="32239" y="17755"/>
                  <a:pt x="32206" y="17765"/>
                  <a:pt x="32172" y="17771"/>
                </a:cubicBezTo>
                <a:cubicBezTo>
                  <a:pt x="32138" y="17778"/>
                  <a:pt x="32104" y="17781"/>
                  <a:pt x="32069" y="17781"/>
                </a:cubicBezTo>
                <a:lnTo>
                  <a:pt x="530" y="17781"/>
                </a:lnTo>
                <a:cubicBezTo>
                  <a:pt x="495" y="17781"/>
                  <a:pt x="461" y="17778"/>
                  <a:pt x="426" y="17771"/>
                </a:cubicBezTo>
                <a:cubicBezTo>
                  <a:pt x="392" y="17765"/>
                  <a:pt x="359" y="17755"/>
                  <a:pt x="327" y="17741"/>
                </a:cubicBezTo>
                <a:cubicBezTo>
                  <a:pt x="295" y="17728"/>
                  <a:pt x="265" y="17712"/>
                  <a:pt x="236" y="17692"/>
                </a:cubicBezTo>
                <a:cubicBezTo>
                  <a:pt x="207" y="17673"/>
                  <a:pt x="180" y="17651"/>
                  <a:pt x="155" y="17627"/>
                </a:cubicBezTo>
                <a:cubicBezTo>
                  <a:pt x="131" y="17602"/>
                  <a:pt x="109" y="17575"/>
                  <a:pt x="90" y="17546"/>
                </a:cubicBezTo>
                <a:cubicBezTo>
                  <a:pt x="70" y="17517"/>
                  <a:pt x="54" y="17487"/>
                  <a:pt x="41" y="17455"/>
                </a:cubicBezTo>
                <a:cubicBezTo>
                  <a:pt x="27" y="17423"/>
                  <a:pt x="17" y="17390"/>
                  <a:pt x="11" y="17356"/>
                </a:cubicBezTo>
                <a:cubicBezTo>
                  <a:pt x="4" y="17321"/>
                  <a:pt x="0" y="17287"/>
                  <a:pt x="0" y="17252"/>
                </a:cubicBezTo>
                <a:lnTo>
                  <a:pt x="0" y="530"/>
                </a:lnTo>
                <a:cubicBezTo>
                  <a:pt x="0" y="495"/>
                  <a:pt x="4" y="461"/>
                  <a:pt x="11" y="426"/>
                </a:cubicBezTo>
                <a:cubicBezTo>
                  <a:pt x="17" y="392"/>
                  <a:pt x="27" y="359"/>
                  <a:pt x="41" y="327"/>
                </a:cubicBezTo>
                <a:cubicBezTo>
                  <a:pt x="54" y="295"/>
                  <a:pt x="70" y="265"/>
                  <a:pt x="90" y="236"/>
                </a:cubicBezTo>
                <a:cubicBezTo>
                  <a:pt x="109" y="207"/>
                  <a:pt x="131" y="180"/>
                  <a:pt x="155" y="155"/>
                </a:cubicBezTo>
                <a:cubicBezTo>
                  <a:pt x="180" y="131"/>
                  <a:pt x="207" y="109"/>
                  <a:pt x="236" y="90"/>
                </a:cubicBezTo>
                <a:cubicBezTo>
                  <a:pt x="265" y="70"/>
                  <a:pt x="295" y="54"/>
                  <a:pt x="327" y="41"/>
                </a:cubicBezTo>
                <a:cubicBezTo>
                  <a:pt x="359" y="27"/>
                  <a:pt x="392" y="17"/>
                  <a:pt x="426" y="11"/>
                </a:cubicBezTo>
                <a:cubicBezTo>
                  <a:pt x="461" y="4"/>
                  <a:pt x="495" y="0"/>
                  <a:pt x="530" y="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278" name="" descr=""/>
          <p:cNvPicPr/>
          <p:nvPr/>
        </p:nvPicPr>
        <p:blipFill>
          <a:blip r:embed="rId1"/>
          <a:stretch/>
        </p:blipFill>
        <p:spPr>
          <a:xfrm>
            <a:off x="10515600" y="38160"/>
            <a:ext cx="1142640" cy="1142640"/>
          </a:xfrm>
          <a:prstGeom prst="rect">
            <a:avLst/>
          </a:prstGeom>
          <a:ln w="0">
            <a:noFill/>
          </a:ln>
        </p:spPr>
      </p:pic>
      <p:sp>
        <p:nvSpPr>
          <p:cNvPr id="279" name=""/>
          <p:cNvSpPr/>
          <p:nvPr/>
        </p:nvSpPr>
        <p:spPr>
          <a:xfrm>
            <a:off x="809280" y="1581120"/>
            <a:ext cx="105120" cy="105120"/>
          </a:xfrm>
          <a:custGeom>
            <a:avLst/>
            <a:gdLst/>
            <a:ahLst/>
            <a:rect l="0" t="0" r="r" b="b"/>
            <a:pathLst>
              <a:path w="292" h="292">
                <a:moveTo>
                  <a:pt x="292" y="146"/>
                </a:moveTo>
                <a:cubicBezTo>
                  <a:pt x="292" y="156"/>
                  <a:pt x="292" y="165"/>
                  <a:pt x="290" y="174"/>
                </a:cubicBezTo>
                <a:cubicBezTo>
                  <a:pt x="288" y="184"/>
                  <a:pt x="285" y="193"/>
                  <a:pt x="281" y="202"/>
                </a:cubicBezTo>
                <a:cubicBezTo>
                  <a:pt x="278" y="211"/>
                  <a:pt x="273" y="219"/>
                  <a:pt x="268" y="227"/>
                </a:cubicBezTo>
                <a:cubicBezTo>
                  <a:pt x="263" y="235"/>
                  <a:pt x="257" y="242"/>
                  <a:pt x="250" y="249"/>
                </a:cubicBezTo>
                <a:cubicBezTo>
                  <a:pt x="243" y="256"/>
                  <a:pt x="236" y="262"/>
                  <a:pt x="228" y="267"/>
                </a:cubicBezTo>
                <a:cubicBezTo>
                  <a:pt x="219" y="272"/>
                  <a:pt x="210" y="277"/>
                  <a:pt x="202" y="281"/>
                </a:cubicBezTo>
                <a:cubicBezTo>
                  <a:pt x="193" y="284"/>
                  <a:pt x="184" y="287"/>
                  <a:pt x="174" y="289"/>
                </a:cubicBezTo>
                <a:cubicBezTo>
                  <a:pt x="165" y="291"/>
                  <a:pt x="156" y="292"/>
                  <a:pt x="146" y="292"/>
                </a:cubicBezTo>
                <a:cubicBezTo>
                  <a:pt x="136" y="292"/>
                  <a:pt x="127" y="291"/>
                  <a:pt x="118" y="289"/>
                </a:cubicBezTo>
                <a:cubicBezTo>
                  <a:pt x="108" y="287"/>
                  <a:pt x="99" y="284"/>
                  <a:pt x="90" y="281"/>
                </a:cubicBezTo>
                <a:cubicBezTo>
                  <a:pt x="81" y="277"/>
                  <a:pt x="73" y="272"/>
                  <a:pt x="65" y="267"/>
                </a:cubicBezTo>
                <a:cubicBezTo>
                  <a:pt x="57" y="262"/>
                  <a:pt x="50" y="256"/>
                  <a:pt x="43" y="249"/>
                </a:cubicBezTo>
                <a:cubicBezTo>
                  <a:pt x="36" y="242"/>
                  <a:pt x="30" y="235"/>
                  <a:pt x="25" y="227"/>
                </a:cubicBezTo>
                <a:cubicBezTo>
                  <a:pt x="20" y="219"/>
                  <a:pt x="15" y="211"/>
                  <a:pt x="12" y="202"/>
                </a:cubicBezTo>
                <a:cubicBezTo>
                  <a:pt x="8" y="193"/>
                  <a:pt x="5" y="184"/>
                  <a:pt x="3" y="174"/>
                </a:cubicBezTo>
                <a:cubicBezTo>
                  <a:pt x="1" y="165"/>
                  <a:pt x="0" y="156"/>
                  <a:pt x="0" y="146"/>
                </a:cubicBezTo>
                <a:cubicBezTo>
                  <a:pt x="0" y="137"/>
                  <a:pt x="1" y="127"/>
                  <a:pt x="3" y="117"/>
                </a:cubicBezTo>
                <a:cubicBezTo>
                  <a:pt x="5" y="107"/>
                  <a:pt x="8" y="98"/>
                  <a:pt x="12" y="89"/>
                </a:cubicBezTo>
                <a:cubicBezTo>
                  <a:pt x="15" y="81"/>
                  <a:pt x="20" y="72"/>
                  <a:pt x="25" y="64"/>
                </a:cubicBezTo>
                <a:cubicBezTo>
                  <a:pt x="30" y="56"/>
                  <a:pt x="36" y="49"/>
                  <a:pt x="43" y="42"/>
                </a:cubicBezTo>
                <a:cubicBezTo>
                  <a:pt x="50" y="35"/>
                  <a:pt x="57" y="29"/>
                  <a:pt x="65" y="24"/>
                </a:cubicBezTo>
                <a:cubicBezTo>
                  <a:pt x="73" y="19"/>
                  <a:pt x="81" y="14"/>
                  <a:pt x="90" y="11"/>
                </a:cubicBezTo>
                <a:cubicBezTo>
                  <a:pt x="99" y="7"/>
                  <a:pt x="108" y="4"/>
                  <a:pt x="118" y="2"/>
                </a:cubicBezTo>
                <a:cubicBezTo>
                  <a:pt x="127" y="1"/>
                  <a:pt x="136" y="0"/>
                  <a:pt x="146" y="0"/>
                </a:cubicBezTo>
                <a:cubicBezTo>
                  <a:pt x="156" y="0"/>
                  <a:pt x="165" y="1"/>
                  <a:pt x="174" y="2"/>
                </a:cubicBezTo>
                <a:cubicBezTo>
                  <a:pt x="184" y="4"/>
                  <a:pt x="193" y="7"/>
                  <a:pt x="202" y="11"/>
                </a:cubicBezTo>
                <a:cubicBezTo>
                  <a:pt x="210" y="14"/>
                  <a:pt x="219" y="19"/>
                  <a:pt x="228" y="24"/>
                </a:cubicBezTo>
                <a:cubicBezTo>
                  <a:pt x="236" y="29"/>
                  <a:pt x="243" y="35"/>
                  <a:pt x="250" y="42"/>
                </a:cubicBezTo>
                <a:cubicBezTo>
                  <a:pt x="257" y="49"/>
                  <a:pt x="263" y="56"/>
                  <a:pt x="268" y="64"/>
                </a:cubicBezTo>
                <a:cubicBezTo>
                  <a:pt x="273" y="72"/>
                  <a:pt x="278" y="81"/>
                  <a:pt x="281" y="89"/>
                </a:cubicBezTo>
                <a:cubicBezTo>
                  <a:pt x="285" y="98"/>
                  <a:pt x="288" y="107"/>
                  <a:pt x="290" y="117"/>
                </a:cubicBezTo>
                <a:cubicBezTo>
                  <a:pt x="292" y="127"/>
                  <a:pt x="292" y="137"/>
                  <a:pt x="292" y="146"/>
                </a:cubicBezTo>
                <a:close/>
              </a:path>
            </a:pathLst>
          </a:custGeom>
          <a:solidFill>
            <a:srgbClr val="11111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80" name=""/>
          <p:cNvSpPr txBox="1"/>
          <p:nvPr/>
        </p:nvSpPr>
        <p:spPr>
          <a:xfrm>
            <a:off x="533520" y="923760"/>
            <a:ext cx="8551800" cy="399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提案手法群は、相乗効果により複合劣化画像に対する頑健性を高めた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1" name=""/>
          <p:cNvSpPr txBox="1"/>
          <p:nvPr/>
        </p:nvSpPr>
        <p:spPr>
          <a:xfrm>
            <a:off x="1085760" y="1438200"/>
            <a:ext cx="10926720" cy="401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各手法の専門性</a:t>
            </a:r>
            <a:r>
              <a:rPr b="0" lang="en-US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: 3</a:t>
            </a:r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つの手法が「環境光」「低解像度」「多様な劣化」という異なる課題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2" name=""/>
          <p:cNvSpPr/>
          <p:nvPr/>
        </p:nvSpPr>
        <p:spPr>
          <a:xfrm>
            <a:off x="809280" y="2476440"/>
            <a:ext cx="105120" cy="105120"/>
          </a:xfrm>
          <a:custGeom>
            <a:avLst/>
            <a:gdLst/>
            <a:ahLst/>
            <a:rect l="0" t="0" r="r" b="b"/>
            <a:pathLst>
              <a:path w="292" h="292">
                <a:moveTo>
                  <a:pt x="292" y="145"/>
                </a:moveTo>
                <a:cubicBezTo>
                  <a:pt x="292" y="155"/>
                  <a:pt x="292" y="164"/>
                  <a:pt x="290" y="174"/>
                </a:cubicBezTo>
                <a:cubicBezTo>
                  <a:pt x="288" y="183"/>
                  <a:pt x="285" y="192"/>
                  <a:pt x="281" y="201"/>
                </a:cubicBezTo>
                <a:cubicBezTo>
                  <a:pt x="278" y="210"/>
                  <a:pt x="273" y="218"/>
                  <a:pt x="268" y="226"/>
                </a:cubicBezTo>
                <a:cubicBezTo>
                  <a:pt x="263" y="234"/>
                  <a:pt x="257" y="241"/>
                  <a:pt x="250" y="248"/>
                </a:cubicBezTo>
                <a:cubicBezTo>
                  <a:pt x="243" y="256"/>
                  <a:pt x="236" y="262"/>
                  <a:pt x="228" y="267"/>
                </a:cubicBezTo>
                <a:cubicBezTo>
                  <a:pt x="219" y="272"/>
                  <a:pt x="210" y="277"/>
                  <a:pt x="202" y="281"/>
                </a:cubicBezTo>
                <a:cubicBezTo>
                  <a:pt x="193" y="284"/>
                  <a:pt x="184" y="287"/>
                  <a:pt x="174" y="289"/>
                </a:cubicBezTo>
                <a:cubicBezTo>
                  <a:pt x="165" y="291"/>
                  <a:pt x="156" y="292"/>
                  <a:pt x="146" y="292"/>
                </a:cubicBezTo>
                <a:cubicBezTo>
                  <a:pt x="136" y="292"/>
                  <a:pt x="127" y="291"/>
                  <a:pt x="118" y="289"/>
                </a:cubicBezTo>
                <a:cubicBezTo>
                  <a:pt x="108" y="287"/>
                  <a:pt x="99" y="284"/>
                  <a:pt x="90" y="281"/>
                </a:cubicBezTo>
                <a:cubicBezTo>
                  <a:pt x="81" y="277"/>
                  <a:pt x="73" y="272"/>
                  <a:pt x="65" y="267"/>
                </a:cubicBezTo>
                <a:cubicBezTo>
                  <a:pt x="57" y="262"/>
                  <a:pt x="50" y="256"/>
                  <a:pt x="43" y="248"/>
                </a:cubicBezTo>
                <a:cubicBezTo>
                  <a:pt x="36" y="241"/>
                  <a:pt x="30" y="234"/>
                  <a:pt x="25" y="226"/>
                </a:cubicBezTo>
                <a:cubicBezTo>
                  <a:pt x="20" y="218"/>
                  <a:pt x="15" y="210"/>
                  <a:pt x="12" y="201"/>
                </a:cubicBezTo>
                <a:cubicBezTo>
                  <a:pt x="8" y="192"/>
                  <a:pt x="5" y="183"/>
                  <a:pt x="3" y="174"/>
                </a:cubicBezTo>
                <a:cubicBezTo>
                  <a:pt x="1" y="164"/>
                  <a:pt x="0" y="155"/>
                  <a:pt x="0" y="145"/>
                </a:cubicBezTo>
                <a:cubicBezTo>
                  <a:pt x="0" y="136"/>
                  <a:pt x="1" y="126"/>
                  <a:pt x="3" y="117"/>
                </a:cubicBezTo>
                <a:cubicBezTo>
                  <a:pt x="5" y="107"/>
                  <a:pt x="8" y="98"/>
                  <a:pt x="12" y="89"/>
                </a:cubicBezTo>
                <a:cubicBezTo>
                  <a:pt x="15" y="81"/>
                  <a:pt x="20" y="72"/>
                  <a:pt x="25" y="64"/>
                </a:cubicBezTo>
                <a:cubicBezTo>
                  <a:pt x="30" y="56"/>
                  <a:pt x="36" y="49"/>
                  <a:pt x="43" y="42"/>
                </a:cubicBezTo>
                <a:cubicBezTo>
                  <a:pt x="50" y="36"/>
                  <a:pt x="57" y="29"/>
                  <a:pt x="65" y="24"/>
                </a:cubicBezTo>
                <a:cubicBezTo>
                  <a:pt x="73" y="19"/>
                  <a:pt x="81" y="14"/>
                  <a:pt x="90" y="11"/>
                </a:cubicBezTo>
                <a:cubicBezTo>
                  <a:pt x="99" y="7"/>
                  <a:pt x="108" y="4"/>
                  <a:pt x="118" y="2"/>
                </a:cubicBezTo>
                <a:cubicBezTo>
                  <a:pt x="127" y="1"/>
                  <a:pt x="136" y="0"/>
                  <a:pt x="146" y="0"/>
                </a:cubicBezTo>
                <a:cubicBezTo>
                  <a:pt x="156" y="0"/>
                  <a:pt x="165" y="1"/>
                  <a:pt x="174" y="2"/>
                </a:cubicBezTo>
                <a:cubicBezTo>
                  <a:pt x="184" y="4"/>
                  <a:pt x="193" y="7"/>
                  <a:pt x="202" y="11"/>
                </a:cubicBezTo>
                <a:cubicBezTo>
                  <a:pt x="210" y="14"/>
                  <a:pt x="219" y="19"/>
                  <a:pt x="228" y="24"/>
                </a:cubicBezTo>
                <a:cubicBezTo>
                  <a:pt x="236" y="29"/>
                  <a:pt x="243" y="36"/>
                  <a:pt x="250" y="42"/>
                </a:cubicBezTo>
                <a:cubicBezTo>
                  <a:pt x="257" y="49"/>
                  <a:pt x="263" y="56"/>
                  <a:pt x="268" y="64"/>
                </a:cubicBezTo>
                <a:cubicBezTo>
                  <a:pt x="273" y="72"/>
                  <a:pt x="278" y="81"/>
                  <a:pt x="281" y="89"/>
                </a:cubicBezTo>
                <a:cubicBezTo>
                  <a:pt x="285" y="98"/>
                  <a:pt x="288" y="107"/>
                  <a:pt x="290" y="117"/>
                </a:cubicBezTo>
                <a:cubicBezTo>
                  <a:pt x="292" y="126"/>
                  <a:pt x="292" y="136"/>
                  <a:pt x="292" y="145"/>
                </a:cubicBezTo>
                <a:close/>
              </a:path>
            </a:pathLst>
          </a:custGeom>
          <a:solidFill>
            <a:srgbClr val="11111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83" name=""/>
          <p:cNvSpPr txBox="1"/>
          <p:nvPr/>
        </p:nvSpPr>
        <p:spPr>
          <a:xfrm>
            <a:off x="1085760" y="1847880"/>
            <a:ext cx="9655200" cy="399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にそれぞれ特化して対応したことで、総合的な性能が向上したと考えられる。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4" name=""/>
          <p:cNvSpPr txBox="1"/>
          <p:nvPr/>
        </p:nvSpPr>
        <p:spPr>
          <a:xfrm>
            <a:off x="1085760" y="2333520"/>
            <a:ext cx="10648440" cy="401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劣化が強い状況での優位性</a:t>
            </a:r>
            <a:r>
              <a:rPr b="0" lang="en-US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: </a:t>
            </a:r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特に多重構造</a:t>
            </a:r>
            <a:r>
              <a:rPr b="0" lang="en-US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CNN</a:t>
            </a:r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は、劣化が強くなるほど従来法との差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5" name=""/>
          <p:cNvSpPr txBox="1"/>
          <p:nvPr/>
        </p:nvSpPr>
        <p:spPr>
          <a:xfrm>
            <a:off x="1085760" y="2752560"/>
            <a:ext cx="10482840" cy="399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が開き、適応性の高さが示された。これは、劣化に応じて適切な解像度の情報を自動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6" name=""/>
          <p:cNvSpPr/>
          <p:nvPr/>
        </p:nvSpPr>
        <p:spPr>
          <a:xfrm>
            <a:off x="809280" y="3790800"/>
            <a:ext cx="105120" cy="105120"/>
          </a:xfrm>
          <a:custGeom>
            <a:avLst/>
            <a:gdLst/>
            <a:ahLst/>
            <a:rect l="0" t="0" r="r" b="b"/>
            <a:pathLst>
              <a:path w="292" h="292">
                <a:moveTo>
                  <a:pt x="292" y="146"/>
                </a:moveTo>
                <a:cubicBezTo>
                  <a:pt x="292" y="156"/>
                  <a:pt x="292" y="165"/>
                  <a:pt x="290" y="175"/>
                </a:cubicBezTo>
                <a:cubicBezTo>
                  <a:pt x="288" y="184"/>
                  <a:pt x="285" y="193"/>
                  <a:pt x="281" y="202"/>
                </a:cubicBezTo>
                <a:cubicBezTo>
                  <a:pt x="278" y="211"/>
                  <a:pt x="273" y="219"/>
                  <a:pt x="268" y="227"/>
                </a:cubicBezTo>
                <a:cubicBezTo>
                  <a:pt x="263" y="235"/>
                  <a:pt x="257" y="243"/>
                  <a:pt x="250" y="249"/>
                </a:cubicBezTo>
                <a:cubicBezTo>
                  <a:pt x="243" y="256"/>
                  <a:pt x="236" y="262"/>
                  <a:pt x="228" y="267"/>
                </a:cubicBezTo>
                <a:cubicBezTo>
                  <a:pt x="219" y="273"/>
                  <a:pt x="210" y="277"/>
                  <a:pt x="202" y="281"/>
                </a:cubicBezTo>
                <a:cubicBezTo>
                  <a:pt x="193" y="285"/>
                  <a:pt x="184" y="287"/>
                  <a:pt x="174" y="289"/>
                </a:cubicBezTo>
                <a:cubicBezTo>
                  <a:pt x="165" y="291"/>
                  <a:pt x="156" y="292"/>
                  <a:pt x="146" y="292"/>
                </a:cubicBezTo>
                <a:cubicBezTo>
                  <a:pt x="136" y="292"/>
                  <a:pt x="127" y="291"/>
                  <a:pt x="118" y="289"/>
                </a:cubicBezTo>
                <a:cubicBezTo>
                  <a:pt x="108" y="287"/>
                  <a:pt x="99" y="285"/>
                  <a:pt x="90" y="281"/>
                </a:cubicBezTo>
                <a:cubicBezTo>
                  <a:pt x="81" y="277"/>
                  <a:pt x="73" y="273"/>
                  <a:pt x="65" y="267"/>
                </a:cubicBezTo>
                <a:cubicBezTo>
                  <a:pt x="57" y="262"/>
                  <a:pt x="50" y="256"/>
                  <a:pt x="43" y="249"/>
                </a:cubicBezTo>
                <a:cubicBezTo>
                  <a:pt x="36" y="243"/>
                  <a:pt x="30" y="235"/>
                  <a:pt x="25" y="227"/>
                </a:cubicBezTo>
                <a:cubicBezTo>
                  <a:pt x="20" y="219"/>
                  <a:pt x="15" y="211"/>
                  <a:pt x="12" y="202"/>
                </a:cubicBezTo>
                <a:cubicBezTo>
                  <a:pt x="8" y="193"/>
                  <a:pt x="5" y="184"/>
                  <a:pt x="3" y="175"/>
                </a:cubicBezTo>
                <a:cubicBezTo>
                  <a:pt x="1" y="165"/>
                  <a:pt x="0" y="156"/>
                  <a:pt x="0" y="146"/>
                </a:cubicBezTo>
                <a:cubicBezTo>
                  <a:pt x="0" y="137"/>
                  <a:pt x="1" y="127"/>
                  <a:pt x="3" y="118"/>
                </a:cubicBezTo>
                <a:cubicBezTo>
                  <a:pt x="5" y="109"/>
                  <a:pt x="8" y="100"/>
                  <a:pt x="12" y="90"/>
                </a:cubicBezTo>
                <a:cubicBezTo>
                  <a:pt x="15" y="81"/>
                  <a:pt x="20" y="73"/>
                  <a:pt x="25" y="65"/>
                </a:cubicBezTo>
                <a:cubicBezTo>
                  <a:pt x="30" y="57"/>
                  <a:pt x="36" y="49"/>
                  <a:pt x="43" y="43"/>
                </a:cubicBezTo>
                <a:cubicBezTo>
                  <a:pt x="50" y="36"/>
                  <a:pt x="57" y="30"/>
                  <a:pt x="65" y="24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7"/>
                  <a:pt x="108" y="5"/>
                  <a:pt x="118" y="3"/>
                </a:cubicBezTo>
                <a:cubicBezTo>
                  <a:pt x="127" y="1"/>
                  <a:pt x="136" y="0"/>
                  <a:pt x="146" y="0"/>
                </a:cubicBezTo>
                <a:cubicBezTo>
                  <a:pt x="156" y="0"/>
                  <a:pt x="165" y="1"/>
                  <a:pt x="174" y="3"/>
                </a:cubicBezTo>
                <a:cubicBezTo>
                  <a:pt x="184" y="5"/>
                  <a:pt x="193" y="7"/>
                  <a:pt x="202" y="11"/>
                </a:cubicBezTo>
                <a:cubicBezTo>
                  <a:pt x="210" y="15"/>
                  <a:pt x="219" y="19"/>
                  <a:pt x="228" y="24"/>
                </a:cubicBezTo>
                <a:cubicBezTo>
                  <a:pt x="236" y="30"/>
                  <a:pt x="243" y="36"/>
                  <a:pt x="250" y="43"/>
                </a:cubicBezTo>
                <a:cubicBezTo>
                  <a:pt x="257" y="49"/>
                  <a:pt x="263" y="57"/>
                  <a:pt x="268" y="65"/>
                </a:cubicBezTo>
                <a:cubicBezTo>
                  <a:pt x="273" y="73"/>
                  <a:pt x="278" y="81"/>
                  <a:pt x="281" y="90"/>
                </a:cubicBezTo>
                <a:cubicBezTo>
                  <a:pt x="285" y="100"/>
                  <a:pt x="288" y="109"/>
                  <a:pt x="290" y="118"/>
                </a:cubicBezTo>
                <a:cubicBezTo>
                  <a:pt x="292" y="127"/>
                  <a:pt x="292" y="137"/>
                  <a:pt x="292" y="146"/>
                </a:cubicBezTo>
                <a:close/>
              </a:path>
            </a:pathLst>
          </a:custGeom>
          <a:solidFill>
            <a:srgbClr val="11111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87" name=""/>
          <p:cNvSpPr txBox="1"/>
          <p:nvPr/>
        </p:nvSpPr>
        <p:spPr>
          <a:xfrm>
            <a:off x="1085760" y="3162240"/>
            <a:ext cx="7172640" cy="399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的に選択できるアーキテクチャの有効性を示唆している。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8" name=""/>
          <p:cNvSpPr txBox="1"/>
          <p:nvPr/>
        </p:nvSpPr>
        <p:spPr>
          <a:xfrm>
            <a:off x="1085760" y="3648240"/>
            <a:ext cx="10628280" cy="401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実用性の高さ</a:t>
            </a:r>
            <a:r>
              <a:rPr b="0" lang="en-US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: 1</a:t>
            </a:r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候補目での正答率も従来法より高く（表</a:t>
            </a:r>
            <a:r>
              <a:rPr b="0" lang="en-US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5.8</a:t>
            </a:r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）、平均候補数も少ない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9" name=""/>
          <p:cNvSpPr txBox="1"/>
          <p:nvPr/>
        </p:nvSpPr>
        <p:spPr>
          <a:xfrm>
            <a:off x="1085760" y="4057560"/>
            <a:ext cx="10617120" cy="401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（図</a:t>
            </a:r>
            <a:r>
              <a:rPr b="0" lang="en-US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5.12</a:t>
            </a:r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）ことから、提案手法は単に最終的な正答率が高いだけでなく、捜査の初期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0" name=""/>
          <p:cNvSpPr/>
          <p:nvPr/>
        </p:nvSpPr>
        <p:spPr>
          <a:xfrm>
            <a:off x="809280" y="5105160"/>
            <a:ext cx="105120" cy="105120"/>
          </a:xfrm>
          <a:custGeom>
            <a:avLst/>
            <a:gdLst/>
            <a:ahLst/>
            <a:rect l="0" t="0" r="r" b="b"/>
            <a:pathLst>
              <a:path w="292" h="292">
                <a:moveTo>
                  <a:pt x="292" y="146"/>
                </a:moveTo>
                <a:cubicBezTo>
                  <a:pt x="292" y="155"/>
                  <a:pt x="292" y="165"/>
                  <a:pt x="290" y="174"/>
                </a:cubicBezTo>
                <a:cubicBezTo>
                  <a:pt x="288" y="183"/>
                  <a:pt x="285" y="193"/>
                  <a:pt x="281" y="201"/>
                </a:cubicBezTo>
                <a:cubicBezTo>
                  <a:pt x="278" y="210"/>
                  <a:pt x="273" y="219"/>
                  <a:pt x="268" y="228"/>
                </a:cubicBezTo>
                <a:cubicBezTo>
                  <a:pt x="263" y="235"/>
                  <a:pt x="257" y="243"/>
                  <a:pt x="250" y="250"/>
                </a:cubicBezTo>
                <a:cubicBezTo>
                  <a:pt x="243" y="256"/>
                  <a:pt x="236" y="262"/>
                  <a:pt x="228" y="268"/>
                </a:cubicBezTo>
                <a:cubicBezTo>
                  <a:pt x="219" y="273"/>
                  <a:pt x="210" y="277"/>
                  <a:pt x="202" y="281"/>
                </a:cubicBezTo>
                <a:cubicBezTo>
                  <a:pt x="193" y="285"/>
                  <a:pt x="184" y="288"/>
                  <a:pt x="174" y="289"/>
                </a:cubicBezTo>
                <a:cubicBezTo>
                  <a:pt x="165" y="291"/>
                  <a:pt x="156" y="292"/>
                  <a:pt x="146" y="292"/>
                </a:cubicBezTo>
                <a:cubicBezTo>
                  <a:pt x="136" y="292"/>
                  <a:pt x="127" y="291"/>
                  <a:pt x="118" y="289"/>
                </a:cubicBezTo>
                <a:cubicBezTo>
                  <a:pt x="108" y="288"/>
                  <a:pt x="99" y="285"/>
                  <a:pt x="90" y="281"/>
                </a:cubicBezTo>
                <a:cubicBezTo>
                  <a:pt x="81" y="277"/>
                  <a:pt x="73" y="273"/>
                  <a:pt x="65" y="268"/>
                </a:cubicBezTo>
                <a:cubicBezTo>
                  <a:pt x="57" y="262"/>
                  <a:pt x="50" y="256"/>
                  <a:pt x="43" y="250"/>
                </a:cubicBezTo>
                <a:cubicBezTo>
                  <a:pt x="36" y="243"/>
                  <a:pt x="30" y="235"/>
                  <a:pt x="25" y="228"/>
                </a:cubicBezTo>
                <a:cubicBezTo>
                  <a:pt x="20" y="219"/>
                  <a:pt x="15" y="210"/>
                  <a:pt x="12" y="201"/>
                </a:cubicBezTo>
                <a:cubicBezTo>
                  <a:pt x="8" y="193"/>
                  <a:pt x="5" y="183"/>
                  <a:pt x="3" y="174"/>
                </a:cubicBezTo>
                <a:cubicBezTo>
                  <a:pt x="1" y="165"/>
                  <a:pt x="0" y="155"/>
                  <a:pt x="0" y="146"/>
                </a:cubicBezTo>
                <a:cubicBezTo>
                  <a:pt x="0" y="136"/>
                  <a:pt x="1" y="127"/>
                  <a:pt x="3" y="117"/>
                </a:cubicBezTo>
                <a:cubicBezTo>
                  <a:pt x="5" y="108"/>
                  <a:pt x="8" y="99"/>
                  <a:pt x="12" y="90"/>
                </a:cubicBezTo>
                <a:cubicBezTo>
                  <a:pt x="15" y="81"/>
                  <a:pt x="20" y="73"/>
                  <a:pt x="25" y="65"/>
                </a:cubicBezTo>
                <a:cubicBezTo>
                  <a:pt x="30" y="57"/>
                  <a:pt x="36" y="50"/>
                  <a:pt x="43" y="43"/>
                </a:cubicBezTo>
                <a:cubicBezTo>
                  <a:pt x="50" y="36"/>
                  <a:pt x="57" y="30"/>
                  <a:pt x="65" y="25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8"/>
                  <a:pt x="108" y="5"/>
                  <a:pt x="118" y="3"/>
                </a:cubicBezTo>
                <a:cubicBezTo>
                  <a:pt x="127" y="1"/>
                  <a:pt x="136" y="0"/>
                  <a:pt x="146" y="0"/>
                </a:cubicBezTo>
                <a:cubicBezTo>
                  <a:pt x="156" y="0"/>
                  <a:pt x="165" y="1"/>
                  <a:pt x="174" y="3"/>
                </a:cubicBezTo>
                <a:cubicBezTo>
                  <a:pt x="184" y="5"/>
                  <a:pt x="193" y="8"/>
                  <a:pt x="202" y="11"/>
                </a:cubicBezTo>
                <a:cubicBezTo>
                  <a:pt x="210" y="15"/>
                  <a:pt x="219" y="19"/>
                  <a:pt x="228" y="25"/>
                </a:cubicBezTo>
                <a:cubicBezTo>
                  <a:pt x="236" y="30"/>
                  <a:pt x="243" y="36"/>
                  <a:pt x="250" y="43"/>
                </a:cubicBezTo>
                <a:cubicBezTo>
                  <a:pt x="257" y="50"/>
                  <a:pt x="263" y="57"/>
                  <a:pt x="268" y="65"/>
                </a:cubicBezTo>
                <a:cubicBezTo>
                  <a:pt x="273" y="73"/>
                  <a:pt x="278" y="81"/>
                  <a:pt x="281" y="90"/>
                </a:cubicBezTo>
                <a:cubicBezTo>
                  <a:pt x="285" y="99"/>
                  <a:pt x="288" y="108"/>
                  <a:pt x="290" y="117"/>
                </a:cubicBezTo>
                <a:cubicBezTo>
                  <a:pt x="292" y="127"/>
                  <a:pt x="292" y="136"/>
                  <a:pt x="292" y="146"/>
                </a:cubicBezTo>
                <a:close/>
              </a:path>
            </a:pathLst>
          </a:custGeom>
          <a:solidFill>
            <a:srgbClr val="11111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91" name=""/>
          <p:cNvSpPr txBox="1"/>
          <p:nvPr/>
        </p:nvSpPr>
        <p:spPr>
          <a:xfrm>
            <a:off x="1085760" y="4476600"/>
            <a:ext cx="7448400" cy="399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段階で迅速に有力な候補を提示できる実用性を備えている。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2" name=""/>
          <p:cNvSpPr txBox="1"/>
          <p:nvPr/>
        </p:nvSpPr>
        <p:spPr>
          <a:xfrm>
            <a:off x="1085760" y="4962600"/>
            <a:ext cx="10567080" cy="401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相乗効果</a:t>
            </a:r>
            <a:r>
              <a:rPr b="0" lang="en-US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: </a:t>
            </a:r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画質改善（提案</a:t>
            </a:r>
            <a:r>
              <a:rPr b="0" lang="en-US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1, 2</a:t>
            </a:r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）によって文字認識（提案</a:t>
            </a:r>
            <a:r>
              <a:rPr b="0" lang="en-US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3</a:t>
            </a:r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）の入力がクリーンにな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3" name=""/>
          <p:cNvSpPr txBox="1"/>
          <p:nvPr/>
        </p:nvSpPr>
        <p:spPr>
          <a:xfrm>
            <a:off x="1085760" y="5371920"/>
            <a:ext cx="7724520" cy="399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り、認識精度がさらに向上するという相乗効果が確認された。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4" name=""/>
          <p:cNvSpPr/>
          <p:nvPr/>
        </p:nvSpPr>
        <p:spPr>
          <a:xfrm>
            <a:off x="533160" y="561960"/>
            <a:ext cx="267120" cy="57240"/>
          </a:xfrm>
          <a:custGeom>
            <a:avLst/>
            <a:gdLst/>
            <a:ahLst/>
            <a:rect l="0" t="0" r="r" b="b"/>
            <a:pathLst>
              <a:path w="742" h="159">
                <a:moveTo>
                  <a:pt x="0" y="106"/>
                </a:moveTo>
                <a:lnTo>
                  <a:pt x="0" y="52"/>
                </a:lnTo>
                <a:cubicBezTo>
                  <a:pt x="0" y="45"/>
                  <a:pt x="2" y="39"/>
                  <a:pt x="4" y="32"/>
                </a:cubicBezTo>
                <a:cubicBezTo>
                  <a:pt x="7" y="26"/>
                  <a:pt x="11" y="20"/>
                  <a:pt x="16" y="15"/>
                </a:cubicBezTo>
                <a:cubicBezTo>
                  <a:pt x="21" y="10"/>
                  <a:pt x="26" y="6"/>
                  <a:pt x="33" y="4"/>
                </a:cubicBezTo>
                <a:cubicBezTo>
                  <a:pt x="39" y="1"/>
                  <a:pt x="46" y="0"/>
                  <a:pt x="53" y="0"/>
                </a:cubicBezTo>
                <a:lnTo>
                  <a:pt x="689" y="0"/>
                </a:lnTo>
                <a:cubicBezTo>
                  <a:pt x="696" y="0"/>
                  <a:pt x="703" y="1"/>
                  <a:pt x="709" y="4"/>
                </a:cubicBezTo>
                <a:cubicBezTo>
                  <a:pt x="716" y="6"/>
                  <a:pt x="722" y="10"/>
                  <a:pt x="727" y="15"/>
                </a:cubicBezTo>
                <a:cubicBezTo>
                  <a:pt x="731" y="20"/>
                  <a:pt x="735" y="26"/>
                  <a:pt x="738" y="32"/>
                </a:cubicBezTo>
                <a:cubicBezTo>
                  <a:pt x="741" y="39"/>
                  <a:pt x="742" y="45"/>
                  <a:pt x="742" y="52"/>
                </a:cubicBezTo>
                <a:lnTo>
                  <a:pt x="742" y="106"/>
                </a:lnTo>
                <a:cubicBezTo>
                  <a:pt x="742" y="113"/>
                  <a:pt x="741" y="120"/>
                  <a:pt x="738" y="127"/>
                </a:cubicBezTo>
                <a:cubicBezTo>
                  <a:pt x="735" y="133"/>
                  <a:pt x="731" y="139"/>
                  <a:pt x="727" y="144"/>
                </a:cubicBezTo>
                <a:cubicBezTo>
                  <a:pt x="722" y="149"/>
                  <a:pt x="716" y="153"/>
                  <a:pt x="709" y="155"/>
                </a:cubicBezTo>
                <a:cubicBezTo>
                  <a:pt x="703" y="158"/>
                  <a:pt x="696" y="159"/>
                  <a:pt x="689" y="159"/>
                </a:cubicBezTo>
                <a:lnTo>
                  <a:pt x="53" y="159"/>
                </a:lnTo>
                <a:cubicBezTo>
                  <a:pt x="46" y="159"/>
                  <a:pt x="39" y="158"/>
                  <a:pt x="33" y="155"/>
                </a:cubicBezTo>
                <a:cubicBezTo>
                  <a:pt x="26" y="153"/>
                  <a:pt x="21" y="149"/>
                  <a:pt x="16" y="144"/>
                </a:cubicBezTo>
                <a:cubicBezTo>
                  <a:pt x="11" y="139"/>
                  <a:pt x="7" y="133"/>
                  <a:pt x="4" y="127"/>
                </a:cubicBezTo>
                <a:cubicBezTo>
                  <a:pt x="2" y="120"/>
                  <a:pt x="0" y="113"/>
                  <a:pt x="0" y="106"/>
                </a:cubicBezTo>
                <a:close/>
              </a:path>
            </a:pathLst>
          </a:custGeom>
          <a:solidFill>
            <a:srgbClr val="0b4b7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95" name=""/>
          <p:cNvSpPr txBox="1"/>
          <p:nvPr/>
        </p:nvSpPr>
        <p:spPr>
          <a:xfrm>
            <a:off x="914400" y="392400"/>
            <a:ext cx="497520" cy="360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1950" spc="-1" strike="noStrike">
                <a:solidFill>
                  <a:srgbClr val="111111"/>
                </a:solidFill>
                <a:latin typeface="NotoSansJP"/>
                <a:ea typeface="NotoSansJP"/>
              </a:rPr>
              <a:t>考察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6" name=""/>
          <p:cNvSpPr txBox="1"/>
          <p:nvPr/>
        </p:nvSpPr>
        <p:spPr>
          <a:xfrm>
            <a:off x="11777400" y="6436800"/>
            <a:ext cx="348120" cy="416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400" spc="-1" strike="noStrike">
                <a:solidFill>
                  <a:srgbClr val="111111"/>
                </a:solidFill>
                <a:latin typeface="NotoSansJP"/>
                <a:ea typeface="NotoSansJP"/>
              </a:rPr>
              <a:t>12</a:t>
            </a:r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c9c9c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0" name=""/>
          <p:cNvSpPr/>
          <p:nvPr/>
        </p:nvSpPr>
        <p:spPr>
          <a:xfrm>
            <a:off x="228240" y="228240"/>
            <a:ext cx="11735280" cy="6401160"/>
          </a:xfrm>
          <a:custGeom>
            <a:avLst/>
            <a:gdLst/>
            <a:ahLst/>
            <a:rect l="0" t="0" r="r" b="b"/>
            <a:pathLst>
              <a:path w="32598" h="17781">
                <a:moveTo>
                  <a:pt x="530" y="0"/>
                </a:moveTo>
                <a:lnTo>
                  <a:pt x="32069" y="0"/>
                </a:lnTo>
                <a:cubicBezTo>
                  <a:pt x="32104" y="0"/>
                  <a:pt x="32138" y="4"/>
                  <a:pt x="32172" y="11"/>
                </a:cubicBezTo>
                <a:cubicBezTo>
                  <a:pt x="32206" y="17"/>
                  <a:pt x="32239" y="27"/>
                  <a:pt x="32271" y="41"/>
                </a:cubicBezTo>
                <a:cubicBezTo>
                  <a:pt x="32304" y="54"/>
                  <a:pt x="32334" y="70"/>
                  <a:pt x="32363" y="90"/>
                </a:cubicBezTo>
                <a:cubicBezTo>
                  <a:pt x="32392" y="109"/>
                  <a:pt x="32419" y="131"/>
                  <a:pt x="32443" y="155"/>
                </a:cubicBezTo>
                <a:cubicBezTo>
                  <a:pt x="32468" y="180"/>
                  <a:pt x="32490" y="207"/>
                  <a:pt x="32509" y="236"/>
                </a:cubicBezTo>
                <a:cubicBezTo>
                  <a:pt x="32528" y="265"/>
                  <a:pt x="32545" y="295"/>
                  <a:pt x="32558" y="327"/>
                </a:cubicBezTo>
                <a:cubicBezTo>
                  <a:pt x="32571" y="359"/>
                  <a:pt x="32581" y="392"/>
                  <a:pt x="32588" y="426"/>
                </a:cubicBezTo>
                <a:cubicBezTo>
                  <a:pt x="32595" y="461"/>
                  <a:pt x="32598" y="495"/>
                  <a:pt x="32598" y="530"/>
                </a:cubicBezTo>
                <a:lnTo>
                  <a:pt x="32598" y="17252"/>
                </a:lnTo>
                <a:cubicBezTo>
                  <a:pt x="32598" y="17287"/>
                  <a:pt x="32595" y="17321"/>
                  <a:pt x="32588" y="17356"/>
                </a:cubicBezTo>
                <a:cubicBezTo>
                  <a:pt x="32581" y="17390"/>
                  <a:pt x="32571" y="17423"/>
                  <a:pt x="32558" y="17455"/>
                </a:cubicBezTo>
                <a:cubicBezTo>
                  <a:pt x="32545" y="17487"/>
                  <a:pt x="32528" y="17517"/>
                  <a:pt x="32509" y="17546"/>
                </a:cubicBezTo>
                <a:cubicBezTo>
                  <a:pt x="32490" y="17575"/>
                  <a:pt x="32468" y="17602"/>
                  <a:pt x="32443" y="17627"/>
                </a:cubicBezTo>
                <a:cubicBezTo>
                  <a:pt x="32419" y="17651"/>
                  <a:pt x="32392" y="17673"/>
                  <a:pt x="32363" y="17692"/>
                </a:cubicBezTo>
                <a:cubicBezTo>
                  <a:pt x="32334" y="17712"/>
                  <a:pt x="32304" y="17728"/>
                  <a:pt x="32271" y="17741"/>
                </a:cubicBezTo>
                <a:cubicBezTo>
                  <a:pt x="32239" y="17755"/>
                  <a:pt x="32206" y="17765"/>
                  <a:pt x="32172" y="17771"/>
                </a:cubicBezTo>
                <a:cubicBezTo>
                  <a:pt x="32138" y="17778"/>
                  <a:pt x="32104" y="17781"/>
                  <a:pt x="32069" y="17781"/>
                </a:cubicBezTo>
                <a:lnTo>
                  <a:pt x="530" y="17781"/>
                </a:lnTo>
                <a:cubicBezTo>
                  <a:pt x="495" y="17781"/>
                  <a:pt x="461" y="17778"/>
                  <a:pt x="426" y="17771"/>
                </a:cubicBezTo>
                <a:cubicBezTo>
                  <a:pt x="392" y="17765"/>
                  <a:pt x="359" y="17755"/>
                  <a:pt x="327" y="17741"/>
                </a:cubicBezTo>
                <a:cubicBezTo>
                  <a:pt x="295" y="17728"/>
                  <a:pt x="265" y="17712"/>
                  <a:pt x="236" y="17692"/>
                </a:cubicBezTo>
                <a:cubicBezTo>
                  <a:pt x="207" y="17673"/>
                  <a:pt x="180" y="17651"/>
                  <a:pt x="155" y="17627"/>
                </a:cubicBezTo>
                <a:cubicBezTo>
                  <a:pt x="131" y="17602"/>
                  <a:pt x="109" y="17575"/>
                  <a:pt x="90" y="17546"/>
                </a:cubicBezTo>
                <a:cubicBezTo>
                  <a:pt x="70" y="17517"/>
                  <a:pt x="54" y="17487"/>
                  <a:pt x="41" y="17455"/>
                </a:cubicBezTo>
                <a:cubicBezTo>
                  <a:pt x="27" y="17423"/>
                  <a:pt x="17" y="17390"/>
                  <a:pt x="11" y="17356"/>
                </a:cubicBezTo>
                <a:cubicBezTo>
                  <a:pt x="4" y="17321"/>
                  <a:pt x="0" y="17287"/>
                  <a:pt x="0" y="17252"/>
                </a:cubicBezTo>
                <a:lnTo>
                  <a:pt x="0" y="530"/>
                </a:lnTo>
                <a:cubicBezTo>
                  <a:pt x="0" y="495"/>
                  <a:pt x="4" y="461"/>
                  <a:pt x="11" y="426"/>
                </a:cubicBezTo>
                <a:cubicBezTo>
                  <a:pt x="17" y="392"/>
                  <a:pt x="27" y="359"/>
                  <a:pt x="41" y="327"/>
                </a:cubicBezTo>
                <a:cubicBezTo>
                  <a:pt x="54" y="295"/>
                  <a:pt x="70" y="265"/>
                  <a:pt x="90" y="236"/>
                </a:cubicBezTo>
                <a:cubicBezTo>
                  <a:pt x="109" y="207"/>
                  <a:pt x="131" y="180"/>
                  <a:pt x="155" y="155"/>
                </a:cubicBezTo>
                <a:cubicBezTo>
                  <a:pt x="180" y="131"/>
                  <a:pt x="207" y="109"/>
                  <a:pt x="236" y="90"/>
                </a:cubicBezTo>
                <a:cubicBezTo>
                  <a:pt x="265" y="70"/>
                  <a:pt x="295" y="54"/>
                  <a:pt x="327" y="41"/>
                </a:cubicBezTo>
                <a:cubicBezTo>
                  <a:pt x="359" y="27"/>
                  <a:pt x="392" y="17"/>
                  <a:pt x="426" y="11"/>
                </a:cubicBezTo>
                <a:cubicBezTo>
                  <a:pt x="461" y="4"/>
                  <a:pt x="495" y="0"/>
                  <a:pt x="530" y="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301" name="" descr=""/>
          <p:cNvPicPr/>
          <p:nvPr/>
        </p:nvPicPr>
        <p:blipFill>
          <a:blip r:embed="rId1"/>
          <a:stretch/>
        </p:blipFill>
        <p:spPr>
          <a:xfrm>
            <a:off x="10515600" y="38160"/>
            <a:ext cx="1142640" cy="1142640"/>
          </a:xfrm>
          <a:prstGeom prst="rect">
            <a:avLst/>
          </a:prstGeom>
          <a:ln w="0">
            <a:noFill/>
          </a:ln>
        </p:spPr>
      </p:pic>
      <p:sp>
        <p:nvSpPr>
          <p:cNvPr id="302" name=""/>
          <p:cNvSpPr/>
          <p:nvPr/>
        </p:nvSpPr>
        <p:spPr>
          <a:xfrm>
            <a:off x="809280" y="1581120"/>
            <a:ext cx="105120" cy="105120"/>
          </a:xfrm>
          <a:custGeom>
            <a:avLst/>
            <a:gdLst/>
            <a:ahLst/>
            <a:rect l="0" t="0" r="r" b="b"/>
            <a:pathLst>
              <a:path w="292" h="292">
                <a:moveTo>
                  <a:pt x="292" y="146"/>
                </a:moveTo>
                <a:cubicBezTo>
                  <a:pt x="292" y="156"/>
                  <a:pt x="292" y="165"/>
                  <a:pt x="290" y="174"/>
                </a:cubicBezTo>
                <a:cubicBezTo>
                  <a:pt x="288" y="184"/>
                  <a:pt x="285" y="193"/>
                  <a:pt x="281" y="202"/>
                </a:cubicBezTo>
                <a:cubicBezTo>
                  <a:pt x="278" y="211"/>
                  <a:pt x="273" y="219"/>
                  <a:pt x="268" y="227"/>
                </a:cubicBezTo>
                <a:cubicBezTo>
                  <a:pt x="263" y="235"/>
                  <a:pt x="257" y="242"/>
                  <a:pt x="250" y="249"/>
                </a:cubicBezTo>
                <a:cubicBezTo>
                  <a:pt x="243" y="256"/>
                  <a:pt x="236" y="262"/>
                  <a:pt x="228" y="267"/>
                </a:cubicBezTo>
                <a:cubicBezTo>
                  <a:pt x="219" y="272"/>
                  <a:pt x="210" y="277"/>
                  <a:pt x="202" y="281"/>
                </a:cubicBezTo>
                <a:cubicBezTo>
                  <a:pt x="193" y="284"/>
                  <a:pt x="184" y="287"/>
                  <a:pt x="174" y="289"/>
                </a:cubicBezTo>
                <a:cubicBezTo>
                  <a:pt x="165" y="291"/>
                  <a:pt x="156" y="292"/>
                  <a:pt x="146" y="292"/>
                </a:cubicBezTo>
                <a:cubicBezTo>
                  <a:pt x="136" y="292"/>
                  <a:pt x="127" y="291"/>
                  <a:pt x="118" y="289"/>
                </a:cubicBezTo>
                <a:cubicBezTo>
                  <a:pt x="108" y="287"/>
                  <a:pt x="99" y="284"/>
                  <a:pt x="90" y="281"/>
                </a:cubicBezTo>
                <a:cubicBezTo>
                  <a:pt x="81" y="277"/>
                  <a:pt x="73" y="272"/>
                  <a:pt x="65" y="267"/>
                </a:cubicBezTo>
                <a:cubicBezTo>
                  <a:pt x="57" y="262"/>
                  <a:pt x="50" y="256"/>
                  <a:pt x="43" y="249"/>
                </a:cubicBezTo>
                <a:cubicBezTo>
                  <a:pt x="36" y="242"/>
                  <a:pt x="30" y="235"/>
                  <a:pt x="25" y="227"/>
                </a:cubicBezTo>
                <a:cubicBezTo>
                  <a:pt x="20" y="219"/>
                  <a:pt x="15" y="211"/>
                  <a:pt x="12" y="202"/>
                </a:cubicBezTo>
                <a:cubicBezTo>
                  <a:pt x="8" y="193"/>
                  <a:pt x="5" y="184"/>
                  <a:pt x="3" y="174"/>
                </a:cubicBezTo>
                <a:cubicBezTo>
                  <a:pt x="1" y="165"/>
                  <a:pt x="0" y="156"/>
                  <a:pt x="0" y="146"/>
                </a:cubicBezTo>
                <a:cubicBezTo>
                  <a:pt x="0" y="137"/>
                  <a:pt x="1" y="127"/>
                  <a:pt x="3" y="117"/>
                </a:cubicBezTo>
                <a:cubicBezTo>
                  <a:pt x="5" y="107"/>
                  <a:pt x="8" y="98"/>
                  <a:pt x="12" y="89"/>
                </a:cubicBezTo>
                <a:cubicBezTo>
                  <a:pt x="15" y="81"/>
                  <a:pt x="20" y="72"/>
                  <a:pt x="25" y="64"/>
                </a:cubicBezTo>
                <a:cubicBezTo>
                  <a:pt x="30" y="56"/>
                  <a:pt x="36" y="49"/>
                  <a:pt x="43" y="42"/>
                </a:cubicBezTo>
                <a:cubicBezTo>
                  <a:pt x="50" y="35"/>
                  <a:pt x="57" y="29"/>
                  <a:pt x="65" y="24"/>
                </a:cubicBezTo>
                <a:cubicBezTo>
                  <a:pt x="73" y="19"/>
                  <a:pt x="81" y="14"/>
                  <a:pt x="90" y="11"/>
                </a:cubicBezTo>
                <a:cubicBezTo>
                  <a:pt x="99" y="7"/>
                  <a:pt x="108" y="4"/>
                  <a:pt x="118" y="2"/>
                </a:cubicBezTo>
                <a:cubicBezTo>
                  <a:pt x="127" y="1"/>
                  <a:pt x="136" y="0"/>
                  <a:pt x="146" y="0"/>
                </a:cubicBezTo>
                <a:cubicBezTo>
                  <a:pt x="156" y="0"/>
                  <a:pt x="165" y="1"/>
                  <a:pt x="174" y="2"/>
                </a:cubicBezTo>
                <a:cubicBezTo>
                  <a:pt x="184" y="4"/>
                  <a:pt x="193" y="7"/>
                  <a:pt x="202" y="11"/>
                </a:cubicBezTo>
                <a:cubicBezTo>
                  <a:pt x="210" y="14"/>
                  <a:pt x="219" y="19"/>
                  <a:pt x="228" y="24"/>
                </a:cubicBezTo>
                <a:cubicBezTo>
                  <a:pt x="236" y="29"/>
                  <a:pt x="243" y="35"/>
                  <a:pt x="250" y="42"/>
                </a:cubicBezTo>
                <a:cubicBezTo>
                  <a:pt x="257" y="49"/>
                  <a:pt x="263" y="56"/>
                  <a:pt x="268" y="64"/>
                </a:cubicBezTo>
                <a:cubicBezTo>
                  <a:pt x="273" y="72"/>
                  <a:pt x="278" y="81"/>
                  <a:pt x="281" y="89"/>
                </a:cubicBezTo>
                <a:cubicBezTo>
                  <a:pt x="285" y="98"/>
                  <a:pt x="288" y="107"/>
                  <a:pt x="290" y="117"/>
                </a:cubicBezTo>
                <a:cubicBezTo>
                  <a:pt x="292" y="127"/>
                  <a:pt x="292" y="137"/>
                  <a:pt x="292" y="146"/>
                </a:cubicBezTo>
                <a:close/>
              </a:path>
            </a:pathLst>
          </a:custGeom>
          <a:solidFill>
            <a:srgbClr val="11111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03" name=""/>
          <p:cNvSpPr txBox="1"/>
          <p:nvPr/>
        </p:nvSpPr>
        <p:spPr>
          <a:xfrm>
            <a:off x="533520" y="923760"/>
            <a:ext cx="3310920" cy="399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本研究の限界と将来の展望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4" name=""/>
          <p:cNvSpPr txBox="1"/>
          <p:nvPr/>
        </p:nvSpPr>
        <p:spPr>
          <a:xfrm>
            <a:off x="1085760" y="1438200"/>
            <a:ext cx="10492560" cy="401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ナンバープレート領域抽出の自動化</a:t>
            </a:r>
            <a:r>
              <a:rPr b="0" lang="en-US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: </a:t>
            </a:r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本研究では領域抽出後の画像を扱っているが、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5" name=""/>
          <p:cNvSpPr txBox="1"/>
          <p:nvPr/>
        </p:nvSpPr>
        <p:spPr>
          <a:xfrm>
            <a:off x="1085760" y="1847880"/>
            <a:ext cx="10482840" cy="399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実用上は画像全体からナンバープレート領域を正確に抽出する前処理が重要となる。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6" name=""/>
          <p:cNvSpPr/>
          <p:nvPr/>
        </p:nvSpPr>
        <p:spPr>
          <a:xfrm>
            <a:off x="809280" y="2895480"/>
            <a:ext cx="105120" cy="105120"/>
          </a:xfrm>
          <a:custGeom>
            <a:avLst/>
            <a:gdLst/>
            <a:ahLst/>
            <a:rect l="0" t="0" r="r" b="b"/>
            <a:pathLst>
              <a:path w="292" h="292">
                <a:moveTo>
                  <a:pt x="292" y="145"/>
                </a:moveTo>
                <a:cubicBezTo>
                  <a:pt x="292" y="155"/>
                  <a:pt x="292" y="164"/>
                  <a:pt x="290" y="174"/>
                </a:cubicBezTo>
                <a:cubicBezTo>
                  <a:pt x="288" y="183"/>
                  <a:pt x="285" y="192"/>
                  <a:pt x="281" y="201"/>
                </a:cubicBezTo>
                <a:cubicBezTo>
                  <a:pt x="278" y="210"/>
                  <a:pt x="273" y="218"/>
                  <a:pt x="268" y="226"/>
                </a:cubicBezTo>
                <a:cubicBezTo>
                  <a:pt x="263" y="234"/>
                  <a:pt x="257" y="241"/>
                  <a:pt x="250" y="248"/>
                </a:cubicBezTo>
                <a:cubicBezTo>
                  <a:pt x="243" y="256"/>
                  <a:pt x="236" y="262"/>
                  <a:pt x="228" y="267"/>
                </a:cubicBezTo>
                <a:cubicBezTo>
                  <a:pt x="219" y="273"/>
                  <a:pt x="210" y="277"/>
                  <a:pt x="202" y="281"/>
                </a:cubicBezTo>
                <a:cubicBezTo>
                  <a:pt x="193" y="284"/>
                  <a:pt x="184" y="287"/>
                  <a:pt x="174" y="289"/>
                </a:cubicBezTo>
                <a:cubicBezTo>
                  <a:pt x="165" y="291"/>
                  <a:pt x="156" y="292"/>
                  <a:pt x="146" y="292"/>
                </a:cubicBezTo>
                <a:cubicBezTo>
                  <a:pt x="136" y="292"/>
                  <a:pt x="127" y="291"/>
                  <a:pt x="118" y="289"/>
                </a:cubicBezTo>
                <a:cubicBezTo>
                  <a:pt x="108" y="287"/>
                  <a:pt x="99" y="284"/>
                  <a:pt x="90" y="281"/>
                </a:cubicBezTo>
                <a:cubicBezTo>
                  <a:pt x="81" y="277"/>
                  <a:pt x="73" y="273"/>
                  <a:pt x="65" y="267"/>
                </a:cubicBezTo>
                <a:cubicBezTo>
                  <a:pt x="57" y="262"/>
                  <a:pt x="50" y="256"/>
                  <a:pt x="43" y="248"/>
                </a:cubicBezTo>
                <a:cubicBezTo>
                  <a:pt x="36" y="241"/>
                  <a:pt x="30" y="234"/>
                  <a:pt x="25" y="226"/>
                </a:cubicBezTo>
                <a:cubicBezTo>
                  <a:pt x="20" y="218"/>
                  <a:pt x="15" y="210"/>
                  <a:pt x="12" y="201"/>
                </a:cubicBezTo>
                <a:cubicBezTo>
                  <a:pt x="8" y="192"/>
                  <a:pt x="5" y="183"/>
                  <a:pt x="3" y="174"/>
                </a:cubicBezTo>
                <a:cubicBezTo>
                  <a:pt x="1" y="164"/>
                  <a:pt x="0" y="155"/>
                  <a:pt x="0" y="145"/>
                </a:cubicBezTo>
                <a:cubicBezTo>
                  <a:pt x="0" y="136"/>
                  <a:pt x="1" y="126"/>
                  <a:pt x="3" y="117"/>
                </a:cubicBezTo>
                <a:cubicBezTo>
                  <a:pt x="5" y="108"/>
                  <a:pt x="8" y="98"/>
                  <a:pt x="12" y="90"/>
                </a:cubicBezTo>
                <a:cubicBezTo>
                  <a:pt x="15" y="81"/>
                  <a:pt x="20" y="72"/>
                  <a:pt x="25" y="65"/>
                </a:cubicBezTo>
                <a:cubicBezTo>
                  <a:pt x="30" y="57"/>
                  <a:pt x="36" y="49"/>
                  <a:pt x="43" y="42"/>
                </a:cubicBezTo>
                <a:cubicBezTo>
                  <a:pt x="50" y="36"/>
                  <a:pt x="57" y="30"/>
                  <a:pt x="65" y="24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7"/>
                  <a:pt x="108" y="4"/>
                  <a:pt x="118" y="3"/>
                </a:cubicBezTo>
                <a:cubicBezTo>
                  <a:pt x="127" y="1"/>
                  <a:pt x="136" y="0"/>
                  <a:pt x="146" y="0"/>
                </a:cubicBezTo>
                <a:cubicBezTo>
                  <a:pt x="156" y="0"/>
                  <a:pt x="165" y="1"/>
                  <a:pt x="174" y="3"/>
                </a:cubicBezTo>
                <a:cubicBezTo>
                  <a:pt x="184" y="4"/>
                  <a:pt x="193" y="7"/>
                  <a:pt x="202" y="11"/>
                </a:cubicBezTo>
                <a:cubicBezTo>
                  <a:pt x="210" y="15"/>
                  <a:pt x="219" y="19"/>
                  <a:pt x="228" y="24"/>
                </a:cubicBezTo>
                <a:cubicBezTo>
                  <a:pt x="236" y="30"/>
                  <a:pt x="243" y="36"/>
                  <a:pt x="250" y="42"/>
                </a:cubicBezTo>
                <a:cubicBezTo>
                  <a:pt x="257" y="49"/>
                  <a:pt x="263" y="57"/>
                  <a:pt x="268" y="65"/>
                </a:cubicBezTo>
                <a:cubicBezTo>
                  <a:pt x="273" y="72"/>
                  <a:pt x="278" y="81"/>
                  <a:pt x="281" y="90"/>
                </a:cubicBezTo>
                <a:cubicBezTo>
                  <a:pt x="285" y="98"/>
                  <a:pt x="288" y="108"/>
                  <a:pt x="290" y="117"/>
                </a:cubicBezTo>
                <a:cubicBezTo>
                  <a:pt x="292" y="126"/>
                  <a:pt x="292" y="136"/>
                  <a:pt x="292" y="145"/>
                </a:cubicBezTo>
                <a:close/>
              </a:path>
            </a:pathLst>
          </a:custGeom>
          <a:solidFill>
            <a:srgbClr val="11111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07" name=""/>
          <p:cNvSpPr txBox="1"/>
          <p:nvPr/>
        </p:nvSpPr>
        <p:spPr>
          <a:xfrm>
            <a:off x="1085760" y="2266920"/>
            <a:ext cx="8551800" cy="399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この部分にも機械学習を導入し、さらに頑健性を高める必要がある。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8" name=""/>
          <p:cNvSpPr txBox="1"/>
          <p:nvPr/>
        </p:nvSpPr>
        <p:spPr>
          <a:xfrm>
            <a:off x="1085760" y="2752560"/>
            <a:ext cx="10492560" cy="401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動いている車両への対応</a:t>
            </a:r>
            <a:r>
              <a:rPr b="0" lang="en-US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: </a:t>
            </a:r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本研究は静止している車両を主対象としている。走行中の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9" name=""/>
          <p:cNvSpPr txBox="1"/>
          <p:nvPr/>
        </p:nvSpPr>
        <p:spPr>
          <a:xfrm>
            <a:off x="1085760" y="3162240"/>
            <a:ext cx="10482840" cy="399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車両で発生するモーションブラー（被写体ブレ）に対応するため、ブレ除去に特化し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0" name=""/>
          <p:cNvSpPr/>
          <p:nvPr/>
        </p:nvSpPr>
        <p:spPr>
          <a:xfrm>
            <a:off x="809280" y="4200480"/>
            <a:ext cx="105120" cy="105120"/>
          </a:xfrm>
          <a:custGeom>
            <a:avLst/>
            <a:gdLst/>
            <a:ahLst/>
            <a:rect l="0" t="0" r="r" b="b"/>
            <a:pathLst>
              <a:path w="292" h="292">
                <a:moveTo>
                  <a:pt x="292" y="146"/>
                </a:moveTo>
                <a:cubicBezTo>
                  <a:pt x="292" y="156"/>
                  <a:pt x="292" y="165"/>
                  <a:pt x="290" y="175"/>
                </a:cubicBezTo>
                <a:cubicBezTo>
                  <a:pt x="288" y="184"/>
                  <a:pt x="285" y="193"/>
                  <a:pt x="281" y="202"/>
                </a:cubicBezTo>
                <a:cubicBezTo>
                  <a:pt x="278" y="211"/>
                  <a:pt x="273" y="219"/>
                  <a:pt x="268" y="227"/>
                </a:cubicBezTo>
                <a:cubicBezTo>
                  <a:pt x="263" y="235"/>
                  <a:pt x="257" y="242"/>
                  <a:pt x="250" y="249"/>
                </a:cubicBezTo>
                <a:cubicBezTo>
                  <a:pt x="243" y="256"/>
                  <a:pt x="236" y="262"/>
                  <a:pt x="228" y="267"/>
                </a:cubicBezTo>
                <a:cubicBezTo>
                  <a:pt x="219" y="272"/>
                  <a:pt x="210" y="277"/>
                  <a:pt x="202" y="281"/>
                </a:cubicBezTo>
                <a:cubicBezTo>
                  <a:pt x="193" y="284"/>
                  <a:pt x="184" y="287"/>
                  <a:pt x="174" y="289"/>
                </a:cubicBezTo>
                <a:cubicBezTo>
                  <a:pt x="165" y="291"/>
                  <a:pt x="156" y="292"/>
                  <a:pt x="146" y="292"/>
                </a:cubicBezTo>
                <a:cubicBezTo>
                  <a:pt x="136" y="292"/>
                  <a:pt x="127" y="291"/>
                  <a:pt x="118" y="289"/>
                </a:cubicBezTo>
                <a:cubicBezTo>
                  <a:pt x="108" y="287"/>
                  <a:pt x="99" y="284"/>
                  <a:pt x="90" y="281"/>
                </a:cubicBezTo>
                <a:cubicBezTo>
                  <a:pt x="81" y="277"/>
                  <a:pt x="73" y="272"/>
                  <a:pt x="65" y="267"/>
                </a:cubicBezTo>
                <a:cubicBezTo>
                  <a:pt x="57" y="262"/>
                  <a:pt x="50" y="256"/>
                  <a:pt x="43" y="249"/>
                </a:cubicBezTo>
                <a:cubicBezTo>
                  <a:pt x="36" y="242"/>
                  <a:pt x="30" y="235"/>
                  <a:pt x="25" y="227"/>
                </a:cubicBezTo>
                <a:cubicBezTo>
                  <a:pt x="20" y="219"/>
                  <a:pt x="15" y="211"/>
                  <a:pt x="12" y="202"/>
                </a:cubicBezTo>
                <a:cubicBezTo>
                  <a:pt x="8" y="193"/>
                  <a:pt x="5" y="184"/>
                  <a:pt x="3" y="175"/>
                </a:cubicBezTo>
                <a:cubicBezTo>
                  <a:pt x="1" y="165"/>
                  <a:pt x="0" y="156"/>
                  <a:pt x="0" y="146"/>
                </a:cubicBezTo>
                <a:cubicBezTo>
                  <a:pt x="0" y="137"/>
                  <a:pt x="1" y="127"/>
                  <a:pt x="3" y="117"/>
                </a:cubicBezTo>
                <a:cubicBezTo>
                  <a:pt x="5" y="107"/>
                  <a:pt x="8" y="98"/>
                  <a:pt x="12" y="89"/>
                </a:cubicBezTo>
                <a:cubicBezTo>
                  <a:pt x="15" y="81"/>
                  <a:pt x="20" y="72"/>
                  <a:pt x="25" y="64"/>
                </a:cubicBezTo>
                <a:cubicBezTo>
                  <a:pt x="30" y="56"/>
                  <a:pt x="36" y="49"/>
                  <a:pt x="43" y="42"/>
                </a:cubicBezTo>
                <a:cubicBezTo>
                  <a:pt x="50" y="35"/>
                  <a:pt x="57" y="29"/>
                  <a:pt x="65" y="24"/>
                </a:cubicBezTo>
                <a:cubicBezTo>
                  <a:pt x="73" y="19"/>
                  <a:pt x="81" y="14"/>
                  <a:pt x="90" y="11"/>
                </a:cubicBezTo>
                <a:cubicBezTo>
                  <a:pt x="99" y="7"/>
                  <a:pt x="108" y="4"/>
                  <a:pt x="118" y="2"/>
                </a:cubicBezTo>
                <a:cubicBezTo>
                  <a:pt x="127" y="1"/>
                  <a:pt x="136" y="0"/>
                  <a:pt x="146" y="0"/>
                </a:cubicBezTo>
                <a:cubicBezTo>
                  <a:pt x="156" y="0"/>
                  <a:pt x="165" y="1"/>
                  <a:pt x="174" y="2"/>
                </a:cubicBezTo>
                <a:cubicBezTo>
                  <a:pt x="184" y="4"/>
                  <a:pt x="193" y="7"/>
                  <a:pt x="202" y="11"/>
                </a:cubicBezTo>
                <a:cubicBezTo>
                  <a:pt x="210" y="14"/>
                  <a:pt x="219" y="19"/>
                  <a:pt x="228" y="24"/>
                </a:cubicBezTo>
                <a:cubicBezTo>
                  <a:pt x="236" y="29"/>
                  <a:pt x="243" y="35"/>
                  <a:pt x="250" y="42"/>
                </a:cubicBezTo>
                <a:cubicBezTo>
                  <a:pt x="257" y="49"/>
                  <a:pt x="263" y="56"/>
                  <a:pt x="268" y="64"/>
                </a:cubicBezTo>
                <a:cubicBezTo>
                  <a:pt x="273" y="72"/>
                  <a:pt x="278" y="81"/>
                  <a:pt x="281" y="89"/>
                </a:cubicBezTo>
                <a:cubicBezTo>
                  <a:pt x="285" y="98"/>
                  <a:pt x="288" y="107"/>
                  <a:pt x="290" y="117"/>
                </a:cubicBezTo>
                <a:cubicBezTo>
                  <a:pt x="292" y="127"/>
                  <a:pt x="292" y="137"/>
                  <a:pt x="292" y="146"/>
                </a:cubicBezTo>
                <a:close/>
              </a:path>
            </a:pathLst>
          </a:custGeom>
          <a:solidFill>
            <a:srgbClr val="11111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11" name=""/>
          <p:cNvSpPr txBox="1"/>
          <p:nvPr/>
        </p:nvSpPr>
        <p:spPr>
          <a:xfrm>
            <a:off x="1085760" y="3581280"/>
            <a:ext cx="6896880" cy="399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たニューラルネットワークの導入が今後の課題となる。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2" name=""/>
          <p:cNvSpPr txBox="1"/>
          <p:nvPr/>
        </p:nvSpPr>
        <p:spPr>
          <a:xfrm>
            <a:off x="1085760" y="4057560"/>
            <a:ext cx="10492560" cy="401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さらなる多様性への対応</a:t>
            </a:r>
            <a:r>
              <a:rPr b="0" lang="en-US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: </a:t>
            </a:r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緑色のプレートや異なるフォントなど、本研究で扱いきれ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3" name=""/>
          <p:cNvSpPr txBox="1"/>
          <p:nvPr/>
        </p:nvSpPr>
        <p:spPr>
          <a:xfrm>
            <a:off x="1085760" y="4476600"/>
            <a:ext cx="8551800" cy="399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なかった種類のナンバープレートへの汎化性能を高める必要がある。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4" name=""/>
          <p:cNvSpPr/>
          <p:nvPr/>
        </p:nvSpPr>
        <p:spPr>
          <a:xfrm>
            <a:off x="533160" y="561960"/>
            <a:ext cx="267120" cy="57240"/>
          </a:xfrm>
          <a:custGeom>
            <a:avLst/>
            <a:gdLst/>
            <a:ahLst/>
            <a:rect l="0" t="0" r="r" b="b"/>
            <a:pathLst>
              <a:path w="742" h="159">
                <a:moveTo>
                  <a:pt x="0" y="106"/>
                </a:moveTo>
                <a:lnTo>
                  <a:pt x="0" y="52"/>
                </a:lnTo>
                <a:cubicBezTo>
                  <a:pt x="0" y="45"/>
                  <a:pt x="2" y="39"/>
                  <a:pt x="4" y="32"/>
                </a:cubicBezTo>
                <a:cubicBezTo>
                  <a:pt x="7" y="26"/>
                  <a:pt x="11" y="20"/>
                  <a:pt x="16" y="15"/>
                </a:cubicBezTo>
                <a:cubicBezTo>
                  <a:pt x="21" y="10"/>
                  <a:pt x="26" y="6"/>
                  <a:pt x="33" y="4"/>
                </a:cubicBezTo>
                <a:cubicBezTo>
                  <a:pt x="39" y="1"/>
                  <a:pt x="46" y="0"/>
                  <a:pt x="53" y="0"/>
                </a:cubicBezTo>
                <a:lnTo>
                  <a:pt x="689" y="0"/>
                </a:lnTo>
                <a:cubicBezTo>
                  <a:pt x="696" y="0"/>
                  <a:pt x="703" y="1"/>
                  <a:pt x="709" y="4"/>
                </a:cubicBezTo>
                <a:cubicBezTo>
                  <a:pt x="716" y="6"/>
                  <a:pt x="722" y="10"/>
                  <a:pt x="727" y="15"/>
                </a:cubicBezTo>
                <a:cubicBezTo>
                  <a:pt x="731" y="20"/>
                  <a:pt x="735" y="26"/>
                  <a:pt x="738" y="32"/>
                </a:cubicBezTo>
                <a:cubicBezTo>
                  <a:pt x="741" y="39"/>
                  <a:pt x="742" y="45"/>
                  <a:pt x="742" y="52"/>
                </a:cubicBezTo>
                <a:lnTo>
                  <a:pt x="742" y="106"/>
                </a:lnTo>
                <a:cubicBezTo>
                  <a:pt x="742" y="113"/>
                  <a:pt x="741" y="120"/>
                  <a:pt x="738" y="127"/>
                </a:cubicBezTo>
                <a:cubicBezTo>
                  <a:pt x="735" y="133"/>
                  <a:pt x="731" y="139"/>
                  <a:pt x="727" y="144"/>
                </a:cubicBezTo>
                <a:cubicBezTo>
                  <a:pt x="722" y="149"/>
                  <a:pt x="716" y="153"/>
                  <a:pt x="709" y="155"/>
                </a:cubicBezTo>
                <a:cubicBezTo>
                  <a:pt x="703" y="158"/>
                  <a:pt x="696" y="159"/>
                  <a:pt x="689" y="159"/>
                </a:cubicBezTo>
                <a:lnTo>
                  <a:pt x="53" y="159"/>
                </a:lnTo>
                <a:cubicBezTo>
                  <a:pt x="46" y="159"/>
                  <a:pt x="39" y="158"/>
                  <a:pt x="33" y="155"/>
                </a:cubicBezTo>
                <a:cubicBezTo>
                  <a:pt x="26" y="153"/>
                  <a:pt x="21" y="149"/>
                  <a:pt x="16" y="144"/>
                </a:cubicBezTo>
                <a:cubicBezTo>
                  <a:pt x="11" y="139"/>
                  <a:pt x="7" y="133"/>
                  <a:pt x="4" y="127"/>
                </a:cubicBezTo>
                <a:cubicBezTo>
                  <a:pt x="2" y="120"/>
                  <a:pt x="0" y="113"/>
                  <a:pt x="0" y="106"/>
                </a:cubicBezTo>
                <a:close/>
              </a:path>
            </a:pathLst>
          </a:custGeom>
          <a:solidFill>
            <a:srgbClr val="0b4b7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15" name=""/>
          <p:cNvSpPr txBox="1"/>
          <p:nvPr/>
        </p:nvSpPr>
        <p:spPr>
          <a:xfrm>
            <a:off x="914400" y="392400"/>
            <a:ext cx="1242720" cy="360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1950" spc="-1" strike="noStrike">
                <a:solidFill>
                  <a:srgbClr val="111111"/>
                </a:solidFill>
                <a:latin typeface="NotoSansJP"/>
                <a:ea typeface="NotoSansJP"/>
              </a:rPr>
              <a:t>今後の課題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6" name=""/>
          <p:cNvSpPr txBox="1"/>
          <p:nvPr/>
        </p:nvSpPr>
        <p:spPr>
          <a:xfrm>
            <a:off x="11777400" y="6436800"/>
            <a:ext cx="348120" cy="416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400" spc="-1" strike="noStrike">
                <a:solidFill>
                  <a:srgbClr val="111111"/>
                </a:solidFill>
                <a:latin typeface="NotoSansJP"/>
                <a:ea typeface="NotoSansJP"/>
              </a:rPr>
              <a:t>13</a:t>
            </a:r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c9c9c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0" name=""/>
          <p:cNvSpPr/>
          <p:nvPr/>
        </p:nvSpPr>
        <p:spPr>
          <a:xfrm>
            <a:off x="228240" y="228240"/>
            <a:ext cx="11735280" cy="6401160"/>
          </a:xfrm>
          <a:custGeom>
            <a:avLst/>
            <a:gdLst/>
            <a:ahLst/>
            <a:rect l="0" t="0" r="r" b="b"/>
            <a:pathLst>
              <a:path w="32598" h="17781">
                <a:moveTo>
                  <a:pt x="530" y="0"/>
                </a:moveTo>
                <a:lnTo>
                  <a:pt x="32069" y="0"/>
                </a:lnTo>
                <a:cubicBezTo>
                  <a:pt x="32104" y="0"/>
                  <a:pt x="32138" y="4"/>
                  <a:pt x="32172" y="11"/>
                </a:cubicBezTo>
                <a:cubicBezTo>
                  <a:pt x="32206" y="17"/>
                  <a:pt x="32239" y="27"/>
                  <a:pt x="32271" y="41"/>
                </a:cubicBezTo>
                <a:cubicBezTo>
                  <a:pt x="32304" y="54"/>
                  <a:pt x="32334" y="70"/>
                  <a:pt x="32363" y="90"/>
                </a:cubicBezTo>
                <a:cubicBezTo>
                  <a:pt x="32392" y="109"/>
                  <a:pt x="32419" y="131"/>
                  <a:pt x="32443" y="155"/>
                </a:cubicBezTo>
                <a:cubicBezTo>
                  <a:pt x="32468" y="180"/>
                  <a:pt x="32490" y="207"/>
                  <a:pt x="32509" y="236"/>
                </a:cubicBezTo>
                <a:cubicBezTo>
                  <a:pt x="32528" y="265"/>
                  <a:pt x="32545" y="295"/>
                  <a:pt x="32558" y="327"/>
                </a:cubicBezTo>
                <a:cubicBezTo>
                  <a:pt x="32571" y="359"/>
                  <a:pt x="32581" y="392"/>
                  <a:pt x="32588" y="426"/>
                </a:cubicBezTo>
                <a:cubicBezTo>
                  <a:pt x="32595" y="461"/>
                  <a:pt x="32598" y="495"/>
                  <a:pt x="32598" y="530"/>
                </a:cubicBezTo>
                <a:lnTo>
                  <a:pt x="32598" y="17252"/>
                </a:lnTo>
                <a:cubicBezTo>
                  <a:pt x="32598" y="17287"/>
                  <a:pt x="32595" y="17321"/>
                  <a:pt x="32588" y="17356"/>
                </a:cubicBezTo>
                <a:cubicBezTo>
                  <a:pt x="32581" y="17390"/>
                  <a:pt x="32571" y="17423"/>
                  <a:pt x="32558" y="17455"/>
                </a:cubicBezTo>
                <a:cubicBezTo>
                  <a:pt x="32545" y="17487"/>
                  <a:pt x="32528" y="17517"/>
                  <a:pt x="32509" y="17546"/>
                </a:cubicBezTo>
                <a:cubicBezTo>
                  <a:pt x="32490" y="17575"/>
                  <a:pt x="32468" y="17602"/>
                  <a:pt x="32443" y="17627"/>
                </a:cubicBezTo>
                <a:cubicBezTo>
                  <a:pt x="32419" y="17651"/>
                  <a:pt x="32392" y="17673"/>
                  <a:pt x="32363" y="17692"/>
                </a:cubicBezTo>
                <a:cubicBezTo>
                  <a:pt x="32334" y="17712"/>
                  <a:pt x="32304" y="17728"/>
                  <a:pt x="32271" y="17741"/>
                </a:cubicBezTo>
                <a:cubicBezTo>
                  <a:pt x="32239" y="17755"/>
                  <a:pt x="32206" y="17765"/>
                  <a:pt x="32172" y="17771"/>
                </a:cubicBezTo>
                <a:cubicBezTo>
                  <a:pt x="32138" y="17778"/>
                  <a:pt x="32104" y="17781"/>
                  <a:pt x="32069" y="17781"/>
                </a:cubicBezTo>
                <a:lnTo>
                  <a:pt x="530" y="17781"/>
                </a:lnTo>
                <a:cubicBezTo>
                  <a:pt x="495" y="17781"/>
                  <a:pt x="461" y="17778"/>
                  <a:pt x="426" y="17771"/>
                </a:cubicBezTo>
                <a:cubicBezTo>
                  <a:pt x="392" y="17765"/>
                  <a:pt x="359" y="17755"/>
                  <a:pt x="327" y="17741"/>
                </a:cubicBezTo>
                <a:cubicBezTo>
                  <a:pt x="295" y="17728"/>
                  <a:pt x="265" y="17712"/>
                  <a:pt x="236" y="17692"/>
                </a:cubicBezTo>
                <a:cubicBezTo>
                  <a:pt x="207" y="17673"/>
                  <a:pt x="180" y="17651"/>
                  <a:pt x="155" y="17627"/>
                </a:cubicBezTo>
                <a:cubicBezTo>
                  <a:pt x="131" y="17602"/>
                  <a:pt x="109" y="17575"/>
                  <a:pt x="90" y="17546"/>
                </a:cubicBezTo>
                <a:cubicBezTo>
                  <a:pt x="70" y="17517"/>
                  <a:pt x="54" y="17487"/>
                  <a:pt x="41" y="17455"/>
                </a:cubicBezTo>
                <a:cubicBezTo>
                  <a:pt x="27" y="17423"/>
                  <a:pt x="17" y="17390"/>
                  <a:pt x="11" y="17356"/>
                </a:cubicBezTo>
                <a:cubicBezTo>
                  <a:pt x="4" y="17321"/>
                  <a:pt x="0" y="17287"/>
                  <a:pt x="0" y="17252"/>
                </a:cubicBezTo>
                <a:lnTo>
                  <a:pt x="0" y="530"/>
                </a:lnTo>
                <a:cubicBezTo>
                  <a:pt x="0" y="495"/>
                  <a:pt x="4" y="461"/>
                  <a:pt x="11" y="426"/>
                </a:cubicBezTo>
                <a:cubicBezTo>
                  <a:pt x="17" y="392"/>
                  <a:pt x="27" y="359"/>
                  <a:pt x="41" y="327"/>
                </a:cubicBezTo>
                <a:cubicBezTo>
                  <a:pt x="54" y="295"/>
                  <a:pt x="70" y="265"/>
                  <a:pt x="90" y="236"/>
                </a:cubicBezTo>
                <a:cubicBezTo>
                  <a:pt x="109" y="207"/>
                  <a:pt x="131" y="180"/>
                  <a:pt x="155" y="155"/>
                </a:cubicBezTo>
                <a:cubicBezTo>
                  <a:pt x="180" y="131"/>
                  <a:pt x="207" y="109"/>
                  <a:pt x="236" y="90"/>
                </a:cubicBezTo>
                <a:cubicBezTo>
                  <a:pt x="265" y="70"/>
                  <a:pt x="295" y="54"/>
                  <a:pt x="327" y="41"/>
                </a:cubicBezTo>
                <a:cubicBezTo>
                  <a:pt x="359" y="27"/>
                  <a:pt x="392" y="17"/>
                  <a:pt x="426" y="11"/>
                </a:cubicBezTo>
                <a:cubicBezTo>
                  <a:pt x="461" y="4"/>
                  <a:pt x="495" y="0"/>
                  <a:pt x="530" y="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321" name="" descr=""/>
          <p:cNvPicPr/>
          <p:nvPr/>
        </p:nvPicPr>
        <p:blipFill>
          <a:blip r:embed="rId1"/>
          <a:stretch/>
        </p:blipFill>
        <p:spPr>
          <a:xfrm>
            <a:off x="10515600" y="38160"/>
            <a:ext cx="1142640" cy="1142640"/>
          </a:xfrm>
          <a:prstGeom prst="rect">
            <a:avLst/>
          </a:prstGeom>
          <a:ln w="0">
            <a:noFill/>
          </a:ln>
        </p:spPr>
      </p:pic>
      <p:sp>
        <p:nvSpPr>
          <p:cNvPr id="322" name=""/>
          <p:cNvSpPr txBox="1"/>
          <p:nvPr/>
        </p:nvSpPr>
        <p:spPr>
          <a:xfrm>
            <a:off x="533520" y="923760"/>
            <a:ext cx="1655640" cy="399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本研究の貢献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3" name=""/>
          <p:cNvSpPr/>
          <p:nvPr/>
        </p:nvSpPr>
        <p:spPr>
          <a:xfrm>
            <a:off x="1361880" y="2085840"/>
            <a:ext cx="105120" cy="105120"/>
          </a:xfrm>
          <a:custGeom>
            <a:avLst/>
            <a:gdLst/>
            <a:ahLst/>
            <a:rect l="0" t="0" r="r" b="b"/>
            <a:pathLst>
              <a:path w="292" h="292">
                <a:moveTo>
                  <a:pt x="292" y="145"/>
                </a:moveTo>
                <a:cubicBezTo>
                  <a:pt x="292" y="155"/>
                  <a:pt x="291" y="164"/>
                  <a:pt x="289" y="175"/>
                </a:cubicBezTo>
                <a:cubicBezTo>
                  <a:pt x="287" y="184"/>
                  <a:pt x="285" y="193"/>
                  <a:pt x="281" y="202"/>
                </a:cubicBezTo>
                <a:cubicBezTo>
                  <a:pt x="277" y="211"/>
                  <a:pt x="273" y="219"/>
                  <a:pt x="268" y="227"/>
                </a:cubicBezTo>
                <a:cubicBezTo>
                  <a:pt x="262" y="235"/>
                  <a:pt x="256" y="243"/>
                  <a:pt x="249" y="249"/>
                </a:cubicBezTo>
                <a:cubicBezTo>
                  <a:pt x="243" y="256"/>
                  <a:pt x="235" y="262"/>
                  <a:pt x="227" y="267"/>
                </a:cubicBezTo>
                <a:cubicBezTo>
                  <a:pt x="219" y="273"/>
                  <a:pt x="211" y="277"/>
                  <a:pt x="202" y="281"/>
                </a:cubicBezTo>
                <a:cubicBezTo>
                  <a:pt x="193" y="284"/>
                  <a:pt x="184" y="287"/>
                  <a:pt x="175" y="289"/>
                </a:cubicBezTo>
                <a:cubicBezTo>
                  <a:pt x="166" y="291"/>
                  <a:pt x="156" y="292"/>
                  <a:pt x="147" y="292"/>
                </a:cubicBezTo>
                <a:cubicBezTo>
                  <a:pt x="136" y="292"/>
                  <a:pt x="127" y="291"/>
                  <a:pt x="117" y="289"/>
                </a:cubicBezTo>
                <a:cubicBezTo>
                  <a:pt x="108" y="287"/>
                  <a:pt x="99" y="284"/>
                  <a:pt x="90" y="281"/>
                </a:cubicBezTo>
                <a:cubicBezTo>
                  <a:pt x="81" y="277"/>
                  <a:pt x="73" y="273"/>
                  <a:pt x="65" y="267"/>
                </a:cubicBezTo>
                <a:cubicBezTo>
                  <a:pt x="57" y="262"/>
                  <a:pt x="49" y="256"/>
                  <a:pt x="43" y="249"/>
                </a:cubicBezTo>
                <a:cubicBezTo>
                  <a:pt x="36" y="243"/>
                  <a:pt x="30" y="235"/>
                  <a:pt x="25" y="227"/>
                </a:cubicBezTo>
                <a:cubicBezTo>
                  <a:pt x="19" y="219"/>
                  <a:pt x="15" y="211"/>
                  <a:pt x="11" y="202"/>
                </a:cubicBezTo>
                <a:cubicBezTo>
                  <a:pt x="7" y="193"/>
                  <a:pt x="5" y="184"/>
                  <a:pt x="3" y="175"/>
                </a:cubicBezTo>
                <a:cubicBezTo>
                  <a:pt x="1" y="164"/>
                  <a:pt x="0" y="155"/>
                  <a:pt x="0" y="145"/>
                </a:cubicBezTo>
                <a:cubicBezTo>
                  <a:pt x="0" y="136"/>
                  <a:pt x="1" y="126"/>
                  <a:pt x="3" y="117"/>
                </a:cubicBezTo>
                <a:cubicBezTo>
                  <a:pt x="5" y="108"/>
                  <a:pt x="7" y="99"/>
                  <a:pt x="11" y="90"/>
                </a:cubicBezTo>
                <a:cubicBezTo>
                  <a:pt x="15" y="81"/>
                  <a:pt x="19" y="72"/>
                  <a:pt x="25" y="65"/>
                </a:cubicBezTo>
                <a:cubicBezTo>
                  <a:pt x="30" y="57"/>
                  <a:pt x="36" y="49"/>
                  <a:pt x="43" y="42"/>
                </a:cubicBezTo>
                <a:cubicBezTo>
                  <a:pt x="49" y="36"/>
                  <a:pt x="57" y="30"/>
                  <a:pt x="65" y="24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7"/>
                  <a:pt x="108" y="5"/>
                  <a:pt x="117" y="3"/>
                </a:cubicBezTo>
                <a:cubicBezTo>
                  <a:pt x="127" y="1"/>
                  <a:pt x="136" y="0"/>
                  <a:pt x="147" y="0"/>
                </a:cubicBezTo>
                <a:cubicBezTo>
                  <a:pt x="156" y="0"/>
                  <a:pt x="166" y="1"/>
                  <a:pt x="175" y="3"/>
                </a:cubicBezTo>
                <a:cubicBezTo>
                  <a:pt x="184" y="5"/>
                  <a:pt x="193" y="7"/>
                  <a:pt x="202" y="11"/>
                </a:cubicBezTo>
                <a:cubicBezTo>
                  <a:pt x="211" y="15"/>
                  <a:pt x="219" y="19"/>
                  <a:pt x="227" y="24"/>
                </a:cubicBezTo>
                <a:cubicBezTo>
                  <a:pt x="235" y="30"/>
                  <a:pt x="243" y="36"/>
                  <a:pt x="249" y="42"/>
                </a:cubicBezTo>
                <a:cubicBezTo>
                  <a:pt x="256" y="49"/>
                  <a:pt x="262" y="57"/>
                  <a:pt x="268" y="65"/>
                </a:cubicBezTo>
                <a:cubicBezTo>
                  <a:pt x="273" y="72"/>
                  <a:pt x="277" y="81"/>
                  <a:pt x="281" y="90"/>
                </a:cubicBezTo>
                <a:cubicBezTo>
                  <a:pt x="285" y="99"/>
                  <a:pt x="287" y="108"/>
                  <a:pt x="289" y="117"/>
                </a:cubicBezTo>
                <a:cubicBezTo>
                  <a:pt x="291" y="126"/>
                  <a:pt x="292" y="136"/>
                  <a:pt x="292" y="145"/>
                </a:cubicBezTo>
                <a:close/>
              </a:path>
            </a:pathLst>
          </a:custGeom>
          <a:noFill/>
          <a:ln w="9360">
            <a:solidFill>
              <a:srgbClr val="111111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4" name=""/>
          <p:cNvSpPr txBox="1"/>
          <p:nvPr/>
        </p:nvSpPr>
        <p:spPr>
          <a:xfrm>
            <a:off x="793800" y="1438200"/>
            <a:ext cx="5090040" cy="401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1. </a:t>
            </a:r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複合劣化に対応する</a:t>
            </a:r>
            <a:r>
              <a:rPr b="0" lang="en-US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3</a:t>
            </a:r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つの手法を提案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5" name=""/>
          <p:cNvSpPr txBox="1"/>
          <p:nvPr/>
        </p:nvSpPr>
        <p:spPr>
          <a:xfrm>
            <a:off x="1638360" y="1942920"/>
            <a:ext cx="9690840" cy="401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環境光の外乱、低解像度、多様な劣化という</a:t>
            </a:r>
            <a:r>
              <a:rPr b="0" lang="en-US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3</a:t>
            </a:r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つの主要課題に対し、それぞれ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6" name=""/>
          <p:cNvSpPr txBox="1"/>
          <p:nvPr/>
        </p:nvSpPr>
        <p:spPr>
          <a:xfrm>
            <a:off x="1638360" y="2362320"/>
            <a:ext cx="10154520" cy="401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SVR</a:t>
            </a:r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を用いた</a:t>
            </a:r>
            <a:r>
              <a:rPr b="0" lang="en-US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Retinex</a:t>
            </a:r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処理、</a:t>
            </a:r>
            <a:r>
              <a:rPr b="0" lang="en-US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SVM</a:t>
            </a:r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を用いた超解像、多重構造</a:t>
            </a:r>
            <a:r>
              <a:rPr b="0" lang="en-US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CNN</a:t>
            </a:r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という機械学習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7" name=""/>
          <p:cNvSpPr txBox="1"/>
          <p:nvPr/>
        </p:nvSpPr>
        <p:spPr>
          <a:xfrm>
            <a:off x="1638360" y="2771640"/>
            <a:ext cx="3310920" cy="399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ベースの手法を提案した。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8" name=""/>
          <p:cNvSpPr/>
          <p:nvPr/>
        </p:nvSpPr>
        <p:spPr>
          <a:xfrm>
            <a:off x="1361880" y="3914640"/>
            <a:ext cx="105120" cy="105120"/>
          </a:xfrm>
          <a:custGeom>
            <a:avLst/>
            <a:gdLst/>
            <a:ahLst/>
            <a:rect l="0" t="0" r="r" b="b"/>
            <a:pathLst>
              <a:path w="292" h="292">
                <a:moveTo>
                  <a:pt x="292" y="146"/>
                </a:moveTo>
                <a:cubicBezTo>
                  <a:pt x="292" y="156"/>
                  <a:pt x="291" y="165"/>
                  <a:pt x="289" y="175"/>
                </a:cubicBezTo>
                <a:cubicBezTo>
                  <a:pt x="287" y="184"/>
                  <a:pt x="285" y="193"/>
                  <a:pt x="281" y="202"/>
                </a:cubicBezTo>
                <a:cubicBezTo>
                  <a:pt x="277" y="211"/>
                  <a:pt x="273" y="219"/>
                  <a:pt x="268" y="227"/>
                </a:cubicBezTo>
                <a:cubicBezTo>
                  <a:pt x="262" y="235"/>
                  <a:pt x="256" y="243"/>
                  <a:pt x="249" y="249"/>
                </a:cubicBezTo>
                <a:cubicBezTo>
                  <a:pt x="243" y="256"/>
                  <a:pt x="235" y="262"/>
                  <a:pt x="227" y="267"/>
                </a:cubicBezTo>
                <a:cubicBezTo>
                  <a:pt x="219" y="273"/>
                  <a:pt x="211" y="277"/>
                  <a:pt x="202" y="281"/>
                </a:cubicBezTo>
                <a:cubicBezTo>
                  <a:pt x="193" y="284"/>
                  <a:pt x="184" y="287"/>
                  <a:pt x="175" y="289"/>
                </a:cubicBezTo>
                <a:cubicBezTo>
                  <a:pt x="166" y="291"/>
                  <a:pt x="156" y="292"/>
                  <a:pt x="147" y="292"/>
                </a:cubicBezTo>
                <a:cubicBezTo>
                  <a:pt x="136" y="292"/>
                  <a:pt x="127" y="291"/>
                  <a:pt x="117" y="289"/>
                </a:cubicBezTo>
                <a:cubicBezTo>
                  <a:pt x="108" y="287"/>
                  <a:pt x="99" y="284"/>
                  <a:pt x="90" y="281"/>
                </a:cubicBezTo>
                <a:cubicBezTo>
                  <a:pt x="81" y="277"/>
                  <a:pt x="73" y="273"/>
                  <a:pt x="65" y="267"/>
                </a:cubicBezTo>
                <a:cubicBezTo>
                  <a:pt x="57" y="262"/>
                  <a:pt x="49" y="256"/>
                  <a:pt x="43" y="249"/>
                </a:cubicBezTo>
                <a:cubicBezTo>
                  <a:pt x="36" y="243"/>
                  <a:pt x="30" y="235"/>
                  <a:pt x="25" y="227"/>
                </a:cubicBezTo>
                <a:cubicBezTo>
                  <a:pt x="19" y="219"/>
                  <a:pt x="15" y="211"/>
                  <a:pt x="11" y="202"/>
                </a:cubicBezTo>
                <a:cubicBezTo>
                  <a:pt x="7" y="193"/>
                  <a:pt x="5" y="184"/>
                  <a:pt x="3" y="175"/>
                </a:cubicBezTo>
                <a:cubicBezTo>
                  <a:pt x="1" y="165"/>
                  <a:pt x="0" y="156"/>
                  <a:pt x="0" y="146"/>
                </a:cubicBezTo>
                <a:cubicBezTo>
                  <a:pt x="0" y="137"/>
                  <a:pt x="1" y="127"/>
                  <a:pt x="3" y="118"/>
                </a:cubicBezTo>
                <a:cubicBezTo>
                  <a:pt x="5" y="109"/>
                  <a:pt x="7" y="100"/>
                  <a:pt x="11" y="91"/>
                </a:cubicBezTo>
                <a:cubicBezTo>
                  <a:pt x="15" y="82"/>
                  <a:pt x="19" y="73"/>
                  <a:pt x="25" y="66"/>
                </a:cubicBezTo>
                <a:cubicBezTo>
                  <a:pt x="30" y="58"/>
                  <a:pt x="36" y="50"/>
                  <a:pt x="43" y="43"/>
                </a:cubicBezTo>
                <a:cubicBezTo>
                  <a:pt x="49" y="36"/>
                  <a:pt x="57" y="30"/>
                  <a:pt x="65" y="24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7"/>
                  <a:pt x="108" y="5"/>
                  <a:pt x="117" y="3"/>
                </a:cubicBezTo>
                <a:cubicBezTo>
                  <a:pt x="127" y="1"/>
                  <a:pt x="136" y="0"/>
                  <a:pt x="147" y="0"/>
                </a:cubicBezTo>
                <a:cubicBezTo>
                  <a:pt x="156" y="0"/>
                  <a:pt x="166" y="1"/>
                  <a:pt x="175" y="3"/>
                </a:cubicBezTo>
                <a:cubicBezTo>
                  <a:pt x="184" y="5"/>
                  <a:pt x="193" y="7"/>
                  <a:pt x="202" y="11"/>
                </a:cubicBezTo>
                <a:cubicBezTo>
                  <a:pt x="211" y="15"/>
                  <a:pt x="219" y="19"/>
                  <a:pt x="227" y="24"/>
                </a:cubicBezTo>
                <a:cubicBezTo>
                  <a:pt x="235" y="30"/>
                  <a:pt x="243" y="36"/>
                  <a:pt x="249" y="43"/>
                </a:cubicBezTo>
                <a:cubicBezTo>
                  <a:pt x="256" y="50"/>
                  <a:pt x="262" y="58"/>
                  <a:pt x="268" y="66"/>
                </a:cubicBezTo>
                <a:cubicBezTo>
                  <a:pt x="273" y="73"/>
                  <a:pt x="277" y="82"/>
                  <a:pt x="281" y="91"/>
                </a:cubicBezTo>
                <a:cubicBezTo>
                  <a:pt x="285" y="100"/>
                  <a:pt x="287" y="109"/>
                  <a:pt x="289" y="118"/>
                </a:cubicBezTo>
                <a:cubicBezTo>
                  <a:pt x="291" y="127"/>
                  <a:pt x="292" y="137"/>
                  <a:pt x="292" y="146"/>
                </a:cubicBezTo>
                <a:close/>
              </a:path>
            </a:pathLst>
          </a:custGeom>
          <a:noFill/>
          <a:ln w="9360">
            <a:solidFill>
              <a:srgbClr val="111111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9" name=""/>
          <p:cNvSpPr txBox="1"/>
          <p:nvPr/>
        </p:nvSpPr>
        <p:spPr>
          <a:xfrm>
            <a:off x="793800" y="3257640"/>
            <a:ext cx="4502880" cy="401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2. </a:t>
            </a:r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従来法を大幅に上回る性能を実証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0" name=""/>
          <p:cNvSpPr txBox="1"/>
          <p:nvPr/>
        </p:nvSpPr>
        <p:spPr>
          <a:xfrm>
            <a:off x="1638360" y="3771720"/>
            <a:ext cx="10065600" cy="401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各手法がそれぞれの課題において従来法を最大</a:t>
            </a:r>
            <a:r>
              <a:rPr b="0" lang="en-US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32%</a:t>
            </a:r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上回る性能向上を達成し、そ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1" name=""/>
          <p:cNvSpPr txBox="1"/>
          <p:nvPr/>
        </p:nvSpPr>
        <p:spPr>
          <a:xfrm>
            <a:off x="1638360" y="4181400"/>
            <a:ext cx="3586680" cy="399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の有効性を実験的に示した。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2" name=""/>
          <p:cNvSpPr/>
          <p:nvPr/>
        </p:nvSpPr>
        <p:spPr>
          <a:xfrm>
            <a:off x="1361880" y="5314680"/>
            <a:ext cx="105120" cy="105120"/>
          </a:xfrm>
          <a:custGeom>
            <a:avLst/>
            <a:gdLst/>
            <a:ahLst/>
            <a:rect l="0" t="0" r="r" b="b"/>
            <a:pathLst>
              <a:path w="292" h="292">
                <a:moveTo>
                  <a:pt x="292" y="146"/>
                </a:moveTo>
                <a:cubicBezTo>
                  <a:pt x="292" y="155"/>
                  <a:pt x="291" y="165"/>
                  <a:pt x="289" y="174"/>
                </a:cubicBezTo>
                <a:cubicBezTo>
                  <a:pt x="287" y="184"/>
                  <a:pt x="285" y="193"/>
                  <a:pt x="281" y="201"/>
                </a:cubicBezTo>
                <a:cubicBezTo>
                  <a:pt x="277" y="210"/>
                  <a:pt x="273" y="219"/>
                  <a:pt x="268" y="228"/>
                </a:cubicBezTo>
                <a:cubicBezTo>
                  <a:pt x="262" y="236"/>
                  <a:pt x="256" y="243"/>
                  <a:pt x="249" y="250"/>
                </a:cubicBezTo>
                <a:cubicBezTo>
                  <a:pt x="243" y="256"/>
                  <a:pt x="235" y="262"/>
                  <a:pt x="227" y="268"/>
                </a:cubicBezTo>
                <a:cubicBezTo>
                  <a:pt x="219" y="273"/>
                  <a:pt x="211" y="278"/>
                  <a:pt x="202" y="281"/>
                </a:cubicBezTo>
                <a:cubicBezTo>
                  <a:pt x="193" y="285"/>
                  <a:pt x="184" y="288"/>
                  <a:pt x="175" y="289"/>
                </a:cubicBezTo>
                <a:cubicBezTo>
                  <a:pt x="166" y="291"/>
                  <a:pt x="156" y="292"/>
                  <a:pt x="147" y="292"/>
                </a:cubicBezTo>
                <a:cubicBezTo>
                  <a:pt x="136" y="292"/>
                  <a:pt x="127" y="291"/>
                  <a:pt x="117" y="289"/>
                </a:cubicBezTo>
                <a:cubicBezTo>
                  <a:pt x="108" y="288"/>
                  <a:pt x="99" y="285"/>
                  <a:pt x="90" y="281"/>
                </a:cubicBezTo>
                <a:cubicBezTo>
                  <a:pt x="81" y="278"/>
                  <a:pt x="73" y="273"/>
                  <a:pt x="65" y="268"/>
                </a:cubicBezTo>
                <a:cubicBezTo>
                  <a:pt x="57" y="262"/>
                  <a:pt x="49" y="256"/>
                  <a:pt x="43" y="250"/>
                </a:cubicBezTo>
                <a:cubicBezTo>
                  <a:pt x="36" y="243"/>
                  <a:pt x="30" y="236"/>
                  <a:pt x="25" y="228"/>
                </a:cubicBezTo>
                <a:cubicBezTo>
                  <a:pt x="19" y="219"/>
                  <a:pt x="15" y="210"/>
                  <a:pt x="11" y="201"/>
                </a:cubicBezTo>
                <a:cubicBezTo>
                  <a:pt x="7" y="193"/>
                  <a:pt x="5" y="184"/>
                  <a:pt x="3" y="174"/>
                </a:cubicBezTo>
                <a:cubicBezTo>
                  <a:pt x="1" y="165"/>
                  <a:pt x="0" y="155"/>
                  <a:pt x="0" y="146"/>
                </a:cubicBezTo>
                <a:cubicBezTo>
                  <a:pt x="0" y="136"/>
                  <a:pt x="1" y="127"/>
                  <a:pt x="3" y="117"/>
                </a:cubicBezTo>
                <a:cubicBezTo>
                  <a:pt x="5" y="108"/>
                  <a:pt x="7" y="99"/>
                  <a:pt x="11" y="90"/>
                </a:cubicBezTo>
                <a:cubicBezTo>
                  <a:pt x="15" y="81"/>
                  <a:pt x="19" y="73"/>
                  <a:pt x="25" y="65"/>
                </a:cubicBezTo>
                <a:cubicBezTo>
                  <a:pt x="30" y="57"/>
                  <a:pt x="36" y="50"/>
                  <a:pt x="43" y="43"/>
                </a:cubicBezTo>
                <a:cubicBezTo>
                  <a:pt x="49" y="36"/>
                  <a:pt x="57" y="30"/>
                  <a:pt x="65" y="25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8"/>
                  <a:pt x="108" y="5"/>
                  <a:pt x="117" y="3"/>
                </a:cubicBezTo>
                <a:cubicBezTo>
                  <a:pt x="127" y="1"/>
                  <a:pt x="136" y="0"/>
                  <a:pt x="147" y="0"/>
                </a:cubicBezTo>
                <a:cubicBezTo>
                  <a:pt x="156" y="0"/>
                  <a:pt x="166" y="1"/>
                  <a:pt x="175" y="3"/>
                </a:cubicBezTo>
                <a:cubicBezTo>
                  <a:pt x="184" y="5"/>
                  <a:pt x="193" y="8"/>
                  <a:pt x="202" y="11"/>
                </a:cubicBezTo>
                <a:cubicBezTo>
                  <a:pt x="211" y="15"/>
                  <a:pt x="219" y="19"/>
                  <a:pt x="227" y="25"/>
                </a:cubicBezTo>
                <a:cubicBezTo>
                  <a:pt x="235" y="30"/>
                  <a:pt x="243" y="36"/>
                  <a:pt x="249" y="43"/>
                </a:cubicBezTo>
                <a:cubicBezTo>
                  <a:pt x="256" y="50"/>
                  <a:pt x="262" y="57"/>
                  <a:pt x="268" y="65"/>
                </a:cubicBezTo>
                <a:cubicBezTo>
                  <a:pt x="273" y="73"/>
                  <a:pt x="277" y="81"/>
                  <a:pt x="281" y="90"/>
                </a:cubicBezTo>
                <a:cubicBezTo>
                  <a:pt x="285" y="99"/>
                  <a:pt x="287" y="108"/>
                  <a:pt x="289" y="117"/>
                </a:cubicBezTo>
                <a:cubicBezTo>
                  <a:pt x="291" y="127"/>
                  <a:pt x="292" y="136"/>
                  <a:pt x="292" y="146"/>
                </a:cubicBezTo>
                <a:close/>
              </a:path>
            </a:pathLst>
          </a:custGeom>
          <a:noFill/>
          <a:ln w="9360">
            <a:solidFill>
              <a:srgbClr val="111111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3" name=""/>
          <p:cNvSpPr txBox="1"/>
          <p:nvPr/>
        </p:nvSpPr>
        <p:spPr>
          <a:xfrm>
            <a:off x="793800" y="4667400"/>
            <a:ext cx="5054400" cy="401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3. </a:t>
            </a:r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高い実用性と社会的インパクトを示唆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4" name=""/>
          <p:cNvSpPr txBox="1"/>
          <p:nvPr/>
        </p:nvSpPr>
        <p:spPr>
          <a:xfrm>
            <a:off x="1638360" y="5172120"/>
            <a:ext cx="9966960" cy="401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全手法の統合により、認識性能は従来比で約</a:t>
            </a:r>
            <a:r>
              <a:rPr b="0" lang="en-US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2</a:t>
            </a:r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倍に向上。これにより、犯罪捜査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5" name=""/>
          <p:cNvSpPr txBox="1"/>
          <p:nvPr/>
        </p:nvSpPr>
        <p:spPr>
          <a:xfrm>
            <a:off x="1638360" y="5591160"/>
            <a:ext cx="9930960" cy="399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における車両絞り込み効率を飛躍的に高め、捜査コストを大幅に削減できる可能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6" name=""/>
          <p:cNvSpPr txBox="1"/>
          <p:nvPr/>
        </p:nvSpPr>
        <p:spPr>
          <a:xfrm>
            <a:off x="1638360" y="6000840"/>
            <a:ext cx="1655640" cy="399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性を示した。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7" name=""/>
          <p:cNvSpPr/>
          <p:nvPr/>
        </p:nvSpPr>
        <p:spPr>
          <a:xfrm>
            <a:off x="533160" y="561960"/>
            <a:ext cx="267120" cy="57240"/>
          </a:xfrm>
          <a:custGeom>
            <a:avLst/>
            <a:gdLst/>
            <a:ahLst/>
            <a:rect l="0" t="0" r="r" b="b"/>
            <a:pathLst>
              <a:path w="742" h="159">
                <a:moveTo>
                  <a:pt x="0" y="106"/>
                </a:moveTo>
                <a:lnTo>
                  <a:pt x="0" y="52"/>
                </a:lnTo>
                <a:cubicBezTo>
                  <a:pt x="0" y="45"/>
                  <a:pt x="2" y="39"/>
                  <a:pt x="4" y="32"/>
                </a:cubicBezTo>
                <a:cubicBezTo>
                  <a:pt x="7" y="26"/>
                  <a:pt x="11" y="20"/>
                  <a:pt x="16" y="15"/>
                </a:cubicBezTo>
                <a:cubicBezTo>
                  <a:pt x="21" y="10"/>
                  <a:pt x="26" y="6"/>
                  <a:pt x="33" y="4"/>
                </a:cubicBezTo>
                <a:cubicBezTo>
                  <a:pt x="39" y="1"/>
                  <a:pt x="46" y="0"/>
                  <a:pt x="53" y="0"/>
                </a:cubicBezTo>
                <a:lnTo>
                  <a:pt x="689" y="0"/>
                </a:lnTo>
                <a:cubicBezTo>
                  <a:pt x="696" y="0"/>
                  <a:pt x="703" y="1"/>
                  <a:pt x="709" y="4"/>
                </a:cubicBezTo>
                <a:cubicBezTo>
                  <a:pt x="716" y="6"/>
                  <a:pt x="722" y="10"/>
                  <a:pt x="727" y="15"/>
                </a:cubicBezTo>
                <a:cubicBezTo>
                  <a:pt x="731" y="20"/>
                  <a:pt x="735" y="26"/>
                  <a:pt x="738" y="32"/>
                </a:cubicBezTo>
                <a:cubicBezTo>
                  <a:pt x="741" y="39"/>
                  <a:pt x="742" y="45"/>
                  <a:pt x="742" y="52"/>
                </a:cubicBezTo>
                <a:lnTo>
                  <a:pt x="742" y="106"/>
                </a:lnTo>
                <a:cubicBezTo>
                  <a:pt x="742" y="113"/>
                  <a:pt x="741" y="120"/>
                  <a:pt x="738" y="127"/>
                </a:cubicBezTo>
                <a:cubicBezTo>
                  <a:pt x="735" y="133"/>
                  <a:pt x="731" y="139"/>
                  <a:pt x="727" y="144"/>
                </a:cubicBezTo>
                <a:cubicBezTo>
                  <a:pt x="722" y="149"/>
                  <a:pt x="716" y="153"/>
                  <a:pt x="709" y="155"/>
                </a:cubicBezTo>
                <a:cubicBezTo>
                  <a:pt x="703" y="158"/>
                  <a:pt x="696" y="159"/>
                  <a:pt x="689" y="159"/>
                </a:cubicBezTo>
                <a:lnTo>
                  <a:pt x="53" y="159"/>
                </a:lnTo>
                <a:cubicBezTo>
                  <a:pt x="46" y="159"/>
                  <a:pt x="39" y="158"/>
                  <a:pt x="33" y="155"/>
                </a:cubicBezTo>
                <a:cubicBezTo>
                  <a:pt x="26" y="153"/>
                  <a:pt x="21" y="149"/>
                  <a:pt x="16" y="144"/>
                </a:cubicBezTo>
                <a:cubicBezTo>
                  <a:pt x="11" y="139"/>
                  <a:pt x="7" y="133"/>
                  <a:pt x="4" y="127"/>
                </a:cubicBezTo>
                <a:cubicBezTo>
                  <a:pt x="2" y="120"/>
                  <a:pt x="0" y="113"/>
                  <a:pt x="0" y="106"/>
                </a:cubicBezTo>
                <a:close/>
              </a:path>
            </a:pathLst>
          </a:custGeom>
          <a:solidFill>
            <a:srgbClr val="0b4b7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38" name=""/>
          <p:cNvSpPr txBox="1"/>
          <p:nvPr/>
        </p:nvSpPr>
        <p:spPr>
          <a:xfrm>
            <a:off x="914400" y="392400"/>
            <a:ext cx="745920" cy="360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1950" spc="-1" strike="noStrike">
                <a:solidFill>
                  <a:srgbClr val="111111"/>
                </a:solidFill>
                <a:latin typeface="NotoSansJP"/>
                <a:ea typeface="NotoSansJP"/>
              </a:rPr>
              <a:t>まとめ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9" name=""/>
          <p:cNvSpPr txBox="1"/>
          <p:nvPr/>
        </p:nvSpPr>
        <p:spPr>
          <a:xfrm>
            <a:off x="11777400" y="6436800"/>
            <a:ext cx="348120" cy="416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400" spc="-1" strike="noStrike">
                <a:solidFill>
                  <a:srgbClr val="111111"/>
                </a:solidFill>
                <a:latin typeface="NotoSansJP"/>
                <a:ea typeface="NotoSansJP"/>
              </a:rPr>
              <a:t>14</a:t>
            </a:r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LibreOffice/24.2.7.2$Linux_AARCH64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cp:revision>0</cp:revision>
  <dc:subject/>
  <dc:title/>
</cp:coreProperties>
</file>