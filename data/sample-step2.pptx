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4946400" y="180828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論⽂紹介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5937120" y="1871280"/>
            <a:ext cx="1311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0b4b78"/>
                </a:solidFill>
                <a:latin typeface="Arial"/>
                <a:ea typeface="Arial"/>
              </a:rPr>
              <a:t> </a:t>
            </a:r>
            <a:r>
              <a:rPr b="0" lang="en-US" sz="1950" spc="-1" strike="noStrike">
                <a:solidFill>
                  <a:srgbClr val="0b4b78"/>
                </a:solidFill>
                <a:latin typeface="Arial"/>
                <a:ea typeface="Arial"/>
              </a:rPr>
              <a:t>2026/04/07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1355040" y="2409840"/>
            <a:ext cx="954108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機械学習による複合劣化ナンバープレート画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" name="" descr=""/>
          <p:cNvPicPr/>
          <p:nvPr/>
        </p:nvPicPr>
        <p:blipFill>
          <a:blip r:embed="rId1"/>
          <a:stretch/>
        </p:blipFill>
        <p:spPr>
          <a:xfrm>
            <a:off x="4809960" y="-190440"/>
            <a:ext cx="2571480" cy="2571480"/>
          </a:xfrm>
          <a:prstGeom prst="rect">
            <a:avLst/>
          </a:prstGeom>
          <a:ln w="0">
            <a:noFill/>
          </a:ln>
        </p:spPr>
      </p:pic>
      <p:sp>
        <p:nvSpPr>
          <p:cNvPr id="11" name=""/>
          <p:cNvSpPr/>
          <p:nvPr/>
        </p:nvSpPr>
        <p:spPr>
          <a:xfrm>
            <a:off x="0" y="3771720"/>
            <a:ext cx="12192120" cy="3086280"/>
          </a:xfrm>
          <a:custGeom>
            <a:avLst/>
            <a:gdLst/>
            <a:ahLst/>
            <a:rect l="0" t="0" r="r" b="b"/>
            <a:pathLst>
              <a:path w="33867" h="8573">
                <a:moveTo>
                  <a:pt x="0" y="0"/>
                </a:moveTo>
                <a:lnTo>
                  <a:pt x="33867" y="0"/>
                </a:lnTo>
                <a:lnTo>
                  <a:pt x="33867" y="8573"/>
                </a:lnTo>
                <a:lnTo>
                  <a:pt x="0" y="85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3476520" y="3124080"/>
            <a:ext cx="524772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像の画質改善と⽂字認識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53200" y="4668840"/>
            <a:ext cx="16009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CJKjp"/>
                <a:ea typeface="NotoSansCJKjp"/>
              </a:rPr>
              <a:t>理学部 化学科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438880" y="5240520"/>
            <a:ext cx="143316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CJKjp"/>
                <a:ea typeface="NotoSansCJKjp"/>
              </a:rPr>
              <a:t>知能 太郎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3009960" y="22291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1.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348720" y="2151360"/>
            <a:ext cx="213444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研究背景と課題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009960" y="26863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2.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348720" y="2608560"/>
            <a:ext cx="122004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提案⼿法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3009960" y="31435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3.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348720" y="3065760"/>
            <a:ext cx="152460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実験と結果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009960" y="36007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4.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3348720" y="3522960"/>
            <a:ext cx="61020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考察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3009960" y="40579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5.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3348720" y="3980160"/>
            <a:ext cx="91512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まとめ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209520" y="266400"/>
            <a:ext cx="152640" cy="305280"/>
          </a:xfrm>
          <a:custGeom>
            <a:avLst/>
            <a:gdLst/>
            <a:ahLst/>
            <a:rect l="0" t="0" r="r" b="b"/>
            <a:pathLst>
              <a:path w="424" h="848">
                <a:moveTo>
                  <a:pt x="0" y="0"/>
                </a:moveTo>
                <a:lnTo>
                  <a:pt x="424" y="0"/>
                </a:lnTo>
                <a:lnTo>
                  <a:pt x="4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30" name="" descr=""/>
          <p:cNvPicPr/>
          <p:nvPr/>
        </p:nvPicPr>
        <p:blipFill>
          <a:blip r:embed="rId1"/>
          <a:stretch/>
        </p:blipFill>
        <p:spPr>
          <a:xfrm>
            <a:off x="10744200" y="-219240"/>
            <a:ext cx="1256760" cy="1256760"/>
          </a:xfrm>
          <a:prstGeom prst="rect">
            <a:avLst/>
          </a:prstGeom>
          <a:ln w="0">
            <a:noFill/>
          </a:ln>
        </p:spPr>
      </p:pic>
      <p:sp>
        <p:nvSpPr>
          <p:cNvPr id="31" name=""/>
          <p:cNvSpPr/>
          <p:nvPr/>
        </p:nvSpPr>
        <p:spPr>
          <a:xfrm>
            <a:off x="2666880" y="23335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2666880" y="27907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2666880" y="3247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2666880" y="37051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2666880" y="41623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495360" y="129240"/>
            <a:ext cx="1623960" cy="46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5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アジェンダ</a:t>
            </a:r>
            <a:endParaRPr b="0" lang="en-US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43" name=""/>
          <p:cNvSpPr txBox="1"/>
          <p:nvPr/>
        </p:nvSpPr>
        <p:spPr>
          <a:xfrm>
            <a:off x="533520" y="87012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実環境の監視カメラ映像は、ナンバープレート認識を困難にする「複合劣化」を伴う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85716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533520" y="138456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監視カメラの重要性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085760" y="18892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防犯や犯罪捜査において、監視カメラ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857160" y="2990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3" y="240"/>
                  <a:pt x="88" y="237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3" y="194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085760" y="23083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映像は重要な役割を担う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085760" y="27943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特に⾞両が関わる事件では、ナンバー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085760" y="32040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プレートの⾃動認識が捜査の鍵となる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857160" y="48956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33520" y="418500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実環境における画質の課題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085760" y="46990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実際の映像は、様々な要因が組み合わ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857160" y="5790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3"/>
                </a:cubicBezTo>
                <a:cubicBezTo>
                  <a:pt x="23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85760" y="5108760"/>
            <a:ext cx="4138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さった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「複合劣化」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を被っている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085760" y="559476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低解像度、照明変動、ノイズ、撮影ブ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857160" y="66862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5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1085760" y="60040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レなど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085760" y="64900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従来技術では、複合劣化した画像の⾼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229440" y="138456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複合劣化画像の例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43912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860796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916020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9237240" y="13845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9513360" y="145512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5.15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005084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より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059768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634284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6419520" y="18892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669564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6849360" y="18892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様々な照明や⾓度で撮影された、不鮮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7256520" y="230832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明なナンバープレート画像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055448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6229440" y="281340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本研究では、機械学習を⽤いてこの複合劣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229440" y="323244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化の問題にアプローチします。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研究背景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 txBox="1"/>
          <p:nvPr/>
        </p:nvSpPr>
        <p:spPr>
          <a:xfrm>
            <a:off x="533520" y="87012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複合劣化画像からの⾼精度な⽂字認識を実現する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778680" y="14551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140940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1085760" y="138456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ロバスト性の⽋如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1409400" y="2571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638360" y="188928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ナンバープレート灯やヘッドライトによる</a:t>
            </a:r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環境光の外乱（⽩⾶びなど）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に弱い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638360" y="237528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従来の画質改善法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3848040" y="2445480"/>
            <a:ext cx="1026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4876560" y="23752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5153040" y="24454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5244840" y="237528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では、照明成分の推定精度が限定的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78680" y="293148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1409400" y="3562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6" y="192"/>
                  <a:pt x="205" y="203"/>
                </a:cubicBezTo>
                <a:cubicBezTo>
                  <a:pt x="193" y="214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4"/>
                  <a:pt x="36" y="203"/>
                </a:cubicBezTo>
                <a:cubicBezTo>
                  <a:pt x="25" y="192"/>
                  <a:pt x="16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1085760" y="286092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効率性の低さ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1409400" y="4047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638360" y="3365640"/>
            <a:ext cx="9103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低解像度で⽂字情報が⽋落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した画像から、効率的に情報を再構成できない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1638360" y="385164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従来の超解像技術ではアーティファクト（偽の模様）が発⽣しやすい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778680" y="44078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1409400" y="50385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1085760" y="433728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適応性の不⾜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1409400" y="5524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6" y="60"/>
                  <a:pt x="25" y="47"/>
                  <a:pt x="36" y="36"/>
                </a:cubicBezTo>
                <a:cubicBezTo>
                  <a:pt x="47" y="25"/>
                  <a:pt x="60" y="16"/>
                  <a:pt x="75" y="10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10"/>
                </a:cubicBezTo>
                <a:cubicBezTo>
                  <a:pt x="181" y="16"/>
                  <a:pt x="193" y="25"/>
                  <a:pt x="205" y="36"/>
                </a:cubicBezTo>
                <a:cubicBezTo>
                  <a:pt x="216" y="47"/>
                  <a:pt x="224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1638360" y="484200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多様な⽂字フォントや、様々な種類の複合劣化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に対し、柔軟に対応できない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638360" y="532800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2467080" y="53982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3065400" y="532800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は⼊⼒画像の解像度が固定されており、劣化状態に応じた処理が困難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914400" y="351000"/>
            <a:ext cx="1242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解決したい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2152800" y="414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229032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18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19" name=""/>
          <p:cNvSpPr txBox="1"/>
          <p:nvPr/>
        </p:nvSpPr>
        <p:spPr>
          <a:xfrm>
            <a:off x="53352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86880" y="870120"/>
            <a:ext cx="7172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つの課題に対し、それぞれに特化した機械学習⼿法を提案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3352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085760" y="1455120"/>
            <a:ext cx="322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408320" y="13845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ロバスト性の⽋如（環境光）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533520" y="18892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1085760" y="1959840"/>
            <a:ext cx="889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083a5e"/>
                </a:solidFill>
                <a:latin typeface="Arial"/>
                <a:ea typeface="Arial"/>
              </a:rPr>
              <a:t>1: SVR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1976040" y="18892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を⽤いた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3081240" y="1959840"/>
            <a:ext cx="99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083a5e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857160" y="26002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4078800" y="18892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処理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085760" y="240372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サポートベクター回帰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3836880" y="247428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(SVR)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4588920" y="24037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で照明成分を⾼精度に推定し、外乱を除去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33520" y="2965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1085760" y="3036240"/>
            <a:ext cx="322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408320" y="296568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効率性の低さ（低解像度）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533520" y="34801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1085760" y="3550320"/>
            <a:ext cx="919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083a5e"/>
                </a:solidFill>
                <a:latin typeface="Arial"/>
                <a:ea typeface="Arial"/>
              </a:rPr>
              <a:t>2: 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857160" y="41814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006640" y="348012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を⽤いた画素値選択型超解像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085760" y="39848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サポートベクターマシン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113360" y="4055400"/>
            <a:ext cx="780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(SVM)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896000" y="398484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で最適な画素を選択し、鮮明な画像を再構成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533520" y="45565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085760" y="4626720"/>
            <a:ext cx="322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1408320" y="455652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適応性の不⾜（多様な劣化）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533520" y="50612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1085760" y="5131800"/>
            <a:ext cx="322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083a5e"/>
                </a:solidFill>
                <a:latin typeface="Arial"/>
                <a:ea typeface="Arial"/>
              </a:rPr>
              <a:t>3: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408320" y="50612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2513160" y="51318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083a5e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857160" y="5771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3111480" y="506124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による⽂字認識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1085760" y="5575680"/>
            <a:ext cx="9103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複数の解像度の画像を並列処理し、劣化状態に応じて最適な情報から認識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909000" y="65566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これら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737720" y="66272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1891080" y="655668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つの⼿法を統合し、複合劣化画像に対する総合的な認識性能の向上を⽬指す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914400" y="3510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提案⼿法の全体像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63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164" name=""/>
          <p:cNvSpPr txBox="1"/>
          <p:nvPr/>
        </p:nvSpPr>
        <p:spPr>
          <a:xfrm>
            <a:off x="533520" y="87012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サポートベクター回帰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3284640" y="94068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(SVR)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036680" y="870120"/>
            <a:ext cx="5793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により、環境光の外乱に頑健な画質改善を実現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533520" y="138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1638360" y="1455120"/>
            <a:ext cx="1332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(Retinex)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85716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2973600" y="13845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1085760" y="18892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照明成分の推定精度が低く、⽩⾶びな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857160" y="2990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3" y="240"/>
                  <a:pt x="88" y="237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3" y="194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085760" y="23083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どを⼗分に除去できない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085760" y="286452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Halo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1653840" y="279432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アーティファクト（輪郭の不⾃然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1085760" y="320400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な強調）が発⽣しやすい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857160" y="48956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533520" y="41850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提案⼿法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085760" y="469908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機械学習の⼀種である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3845520" y="476964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413600" y="469908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を⽤いて、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857160" y="5790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3"/>
                </a:cubicBezTo>
                <a:cubicBezTo>
                  <a:pt x="23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1085760" y="510876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画像中の照明成分をより⾼精度に推定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1085760" y="55947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これにより、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2726640" y="566496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Halo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3294720" y="559476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を抑制しつつ、環境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085760" y="600408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光の外乱を効果的に除去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6652440" y="138456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画質改善効果の⽐較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913824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930708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985968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9936360" y="13845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10212480" y="145512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2.9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059660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より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1114344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626616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6342840" y="18892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6618960" y="1959840"/>
            <a:ext cx="489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(a)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7110000" y="18892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補正前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7938720" y="1959840"/>
            <a:ext cx="114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, (b)SSR(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9090000" y="18892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9918720" y="1959840"/>
            <a:ext cx="1425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), (c)2MSR(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11345400" y="18892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6274440" y="23083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来法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6826680" y="2378880"/>
            <a:ext cx="582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), (d)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7409880" y="2308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823860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8315280" y="230832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のナンバープレート画像⽐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7110000" y="271800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較。提案法が最も⾃然で鮮明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10701000" y="27885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6229440" y="32324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7334280" y="3303000"/>
            <a:ext cx="337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(d)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7671960" y="323244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は、⽩⾶びが抑制され、⽂字が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6229440" y="364212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最もクリアになっている。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1905120" y="414000"/>
            <a:ext cx="8010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1: SVR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270324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3693960" y="414000"/>
            <a:ext cx="896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4588560" y="3510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26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27" name=""/>
          <p:cNvSpPr txBox="1"/>
          <p:nvPr/>
        </p:nvSpPr>
        <p:spPr>
          <a:xfrm>
            <a:off x="533520" y="8701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サポートベクターマシン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3560760" y="940680"/>
            <a:ext cx="780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(SVM)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4343400" y="87012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により、低解像度から鮮明な画像を効率的に復元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533520" y="138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163836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1807200" y="13845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263556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85716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2804400" y="13845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085760" y="18892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複数の低解像度画像を合成する際、情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085760" y="23083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報が⽋落している部分にアーティファ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857160" y="3400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4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3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085760" y="271800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クト（偽の模様）が発⽣しやすい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085760" y="320400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特に⽂字の輪郭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3019320" y="3274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3111480" y="320400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エッジ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3940200" y="3274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032000" y="32040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がぼやけてし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085760" y="36230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まう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857160" y="5305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533520" y="46040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提案⼿法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1085760" y="510876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複数の低解像度フレームの中から、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085760" y="559836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684440" y="552780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を⽤いて「最も確からしい」画素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857160" y="66196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1085760" y="593748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を選択して⾼解像度画像を再構成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1085760" y="64231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アーティファクトを抑制し、鮮明なエ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6713640" y="138456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超解像結果の⽐較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892332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909216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964476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9721440" y="13845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9997560" y="145512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3.10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1053504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より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1108224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630432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381000" y="18892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6657480" y="1959840"/>
            <a:ext cx="489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(a)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7148520" y="188928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8529480" y="1959840"/>
            <a:ext cx="489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, (b)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9020520" y="188928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1040184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10478520" y="18892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のナンバ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328080" y="23083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ープレート画像⽐較。提案法の⽅が⽂字の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7947000" y="271800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輪郭がシャープ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9864000" y="27885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6229440" y="32324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7334280" y="3303000"/>
            <a:ext cx="337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(b)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7671960" y="323244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は、従来⼿法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9329040" y="3303000"/>
            <a:ext cx="337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(a)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9666720" y="323244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に⽐べて⽂字の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6229440" y="364212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エッジが鮮明に復元されている。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905120" y="414000"/>
            <a:ext cx="8283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2: SVM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2730600" y="351000"/>
            <a:ext cx="3229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を⽤いた画素値選択型超解像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88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289" name=""/>
          <p:cNvSpPr txBox="1"/>
          <p:nvPr/>
        </p:nvSpPr>
        <p:spPr>
          <a:xfrm>
            <a:off x="533520" y="87012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複数の解像度を並列処理する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4124160" y="94068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4722840" y="8701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アーキテクチャにより、多様な劣化に適応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533520" y="138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3836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1807200" y="138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単⼀構造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2912040" y="1455120"/>
            <a:ext cx="765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85716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3679200" y="13845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1085760" y="18892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⼊⼒画像の解像度が固定されているた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1085760" y="23083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め、劣化の度合いに応じた最適な処理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857160" y="3400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4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3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1085760" y="271800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1085760" y="32040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劣化が強い画像では認識性能が⼤幅に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085760" y="36230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低下する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857160" y="5305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33520" y="46040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提案⼿法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1085760" y="510876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⼊⼒画像を複数の解像度（イメージピ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857160" y="62006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6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1085760" y="552780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ラミッド）に変換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085760" y="600408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各解像度を並列の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3295800" y="60746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3894480" y="600408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で処理し、結果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1085760" y="64231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を統合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6247800" y="138456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提案⼿法のアーキテクチャ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954288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971172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1026432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10341000" y="13845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10617120" y="145512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4.5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1100124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より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1154808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631980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6396480" y="18892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667260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6826320" y="188928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多重解像度画像が複数の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9864720" y="19598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10463040" y="18892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に並列⼊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6556320" y="23083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⼒され、その結果が統合される構成図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1125468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1905120" y="414000"/>
            <a:ext cx="2901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3: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219384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多重構造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3184560" y="414000"/>
            <a:ext cx="5385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3721320" y="351000"/>
            <a:ext cx="1739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による⽂字認識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40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41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33520" y="87012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提案⼿法の有効性を定量的に評価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1409400" y="1990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1085760" y="13845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データセット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1409400" y="2476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1638360" y="179424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実環境の様々な条件下で撮影したナンバープレート画像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1638360" y="227988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計算機上でシミュレーションによる複合劣化（低解像度化、ノイズ、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10173600" y="235044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JPEG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10895040" y="22798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圧縮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857160" y="3371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6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1638360" y="269892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など）を付与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1409400" y="3790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1085760" y="31752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⽐較対象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1638360" y="35942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画質改善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743200" y="366480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3126960" y="359424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3955680" y="3664800"/>
            <a:ext cx="99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4953240" y="359424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229720" y="3664800"/>
            <a:ext cx="1747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(SSR, 2MSR)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1409400" y="4276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6979320" y="359424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、従来の超解像法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1638360" y="40802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⽂字認識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2743200" y="415044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3126960" y="408024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⼀般的な単⼀構造の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5613120" y="41504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857160" y="4752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6"/>
                  <a:pt x="73" y="10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10"/>
                </a:cubicBezTo>
                <a:cubicBezTo>
                  <a:pt x="180" y="16"/>
                  <a:pt x="193" y="25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6211440" y="408024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、従来の複数候補選択アルゴリズム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1409400" y="5171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6" y="60"/>
                  <a:pt x="25" y="47"/>
                  <a:pt x="36" y="36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6"/>
                </a:cubicBezTo>
                <a:cubicBezTo>
                  <a:pt x="216" y="47"/>
                  <a:pt x="224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1085760" y="45565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評価指標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1638360" y="497556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⽂字認識正答率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3571920" y="504576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1409400" y="5657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3955680" y="49755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⽂字を正しく認識できた割合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1638360" y="546120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平均候補数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3019320" y="553176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1409400" y="6134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6" y="192"/>
                  <a:pt x="205" y="203"/>
                </a:cubicBezTo>
                <a:cubicBezTo>
                  <a:pt x="193" y="214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4"/>
                  <a:pt x="36" y="203"/>
                </a:cubicBezTo>
                <a:cubicBezTo>
                  <a:pt x="25" y="192"/>
                  <a:pt x="16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3403080" y="546120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正解を得るまでに必要な候補の平均数（少ないほど実⽤的）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1638360" y="593748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視覚的評価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3019320" y="600804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3403080" y="593748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改善後の画像の鮮明さやアーティファクトの有無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実験設定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9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88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389" name=""/>
          <p:cNvSpPr txBox="1"/>
          <p:nvPr/>
        </p:nvSpPr>
        <p:spPr>
          <a:xfrm>
            <a:off x="533520" y="87012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いずれの⼿法も、従来⼿法を⼤幅に上回る性能を達成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533520" y="145512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1101240" y="138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2206440" y="1455120"/>
            <a:ext cx="99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320400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375660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3925080" y="138456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ロバスト性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530640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55260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629280" y="18892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90540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1059120" y="18892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1887840" y="19598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2.13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2425320" y="188928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のグラフ。提案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4347720" y="19598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5284440" y="188928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が他の⼿法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6665400" y="1959840"/>
            <a:ext cx="167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(SSR, 2MSR)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8338320" y="188928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より⾼い正答率を維持して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5781240" y="23083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いる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633384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533520" y="281340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従来法に対し、⽂字認識の正答率が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最⼤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5505480" y="288360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32%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6058440" y="281340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533520" y="33980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1131840" y="332748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3065400" y="3398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3234240" y="33274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効率性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4062960" y="3398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543240" y="39027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619920" y="38325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896040" y="39027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1049760" y="38325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論⽂表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1878480" y="390276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5.7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2262240" y="383256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の正答率をグラフ化したもの。提案超解像が従来超解像より⾼い正答率を⽰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5509440" y="42516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している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6606000" y="4322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533520" y="475632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従来法に対し、⽂字認識の正答率が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最⼤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5505480" y="482688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32%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6058440" y="47563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533520" y="52707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1638360" y="534132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2236680" y="527076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による⽂字認識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4161960" y="5341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4330800" y="52707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適応性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5159520" y="5341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664200" y="5846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740880" y="57754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1017000" y="5846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1170360" y="57754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1999080" y="584604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4.8(a)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2720880" y="577548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のグラフ。提案の⽂字認識法が他の⼿法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7681680" y="5846040"/>
            <a:ext cx="99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(CA, CT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8679240" y="57754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など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9231480" y="5846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9323640" y="577548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より⾼い正答率を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5232960" y="619452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維持している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6882120" y="62650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533520" y="6699600"/>
            <a:ext cx="475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従来法に対し ⽂字認識の正答率が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最⼤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5505480" y="6769800"/>
            <a:ext cx="628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7 2%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6135120" y="6699600"/>
            <a:ext cx="475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向上</a:t>
            </a:r>
            <a:r>
              <a:rPr b="0" lang="en-US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 特に劣化が強い領域で優位性が顕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914400" y="3510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結果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1409760" y="414000"/>
            <a:ext cx="2901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1: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1698840" y="351000"/>
            <a:ext cx="2236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各提案⼿法の有効性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10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58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459" name=""/>
          <p:cNvSpPr txBox="1"/>
          <p:nvPr/>
        </p:nvSpPr>
        <p:spPr>
          <a:xfrm>
            <a:off x="533520" y="87012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認識性能が⾶躍的に向上し、⾼い実⽤性を⽰した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85716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533520" y="138456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総合的な性能向上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085760" y="18892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提案した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219060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2344320" y="188928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つの⼿法をすべて統合した場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1085760" y="230832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合、従来⼿法の組み合わせと⽐較し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085760" y="271800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て、⽂字認識の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正答率が約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4386960" y="27885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4540320" y="27180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倍に向上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857160" y="44100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10"/>
                </a:cubicBezTo>
                <a:cubicBezTo>
                  <a:pt x="180" y="16"/>
                  <a:pt x="193" y="24"/>
                  <a:pt x="204" y="36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533520" y="369900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実⽤⾯でのインパクト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085760" y="421344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犯罪捜査における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⾞両の絞り込み台数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1085760" y="462312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を従来の約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2467080" y="469332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2866320" y="4623120"/>
            <a:ext cx="3034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にまで削減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できる可能性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857160" y="5724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1085760" y="50421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を⽰唆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1085760" y="55278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捜査の⼤幅な効率化と、⼈的‧時間的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1085760" y="593748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コストの劇的な削減に貢献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6296760" y="13845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劣化強度と平均候補数の関係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988740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1005624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論⽂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1060884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10685520" y="13845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10961640" y="1455120"/>
            <a:ext cx="628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5.12)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626868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6345360" y="18892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662184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6775200" y="188928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劣化が強くなっても、提案⼿法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1060632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10698480" y="18892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紫の線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1152720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6365880" y="230832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は実⽤レベルの平均候補数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968040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9772560" y="23083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⾚の破線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1087740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0969560" y="23083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以下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7528320" y="271800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を維持しているグラフ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0282320" y="27885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6229440" y="323244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提案⼿法は、幅広い劣化強度に対して実⽤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6229440" y="364212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的な候補数（平均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8439120" y="3712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8592840" y="36421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候補以下）で正解を提⽰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6229440" y="40611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できる。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914400" y="3510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結果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1409760" y="414000"/>
            <a:ext cx="2901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2: 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1698840" y="351000"/>
            <a:ext cx="2733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全⼿法の統合による効果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1179936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13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514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533520" y="87012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提案⼿法群は、相乗効果により複合劣化画像に対する頑健性を⾼めた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1085760" y="138456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各⼿法の専⾨性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3019680" y="14551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3326760" y="138456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つの⼿法が「環境光」「低解像度」「多様な劣化」という異なる課題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857160" y="2476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1085760" y="179424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にそれぞれ特化して対応したことで、総合的な性能が向上したと考えられる。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1085760" y="227988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劣化が強い状況での優位性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4400640" y="2350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4554360" y="227988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特に多重構造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6211440" y="23504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6810120" y="22798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は、劣化が強くなるほど従来法との差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1085760" y="269892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が開き、適応性の⾼さが⽰された。これは、劣化に応じて適切な解像度の情報を⾃動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857160" y="3790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1085760" y="3108600"/>
            <a:ext cx="7172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的に選択できるアーキテクチャの有効性を⽰唆している。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1085760" y="359424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実⽤性の⾼さ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2743200" y="36648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3050640" y="359424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候補⽬での正答率も従来法より⾼く（表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8016840" y="366480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5.8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8400960" y="35942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）、平均候補数も少ない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1085760" y="40039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（図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1638360" y="407448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5.12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2175840" y="400392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）ことから、提案⼿法は単に最終的な正答率が⾼いだけでなく、捜査の初期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857160" y="5105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3"/>
                </a:cubicBezTo>
                <a:cubicBezTo>
                  <a:pt x="23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1085760" y="442296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段階で迅速に有⼒な候補を提⽰できる実⽤性を備えている。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1085760" y="49089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相乗効果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2190960" y="4979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2344320" y="490896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画質改善（提案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4277880" y="497916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1, 2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4738680" y="490896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）によって⽂字認識（提案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8031240" y="4979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8184960" y="490896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）の⼊⼒がクリーンにな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1085760" y="531828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り、認識精度がさらに向上するという相乗効果が確認された。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914400" y="3510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考察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54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555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533520" y="87012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本研究の限界と将来の展望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1085760" y="138456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ナンバープレート領域抽出の⾃動化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48892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5642280" y="1384560"/>
            <a:ext cx="5793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本研究では領域抽出後の画像を扱っているが、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1085760" y="179424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実⽤上は画像全体からナンバープレート領域を正確に抽出する前処理が重要となる。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857160" y="2895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1085760" y="221328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この部分にも機械学習を導⼊し、さらに頑健性を⾼める必要がある。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1085760" y="26989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動いている⾞両への対応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4116240" y="27694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4269600" y="2698920"/>
            <a:ext cx="7172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本研究は静⽌している⾞両を主対象としている。⾛⾏中の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1085760" y="310860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⾞両で発⽣するモーションブラー（被写体ブレ）に対応するため、ブレ除去に特化し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857160" y="4200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1085760" y="352764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たニューラルネットワークの導⼊が今後の課題となる。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1085760" y="40039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さらなる多様性への対応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4124520" y="40744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4277880" y="4003920"/>
            <a:ext cx="7172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緑⾊のプレートや異なるフォントなど、本研究で扱いきれ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1085760" y="442296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なかった種類のナンバープレートへの汎化性能を⾼める必要がある。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914400" y="351000"/>
            <a:ext cx="1242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今後の課題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80" name="" descr=""/>
          <p:cNvPicPr/>
          <p:nvPr/>
        </p:nvPicPr>
        <p:blipFill>
          <a:blip r:embed="rId1"/>
          <a:stretch/>
        </p:blipFill>
        <p:spPr>
          <a:xfrm>
            <a:off x="10515600" y="38160"/>
            <a:ext cx="1142640" cy="1142640"/>
          </a:xfrm>
          <a:prstGeom prst="rect">
            <a:avLst/>
          </a:prstGeom>
          <a:ln w="0">
            <a:noFill/>
          </a:ln>
        </p:spPr>
      </p:pic>
      <p:sp>
        <p:nvSpPr>
          <p:cNvPr id="581" name=""/>
          <p:cNvSpPr txBox="1"/>
          <p:nvPr/>
        </p:nvSpPr>
        <p:spPr>
          <a:xfrm>
            <a:off x="533520" y="87012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本研究の貢献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778680" y="14551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1085760" y="138456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複合劣化に対応する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357192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140940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3725640" y="138456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つの⼿法を提案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1638360" y="188928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環境光の外乱、低解像度、多様な劣化という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716292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7316280" y="188928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つの主要課題に対し、それぞれ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1638360" y="237888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2206440" y="23083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3311280" y="237888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4247640" y="2308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5076360" y="237888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5675040" y="230832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を⽤いた超解像、多重構造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8989560" y="237888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9588240" y="230832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という機械学習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1638360" y="271800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ベースの⼿法を提案した。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778680" y="32742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1409400" y="39146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6" y="192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2"/>
                  <a:pt x="16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1085760" y="320400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従来法を⼤幅に上回る性能を実証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1638360" y="3718080"/>
            <a:ext cx="5793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各⼿法がそれぞれの課題において従来法を最⼤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7430760" y="378864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7983720" y="371808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上回る性能向上を達成し、そ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1638360" y="41277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の有効性を実験的に⽰した。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778680" y="46839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1409400" y="53146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1085760" y="46134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⾼い実⽤性と社会的インパクトを⽰唆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1638360" y="511848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全⼿法の統合により、認識性能は従来⽐で約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7146360" y="5188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7299720" y="511848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倍に向上。これにより、犯罪捜査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1638360" y="553752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における⾞両絞り込み効率を⾶躍的に⾼め、捜査コストを⼤幅に削減できる可能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1638360" y="59472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性を⽰した。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914400" y="351000"/>
            <a:ext cx="745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まとめ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LibreOffice/24.2.7.2$Linux_AARCH64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