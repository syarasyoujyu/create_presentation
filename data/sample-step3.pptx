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46400" y="180828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論⽂紹介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937120" y="1871280"/>
            <a:ext cx="1311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355040" y="240984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1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476520" y="3124080"/>
            <a:ext cx="5247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像の画質改善と⽂字認識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53200" y="466884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理学部 化学科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438880" y="524052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知能 太郎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2291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348720" y="2151360"/>
            <a:ext cx="21344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26863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2.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348720" y="26085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提案⼿法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09960" y="31435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3.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348720" y="3065760"/>
            <a:ext cx="15246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実験と結果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009960" y="36007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4.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348720" y="3522960"/>
            <a:ext cx="6102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009960" y="40579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5.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348720" y="3980160"/>
            <a:ext cx="91512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31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3" name=""/>
          <p:cNvSpPr txBox="1"/>
          <p:nvPr/>
        </p:nvSpPr>
        <p:spPr>
          <a:xfrm>
            <a:off x="533520" y="8701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実環境の監視カメラ映像は、ナンバープレート認識を困難にする「複合劣化」を伴う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3352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監視カメラの重要性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防犯や犯罪捜査において、監視カメラ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2308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映像は重要な役割を担う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2794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特に⾞両が関わる事件では、ナンバー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32040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プレートの⾃動認識が捜査の鍵となる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57160" y="4895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33520" y="4185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実環境における画質の課題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85760" y="4699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実際の映像は、様々な要因が組み合わ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857160" y="5790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85760" y="5108760"/>
            <a:ext cx="4138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さった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「複合劣化」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を被っている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85760" y="5594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低解像度、照明変動、ノイズ、撮影ブ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57160" y="6686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85760" y="60040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レなど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85760" y="6490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従来技術では、複合劣化した画像の⾼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71364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923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90921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6447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72144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9997560" y="14551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5350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7" name="" descr=""/>
          <p:cNvPicPr/>
          <p:nvPr/>
        </p:nvPicPr>
        <p:blipFill>
          <a:blip r:embed="rId2"/>
          <a:stretch/>
        </p:blipFill>
        <p:spPr>
          <a:xfrm>
            <a:off x="6229440" y="1914480"/>
            <a:ext cx="4952520" cy="3647880"/>
          </a:xfrm>
          <a:prstGeom prst="rect">
            <a:avLst/>
          </a:prstGeom>
          <a:ln w="0">
            <a:noFill/>
          </a:ln>
        </p:spPr>
      </p:pic>
      <p:sp>
        <p:nvSpPr>
          <p:cNvPr id="68" name=""/>
          <p:cNvSpPr txBox="1"/>
          <p:nvPr/>
        </p:nvSpPr>
        <p:spPr>
          <a:xfrm>
            <a:off x="110822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229440" y="575640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本研究では、機械学習を⽤いてこの複合劣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229440" y="61660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化の問題にアプローチします。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79" name=""/>
          <p:cNvSpPr txBox="1"/>
          <p:nvPr/>
        </p:nvSpPr>
        <p:spPr>
          <a:xfrm>
            <a:off x="53352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複合劣化画像からの⾼精度な⽂字認識を実現する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8576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ロバスト性の⽋如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409400" y="2571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638360" y="188928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ナンバープレート灯やヘッドライトによる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環境光の外乱（⽩⾶びなど）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638360" y="23752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従来の画質改善法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848040" y="244548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876560" y="2375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153040" y="2445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5244840" y="237528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では、照明成分の推定精度が限定的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78680" y="29314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1409400" y="3562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085760" y="2860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効率性の低さ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409400" y="4047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638360" y="336564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低解像度で⽂字情報が⽋落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した画像から、効率的に情報を再構成できない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638360" y="385164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従来の超解像技術ではアーティファクト（偽の模様）が発⽣しやすい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78680" y="44078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409400" y="5038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085760" y="433728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適応性の不⾜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409400" y="5524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38360" y="48420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多様な⽂字フォントや、様々な種類の複合劣化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に対し、柔軟に対応できない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638360" y="53280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467080" y="5398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3065400" y="53280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は⼊⼒画像の解像度が固定されており、劣化状態に応じた処理が困難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解決したい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1528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29032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86880" y="8701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つの課題に対し、それぞれに特化した機械学習⼿法を提案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3352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085760" y="145512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408320" y="1384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ロバスト性の⽋如（環境光）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33520" y="1889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085760" y="19598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1: 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97604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081240" y="195984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57160" y="2600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078800" y="1889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85760" y="240372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3836880" y="24742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588920" y="24037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で照明成分を⾼精度に推定し、外乱を除去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33520" y="2965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085760" y="303624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408320" y="29656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効率性の低さ（低解像度）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33520" y="3480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085760" y="35503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2: 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857160" y="4181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2006640" y="34801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を⽤いた画素値選択型超解像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085760" y="39848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113360" y="4055400"/>
            <a:ext cx="78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896000" y="398484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で最適な画素を選択し、鮮明な画像を再構成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33520" y="45565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85760" y="462672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408320" y="45565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適応性の不⾜（多様な劣化）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33520" y="5061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85760" y="513180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3: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408320" y="5061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2513160" y="5131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85716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111480" y="506124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85760" y="557568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複数の解像度の画像を並列処理し、劣化状態に応じて最適な情報から認識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909000" y="6556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737720" y="6627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891080" y="655668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つの⼿法を統合し、複合劣化画像に対する総合的な認識性能の向上を⽬指す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533520" y="87012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284640" y="9406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036680" y="87012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により、環境光の外乱に頑健な画質改善を実現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638360" y="1455120"/>
            <a:ext cx="133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(Retinex)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9736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照明成分の推定精度が低く、⽩⾶びな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85760" y="2308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どを⼗分に除去できない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085760" y="28645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653840" y="27943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アーティファクト（輪郭の不⾃然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85760" y="320400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な強調）が発⽣しやすい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857160" y="4895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33520" y="4185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085760" y="46990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機械学習の⼀種である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845520" y="476964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4413600" y="46990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857160" y="5790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85760" y="5108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画像中の照明成分をより⾼精度に推定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85760" y="55947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これにより、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2726640" y="56649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294720" y="55947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を抑制しつつ、環境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085760" y="60040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光の外乱を効果的に除去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65244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画質改善効果の⽐較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1382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30708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8596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93636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0212480" y="145512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059660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11434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26616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34284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61896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11000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補正前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938720" y="195984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(b)SSR(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909000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9918720" y="195984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), (c)2MSR(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134540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27444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来法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826680" y="237888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), (d)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40988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82386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831528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のナンバープレート画像⽐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110000" y="27180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較。提案法が最も⾃然で鮮明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070100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22944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33428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671960" y="323244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は、⽩⾶びが抑制され、⽂字が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229440" y="3642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最もクリアになっている。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905120" y="414000"/>
            <a:ext cx="8010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1: SVR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270324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3693960" y="414000"/>
            <a:ext cx="89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458856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22" name=""/>
          <p:cNvSpPr txBox="1"/>
          <p:nvPr/>
        </p:nvSpPr>
        <p:spPr>
          <a:xfrm>
            <a:off x="533520" y="8701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560760" y="940680"/>
            <a:ext cx="78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34340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により、低解像度から鮮明な画像を効率的に復元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807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6355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8044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複数の低解像度画像を合成する際、情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085760" y="2308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報が⽋落している部分にアーティファ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857160" y="3400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085760" y="27180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クト（偽の模様）が発⽣しやすい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085760" y="32040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特に⽂字の輪郭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019320" y="3274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111480" y="32040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エッジ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940200" y="3274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032000" y="32040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がぼやけてし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085760" y="36230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857160" y="530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33520" y="4604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085760" y="51087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複数の低解像度フレームの中から、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085760" y="55983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684440" y="55278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を⽤いて「最も確からしい」画素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857160" y="6619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085760" y="593748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を選択して⾼解像度画像を再構成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85760" y="6423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アーティファクトを抑制し、鮮明なエ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71364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超解像結果の⽐較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8923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90921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96447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972144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997560" y="14551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3.10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05350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0822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304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38100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65748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14852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852948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902052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04018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047852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のナンバ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328080" y="23083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ープレート画像⽐較。提案法の⽅が⽂字の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7947000" y="27180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輪郭がシャープ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986400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22944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33428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671960" y="32324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932904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666720" y="323244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に⽐べて⽂字の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229440" y="3642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エッジが鮮明に復元されている。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905120" y="414000"/>
            <a:ext cx="8283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2: SVM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730600" y="351000"/>
            <a:ext cx="3229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を⽤いた画素値選択型超解像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84" name=""/>
          <p:cNvSpPr txBox="1"/>
          <p:nvPr/>
        </p:nvSpPr>
        <p:spPr>
          <a:xfrm>
            <a:off x="533520" y="8701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複数の解像度を並列処理する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124160" y="9406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722840" y="8701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アーキテクチャにより、多様な劣化に適応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80720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単⼀構造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912040" y="145512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679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⼊⼒画像の解像度が固定されているた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085760" y="2308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め、劣化の度合いに応じた最適な処理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857160" y="3400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085760" y="27180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085760" y="32040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劣化が強い画像では認識性能が⼤幅に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085760" y="3623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低下する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857160" y="530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33520" y="4604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085760" y="5108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⼊⼒画像を複数の解像度（イメージピ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857160" y="6200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085760" y="55278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ラミッド）に変換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085760" y="60040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各解像度を並列の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295800" y="60746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894480" y="60040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で処理し、結果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085760" y="64231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247800" y="13845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428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971172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0264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034100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0617120" y="145512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0012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2"/>
          <a:stretch/>
        </p:blipFill>
        <p:spPr>
          <a:xfrm>
            <a:off x="6229440" y="1914480"/>
            <a:ext cx="4952520" cy="4704840"/>
          </a:xfrm>
          <a:prstGeom prst="rect">
            <a:avLst/>
          </a:prstGeom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115480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90512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219384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18456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3721320" y="3510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29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33520" y="870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提案⼿法の有効性を定量的に評価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409400" y="1990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85760" y="1384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140940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638360" y="17942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実環境の様々な条件下で撮影したナンバープレート画像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638360" y="22798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計算機上でシミュレーションによる複合劣化（低解像度化、ノイズ、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0173600" y="235044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JPEG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0895040" y="22798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圧縮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857160" y="33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638360" y="2698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など）を付与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40940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85760" y="31752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⽐較対象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638360" y="3594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743200" y="3664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3126960" y="359424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955680" y="366480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953240" y="359424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229720" y="3664800"/>
            <a:ext cx="1747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(SSR, 2MSR)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409400" y="42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979320" y="3594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、従来の超解像法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638360" y="4080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2743200" y="415044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3126960" y="408024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⼀般的な単⼀構造の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613120" y="41504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857160" y="4752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10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211440" y="40802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、従来の複数候補選択アルゴリズム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40940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085760" y="45565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638360" y="4975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⽂字認識正答率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571920" y="5045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409400" y="5657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3955680" y="4975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⽂字を正しく認識できた割合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638360" y="54612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3019320" y="5531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409400" y="6134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3403080" y="546120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正解を得るまでに必要な候補の平均数（少ないほど実⽤的）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638360" y="59374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視覚的評価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019320" y="600804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403080" y="593748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改善後の画像の鮮明さやアーティファクトの有無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7" name=""/>
          <p:cNvSpPr txBox="1"/>
          <p:nvPr/>
        </p:nvSpPr>
        <p:spPr>
          <a:xfrm>
            <a:off x="533520" y="87012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いずれの⼿法も、従来⼿法を⼤幅に上回る性能を達成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533520" y="14551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0124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206440" y="145512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20400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7566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3925080" y="13845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3064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526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62928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054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05912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887840" y="1959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2.13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425320" y="18892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のグラフ。提案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4347720" y="19598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28444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が他の⼿法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665400" y="19598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(SSR, 2MSR)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338320" y="18892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より⾼い正答率を維持して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78124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633384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33520" y="281340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従来法に対し、⽂字認識の正答率が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505480" y="28836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6058440" y="2813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533520" y="33980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131840" y="33274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065400" y="3398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234240" y="3327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062960" y="3398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543240" y="3902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19920" y="3832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896040" y="3902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49760" y="3832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1878480" y="3902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262240" y="38325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の正答率をグラフ化したもの。提案超解像が従来超解像より⾼い正答率を⽰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5509440" y="4251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606000" y="4322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533520" y="47563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従来法に対し、⽂字認識の正答率が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5505480" y="4826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058440" y="4756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533520" y="52707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638360" y="53413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2236680" y="52707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161960" y="534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4330800" y="5270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5159520" y="534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420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740880" y="57754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101700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1170360" y="5775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999080" y="584604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4.8(a)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2720880" y="577548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のグラフ。提案の⽂字認識法が他の⼿法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681680" y="584604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(CA, CT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679240" y="5775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23148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9323640" y="57754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より⾼い正答率を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5232960" y="61945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維持している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6882120" y="62650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33520" y="6699600"/>
            <a:ext cx="475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 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505480" y="676980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7 2%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135120" y="6699600"/>
            <a:ext cx="475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r>
              <a:rPr b="0" lang="en-US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 特に劣化が強い領域で優位性が顕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40976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1: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698840" y="351000"/>
            <a:ext cx="2236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各提案⼿法の有効性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47" name=""/>
          <p:cNvSpPr txBox="1"/>
          <p:nvPr/>
        </p:nvSpPr>
        <p:spPr>
          <a:xfrm>
            <a:off x="53352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認識性能が⾶躍的に向上し、⾼い実⽤性を⽰した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3352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総合的な性能向上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08576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21906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2344320" y="18892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つの⼿法をすべて統合した場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085760" y="2308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合、従来⼿法の組み合わせと⽐較し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085760" y="2718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て、⽂字認識の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正答率が約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38696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4540320" y="2718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857160" y="4410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10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33520" y="3699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実⽤⾯でのインパクト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085760" y="42134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犯罪捜査における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⾞両の絞り込み台数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1085760" y="46231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を従来の約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467080" y="469332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2866320" y="4623120"/>
            <a:ext cx="3034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にまで削減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できる可能性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857160" y="5724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085760" y="5042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を⽰唆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085760" y="55278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捜査の⼤幅な効率化と、⼈的‧時間的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085760" y="59374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コストの劇的な削減に貢献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6296760" y="1384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劣化強度と平均候補数の関係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98874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00562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06088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068552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10961640" y="145512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26868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634536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66218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6775200" y="18892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劣化が強くなっても、提案⼿法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0606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069848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紫の線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15272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636588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は実⽤レベルの平均候補数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96804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977256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⾚の破線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108774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096956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以下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7528320" y="2718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を維持しているグラフ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028232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229440" y="323244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提案⼿法は、幅広い劣化強度に対して実⽤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229440" y="36421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的な候補数（平均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8439120" y="3712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8592840" y="36421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候補以下）で正解を提⽰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229440" y="4061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40976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1698840" y="351000"/>
            <a:ext cx="2733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全⼿法の統合による効果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179936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0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02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33520" y="8701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提案⼿法群は、相乗効果により複合劣化画像に対する頑健性を⾼めた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08576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各⼿法の専⾨性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3019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326760" y="13845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つの⼿法が「環境光」「低解像度」「多様な劣化」という異なる課題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85716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085760" y="179424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にそれぞれ特化して対応したことで、総合的な性能が向上したと考えられる。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085760" y="22798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劣化が強い状況での優位性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4400640" y="2350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554360" y="227988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211440" y="23504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6810120" y="22798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は、劣化が強くなるほど従来法との差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085760" y="26989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が開き、適応性の⾼さが⽰された。これは、劣化に応じて適切な解像度の情報を⾃動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85716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085760" y="310860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的に選択できるアーキテクチャの有効性を⽰唆している。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085760" y="35942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実⽤性の⾼さ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743200" y="3664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050640" y="35942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候補⽬での正答率も従来法より⾼く（表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8016840" y="3664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8400960" y="35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）、平均候補数も少ない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085760" y="40039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（図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638360" y="40744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175840" y="400392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）ことから、提案⼿法は単に最終的な正答率が⾼いだけでなく、捜査の初期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857160" y="51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085760" y="442296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段階で迅速に有⼒な候補を提⽰できる実⽤性を備えている。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1085760" y="49089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相乗効果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2190960" y="49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2344320" y="49089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画質改善（提案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4277880" y="49791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1, 2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738680" y="49089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）によって⽂字認識（提案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8031240" y="49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8184960" y="49089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）の⼊⼒がクリーンにな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1085760" y="531828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り、認識精度がさらに向上するという相乗効果が確認された。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43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533520" y="870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本研究の限界と将来の展望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085760" y="13845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ナンバープレート領域抽出の⾃動化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54889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5642280" y="138456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本研究では領域抽出後の画像を扱っているが、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085760" y="1794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実⽤上は画像全体からナンバープレート領域を正確に抽出する前処理が重要となる。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857160" y="2895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085760" y="22132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この部分にも機械学習を導⼊し、さらに頑健性を⾼める必要がある。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085760" y="26989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動いている⾞両への対応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116240" y="2769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4269600" y="26989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本研究は静⽌している⾞両を主対象としている。⾛⾏中の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085760" y="310860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⾞両で発⽣するモーションブラー（被写体ブレ）に対応するため、ブレ除去に特化し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857160" y="4200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085760" y="35276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たニューラルネットワークの導⼊が今後の課題となる。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085760" y="40039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さらなる多様性への対応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4124520" y="4074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4277880" y="40039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緑⾊のプレートや異なるフォントなど、本研究で扱いきれ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085760" y="44229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なかった種類のナンバープレートへの汎化性能を⾼める必要がある。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6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69" name=""/>
          <p:cNvSpPr txBox="1"/>
          <p:nvPr/>
        </p:nvSpPr>
        <p:spPr>
          <a:xfrm>
            <a:off x="533520" y="8701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08576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複合劣化に対応する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35719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372564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638360" y="18892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環境光の外乱、低解像度、多様な劣化という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71629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7316280" y="18892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つの主要課題に対し、それぞれ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638360" y="237888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220644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3311280" y="2378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24764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50763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567504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を⽤いた超解像、多重構造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89895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588240" y="23083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という機械学習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1638360" y="2718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ベースの⼿法を提案した。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78680" y="3274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1409400" y="3914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085760" y="32040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従来法を⼤幅に上回る性能を実証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638360" y="371808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各⼿法がそれぞれの課題において従来法を最⼤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30760" y="37886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983720" y="37180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上回る性能向上を達成し、そ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638360" y="41277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の有効性を実験的に⽰した。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778680" y="46839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1409400" y="5314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085760" y="4613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⾼い実⽤性と社会的インパクトを⽰唆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638360" y="51184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全⼿法の統合により、認識性能は従来⽐で約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7146360" y="5188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7299720" y="511848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倍に向上。これにより、犯罪捜査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638360" y="55375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における⾞両絞り込み効率を⾶躍的に⾼め、捜査コストを⼤幅に削減できる可能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638360" y="5947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性を⽰した。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914400" y="3510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