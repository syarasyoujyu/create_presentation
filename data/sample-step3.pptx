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4946400" y="180828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0b4b78"/>
                </a:solidFill>
                <a:latin typeface="NotoSansCJKjp"/>
                <a:ea typeface="NotoSansCJKjp"/>
              </a:rPr>
              <a:t>論⽂紹介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5937120" y="1871280"/>
            <a:ext cx="1311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0b4b78"/>
                </a:solidFill>
                <a:latin typeface="Arial"/>
                <a:ea typeface="Arial"/>
              </a:rPr>
              <a:t> </a:t>
            </a:r>
            <a:r>
              <a:rPr b="0" lang="en-US" sz="1950" spc="-1" strike="noStrike">
                <a:solidFill>
                  <a:srgbClr val="0b4b78"/>
                </a:solidFill>
                <a:latin typeface="Arial"/>
                <a:ea typeface="Arial"/>
              </a:rPr>
              <a:t>2026/04/07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1355040" y="2409840"/>
            <a:ext cx="9541080" cy="690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3750" spc="-1" strike="noStrike">
                <a:solidFill>
                  <a:srgbClr val="0b4b78"/>
                </a:solidFill>
                <a:latin typeface="NotoSansCJKjp"/>
                <a:ea typeface="NotoSansCJKjp"/>
              </a:rPr>
              <a:t>機械学習による複合劣化ナンバープレート画</a:t>
            </a:r>
            <a:endParaRPr b="0" lang="en-US" sz="375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0" name="" descr=""/>
          <p:cNvPicPr/>
          <p:nvPr/>
        </p:nvPicPr>
        <p:blipFill>
          <a:blip r:embed="rId1"/>
          <a:stretch/>
        </p:blipFill>
        <p:spPr>
          <a:xfrm>
            <a:off x="4809960" y="-190440"/>
            <a:ext cx="2571480" cy="2571480"/>
          </a:xfrm>
          <a:prstGeom prst="rect">
            <a:avLst/>
          </a:prstGeom>
          <a:ln w="0">
            <a:noFill/>
          </a:ln>
        </p:spPr>
      </p:pic>
      <p:sp>
        <p:nvSpPr>
          <p:cNvPr id="11" name=""/>
          <p:cNvSpPr/>
          <p:nvPr/>
        </p:nvSpPr>
        <p:spPr>
          <a:xfrm>
            <a:off x="0" y="3771720"/>
            <a:ext cx="12192120" cy="3086280"/>
          </a:xfrm>
          <a:custGeom>
            <a:avLst/>
            <a:gdLst/>
            <a:ahLst/>
            <a:rect l="0" t="0" r="r" b="b"/>
            <a:pathLst>
              <a:path w="33867" h="8573">
                <a:moveTo>
                  <a:pt x="0" y="0"/>
                </a:moveTo>
                <a:lnTo>
                  <a:pt x="33867" y="0"/>
                </a:lnTo>
                <a:lnTo>
                  <a:pt x="33867" y="8573"/>
                </a:lnTo>
                <a:lnTo>
                  <a:pt x="0" y="8573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4429080" y="3124080"/>
            <a:ext cx="3339720" cy="690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3750" spc="-1" strike="noStrike">
                <a:solidFill>
                  <a:srgbClr val="0b4b78"/>
                </a:solidFill>
                <a:latin typeface="NotoSansCJKjp"/>
                <a:ea typeface="NotoSansCJKjp"/>
              </a:rPr>
              <a:t>像の⾼精度認識</a:t>
            </a:r>
            <a:endParaRPr b="0" lang="en-US" sz="3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575680" y="4668840"/>
            <a:ext cx="11437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00" spc="-1" strike="noStrike">
                <a:solidFill>
                  <a:srgbClr val="ffffff"/>
                </a:solidFill>
                <a:latin typeface="NotoSansCJKjp"/>
                <a:ea typeface="NotoSansCJKjp"/>
              </a:rPr>
              <a:t>所属未⼊⼒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290200" y="5240520"/>
            <a:ext cx="1719720" cy="41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250" spc="-1" strike="noStrike">
                <a:solidFill>
                  <a:srgbClr val="ffffff"/>
                </a:solidFill>
                <a:latin typeface="NotoSansCJKjp"/>
                <a:ea typeface="NotoSansCJKjp"/>
              </a:rPr>
              <a:t>発表者未⼊⼒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3009960" y="222912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0b4b78"/>
                </a:solidFill>
                <a:latin typeface="Arial"/>
                <a:ea typeface="Arial"/>
              </a:rPr>
              <a:t>1. 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3348720" y="2151360"/>
            <a:ext cx="2134440" cy="44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400" spc="-1" strike="noStrike">
                <a:solidFill>
                  <a:srgbClr val="0b4b78"/>
                </a:solidFill>
                <a:latin typeface="NotoSansCJKjp"/>
                <a:ea typeface="NotoSansCJKjp"/>
              </a:rPr>
              <a:t>研究背景と課題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3009960" y="268632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0b4b78"/>
                </a:solidFill>
                <a:latin typeface="Arial"/>
                <a:ea typeface="Arial"/>
              </a:rPr>
              <a:t>2. 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3348720" y="2608560"/>
            <a:ext cx="1220040" cy="44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400" spc="-1" strike="noStrike">
                <a:solidFill>
                  <a:srgbClr val="0b4b78"/>
                </a:solidFill>
                <a:latin typeface="NotoSansCJKjp"/>
                <a:ea typeface="NotoSansCJKjp"/>
              </a:rPr>
              <a:t>提案⼿法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3009960" y="314352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0b4b78"/>
                </a:solidFill>
                <a:latin typeface="Arial"/>
                <a:ea typeface="Arial"/>
              </a:rPr>
              <a:t>3. 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3348720" y="3065760"/>
            <a:ext cx="1220040" cy="44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400" spc="-1" strike="noStrike">
                <a:solidFill>
                  <a:srgbClr val="0b4b78"/>
                </a:solidFill>
                <a:latin typeface="NotoSansCJKjp"/>
                <a:ea typeface="NotoSansCJKjp"/>
              </a:rPr>
              <a:t>実験設定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3009960" y="360072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0b4b78"/>
                </a:solidFill>
                <a:latin typeface="Arial"/>
                <a:ea typeface="Arial"/>
              </a:rPr>
              <a:t>4. 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3348720" y="3522960"/>
            <a:ext cx="1524600" cy="44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400" spc="-1" strike="noStrike">
                <a:solidFill>
                  <a:srgbClr val="0b4b78"/>
                </a:solidFill>
                <a:latin typeface="NotoSansCJKjp"/>
                <a:ea typeface="NotoSansCJKjp"/>
              </a:rPr>
              <a:t>結果と考察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3009960" y="405792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0b4b78"/>
                </a:solidFill>
                <a:latin typeface="Arial"/>
                <a:ea typeface="Arial"/>
              </a:rPr>
              <a:t>5. 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3348720" y="3980160"/>
            <a:ext cx="915120" cy="44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400" spc="-1" strike="noStrike">
                <a:solidFill>
                  <a:srgbClr val="0b4b78"/>
                </a:solidFill>
                <a:latin typeface="NotoSansCJKjp"/>
                <a:ea typeface="NotoSansCJKjp"/>
              </a:rPr>
              <a:t>まとめ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209520" y="266400"/>
            <a:ext cx="152640" cy="305280"/>
          </a:xfrm>
          <a:custGeom>
            <a:avLst/>
            <a:gdLst/>
            <a:ahLst/>
            <a:rect l="0" t="0" r="r" b="b"/>
            <a:pathLst>
              <a:path w="424" h="848">
                <a:moveTo>
                  <a:pt x="0" y="0"/>
                </a:moveTo>
                <a:lnTo>
                  <a:pt x="424" y="0"/>
                </a:lnTo>
                <a:lnTo>
                  <a:pt x="42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30" name="" descr=""/>
          <p:cNvPicPr/>
          <p:nvPr/>
        </p:nvPicPr>
        <p:blipFill>
          <a:blip r:embed="rId1"/>
          <a:stretch/>
        </p:blipFill>
        <p:spPr>
          <a:xfrm>
            <a:off x="10744200" y="-219240"/>
            <a:ext cx="1256760" cy="1256760"/>
          </a:xfrm>
          <a:prstGeom prst="rect">
            <a:avLst/>
          </a:prstGeom>
          <a:ln w="0">
            <a:noFill/>
          </a:ln>
        </p:spPr>
      </p:pic>
      <p:sp>
        <p:nvSpPr>
          <p:cNvPr id="31" name=""/>
          <p:cNvSpPr/>
          <p:nvPr/>
        </p:nvSpPr>
        <p:spPr>
          <a:xfrm>
            <a:off x="2666880" y="23335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2666880" y="27907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2666880" y="32479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2666880" y="37051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2666880" y="41623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495360" y="129240"/>
            <a:ext cx="1623960" cy="46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5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アジェンダ</a:t>
            </a:r>
            <a:endParaRPr b="0" lang="en-US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2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43" name=""/>
          <p:cNvSpPr/>
          <p:nvPr/>
        </p:nvSpPr>
        <p:spPr>
          <a:xfrm>
            <a:off x="857160" y="182844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1"/>
                </a:moveTo>
                <a:cubicBezTo>
                  <a:pt x="239" y="136"/>
                  <a:pt x="236" y="152"/>
                  <a:pt x="230" y="166"/>
                </a:cubicBezTo>
                <a:cubicBezTo>
                  <a:pt x="224" y="181"/>
                  <a:pt x="215" y="194"/>
                  <a:pt x="204" y="205"/>
                </a:cubicBezTo>
                <a:cubicBezTo>
                  <a:pt x="193" y="216"/>
                  <a:pt x="180" y="225"/>
                  <a:pt x="165" y="231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3" y="240"/>
                  <a:pt x="88" y="237"/>
                  <a:pt x="73" y="231"/>
                </a:cubicBezTo>
                <a:cubicBezTo>
                  <a:pt x="59" y="225"/>
                  <a:pt x="46" y="216"/>
                  <a:pt x="35" y="205"/>
                </a:cubicBezTo>
                <a:cubicBezTo>
                  <a:pt x="23" y="194"/>
                  <a:pt x="15" y="181"/>
                  <a:pt x="9" y="166"/>
                </a:cubicBezTo>
                <a:cubicBezTo>
                  <a:pt x="3" y="152"/>
                  <a:pt x="0" y="136"/>
                  <a:pt x="0" y="121"/>
                </a:cubicBezTo>
                <a:cubicBezTo>
                  <a:pt x="0" y="105"/>
                  <a:pt x="3" y="90"/>
                  <a:pt x="9" y="75"/>
                </a:cubicBezTo>
                <a:cubicBezTo>
                  <a:pt x="15" y="60"/>
                  <a:pt x="23" y="48"/>
                  <a:pt x="35" y="35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4"/>
                  <a:pt x="103" y="0"/>
                  <a:pt x="120" y="0"/>
                </a:cubicBezTo>
                <a:cubicBezTo>
                  <a:pt x="136" y="0"/>
                  <a:pt x="151" y="4"/>
                  <a:pt x="165" y="10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8"/>
                  <a:pt x="224" y="60"/>
                  <a:pt x="230" y="75"/>
                </a:cubicBezTo>
                <a:cubicBezTo>
                  <a:pt x="236" y="90"/>
                  <a:pt x="239" y="105"/>
                  <a:pt x="239" y="121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533520" y="1057320"/>
            <a:ext cx="4550040" cy="439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39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監視カメラの普及と複合劣化画像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085760" y="163224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監視カメラは社会に広く普及し、犯罪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085760" y="20512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捜査等でナンバープレート画像が重要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857160" y="31431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79"/>
                  <a:pt x="215" y="192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2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085760" y="246096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な証拠として利⽤されている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1085760" y="294660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しかし、実際に撮影される画像は、環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1085760" y="33562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境光の外乱、低解像度、ノイズなど複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1085760" y="377532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数の要因が重なった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3571920" y="3845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**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3786840" y="377532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「複合劣化画像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5720400" y="3693240"/>
            <a:ext cx="275760" cy="48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Mongolian"/>
                <a:ea typeface="NotoSansMongolian"/>
              </a:rPr>
              <a:t>」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085760" y="4255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**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857160" y="48672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1300680" y="418500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であることが多い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1085760" y="467064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こうした悪条件下では、⽂字が不鮮明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1085760" y="50896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になり、従来の認識システムでは精度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561960" y="655308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615600" y="6606720"/>
            <a:ext cx="169200" cy="169200"/>
          </a:xfrm>
          <a:custGeom>
            <a:avLst/>
            <a:gdLst/>
            <a:ahLst/>
            <a:rect l="0" t="0" r="r" b="b"/>
            <a:pathLst>
              <a:path w="470" h="470">
                <a:moveTo>
                  <a:pt x="0" y="150"/>
                </a:moveTo>
                <a:lnTo>
                  <a:pt x="192" y="150"/>
                </a:lnTo>
                <a:lnTo>
                  <a:pt x="192" y="0"/>
                </a:lnTo>
                <a:lnTo>
                  <a:pt x="470" y="235"/>
                </a:lnTo>
                <a:lnTo>
                  <a:pt x="192" y="470"/>
                </a:lnTo>
                <a:lnTo>
                  <a:pt x="192" y="321"/>
                </a:lnTo>
                <a:lnTo>
                  <a:pt x="0" y="321"/>
                </a:lnTo>
                <a:lnTo>
                  <a:pt x="0" y="15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085760" y="549936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が著しく低下するという問題がある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850680" y="65509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927720" y="6480360"/>
            <a:ext cx="3862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「読めない」を「読める」に！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794840" y="65509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871520" y="648036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複合劣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229440" y="940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[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6306120" y="87012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6582240" y="940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6735960" y="8701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監視カメラで撮影された、⽩⾶びや低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6229440" y="128916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解像度で⽂字が読みにくいナンバープレー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6229440" y="169884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ト画像の例を⼊れる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8715240" y="17694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7839000" y="221328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複合劣化画像の例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91440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研究背景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82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83" name=""/>
          <p:cNvSpPr txBox="1"/>
          <p:nvPr/>
        </p:nvSpPr>
        <p:spPr>
          <a:xfrm>
            <a:off x="533520" y="870120"/>
            <a:ext cx="10207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本研究では、複合劣化したナンバープレート画像を正確に認識するために、以下の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10728720" y="940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10882440" y="87012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533520" y="128916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課題を解決することを⽬指します。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778680" y="186444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1.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1409400" y="2504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1085760" y="179424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ロバスト性の向上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1638360" y="230832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2190600" y="237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1409400" y="299052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1"/>
                  <a:pt x="216" y="194"/>
                  <a:pt x="205" y="205"/>
                </a:cubicBezTo>
                <a:cubicBezTo>
                  <a:pt x="193" y="216"/>
                  <a:pt x="181" y="224"/>
                  <a:pt x="166" y="230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5" y="240"/>
                  <a:pt x="89" y="237"/>
                  <a:pt x="75" y="230"/>
                </a:cubicBezTo>
                <a:cubicBezTo>
                  <a:pt x="60" y="224"/>
                  <a:pt x="47" y="216"/>
                  <a:pt x="36" y="205"/>
                </a:cubicBezTo>
                <a:cubicBezTo>
                  <a:pt x="25" y="194"/>
                  <a:pt x="16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6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6"/>
                  <a:pt x="193" y="24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89"/>
                  <a:pt x="239" y="104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2359440" y="2308320"/>
            <a:ext cx="55177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ヘッドライトなどの強い環境光による⽩⾶び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1638360" y="279432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⽬標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2190600" y="28645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2359440" y="27943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光の影響に頑健な画質改善を実現する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78680" y="334080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2.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1409400" y="3981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6" y="60"/>
                  <a:pt x="25" y="47"/>
                  <a:pt x="36" y="36"/>
                </a:cubicBezTo>
                <a:cubicBezTo>
                  <a:pt x="47" y="25"/>
                  <a:pt x="60" y="16"/>
                  <a:pt x="75" y="10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10"/>
                </a:cubicBezTo>
                <a:cubicBezTo>
                  <a:pt x="181" y="16"/>
                  <a:pt x="193" y="25"/>
                  <a:pt x="205" y="36"/>
                </a:cubicBezTo>
                <a:cubicBezTo>
                  <a:pt x="216" y="47"/>
                  <a:pt x="224" y="60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1085760" y="327060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効率性の向上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1638360" y="37846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2190600" y="38552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1409400" y="446688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1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1"/>
                  <a:pt x="216" y="194"/>
                  <a:pt x="205" y="205"/>
                </a:cubicBezTo>
                <a:cubicBezTo>
                  <a:pt x="193" y="216"/>
                  <a:pt x="181" y="224"/>
                  <a:pt x="166" y="231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5" y="240"/>
                  <a:pt x="89" y="237"/>
                  <a:pt x="75" y="231"/>
                </a:cubicBezTo>
                <a:cubicBezTo>
                  <a:pt x="60" y="224"/>
                  <a:pt x="47" y="216"/>
                  <a:pt x="36" y="205"/>
                </a:cubicBezTo>
                <a:cubicBezTo>
                  <a:pt x="25" y="194"/>
                  <a:pt x="16" y="181"/>
                  <a:pt x="9" y="166"/>
                </a:cubicBezTo>
                <a:cubicBezTo>
                  <a:pt x="3" y="151"/>
                  <a:pt x="0" y="136"/>
                  <a:pt x="0" y="121"/>
                </a:cubicBezTo>
                <a:cubicBezTo>
                  <a:pt x="0" y="105"/>
                  <a:pt x="3" y="90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6"/>
                  <a:pt x="75" y="10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10"/>
                </a:cubicBezTo>
                <a:cubicBezTo>
                  <a:pt x="181" y="16"/>
                  <a:pt x="193" y="24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90"/>
                  <a:pt x="239" y="105"/>
                  <a:pt x="239" y="121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2359440" y="3784680"/>
            <a:ext cx="3862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低解像度による⽂字情報の⽋落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1638360" y="42706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⽬標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2190600" y="43412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2359440" y="4270680"/>
            <a:ext cx="6621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少ない情報から効率的に画像を再構成（超解像）する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778680" y="48171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1409400" y="54576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6" y="193"/>
                  <a:pt x="205" y="204"/>
                </a:cubicBezTo>
                <a:cubicBezTo>
                  <a:pt x="193" y="216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6"/>
                  <a:pt x="36" y="204"/>
                </a:cubicBezTo>
                <a:cubicBezTo>
                  <a:pt x="25" y="193"/>
                  <a:pt x="16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1085760" y="474696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適応性の向上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1638360" y="526140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2190600" y="53316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1409400" y="594324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1"/>
                </a:moveTo>
                <a:cubicBezTo>
                  <a:pt x="239" y="136"/>
                  <a:pt x="236" y="152"/>
                  <a:pt x="230" y="166"/>
                </a:cubicBezTo>
                <a:cubicBezTo>
                  <a:pt x="224" y="181"/>
                  <a:pt x="216" y="194"/>
                  <a:pt x="205" y="205"/>
                </a:cubicBezTo>
                <a:cubicBezTo>
                  <a:pt x="193" y="216"/>
                  <a:pt x="181" y="225"/>
                  <a:pt x="166" y="231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5" y="240"/>
                  <a:pt x="89" y="237"/>
                  <a:pt x="75" y="231"/>
                </a:cubicBezTo>
                <a:cubicBezTo>
                  <a:pt x="60" y="225"/>
                  <a:pt x="47" y="216"/>
                  <a:pt x="36" y="205"/>
                </a:cubicBezTo>
                <a:cubicBezTo>
                  <a:pt x="25" y="194"/>
                  <a:pt x="16" y="181"/>
                  <a:pt x="9" y="166"/>
                </a:cubicBezTo>
                <a:cubicBezTo>
                  <a:pt x="3" y="152"/>
                  <a:pt x="0" y="136"/>
                  <a:pt x="0" y="121"/>
                </a:cubicBezTo>
                <a:cubicBezTo>
                  <a:pt x="0" y="105"/>
                  <a:pt x="3" y="90"/>
                  <a:pt x="9" y="75"/>
                </a:cubicBezTo>
                <a:cubicBezTo>
                  <a:pt x="16" y="60"/>
                  <a:pt x="25" y="48"/>
                  <a:pt x="36" y="36"/>
                </a:cubicBezTo>
                <a:cubicBezTo>
                  <a:pt x="47" y="24"/>
                  <a:pt x="60" y="16"/>
                  <a:pt x="75" y="10"/>
                </a:cubicBezTo>
                <a:cubicBezTo>
                  <a:pt x="89" y="4"/>
                  <a:pt x="105" y="0"/>
                  <a:pt x="120" y="0"/>
                </a:cubicBezTo>
                <a:cubicBezTo>
                  <a:pt x="136" y="0"/>
                  <a:pt x="151" y="4"/>
                  <a:pt x="166" y="10"/>
                </a:cubicBezTo>
                <a:cubicBezTo>
                  <a:pt x="181" y="16"/>
                  <a:pt x="193" y="24"/>
                  <a:pt x="205" y="36"/>
                </a:cubicBezTo>
                <a:cubicBezTo>
                  <a:pt x="216" y="48"/>
                  <a:pt x="224" y="60"/>
                  <a:pt x="230" y="75"/>
                </a:cubicBezTo>
                <a:cubicBezTo>
                  <a:pt x="236" y="90"/>
                  <a:pt x="239" y="105"/>
                  <a:pt x="239" y="121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2359440" y="5261400"/>
            <a:ext cx="6621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多様な劣化パターンや、ひらがな等の複雑な⽂字形状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1638360" y="574704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⽬標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2190600" y="58176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2359440" y="5747040"/>
            <a:ext cx="6069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様々な状況に柔軟に対応できる⾼性能な⽂字認識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914400" y="351000"/>
            <a:ext cx="12427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解決したい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2152800" y="4140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229032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つの課題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4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26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27" name=""/>
          <p:cNvSpPr txBox="1"/>
          <p:nvPr/>
        </p:nvSpPr>
        <p:spPr>
          <a:xfrm>
            <a:off x="533520" y="940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686880" y="870120"/>
            <a:ext cx="10482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つの課題を解決するため、それぞれに特化した機械学習⼿法を提案し、統合します。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533520" y="1661400"/>
            <a:ext cx="3222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280" spc="-1" strike="noStrike">
                <a:solidFill>
                  <a:srgbClr val="111111"/>
                </a:solidFill>
                <a:latin typeface="Arial"/>
                <a:ea typeface="Arial"/>
              </a:rPr>
              <a:t>1. </a:t>
            </a:r>
            <a:endParaRPr b="0" lang="en-US" sz="2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855720" y="1587600"/>
            <a:ext cx="2027520" cy="419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28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ロバスト性向上</a:t>
            </a:r>
            <a:endParaRPr b="0" lang="en-US" sz="2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533520" y="2197800"/>
            <a:ext cx="56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101240" y="212760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2206440" y="2197800"/>
            <a:ext cx="99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Retinex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3204000" y="212760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処理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533520" y="253692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環境光の外乱を抑制し、安定した画質改善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533520" y="29563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を実現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6229440" y="1661400"/>
            <a:ext cx="3222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280" spc="-1" strike="noStrike">
                <a:solidFill>
                  <a:srgbClr val="111111"/>
                </a:solidFill>
                <a:latin typeface="Arial"/>
                <a:ea typeface="Arial"/>
              </a:rPr>
              <a:t>2. </a:t>
            </a:r>
            <a:endParaRPr b="0" lang="en-US" sz="2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6551640" y="1587600"/>
            <a:ext cx="1448640" cy="419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28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効率性向上</a:t>
            </a:r>
            <a:endParaRPr b="0" lang="en-US" sz="2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6229440" y="219780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6827760" y="212760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を⽤いた画素選択型超解像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6229440" y="253692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低解像度画像から⽂字のエッジなどを鮮明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6229440" y="29563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に復元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533520" y="3928680"/>
            <a:ext cx="3222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280" spc="-1" strike="noStrike">
                <a:solidFill>
                  <a:srgbClr val="111111"/>
                </a:solidFill>
                <a:latin typeface="Arial"/>
                <a:ea typeface="Arial"/>
              </a:rPr>
              <a:t>3. </a:t>
            </a:r>
            <a:endParaRPr b="0" lang="en-US" sz="2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855720" y="3854520"/>
            <a:ext cx="1448640" cy="419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280" spc="-1" strike="noStrike">
                <a:solidFill>
                  <a:srgbClr val="111111"/>
                </a:solidFill>
                <a:latin typeface="NotoSansCJKjp"/>
                <a:ea typeface="NotoSansCJKjp"/>
              </a:rPr>
              <a:t>適応性向上</a:t>
            </a:r>
            <a:endParaRPr b="0" lang="en-US" sz="2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533520" y="439452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多重構造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1638360" y="446472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2236680" y="439452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による⽂字認識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533520" y="4813560"/>
            <a:ext cx="6896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多様な劣化パターンに対応し、⾼精度な⽂字認識を実現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1404360" y="5737320"/>
            <a:ext cx="9379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これらの⼿法を統合し、複合劣化画像に対する⾼精度な認識システムを構築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914400" y="351000"/>
            <a:ext cx="1987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提案⼿法の全体像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5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57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58" name=""/>
          <p:cNvSpPr txBox="1"/>
          <p:nvPr/>
        </p:nvSpPr>
        <p:spPr>
          <a:xfrm>
            <a:off x="533520" y="1184400"/>
            <a:ext cx="55177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環境光による画像の⽩⾶びや不⾃然な輪郭（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6049800" y="1254960"/>
            <a:ext cx="56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Halo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857160" y="18856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5"/>
                </a:cubicBezTo>
                <a:cubicBezTo>
                  <a:pt x="193" y="216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6617880" y="118440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アーティファクト）を抑制します。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1085760" y="1759680"/>
            <a:ext cx="99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Retinex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2083680" y="16894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処理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2636280" y="1759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2804760" y="1689480"/>
            <a:ext cx="8827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画像を「照明成分」と「反射成分」に分離し、照明の影響を除去する画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857160" y="27907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4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3" y="192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1085760" y="210852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質改善⼿法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1085760" y="25941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1638360" y="26647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1807200" y="259416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2635920" y="266472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Retinex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3572280" y="2594160"/>
            <a:ext cx="7724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処理では、照明成分の推定が不正確で、特に画像の輪郭周りに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1085760" y="3074400"/>
            <a:ext cx="56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Halo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857160" y="36860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1653840" y="300384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アーティファクト</a:t>
            </a:r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が発⽣しやすい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1085760" y="34894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1638360" y="3560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1807200" y="3489480"/>
            <a:ext cx="4965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照明成分の推定にサポートベクター回帰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6768360" y="3560040"/>
            <a:ext cx="904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(SVR)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1409400" y="40957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4"/>
                  <a:pt x="236" y="150"/>
                  <a:pt x="230" y="164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4"/>
                </a:cubicBezTo>
                <a:cubicBezTo>
                  <a:pt x="3" y="150"/>
                  <a:pt x="0" y="134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8"/>
                  <a:pt x="25" y="46"/>
                  <a:pt x="36" y="34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4"/>
                </a:cubicBezTo>
                <a:cubicBezTo>
                  <a:pt x="216" y="46"/>
                  <a:pt x="224" y="58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7673760" y="348948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を導⼊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1638360" y="3969720"/>
            <a:ext cx="56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1409400" y="4581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60"/>
                  <a:pt x="25" y="47"/>
                  <a:pt x="36" y="36"/>
                </a:cubicBezTo>
                <a:cubicBezTo>
                  <a:pt x="47" y="25"/>
                  <a:pt x="60" y="16"/>
                  <a:pt x="75" y="10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10"/>
                </a:cubicBezTo>
                <a:cubicBezTo>
                  <a:pt x="181" y="16"/>
                  <a:pt x="193" y="25"/>
                  <a:pt x="205" y="36"/>
                </a:cubicBezTo>
                <a:cubicBezTo>
                  <a:pt x="216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2206440" y="3899160"/>
            <a:ext cx="7724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を⽤いることで、より滑らかで正確な照明成分の推定が可能に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1638360" y="438480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結果として、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3273480" y="4455360"/>
            <a:ext cx="56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Halo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87" name="" descr=""/>
          <p:cNvPicPr/>
          <p:nvPr/>
        </p:nvPicPr>
        <p:blipFill>
          <a:blip r:embed="rId2"/>
          <a:stretch/>
        </p:blipFill>
        <p:spPr>
          <a:xfrm>
            <a:off x="533520" y="4981680"/>
            <a:ext cx="6095520" cy="7324200"/>
          </a:xfrm>
          <a:prstGeom prst="rect">
            <a:avLst/>
          </a:prstGeom>
          <a:ln w="0">
            <a:noFill/>
          </a:ln>
        </p:spPr>
      </p:pic>
      <p:sp>
        <p:nvSpPr>
          <p:cNvPr id="188" name=""/>
          <p:cNvSpPr txBox="1"/>
          <p:nvPr/>
        </p:nvSpPr>
        <p:spPr>
          <a:xfrm>
            <a:off x="3841560" y="4384800"/>
            <a:ext cx="6896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作⽤を効果的に抑制し、環境光に頑健な画質改善を達成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91440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⼿法①：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1905120" y="414000"/>
            <a:ext cx="511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SVR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241416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3404880" y="414000"/>
            <a:ext cx="8967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Retinex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4299480" y="351000"/>
            <a:ext cx="27331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処理によるロバスト性向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533160" y="714240"/>
            <a:ext cx="267120" cy="57600"/>
          </a:xfrm>
          <a:custGeom>
            <a:avLst/>
            <a:gdLst/>
            <a:ahLst/>
            <a:rect l="0" t="0" r="r" b="b"/>
            <a:pathLst>
              <a:path w="742" h="160">
                <a:moveTo>
                  <a:pt x="0" y="106"/>
                </a:moveTo>
                <a:lnTo>
                  <a:pt x="0" y="53"/>
                </a:ln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7"/>
                  <a:pt x="722" y="10"/>
                  <a:pt x="727" y="15"/>
                </a:cubicBezTo>
                <a:cubicBezTo>
                  <a:pt x="731" y="20"/>
                  <a:pt x="735" y="26"/>
                  <a:pt x="738" y="33"/>
                </a:cubicBezTo>
                <a:cubicBezTo>
                  <a:pt x="741" y="39"/>
                  <a:pt x="742" y="46"/>
                  <a:pt x="742" y="53"/>
                </a:cubicBezTo>
                <a:lnTo>
                  <a:pt x="742" y="106"/>
                </a:lnTo>
                <a:cubicBezTo>
                  <a:pt x="742" y="113"/>
                  <a:pt x="741" y="119"/>
                  <a:pt x="738" y="126"/>
                </a:cubicBezTo>
                <a:cubicBezTo>
                  <a:pt x="735" y="132"/>
                  <a:pt x="731" y="138"/>
                  <a:pt x="727" y="143"/>
                </a:cubicBezTo>
                <a:cubicBezTo>
                  <a:pt x="722" y="148"/>
                  <a:pt x="716" y="153"/>
                  <a:pt x="709" y="156"/>
                </a:cubicBezTo>
                <a:cubicBezTo>
                  <a:pt x="703" y="158"/>
                  <a:pt x="696" y="160"/>
                  <a:pt x="689" y="160"/>
                </a:cubicBezTo>
                <a:lnTo>
                  <a:pt x="53" y="160"/>
                </a:lnTo>
                <a:cubicBezTo>
                  <a:pt x="46" y="160"/>
                  <a:pt x="39" y="158"/>
                  <a:pt x="33" y="156"/>
                </a:cubicBezTo>
                <a:cubicBezTo>
                  <a:pt x="26" y="153"/>
                  <a:pt x="21" y="148"/>
                  <a:pt x="16" y="143"/>
                </a:cubicBezTo>
                <a:cubicBezTo>
                  <a:pt x="11" y="138"/>
                  <a:pt x="7" y="132"/>
                  <a:pt x="4" y="126"/>
                </a:cubicBezTo>
                <a:cubicBezTo>
                  <a:pt x="2" y="119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914400" y="665280"/>
            <a:ext cx="2491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上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6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01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202" name=""/>
          <p:cNvSpPr/>
          <p:nvPr/>
        </p:nvSpPr>
        <p:spPr>
          <a:xfrm>
            <a:off x="857160" y="18856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5"/>
                </a:cubicBezTo>
                <a:cubicBezTo>
                  <a:pt x="193" y="216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533520" y="1184400"/>
            <a:ext cx="5793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低解像度でぼやけた⽂字を鮮明に復元します。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1085760" y="168948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マルチフレーム超解像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839760" y="1759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008600" y="1689480"/>
            <a:ext cx="63450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複数枚の少しずつ位置がずれた低解像度画像から、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10356120" y="1759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10509840" y="16894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枚の⾼解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857160" y="27907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4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3" y="192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1085760" y="210852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像度画像を⽣成する技術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1085760" y="25941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1638360" y="26647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1807200" y="2594160"/>
            <a:ext cx="96552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従来法では、画素が対応しない領域（開⼝部）の情報が⽋損し、エッジがぼや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1085760" y="300384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ける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1638360" y="30744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**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1853280" y="300384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「開⼝問題」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3510720" y="30744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**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857160" y="36860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3725640" y="300384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が発⽣する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1085760" y="34894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1638360" y="3560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1807200" y="348948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サポートベクターマシン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4834800" y="35600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(SVM)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5770800" y="3489480"/>
            <a:ext cx="5793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を⽤いて、複数の低解像度画像から再構成に最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1409400" y="45147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79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1085760" y="389916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も寄与する</a:t>
            </a:r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最適な画素を選択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1638360" y="438876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1409400" y="50004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6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6"/>
                  <a:pt x="36" y="204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6" y="60"/>
                  <a:pt x="25" y="47"/>
                  <a:pt x="36" y="36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6"/>
                </a:cubicBezTo>
                <a:cubicBezTo>
                  <a:pt x="216" y="47"/>
                  <a:pt x="224" y="60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2237040" y="4318200"/>
            <a:ext cx="8551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の識別能⼒を利⽤し、情報の⽋損を最⼩限に抑えながら画像を再構成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30" name="" descr=""/>
          <p:cNvPicPr/>
          <p:nvPr/>
        </p:nvPicPr>
        <p:blipFill>
          <a:blip r:embed="rId2"/>
          <a:stretch/>
        </p:blipFill>
        <p:spPr>
          <a:xfrm>
            <a:off x="533520" y="5391000"/>
            <a:ext cx="6095520" cy="6210000"/>
          </a:xfrm>
          <a:prstGeom prst="rect">
            <a:avLst/>
          </a:prstGeom>
          <a:ln w="0">
            <a:noFill/>
          </a:ln>
        </p:spPr>
      </p:pic>
      <p:sp>
        <p:nvSpPr>
          <p:cNvPr id="231" name=""/>
          <p:cNvSpPr txBox="1"/>
          <p:nvPr/>
        </p:nvSpPr>
        <p:spPr>
          <a:xfrm>
            <a:off x="1638360" y="4804200"/>
            <a:ext cx="9379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これにより、⽂字のエッジなどがより鮮明に復元され、認識しやすい画像に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91440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⼿法②：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1905120" y="414000"/>
            <a:ext cx="5385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SVM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2441520" y="351000"/>
            <a:ext cx="472068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を⽤いた画素選択型超解像による効率性向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533160" y="714240"/>
            <a:ext cx="267120" cy="57600"/>
          </a:xfrm>
          <a:custGeom>
            <a:avLst/>
            <a:gdLst/>
            <a:ahLst/>
            <a:rect l="0" t="0" r="r" b="b"/>
            <a:pathLst>
              <a:path w="742" h="160">
                <a:moveTo>
                  <a:pt x="0" y="106"/>
                </a:moveTo>
                <a:lnTo>
                  <a:pt x="0" y="53"/>
                </a:ln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7"/>
                  <a:pt x="722" y="10"/>
                  <a:pt x="727" y="15"/>
                </a:cubicBezTo>
                <a:cubicBezTo>
                  <a:pt x="731" y="20"/>
                  <a:pt x="735" y="26"/>
                  <a:pt x="738" y="33"/>
                </a:cubicBezTo>
                <a:cubicBezTo>
                  <a:pt x="741" y="39"/>
                  <a:pt x="742" y="46"/>
                  <a:pt x="742" y="53"/>
                </a:cubicBezTo>
                <a:lnTo>
                  <a:pt x="742" y="106"/>
                </a:lnTo>
                <a:cubicBezTo>
                  <a:pt x="742" y="113"/>
                  <a:pt x="741" y="119"/>
                  <a:pt x="738" y="126"/>
                </a:cubicBezTo>
                <a:cubicBezTo>
                  <a:pt x="735" y="132"/>
                  <a:pt x="731" y="138"/>
                  <a:pt x="727" y="143"/>
                </a:cubicBezTo>
                <a:cubicBezTo>
                  <a:pt x="722" y="148"/>
                  <a:pt x="716" y="153"/>
                  <a:pt x="709" y="156"/>
                </a:cubicBezTo>
                <a:cubicBezTo>
                  <a:pt x="703" y="158"/>
                  <a:pt x="696" y="160"/>
                  <a:pt x="689" y="160"/>
                </a:cubicBezTo>
                <a:lnTo>
                  <a:pt x="53" y="160"/>
                </a:lnTo>
                <a:cubicBezTo>
                  <a:pt x="46" y="160"/>
                  <a:pt x="39" y="158"/>
                  <a:pt x="33" y="156"/>
                </a:cubicBezTo>
                <a:cubicBezTo>
                  <a:pt x="26" y="153"/>
                  <a:pt x="21" y="148"/>
                  <a:pt x="16" y="143"/>
                </a:cubicBezTo>
                <a:cubicBezTo>
                  <a:pt x="11" y="138"/>
                  <a:pt x="7" y="132"/>
                  <a:pt x="4" y="126"/>
                </a:cubicBezTo>
                <a:cubicBezTo>
                  <a:pt x="2" y="119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914400" y="665280"/>
            <a:ext cx="2491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上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7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42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243" name=""/>
          <p:cNvSpPr/>
          <p:nvPr/>
        </p:nvSpPr>
        <p:spPr>
          <a:xfrm>
            <a:off x="857160" y="1581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533520" y="870120"/>
            <a:ext cx="6621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多様な劣化パターンや複雑な⽂字形状に対応します。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1085760" y="13845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163836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1807200" y="138456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2635920" y="145512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3234240" y="1384560"/>
            <a:ext cx="8276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は単⼀の解像度しか扱えないため、画像の劣化度合いによっては最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857160" y="2476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1085760" y="179424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適な性能を発揮できない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1085760" y="22798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1638360" y="2350440"/>
            <a:ext cx="320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1960920" y="2279880"/>
            <a:ext cx="9103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つの⼊⼒画像から複数の解像度の画像を⽣成し、それらを並列に処理する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11076120" y="23504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**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085760" y="269892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「多重構造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2467080" y="276948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3065400" y="269892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」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3341520" y="27694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**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1409400" y="33051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4"/>
                  <a:pt x="236" y="150"/>
                  <a:pt x="230" y="164"/>
                </a:cubicBezTo>
                <a:cubicBezTo>
                  <a:pt x="224" y="179"/>
                  <a:pt x="216" y="192"/>
                  <a:pt x="205" y="203"/>
                </a:cubicBezTo>
                <a:cubicBezTo>
                  <a:pt x="193" y="214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4"/>
                  <a:pt x="36" y="203"/>
                </a:cubicBezTo>
                <a:cubicBezTo>
                  <a:pt x="25" y="192"/>
                  <a:pt x="16" y="179"/>
                  <a:pt x="9" y="164"/>
                </a:cubicBezTo>
                <a:cubicBezTo>
                  <a:pt x="3" y="150"/>
                  <a:pt x="0" y="134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8"/>
                  <a:pt x="25" y="46"/>
                  <a:pt x="36" y="34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4"/>
                </a:cubicBezTo>
                <a:cubicBezTo>
                  <a:pt x="216" y="46"/>
                  <a:pt x="224" y="58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3556800" y="26989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を構築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1638360" y="310860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低解像度画像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3295800" y="31791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1409400" y="3790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3449160" y="310860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全体的な形状の把握に有利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1638360" y="359424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⾼解像度画像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3295800" y="36648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1409400" y="4276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1"/>
                  <a:pt x="216" y="193"/>
                  <a:pt x="205" y="205"/>
                </a:cubicBezTo>
                <a:cubicBezTo>
                  <a:pt x="193" y="216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6"/>
                  <a:pt x="36" y="205"/>
                </a:cubicBezTo>
                <a:cubicBezTo>
                  <a:pt x="25" y="193"/>
                  <a:pt x="16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3449160" y="359424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細部の特徴抽出に有利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1638360" y="4080240"/>
            <a:ext cx="99309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これらの階層からの出⼒を統合することで、画像の劣化状態に応じて最適な情報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71" name="" descr=""/>
          <p:cNvPicPr/>
          <p:nvPr/>
        </p:nvPicPr>
        <p:blipFill>
          <a:blip r:embed="rId2"/>
          <a:stretch/>
        </p:blipFill>
        <p:spPr>
          <a:xfrm>
            <a:off x="533520" y="5086440"/>
            <a:ext cx="6095520" cy="7333920"/>
          </a:xfrm>
          <a:prstGeom prst="rect">
            <a:avLst/>
          </a:prstGeom>
          <a:ln w="0">
            <a:noFill/>
          </a:ln>
        </p:spPr>
      </p:pic>
      <p:sp>
        <p:nvSpPr>
          <p:cNvPr id="272" name=""/>
          <p:cNvSpPr txBox="1"/>
          <p:nvPr/>
        </p:nvSpPr>
        <p:spPr>
          <a:xfrm>
            <a:off x="1638360" y="448956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を活⽤し、認識精度を向上させる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914400" y="351000"/>
            <a:ext cx="1987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⼿法③：多重構造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2895480" y="414000"/>
            <a:ext cx="5385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3432240" y="351000"/>
            <a:ext cx="1987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による適応性向上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8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82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283" name=""/>
          <p:cNvSpPr/>
          <p:nvPr/>
        </p:nvSpPr>
        <p:spPr>
          <a:xfrm>
            <a:off x="857160" y="1581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33520" y="870120"/>
            <a:ext cx="8551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提案⼿法の有効性を検証するため、以下の設定で実験を⾏いました。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1409400" y="2085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60"/>
                  <a:pt x="25" y="47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085760" y="138456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データセット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638360" y="188928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実環境画像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3019320" y="1959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3188160" y="1889280"/>
            <a:ext cx="8276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実際に⾞両にナンバープレートを設置し、多様な条件下（昼夜、天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1409400" y="299052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1"/>
                  <a:pt x="216" y="194"/>
                  <a:pt x="205" y="205"/>
                </a:cubicBezTo>
                <a:cubicBezTo>
                  <a:pt x="193" y="216"/>
                  <a:pt x="181" y="224"/>
                  <a:pt x="166" y="230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5" y="240"/>
                  <a:pt x="89" y="237"/>
                  <a:pt x="75" y="230"/>
                </a:cubicBezTo>
                <a:cubicBezTo>
                  <a:pt x="60" y="224"/>
                  <a:pt x="47" y="216"/>
                  <a:pt x="36" y="205"/>
                </a:cubicBezTo>
                <a:cubicBezTo>
                  <a:pt x="25" y="194"/>
                  <a:pt x="16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6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6"/>
                  <a:pt x="193" y="24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89"/>
                  <a:pt x="239" y="104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1638360" y="230832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候、ナンバー灯の有無など）で撮影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638360" y="279432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⼈⼯劣化画像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3295800" y="28645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3464640" y="2794320"/>
            <a:ext cx="63450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実写画像に対し、計算機上で解像度低下、ノイズ、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9809280" y="2864520"/>
            <a:ext cx="720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JPEG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0530720" y="279432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圧縮など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857160" y="388584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1"/>
                </a:moveTo>
                <a:cubicBezTo>
                  <a:pt x="239" y="136"/>
                  <a:pt x="236" y="152"/>
                  <a:pt x="230" y="166"/>
                </a:cubicBezTo>
                <a:cubicBezTo>
                  <a:pt x="224" y="181"/>
                  <a:pt x="215" y="194"/>
                  <a:pt x="204" y="205"/>
                </a:cubicBezTo>
                <a:cubicBezTo>
                  <a:pt x="193" y="216"/>
                  <a:pt x="180" y="225"/>
                  <a:pt x="165" y="231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3" y="240"/>
                  <a:pt x="88" y="237"/>
                  <a:pt x="73" y="231"/>
                </a:cubicBezTo>
                <a:cubicBezTo>
                  <a:pt x="59" y="225"/>
                  <a:pt x="46" y="216"/>
                  <a:pt x="35" y="205"/>
                </a:cubicBezTo>
                <a:cubicBezTo>
                  <a:pt x="23" y="194"/>
                  <a:pt x="15" y="181"/>
                  <a:pt x="9" y="166"/>
                </a:cubicBezTo>
                <a:cubicBezTo>
                  <a:pt x="3" y="152"/>
                  <a:pt x="0" y="136"/>
                  <a:pt x="0" y="121"/>
                </a:cubicBezTo>
                <a:cubicBezTo>
                  <a:pt x="0" y="105"/>
                  <a:pt x="3" y="90"/>
                  <a:pt x="9" y="75"/>
                </a:cubicBezTo>
                <a:cubicBezTo>
                  <a:pt x="15" y="60"/>
                  <a:pt x="23" y="48"/>
                  <a:pt x="35" y="36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4"/>
                  <a:pt x="103" y="0"/>
                  <a:pt x="120" y="0"/>
                </a:cubicBezTo>
                <a:cubicBezTo>
                  <a:pt x="136" y="0"/>
                  <a:pt x="151" y="4"/>
                  <a:pt x="165" y="10"/>
                </a:cubicBezTo>
                <a:cubicBezTo>
                  <a:pt x="180" y="16"/>
                  <a:pt x="193" y="24"/>
                  <a:pt x="204" y="36"/>
                </a:cubicBezTo>
                <a:cubicBezTo>
                  <a:pt x="215" y="48"/>
                  <a:pt x="224" y="60"/>
                  <a:pt x="230" y="75"/>
                </a:cubicBezTo>
                <a:cubicBezTo>
                  <a:pt x="236" y="90"/>
                  <a:pt x="239" y="105"/>
                  <a:pt x="239" y="121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1638360" y="3204000"/>
            <a:ext cx="6621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を系統的に加え、各劣化要因への耐性を定量的に評価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1409400" y="43909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085760" y="36896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評価指標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1638360" y="419436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⽂字認識精度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3295800" y="42649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883520" y="46839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a.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2190600" y="461340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正答率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3019320" y="4683960"/>
            <a:ext cx="320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3341880" y="461340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番⽬の候補で正解できる確率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1883520" y="516960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b.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2190600" y="509940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平均候補数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3571920" y="51696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857160" y="5771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6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6"/>
                </a:cubicBezTo>
                <a:cubicBezTo>
                  <a:pt x="215" y="47"/>
                  <a:pt x="224" y="60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3740760" y="509940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正解を得るまでに必要な候補の平均数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1409400" y="62863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60"/>
                  <a:pt x="25" y="47"/>
                  <a:pt x="36" y="36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6"/>
                </a:cubicBezTo>
                <a:cubicBezTo>
                  <a:pt x="216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1085760" y="55756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⽐較対象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1638360" y="608976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提案した各⼿法（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3848040" y="6160320"/>
            <a:ext cx="2344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SVR-Retinex, SVM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6196680" y="608976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超解像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7025400" y="61603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,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7178760" y="60897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多重構造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8283600" y="616032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8882280" y="608976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）と、それぞれの従来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1638360" y="649944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91440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実験設定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9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29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330" name=""/>
          <p:cNvSpPr/>
          <p:nvPr/>
        </p:nvSpPr>
        <p:spPr>
          <a:xfrm>
            <a:off x="857160" y="1581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533520" y="870120"/>
            <a:ext cx="99309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各提案⼿法は、従来⼿法と⽐較して⽂字認識の正答率を⼤幅に向上させました。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1085760" y="1455120"/>
            <a:ext cx="182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SVR-Retinex 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2912400" y="138456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ロバスト性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429336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1085760" y="179424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1638360" y="18644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Retinex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2574720" y="179424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処理と⽐較し、正答率が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5613480" y="186444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25%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857160" y="2504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6166440" y="17942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以上向上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1085760" y="237888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1684440" y="23083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超解像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2513160" y="237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2682000" y="23083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効率性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3510360" y="237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1085760" y="271800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従来超解像処理と⽐較し、正答率が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5505480" y="278856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32%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857160" y="342864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1"/>
                </a:moveTo>
                <a:cubicBezTo>
                  <a:pt x="239" y="136"/>
                  <a:pt x="236" y="152"/>
                  <a:pt x="230" y="166"/>
                </a:cubicBezTo>
                <a:cubicBezTo>
                  <a:pt x="224" y="181"/>
                  <a:pt x="215" y="194"/>
                  <a:pt x="204" y="205"/>
                </a:cubicBezTo>
                <a:cubicBezTo>
                  <a:pt x="193" y="216"/>
                  <a:pt x="180" y="225"/>
                  <a:pt x="165" y="231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3" y="240"/>
                  <a:pt x="88" y="237"/>
                  <a:pt x="73" y="231"/>
                </a:cubicBezTo>
                <a:cubicBezTo>
                  <a:pt x="59" y="225"/>
                  <a:pt x="46" y="216"/>
                  <a:pt x="35" y="205"/>
                </a:cubicBezTo>
                <a:cubicBezTo>
                  <a:pt x="23" y="194"/>
                  <a:pt x="15" y="181"/>
                  <a:pt x="9" y="166"/>
                </a:cubicBezTo>
                <a:cubicBezTo>
                  <a:pt x="3" y="152"/>
                  <a:pt x="0" y="136"/>
                  <a:pt x="0" y="121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4"/>
                  <a:pt x="103" y="0"/>
                  <a:pt x="120" y="0"/>
                </a:cubicBezTo>
                <a:cubicBezTo>
                  <a:pt x="136" y="0"/>
                  <a:pt x="151" y="4"/>
                  <a:pt x="165" y="10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1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6058440" y="271800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以上向上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1085760" y="32324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多重構造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2190600" y="3303000"/>
            <a:ext cx="765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 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2957760" y="323244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適応性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1409400" y="39337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5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3786480" y="33030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1638360" y="37371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190600" y="380772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2789280" y="373716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と⽐較し、正答率が</a:t>
            </a:r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5551560" y="380772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1.17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" name=""/>
          <p:cNvSpPr/>
          <p:nvPr/>
        </p:nvSpPr>
        <p:spPr>
          <a:xfrm>
            <a:off x="1409400" y="4419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6" y="192"/>
                  <a:pt x="205" y="203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3"/>
                </a:cubicBezTo>
                <a:cubicBezTo>
                  <a:pt x="25" y="192"/>
                  <a:pt x="16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6089040" y="37371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倍</a:t>
            </a:r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1638360" y="422316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第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1914480" y="42933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2068200" y="422316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候補までに正解が含まれる確率は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6211800" y="429336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90%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6764400" y="422316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に達し、⾼い実⽤性を⽰した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234520" y="5204160"/>
            <a:ext cx="7724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各⼿法がそれぞれの課題に対して有効であることが確認できた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914400" y="351000"/>
            <a:ext cx="497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結果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1409760" y="414000"/>
            <a:ext cx="3038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(1)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1712520" y="351000"/>
            <a:ext cx="24847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：各提案⼿法の有効性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11776680" y="645840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10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76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377" name=""/>
          <p:cNvSpPr txBox="1"/>
          <p:nvPr/>
        </p:nvSpPr>
        <p:spPr>
          <a:xfrm>
            <a:off x="533520" y="870120"/>
            <a:ext cx="8827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提案⼿法をすべて統合することで、認識性能が⾶躍的に向上しました。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78" name="" descr=""/>
          <p:cNvPicPr/>
          <p:nvPr/>
        </p:nvPicPr>
        <p:blipFill>
          <a:blip r:embed="rId2"/>
          <a:stretch/>
        </p:blipFill>
        <p:spPr>
          <a:xfrm>
            <a:off x="533520" y="2171520"/>
            <a:ext cx="4619160" cy="5562360"/>
          </a:xfrm>
          <a:prstGeom prst="rect">
            <a:avLst/>
          </a:prstGeom>
          <a:ln w="0">
            <a:noFill/>
          </a:ln>
        </p:spPr>
      </p:pic>
      <p:sp>
        <p:nvSpPr>
          <p:cNvPr id="379" name=""/>
          <p:cNvSpPr/>
          <p:nvPr/>
        </p:nvSpPr>
        <p:spPr>
          <a:xfrm>
            <a:off x="5429160" y="2171520"/>
            <a:ext cx="2038680" cy="543240"/>
          </a:xfrm>
          <a:custGeom>
            <a:avLst/>
            <a:gdLst/>
            <a:ahLst/>
            <a:rect l="0" t="0" r="r" b="b"/>
            <a:pathLst>
              <a:path w="5663" h="1509">
                <a:moveTo>
                  <a:pt x="0" y="0"/>
                </a:moveTo>
                <a:lnTo>
                  <a:pt x="5663" y="0"/>
                </a:lnTo>
                <a:lnTo>
                  <a:pt x="566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" name=""/>
          <p:cNvSpPr/>
          <p:nvPr/>
        </p:nvSpPr>
        <p:spPr>
          <a:xfrm>
            <a:off x="7467480" y="2171520"/>
            <a:ext cx="1086120" cy="543240"/>
          </a:xfrm>
          <a:custGeom>
            <a:avLst/>
            <a:gdLst/>
            <a:ahLst/>
            <a:rect l="0" t="0" r="r" b="b"/>
            <a:pathLst>
              <a:path w="3017" h="1509">
                <a:moveTo>
                  <a:pt x="0" y="0"/>
                </a:moveTo>
                <a:lnTo>
                  <a:pt x="3017" y="0"/>
                </a:lnTo>
                <a:lnTo>
                  <a:pt x="301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" name=""/>
          <p:cNvSpPr/>
          <p:nvPr/>
        </p:nvSpPr>
        <p:spPr>
          <a:xfrm>
            <a:off x="8553240" y="2171520"/>
            <a:ext cx="1895760" cy="543240"/>
          </a:xfrm>
          <a:custGeom>
            <a:avLst/>
            <a:gdLst/>
            <a:ahLst/>
            <a:rect l="0" t="0" r="r" b="b"/>
            <a:pathLst>
              <a:path w="5266" h="1509">
                <a:moveTo>
                  <a:pt x="0" y="0"/>
                </a:moveTo>
                <a:lnTo>
                  <a:pt x="5266" y="0"/>
                </a:lnTo>
                <a:lnTo>
                  <a:pt x="526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10448640" y="2171520"/>
            <a:ext cx="1209960" cy="543240"/>
          </a:xfrm>
          <a:custGeom>
            <a:avLst/>
            <a:gdLst/>
            <a:ahLst/>
            <a:rect l="0" t="0" r="r" b="b"/>
            <a:pathLst>
              <a:path w="3361" h="1509">
                <a:moveTo>
                  <a:pt x="0" y="0"/>
                </a:moveTo>
                <a:lnTo>
                  <a:pt x="3361" y="0"/>
                </a:lnTo>
                <a:lnTo>
                  <a:pt x="336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" name=""/>
          <p:cNvSpPr/>
          <p:nvPr/>
        </p:nvSpPr>
        <p:spPr>
          <a:xfrm>
            <a:off x="5429160" y="2714400"/>
            <a:ext cx="2038680" cy="533880"/>
          </a:xfrm>
          <a:custGeom>
            <a:avLst/>
            <a:gdLst/>
            <a:ahLst/>
            <a:rect l="0" t="0" r="r" b="b"/>
            <a:pathLst>
              <a:path w="5663" h="1483">
                <a:moveTo>
                  <a:pt x="0" y="0"/>
                </a:moveTo>
                <a:lnTo>
                  <a:pt x="5663" y="0"/>
                </a:lnTo>
                <a:lnTo>
                  <a:pt x="5663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" name=""/>
          <p:cNvSpPr/>
          <p:nvPr/>
        </p:nvSpPr>
        <p:spPr>
          <a:xfrm>
            <a:off x="7467480" y="2714400"/>
            <a:ext cx="1086120" cy="533880"/>
          </a:xfrm>
          <a:custGeom>
            <a:avLst/>
            <a:gdLst/>
            <a:ahLst/>
            <a:rect l="0" t="0" r="r" b="b"/>
            <a:pathLst>
              <a:path w="3017" h="1483">
                <a:moveTo>
                  <a:pt x="0" y="0"/>
                </a:moveTo>
                <a:lnTo>
                  <a:pt x="3017" y="0"/>
                </a:lnTo>
                <a:lnTo>
                  <a:pt x="301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8553240" y="2714400"/>
            <a:ext cx="1895760" cy="533880"/>
          </a:xfrm>
          <a:custGeom>
            <a:avLst/>
            <a:gdLst/>
            <a:ahLst/>
            <a:rect l="0" t="0" r="r" b="b"/>
            <a:pathLst>
              <a:path w="5266" h="1483">
                <a:moveTo>
                  <a:pt x="0" y="0"/>
                </a:moveTo>
                <a:lnTo>
                  <a:pt x="5266" y="0"/>
                </a:lnTo>
                <a:lnTo>
                  <a:pt x="5266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10448640" y="2714400"/>
            <a:ext cx="1209960" cy="533880"/>
          </a:xfrm>
          <a:custGeom>
            <a:avLst/>
            <a:gdLst/>
            <a:ahLst/>
            <a:rect l="0" t="0" r="r" b="b"/>
            <a:pathLst>
              <a:path w="3361" h="1483">
                <a:moveTo>
                  <a:pt x="0" y="0"/>
                </a:moveTo>
                <a:lnTo>
                  <a:pt x="3361" y="0"/>
                </a:lnTo>
                <a:lnTo>
                  <a:pt x="336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5429160" y="3247920"/>
            <a:ext cx="2038680" cy="543240"/>
          </a:xfrm>
          <a:custGeom>
            <a:avLst/>
            <a:gdLst/>
            <a:ahLst/>
            <a:rect l="0" t="0" r="r" b="b"/>
            <a:pathLst>
              <a:path w="5663" h="1509">
                <a:moveTo>
                  <a:pt x="0" y="0"/>
                </a:moveTo>
                <a:lnTo>
                  <a:pt x="5663" y="0"/>
                </a:lnTo>
                <a:lnTo>
                  <a:pt x="566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7467480" y="3247920"/>
            <a:ext cx="1086120" cy="543240"/>
          </a:xfrm>
          <a:custGeom>
            <a:avLst/>
            <a:gdLst/>
            <a:ahLst/>
            <a:rect l="0" t="0" r="r" b="b"/>
            <a:pathLst>
              <a:path w="3017" h="1509">
                <a:moveTo>
                  <a:pt x="0" y="0"/>
                </a:moveTo>
                <a:lnTo>
                  <a:pt x="3017" y="0"/>
                </a:lnTo>
                <a:lnTo>
                  <a:pt x="301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8553240" y="3247920"/>
            <a:ext cx="1895760" cy="543240"/>
          </a:xfrm>
          <a:custGeom>
            <a:avLst/>
            <a:gdLst/>
            <a:ahLst/>
            <a:rect l="0" t="0" r="r" b="b"/>
            <a:pathLst>
              <a:path w="5266" h="1509">
                <a:moveTo>
                  <a:pt x="0" y="0"/>
                </a:moveTo>
                <a:lnTo>
                  <a:pt x="5266" y="0"/>
                </a:lnTo>
                <a:lnTo>
                  <a:pt x="526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10448640" y="3247920"/>
            <a:ext cx="1209960" cy="543240"/>
          </a:xfrm>
          <a:custGeom>
            <a:avLst/>
            <a:gdLst/>
            <a:ahLst/>
            <a:rect l="0" t="0" r="r" b="b"/>
            <a:pathLst>
              <a:path w="3361" h="1509">
                <a:moveTo>
                  <a:pt x="0" y="0"/>
                </a:moveTo>
                <a:lnTo>
                  <a:pt x="3361" y="0"/>
                </a:lnTo>
                <a:lnTo>
                  <a:pt x="336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5429160" y="3790800"/>
            <a:ext cx="2038680" cy="533880"/>
          </a:xfrm>
          <a:custGeom>
            <a:avLst/>
            <a:gdLst/>
            <a:ahLst/>
            <a:rect l="0" t="0" r="r" b="b"/>
            <a:pathLst>
              <a:path w="5663" h="1483">
                <a:moveTo>
                  <a:pt x="0" y="0"/>
                </a:moveTo>
                <a:lnTo>
                  <a:pt x="5663" y="0"/>
                </a:lnTo>
                <a:lnTo>
                  <a:pt x="5663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"/>
          <p:cNvSpPr/>
          <p:nvPr/>
        </p:nvSpPr>
        <p:spPr>
          <a:xfrm>
            <a:off x="7467480" y="3790800"/>
            <a:ext cx="1086120" cy="533880"/>
          </a:xfrm>
          <a:custGeom>
            <a:avLst/>
            <a:gdLst/>
            <a:ahLst/>
            <a:rect l="0" t="0" r="r" b="b"/>
            <a:pathLst>
              <a:path w="3017" h="1483">
                <a:moveTo>
                  <a:pt x="0" y="0"/>
                </a:moveTo>
                <a:lnTo>
                  <a:pt x="3017" y="0"/>
                </a:lnTo>
                <a:lnTo>
                  <a:pt x="301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8553240" y="3790800"/>
            <a:ext cx="1895760" cy="533880"/>
          </a:xfrm>
          <a:custGeom>
            <a:avLst/>
            <a:gdLst/>
            <a:ahLst/>
            <a:rect l="0" t="0" r="r" b="b"/>
            <a:pathLst>
              <a:path w="5266" h="1483">
                <a:moveTo>
                  <a:pt x="0" y="0"/>
                </a:moveTo>
                <a:lnTo>
                  <a:pt x="5266" y="0"/>
                </a:lnTo>
                <a:lnTo>
                  <a:pt x="5266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"/>
          <p:cNvSpPr/>
          <p:nvPr/>
        </p:nvSpPr>
        <p:spPr>
          <a:xfrm>
            <a:off x="10448640" y="3790800"/>
            <a:ext cx="1209960" cy="533880"/>
          </a:xfrm>
          <a:custGeom>
            <a:avLst/>
            <a:gdLst/>
            <a:ahLst/>
            <a:rect l="0" t="0" r="r" b="b"/>
            <a:pathLst>
              <a:path w="3361" h="1483">
                <a:moveTo>
                  <a:pt x="0" y="0"/>
                </a:moveTo>
                <a:lnTo>
                  <a:pt x="3361" y="0"/>
                </a:lnTo>
                <a:lnTo>
                  <a:pt x="336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" name=""/>
          <p:cNvSpPr/>
          <p:nvPr/>
        </p:nvSpPr>
        <p:spPr>
          <a:xfrm>
            <a:off x="5419440" y="21715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5419440" y="217152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7457760" y="21715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7467480" y="2171520"/>
            <a:ext cx="1086120" cy="9720"/>
          </a:xfrm>
          <a:custGeom>
            <a:avLst/>
            <a:gdLst/>
            <a:ahLst/>
            <a:rect l="0" t="0" r="r" b="b"/>
            <a:pathLst>
              <a:path w="3017" h="27">
                <a:moveTo>
                  <a:pt x="0" y="0"/>
                </a:moveTo>
                <a:lnTo>
                  <a:pt x="3017" y="0"/>
                </a:lnTo>
                <a:lnTo>
                  <a:pt x="30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8543880" y="21715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8553240" y="2171520"/>
            <a:ext cx="1905480" cy="9720"/>
          </a:xfrm>
          <a:custGeom>
            <a:avLst/>
            <a:gdLst/>
            <a:ahLst/>
            <a:rect l="0" t="0" r="r" b="b"/>
            <a:pathLst>
              <a:path w="5293" h="27">
                <a:moveTo>
                  <a:pt x="0" y="0"/>
                </a:moveTo>
                <a:lnTo>
                  <a:pt x="5293" y="0"/>
                </a:lnTo>
                <a:lnTo>
                  <a:pt x="52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10448640" y="21715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10458360" y="2171520"/>
            <a:ext cx="1200240" cy="9720"/>
          </a:xfrm>
          <a:custGeom>
            <a:avLst/>
            <a:gdLst/>
            <a:ahLst/>
            <a:rect l="0" t="0" r="r" b="b"/>
            <a:pathLst>
              <a:path w="3334" h="27">
                <a:moveTo>
                  <a:pt x="0" y="0"/>
                </a:moveTo>
                <a:lnTo>
                  <a:pt x="3334" y="0"/>
                </a:lnTo>
                <a:lnTo>
                  <a:pt x="33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11648880" y="21715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5419440" y="270504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7467480" y="2705040"/>
            <a:ext cx="1086120" cy="9720"/>
          </a:xfrm>
          <a:custGeom>
            <a:avLst/>
            <a:gdLst/>
            <a:ahLst/>
            <a:rect l="0" t="0" r="r" b="b"/>
            <a:pathLst>
              <a:path w="3017" h="27">
                <a:moveTo>
                  <a:pt x="0" y="0"/>
                </a:moveTo>
                <a:lnTo>
                  <a:pt x="3017" y="0"/>
                </a:lnTo>
                <a:lnTo>
                  <a:pt x="30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6" name=""/>
          <p:cNvSpPr/>
          <p:nvPr/>
        </p:nvSpPr>
        <p:spPr>
          <a:xfrm>
            <a:off x="8553240" y="2705040"/>
            <a:ext cx="1905480" cy="9720"/>
          </a:xfrm>
          <a:custGeom>
            <a:avLst/>
            <a:gdLst/>
            <a:ahLst/>
            <a:rect l="0" t="0" r="r" b="b"/>
            <a:pathLst>
              <a:path w="5293" h="27">
                <a:moveTo>
                  <a:pt x="0" y="0"/>
                </a:moveTo>
                <a:lnTo>
                  <a:pt x="5293" y="0"/>
                </a:lnTo>
                <a:lnTo>
                  <a:pt x="52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10458360" y="2705040"/>
            <a:ext cx="1200240" cy="9720"/>
          </a:xfrm>
          <a:custGeom>
            <a:avLst/>
            <a:gdLst/>
            <a:ahLst/>
            <a:rect l="0" t="0" r="r" b="b"/>
            <a:pathLst>
              <a:path w="3334" h="27">
                <a:moveTo>
                  <a:pt x="0" y="0"/>
                </a:moveTo>
                <a:lnTo>
                  <a:pt x="3334" y="0"/>
                </a:lnTo>
                <a:lnTo>
                  <a:pt x="33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5419440" y="2714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7457760" y="2714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8543880" y="2714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10448640" y="2714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11648880" y="2714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5419440" y="32572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5419440" y="324792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7457760" y="32572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7467480" y="3247920"/>
            <a:ext cx="1086120" cy="9720"/>
          </a:xfrm>
          <a:custGeom>
            <a:avLst/>
            <a:gdLst/>
            <a:ahLst/>
            <a:rect l="0" t="0" r="r" b="b"/>
            <a:pathLst>
              <a:path w="3017" h="27">
                <a:moveTo>
                  <a:pt x="0" y="0"/>
                </a:moveTo>
                <a:lnTo>
                  <a:pt x="3017" y="0"/>
                </a:lnTo>
                <a:lnTo>
                  <a:pt x="30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8543880" y="32572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8553240" y="3247920"/>
            <a:ext cx="1905480" cy="9720"/>
          </a:xfrm>
          <a:custGeom>
            <a:avLst/>
            <a:gdLst/>
            <a:ahLst/>
            <a:rect l="0" t="0" r="r" b="b"/>
            <a:pathLst>
              <a:path w="5293" h="27">
                <a:moveTo>
                  <a:pt x="0" y="0"/>
                </a:moveTo>
                <a:lnTo>
                  <a:pt x="5293" y="0"/>
                </a:lnTo>
                <a:lnTo>
                  <a:pt x="52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10448640" y="32572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10458360" y="3247920"/>
            <a:ext cx="1200240" cy="9720"/>
          </a:xfrm>
          <a:custGeom>
            <a:avLst/>
            <a:gdLst/>
            <a:ahLst/>
            <a:rect l="0" t="0" r="r" b="b"/>
            <a:pathLst>
              <a:path w="3334" h="27">
                <a:moveTo>
                  <a:pt x="0" y="0"/>
                </a:moveTo>
                <a:lnTo>
                  <a:pt x="3334" y="0"/>
                </a:lnTo>
                <a:lnTo>
                  <a:pt x="33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11648880" y="32572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5419440" y="37908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5419440" y="37810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7457760" y="37908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7467480" y="3781080"/>
            <a:ext cx="1086120" cy="10080"/>
          </a:xfrm>
          <a:custGeom>
            <a:avLst/>
            <a:gdLst/>
            <a:ahLst/>
            <a:rect l="0" t="0" r="r" b="b"/>
            <a:pathLst>
              <a:path w="3017" h="28">
                <a:moveTo>
                  <a:pt x="0" y="0"/>
                </a:moveTo>
                <a:lnTo>
                  <a:pt x="3017" y="0"/>
                </a:lnTo>
                <a:lnTo>
                  <a:pt x="30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8543880" y="37908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8553240" y="3781080"/>
            <a:ext cx="1905480" cy="10080"/>
          </a:xfrm>
          <a:custGeom>
            <a:avLst/>
            <a:gdLst/>
            <a:ahLst/>
            <a:rect l="0" t="0" r="r" b="b"/>
            <a:pathLst>
              <a:path w="5293" h="28">
                <a:moveTo>
                  <a:pt x="0" y="0"/>
                </a:moveTo>
                <a:lnTo>
                  <a:pt x="5293" y="0"/>
                </a:lnTo>
                <a:lnTo>
                  <a:pt x="52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10448640" y="37908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10458360" y="3781080"/>
            <a:ext cx="1200240" cy="10080"/>
          </a:xfrm>
          <a:custGeom>
            <a:avLst/>
            <a:gdLst/>
            <a:ahLst/>
            <a:rect l="0" t="0" r="r" b="b"/>
            <a:pathLst>
              <a:path w="3334" h="28">
                <a:moveTo>
                  <a:pt x="0" y="0"/>
                </a:moveTo>
                <a:lnTo>
                  <a:pt x="3334" y="0"/>
                </a:lnTo>
                <a:lnTo>
                  <a:pt x="33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11648880" y="37908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" name=""/>
          <p:cNvSpPr/>
          <p:nvPr/>
        </p:nvSpPr>
        <p:spPr>
          <a:xfrm>
            <a:off x="5419440" y="432432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7467480" y="4324320"/>
            <a:ext cx="1086120" cy="9720"/>
          </a:xfrm>
          <a:custGeom>
            <a:avLst/>
            <a:gdLst/>
            <a:ahLst/>
            <a:rect l="0" t="0" r="r" b="b"/>
            <a:pathLst>
              <a:path w="3017" h="27">
                <a:moveTo>
                  <a:pt x="0" y="0"/>
                </a:moveTo>
                <a:lnTo>
                  <a:pt x="3017" y="0"/>
                </a:lnTo>
                <a:lnTo>
                  <a:pt x="30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8553240" y="4324320"/>
            <a:ext cx="1905480" cy="9720"/>
          </a:xfrm>
          <a:custGeom>
            <a:avLst/>
            <a:gdLst/>
            <a:ahLst/>
            <a:rect l="0" t="0" r="r" b="b"/>
            <a:pathLst>
              <a:path w="5293" h="27">
                <a:moveTo>
                  <a:pt x="0" y="0"/>
                </a:moveTo>
                <a:lnTo>
                  <a:pt x="5293" y="0"/>
                </a:lnTo>
                <a:lnTo>
                  <a:pt x="52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" name=""/>
          <p:cNvSpPr/>
          <p:nvPr/>
        </p:nvSpPr>
        <p:spPr>
          <a:xfrm>
            <a:off x="10458360" y="4324320"/>
            <a:ext cx="1200240" cy="9720"/>
          </a:xfrm>
          <a:custGeom>
            <a:avLst/>
            <a:gdLst/>
            <a:ahLst/>
            <a:rect l="0" t="0" r="r" b="b"/>
            <a:pathLst>
              <a:path w="3334" h="27">
                <a:moveTo>
                  <a:pt x="0" y="0"/>
                </a:moveTo>
                <a:lnTo>
                  <a:pt x="3334" y="0"/>
                </a:lnTo>
                <a:lnTo>
                  <a:pt x="33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533520" y="1571760"/>
            <a:ext cx="3943440" cy="439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39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正解を得るのに必要な候補数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5422320" y="1649160"/>
            <a:ext cx="30348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11111"/>
                </a:solidFill>
                <a:latin typeface="Arial"/>
                <a:ea typeface="Arial"/>
              </a:rPr>
              <a:t>1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5591160" y="1571760"/>
            <a:ext cx="2426760" cy="439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39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候補⽬での正答率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5555520" y="22132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劣化強度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7595640" y="2213280"/>
            <a:ext cx="1716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従来法 提案法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9510120" y="2283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9678960" y="22132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統合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10231560" y="2283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10638360" y="221328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向上率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5555520" y="274680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弱い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6108120" y="2817000"/>
            <a:ext cx="819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(k₂=8)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7618320" y="281700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86.6%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9110880" y="281700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87.4%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10657440" y="2817000"/>
            <a:ext cx="790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+0.8%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5555520" y="328968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中程度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6384240" y="3359880"/>
            <a:ext cx="973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(k₂=11)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7618320" y="335988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52.5%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9110880" y="335988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66.0%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10580760" y="3359880"/>
            <a:ext cx="942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+13.5%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5555520" y="382284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強い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6108120" y="3893400"/>
            <a:ext cx="973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(k₂=13)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7618320" y="389340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31.3%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9110880" y="389340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47.9%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10580760" y="3893400"/>
            <a:ext cx="942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+16.6%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5422320" y="4531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5514120" y="446112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表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5790600" y="453168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5.8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6174360" y="446112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6450840" y="4531680"/>
            <a:ext cx="367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6818760" y="446112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と提案法の値を抜粋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5743440" y="5581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9304920" y="4531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5974560" y="5384880"/>
            <a:ext cx="55177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提案⼿法全体を統合すると、従来⼿法の組み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5974560" y="579456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合わせと⽐較して正答率が</a:t>
            </a:r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最⼤で約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10386000" y="586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5743440" y="64767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3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10539720" y="57945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倍</a:t>
            </a:r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5974560" y="6280560"/>
            <a:ext cx="55177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特に劣化が強い画像ほど、提案⼿法の優位性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5974560" y="66898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が顕著に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914400" y="351000"/>
            <a:ext cx="497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結果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1409760" y="414000"/>
            <a:ext cx="3038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(2)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6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1712520" y="351000"/>
            <a:ext cx="3229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：全⼿法を統合した総合性能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11799360" y="645840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2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83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484" name=""/>
          <p:cNvSpPr/>
          <p:nvPr/>
        </p:nvSpPr>
        <p:spPr>
          <a:xfrm>
            <a:off x="857160" y="1581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533520" y="870120"/>
            <a:ext cx="96552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本研究の成果は、犯罪捜査などの実応⽤において⼤きな貢献が期待できます。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1085760" y="138456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従来⼿法の課題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301932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1085760" y="1794240"/>
            <a:ext cx="10482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認識精度が低いため、多数の候補⾞両を⽬視で確認する必要があり、捜査員に⼤きな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857160" y="29145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1085760" y="221328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負担がかかっていた。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1085760" y="271800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提案⼿法による貢献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1409400" y="342864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1"/>
                </a:moveTo>
                <a:cubicBezTo>
                  <a:pt x="239" y="136"/>
                  <a:pt x="236" y="152"/>
                  <a:pt x="230" y="166"/>
                </a:cubicBezTo>
                <a:cubicBezTo>
                  <a:pt x="224" y="181"/>
                  <a:pt x="216" y="194"/>
                  <a:pt x="205" y="205"/>
                </a:cubicBezTo>
                <a:cubicBezTo>
                  <a:pt x="193" y="216"/>
                  <a:pt x="181" y="225"/>
                  <a:pt x="166" y="231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5" y="240"/>
                  <a:pt x="89" y="237"/>
                  <a:pt x="75" y="231"/>
                </a:cubicBezTo>
                <a:cubicBezTo>
                  <a:pt x="60" y="225"/>
                  <a:pt x="47" y="216"/>
                  <a:pt x="36" y="205"/>
                </a:cubicBezTo>
                <a:cubicBezTo>
                  <a:pt x="25" y="194"/>
                  <a:pt x="16" y="181"/>
                  <a:pt x="9" y="166"/>
                </a:cubicBezTo>
                <a:cubicBezTo>
                  <a:pt x="3" y="152"/>
                  <a:pt x="0" y="136"/>
                  <a:pt x="0" y="121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59"/>
                  <a:pt x="25" y="47"/>
                  <a:pt x="36" y="35"/>
                </a:cubicBezTo>
                <a:cubicBezTo>
                  <a:pt x="47" y="24"/>
                  <a:pt x="60" y="16"/>
                  <a:pt x="75" y="10"/>
                </a:cubicBezTo>
                <a:cubicBezTo>
                  <a:pt x="89" y="4"/>
                  <a:pt x="105" y="0"/>
                  <a:pt x="120" y="0"/>
                </a:cubicBezTo>
                <a:cubicBezTo>
                  <a:pt x="136" y="0"/>
                  <a:pt x="151" y="4"/>
                  <a:pt x="166" y="10"/>
                </a:cubicBezTo>
                <a:cubicBezTo>
                  <a:pt x="181" y="16"/>
                  <a:pt x="193" y="24"/>
                  <a:pt x="205" y="35"/>
                </a:cubicBezTo>
                <a:cubicBezTo>
                  <a:pt x="216" y="47"/>
                  <a:pt x="224" y="59"/>
                  <a:pt x="230" y="74"/>
                </a:cubicBezTo>
                <a:cubicBezTo>
                  <a:pt x="236" y="89"/>
                  <a:pt x="239" y="104"/>
                  <a:pt x="239" y="121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3563640" y="27885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" name=""/>
          <p:cNvSpPr/>
          <p:nvPr/>
        </p:nvSpPr>
        <p:spPr>
          <a:xfrm>
            <a:off x="1409400" y="39146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79"/>
                  <a:pt x="216" y="192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2"/>
                  <a:pt x="16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1638360" y="3232440"/>
            <a:ext cx="7172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⾼い認識精度により、正解を少ない候補数で特定可能に。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1638360" y="3718080"/>
            <a:ext cx="9103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実験結果から、容疑⾞両を絞り込む台数を、従来⼿法を適⽤した場合の</a:t>
            </a:r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10753920" y="378864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2%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11153160" y="371808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ま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1409400" y="48099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1638360" y="412776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で削減できる可能性が⽰された。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1638360" y="4613400"/>
            <a:ext cx="6620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これは、捜査の</a:t>
            </a:r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劇的な効率化</a:t>
            </a:r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と</a:t>
            </a:r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負担軽減</a:t>
            </a:r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に直結する。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1408320" y="5594760"/>
            <a:ext cx="9379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「読めない」画像を「読める」ようにすることで、社会的な課題解決に貢献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3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914400" y="351000"/>
            <a:ext cx="2981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考察：実⽤上のインパクト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11776680" y="645840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10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511" name=""/>
          <p:cNvSpPr/>
          <p:nvPr/>
        </p:nvSpPr>
        <p:spPr>
          <a:xfrm>
            <a:off x="857160" y="1581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533520" y="870120"/>
            <a:ext cx="74484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本研究のさらなる発展のため、以下の課題が挙げられます。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3" name=""/>
          <p:cNvSpPr/>
          <p:nvPr/>
        </p:nvSpPr>
        <p:spPr>
          <a:xfrm>
            <a:off x="1409400" y="2085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60"/>
                  <a:pt x="25" y="47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1085760" y="138456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ナンバープレート領域の抽出性能向上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1638360" y="1889280"/>
            <a:ext cx="99309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本研究では⽂字認識に焦点を当てたが、画像全体からナンバープレート領域を確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6" name=""/>
          <p:cNvSpPr/>
          <p:nvPr/>
        </p:nvSpPr>
        <p:spPr>
          <a:xfrm>
            <a:off x="857160" y="299052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1"/>
                  <a:pt x="215" y="194"/>
                  <a:pt x="204" y="205"/>
                </a:cubicBezTo>
                <a:cubicBezTo>
                  <a:pt x="193" y="216"/>
                  <a:pt x="180" y="224"/>
                  <a:pt x="165" y="230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3" y="240"/>
                  <a:pt x="88" y="237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3" y="194"/>
                  <a:pt x="15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1638360" y="2308320"/>
            <a:ext cx="8000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実に⾒つけ出す前処理も、複合劣化環境下では依然として課題。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" name=""/>
          <p:cNvSpPr/>
          <p:nvPr/>
        </p:nvSpPr>
        <p:spPr>
          <a:xfrm>
            <a:off x="1409400" y="34956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1085760" y="279432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傾き補正性能の向上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1638360" y="3299040"/>
            <a:ext cx="99309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斜めから撮影された画像の傾き補正精度をさらに⾼めることで、認識精度全体の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" name=""/>
          <p:cNvSpPr/>
          <p:nvPr/>
        </p:nvSpPr>
        <p:spPr>
          <a:xfrm>
            <a:off x="857160" y="43909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1638360" y="371808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向上が期待できる。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3" name=""/>
          <p:cNvSpPr/>
          <p:nvPr/>
        </p:nvSpPr>
        <p:spPr>
          <a:xfrm>
            <a:off x="1409400" y="4905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58"/>
                  <a:pt x="25" y="46"/>
                  <a:pt x="36" y="34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4"/>
                </a:cubicBezTo>
                <a:cubicBezTo>
                  <a:pt x="216" y="46"/>
                  <a:pt x="224" y="58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1085760" y="419436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動いている⾞両への対応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1638360" y="4708800"/>
            <a:ext cx="99309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⾛⾏中の⾞両を撮影した際に⽣じる「モーションブラー」に特化した画質改善⼿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1638360" y="51184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法やネットワーク構造の検討が必要。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7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8" name=""/>
          <p:cNvSpPr txBox="1"/>
          <p:nvPr/>
        </p:nvSpPr>
        <p:spPr>
          <a:xfrm>
            <a:off x="914400" y="351000"/>
            <a:ext cx="12427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今後の課題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11776680" y="645840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34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535" name=""/>
          <p:cNvSpPr txBox="1"/>
          <p:nvPr/>
        </p:nvSpPr>
        <p:spPr>
          <a:xfrm>
            <a:off x="533520" y="87012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本研究の貢献を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6" name=""/>
          <p:cNvSpPr txBox="1"/>
          <p:nvPr/>
        </p:nvSpPr>
        <p:spPr>
          <a:xfrm>
            <a:off x="2467080" y="940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2620440" y="87012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点にまとめます。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8" name=""/>
          <p:cNvSpPr txBox="1"/>
          <p:nvPr/>
        </p:nvSpPr>
        <p:spPr>
          <a:xfrm>
            <a:off x="778680" y="145512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1.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1085760" y="138456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複合劣化画像に対する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384804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083a5e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1" name=""/>
          <p:cNvSpPr/>
          <p:nvPr/>
        </p:nvSpPr>
        <p:spPr>
          <a:xfrm>
            <a:off x="1409400" y="2085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60"/>
                  <a:pt x="25" y="47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4001760" y="138456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つの特化⼿法を提案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1638360" y="1889280"/>
            <a:ext cx="6621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「ロバスト性」「効率性」「適応性」の課題に対し、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7991640" y="1959840"/>
            <a:ext cx="1594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SVR-Retinex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" name=""/>
          <p:cNvSpPr txBox="1"/>
          <p:nvPr/>
        </p:nvSpPr>
        <p:spPr>
          <a:xfrm>
            <a:off x="9587880" y="1807200"/>
            <a:ext cx="275760" cy="48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Mongolian"/>
                <a:ea typeface="NotoSansMongolian"/>
              </a:rPr>
              <a:t>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9714600" y="195984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10312920" y="18892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超解像、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1638360" y="230832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多重構造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9" name=""/>
          <p:cNvSpPr txBox="1"/>
          <p:nvPr/>
        </p:nvSpPr>
        <p:spPr>
          <a:xfrm>
            <a:off x="2743200" y="237888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3341520" y="23083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という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4170240" y="237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4323960" y="2308320"/>
            <a:ext cx="3862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つの機械学習⼿法を開発した。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778680" y="286452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2.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4" name=""/>
          <p:cNvSpPr/>
          <p:nvPr/>
        </p:nvSpPr>
        <p:spPr>
          <a:xfrm>
            <a:off x="1409400" y="34956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1085760" y="2794320"/>
            <a:ext cx="3862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各⼿法の有効性を実験的に証明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1638360" y="3299040"/>
            <a:ext cx="99309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それぞれの提案⼿法が、従来法と⽐較して画質改善と認識精度の両⾯で優位性を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1638360" y="371808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持つことを定量的に⽰した。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778680" y="426492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9" name=""/>
          <p:cNvSpPr/>
          <p:nvPr/>
        </p:nvSpPr>
        <p:spPr>
          <a:xfrm>
            <a:off x="1409400" y="4905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58"/>
                  <a:pt x="25" y="46"/>
                  <a:pt x="36" y="34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4"/>
                </a:cubicBezTo>
                <a:cubicBezTo>
                  <a:pt x="216" y="46"/>
                  <a:pt x="224" y="58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1085760" y="4194360"/>
            <a:ext cx="6621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全⼿法の統合による⾶躍的な性能向上と実⽤性の提⽰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1638360" y="4708800"/>
            <a:ext cx="6621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全⼿法を統合することで、従来⽐で認識精度が</a:t>
            </a:r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最⼤約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8248680" y="47793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3" name=""/>
          <p:cNvSpPr/>
          <p:nvPr/>
        </p:nvSpPr>
        <p:spPr>
          <a:xfrm>
            <a:off x="1409400" y="53910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8402040" y="470880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倍</a:t>
            </a:r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に向上。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1638360" y="5194440"/>
            <a:ext cx="4965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犯罪捜査における⾞両絞り込み台数を</a:t>
            </a:r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6610320" y="526500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2%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7009920" y="519444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まで削減できる可能性を⽰し、社会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1638360" y="5604120"/>
            <a:ext cx="3862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実装への⼤きな⼀歩を築いた。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9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914400" y="351000"/>
            <a:ext cx="745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まとめ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11776680" y="645840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14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LibreOffice/24.2.7.2$Linux_AARCH64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