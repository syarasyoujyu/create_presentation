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4926240" y="1859400"/>
            <a:ext cx="241164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0b4b78"/>
                </a:solidFill>
                <a:latin typeface="NotoSansJP"/>
                <a:ea typeface="NotoSansJP"/>
              </a:rPr>
              <a:t>論文紹介 </a:t>
            </a:r>
            <a:r>
              <a:rPr b="0" lang="en-US" sz="1950" spc="-1" strike="noStrike">
                <a:solidFill>
                  <a:srgbClr val="0b4b78"/>
                </a:solidFill>
                <a:latin typeface="NotoSansJP"/>
                <a:ea typeface="NotoSansJP"/>
              </a:rPr>
              <a:t>2026/04/07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1355040" y="2500920"/>
            <a:ext cx="9541080" cy="690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3750" spc="-1" strike="noStrike">
                <a:solidFill>
                  <a:srgbClr val="0b4b78"/>
                </a:solidFill>
                <a:latin typeface="NotoSansJP"/>
                <a:ea typeface="NotoSansJP"/>
              </a:rPr>
              <a:t>機械学習による複合劣化ナンバープレート画</a:t>
            </a:r>
            <a:endParaRPr b="0" lang="en-US" sz="375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9" name="" descr=""/>
          <p:cNvPicPr/>
          <p:nvPr/>
        </p:nvPicPr>
        <p:blipFill>
          <a:blip r:embed="rId1"/>
          <a:stretch/>
        </p:blipFill>
        <p:spPr>
          <a:xfrm>
            <a:off x="4809960" y="-190440"/>
            <a:ext cx="2571480" cy="2571480"/>
          </a:xfrm>
          <a:prstGeom prst="rect">
            <a:avLst/>
          </a:prstGeom>
          <a:ln w="0">
            <a:noFill/>
          </a:ln>
        </p:spPr>
      </p:pic>
      <p:sp>
        <p:nvSpPr>
          <p:cNvPr id="10" name=""/>
          <p:cNvSpPr/>
          <p:nvPr/>
        </p:nvSpPr>
        <p:spPr>
          <a:xfrm>
            <a:off x="0" y="3771720"/>
            <a:ext cx="12192120" cy="3086280"/>
          </a:xfrm>
          <a:custGeom>
            <a:avLst/>
            <a:gdLst/>
            <a:ahLst/>
            <a:rect l="0" t="0" r="r" b="b"/>
            <a:pathLst>
              <a:path w="33867" h="8573">
                <a:moveTo>
                  <a:pt x="0" y="0"/>
                </a:moveTo>
                <a:lnTo>
                  <a:pt x="33867" y="0"/>
                </a:lnTo>
                <a:lnTo>
                  <a:pt x="33867" y="8573"/>
                </a:lnTo>
                <a:lnTo>
                  <a:pt x="0" y="8573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3476520" y="3215160"/>
            <a:ext cx="5247720" cy="690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3750" spc="-1" strike="noStrike">
                <a:solidFill>
                  <a:srgbClr val="0b4b78"/>
                </a:solidFill>
                <a:latin typeface="NotoSansJP"/>
                <a:ea typeface="NotoSansJP"/>
              </a:rPr>
              <a:t>像の画質改善と文字認識</a:t>
            </a:r>
            <a:endParaRPr b="0" lang="en-US" sz="37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5353200" y="4708800"/>
            <a:ext cx="16009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00" spc="-1" strike="noStrike">
                <a:solidFill>
                  <a:srgbClr val="ffffff"/>
                </a:solidFill>
                <a:latin typeface="NotoSansJP"/>
                <a:ea typeface="NotoSansJP"/>
              </a:rPr>
              <a:t>理学部　化学科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5438880" y="5285880"/>
            <a:ext cx="1433160" cy="41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250" spc="-1" strike="noStrike">
                <a:solidFill>
                  <a:srgbClr val="ffffff"/>
                </a:solidFill>
                <a:latin typeface="NotoSansJP"/>
                <a:ea typeface="NotoSansJP"/>
              </a:rPr>
              <a:t>知能　太郎</a:t>
            </a:r>
            <a:endParaRPr b="0" lang="en-US" sz="22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1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3009960" y="2207880"/>
            <a:ext cx="253764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1. </a:t>
            </a:r>
            <a:r>
              <a:rPr b="0" lang="zh-CN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研究背景と課題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3009960" y="2665080"/>
            <a:ext cx="162324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2. </a:t>
            </a:r>
            <a:r>
              <a:rPr b="0" lang="zh-CN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提案手法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3009960" y="3122280"/>
            <a:ext cx="192780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3. </a:t>
            </a:r>
            <a:r>
              <a:rPr b="0" lang="zh-CN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実験と結果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3009960" y="3579480"/>
            <a:ext cx="101340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4. </a:t>
            </a:r>
            <a:r>
              <a:rPr b="0" lang="zh-CN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考察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3009960" y="4036680"/>
            <a:ext cx="131832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5. </a:t>
            </a:r>
            <a:r>
              <a:rPr b="0" lang="zh-CN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まとめ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209520" y="266400"/>
            <a:ext cx="152640" cy="305280"/>
          </a:xfrm>
          <a:custGeom>
            <a:avLst/>
            <a:gdLst/>
            <a:ahLst/>
            <a:rect l="0" t="0" r="r" b="b"/>
            <a:pathLst>
              <a:path w="424" h="848">
                <a:moveTo>
                  <a:pt x="0" y="0"/>
                </a:moveTo>
                <a:lnTo>
                  <a:pt x="424" y="0"/>
                </a:lnTo>
                <a:lnTo>
                  <a:pt x="424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24" name="" descr=""/>
          <p:cNvPicPr/>
          <p:nvPr/>
        </p:nvPicPr>
        <p:blipFill>
          <a:blip r:embed="rId1"/>
          <a:stretch/>
        </p:blipFill>
        <p:spPr>
          <a:xfrm>
            <a:off x="10744200" y="-219240"/>
            <a:ext cx="1256760" cy="1256760"/>
          </a:xfrm>
          <a:prstGeom prst="rect">
            <a:avLst/>
          </a:prstGeom>
          <a:ln w="0">
            <a:noFill/>
          </a:ln>
        </p:spPr>
      </p:pic>
      <p:sp>
        <p:nvSpPr>
          <p:cNvPr id="25" name=""/>
          <p:cNvSpPr/>
          <p:nvPr/>
        </p:nvSpPr>
        <p:spPr>
          <a:xfrm>
            <a:off x="2666880" y="2333520"/>
            <a:ext cx="171720" cy="171720"/>
          </a:xfrm>
          <a:custGeom>
            <a:avLst/>
            <a:gdLst/>
            <a:ahLst/>
            <a:rect l="0" t="0" r="r" b="b"/>
            <a:pathLst>
              <a:path w="477" h="477">
                <a:moveTo>
                  <a:pt x="0" y="0"/>
                </a:moveTo>
                <a:lnTo>
                  <a:pt x="477" y="0"/>
                </a:lnTo>
                <a:lnTo>
                  <a:pt x="477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2666880" y="2790720"/>
            <a:ext cx="171720" cy="171720"/>
          </a:xfrm>
          <a:custGeom>
            <a:avLst/>
            <a:gdLst/>
            <a:ahLst/>
            <a:rect l="0" t="0" r="r" b="b"/>
            <a:pathLst>
              <a:path w="477" h="477">
                <a:moveTo>
                  <a:pt x="0" y="0"/>
                </a:moveTo>
                <a:lnTo>
                  <a:pt x="477" y="0"/>
                </a:lnTo>
                <a:lnTo>
                  <a:pt x="477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2666880" y="3247920"/>
            <a:ext cx="171720" cy="171720"/>
          </a:xfrm>
          <a:custGeom>
            <a:avLst/>
            <a:gdLst/>
            <a:ahLst/>
            <a:rect l="0" t="0" r="r" b="b"/>
            <a:pathLst>
              <a:path w="477" h="477">
                <a:moveTo>
                  <a:pt x="0" y="0"/>
                </a:moveTo>
                <a:lnTo>
                  <a:pt x="477" y="0"/>
                </a:lnTo>
                <a:lnTo>
                  <a:pt x="477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2666880" y="3705120"/>
            <a:ext cx="171720" cy="171720"/>
          </a:xfrm>
          <a:custGeom>
            <a:avLst/>
            <a:gdLst/>
            <a:ahLst/>
            <a:rect l="0" t="0" r="r" b="b"/>
            <a:pathLst>
              <a:path w="477" h="477">
                <a:moveTo>
                  <a:pt x="0" y="0"/>
                </a:moveTo>
                <a:lnTo>
                  <a:pt x="477" y="0"/>
                </a:lnTo>
                <a:lnTo>
                  <a:pt x="477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2666880" y="4162320"/>
            <a:ext cx="171720" cy="171720"/>
          </a:xfrm>
          <a:custGeom>
            <a:avLst/>
            <a:gdLst/>
            <a:ahLst/>
            <a:rect l="0" t="0" r="r" b="b"/>
            <a:pathLst>
              <a:path w="477" h="477">
                <a:moveTo>
                  <a:pt x="0" y="0"/>
                </a:moveTo>
                <a:lnTo>
                  <a:pt x="477" y="0"/>
                </a:lnTo>
                <a:lnTo>
                  <a:pt x="477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495360" y="187200"/>
            <a:ext cx="1623960" cy="469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550" spc="-1" strike="noStrike">
                <a:solidFill>
                  <a:srgbClr val="111111"/>
                </a:solidFill>
                <a:latin typeface="NotoSansJP"/>
                <a:ea typeface="NotoSansJP"/>
              </a:rPr>
              <a:t>アジェンダ</a:t>
            </a:r>
            <a:endParaRPr b="0" lang="en-US" sz="25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2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6" name="" descr=""/>
          <p:cNvPicPr/>
          <p:nvPr/>
        </p:nvPicPr>
        <p:blipFill>
          <a:blip r:embed="rId1"/>
          <a:stretch/>
        </p:blipFill>
        <p:spPr>
          <a:xfrm>
            <a:off x="10515600" y="38160"/>
            <a:ext cx="1142640" cy="1142640"/>
          </a:xfrm>
          <a:prstGeom prst="rect">
            <a:avLst/>
          </a:prstGeom>
          <a:ln w="0">
            <a:noFill/>
          </a:ln>
        </p:spPr>
      </p:pic>
      <p:sp>
        <p:nvSpPr>
          <p:cNvPr id="37" name=""/>
          <p:cNvSpPr txBox="1"/>
          <p:nvPr/>
        </p:nvSpPr>
        <p:spPr>
          <a:xfrm>
            <a:off x="533520" y="923760"/>
            <a:ext cx="104828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実環境の監視カメラ映像は、ナンバープレート認識を困難にする「複合劣化」を伴う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809280" y="20858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2" y="164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3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0" y="15"/>
                  <a:pt x="219" y="19"/>
                  <a:pt x="228" y="24"/>
                </a:cubicBezTo>
                <a:cubicBezTo>
                  <a:pt x="236" y="30"/>
                  <a:pt x="243" y="36"/>
                  <a:pt x="250" y="42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2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533520" y="1438200"/>
            <a:ext cx="24832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監視カメラの重要性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1085760" y="1942920"/>
            <a:ext cx="4690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防犯や犯罪捜査において、監視カメラ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809280" y="29905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2" y="165"/>
                  <a:pt x="290" y="174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0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2"/>
                  <a:pt x="210" y="277"/>
                  <a:pt x="202" y="281"/>
                </a:cubicBezTo>
                <a:cubicBezTo>
                  <a:pt x="193" y="285"/>
                  <a:pt x="184" y="288"/>
                  <a:pt x="174" y="290"/>
                </a:cubicBezTo>
                <a:cubicBezTo>
                  <a:pt x="165" y="292"/>
                  <a:pt x="156" y="292"/>
                  <a:pt x="146" y="292"/>
                </a:cubicBezTo>
                <a:cubicBezTo>
                  <a:pt x="136" y="292"/>
                  <a:pt x="127" y="292"/>
                  <a:pt x="118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0"/>
                  <a:pt x="12" y="202"/>
                </a:cubicBezTo>
                <a:cubicBezTo>
                  <a:pt x="8" y="193"/>
                  <a:pt x="5" y="184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0" y="15"/>
                  <a:pt x="219" y="20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8"/>
                </a:cubicBezTo>
                <a:cubicBezTo>
                  <a:pt x="292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1085760" y="2362320"/>
            <a:ext cx="30351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映像は重要な役割を担う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1085760" y="2847960"/>
            <a:ext cx="4690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特に車両が関わる事件では、ナンバー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1085760" y="3257640"/>
            <a:ext cx="4690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プレートの自動認識が捜査の鍵となる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809280" y="48956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2" y="165"/>
                  <a:pt x="290" y="174"/>
                </a:cubicBezTo>
                <a:cubicBezTo>
                  <a:pt x="288" y="183"/>
                  <a:pt x="285" y="192"/>
                  <a:pt x="281" y="201"/>
                </a:cubicBezTo>
                <a:cubicBezTo>
                  <a:pt x="278" y="210"/>
                  <a:pt x="273" y="219"/>
                  <a:pt x="268" y="227"/>
                </a:cubicBezTo>
                <a:cubicBezTo>
                  <a:pt x="263" y="235"/>
                  <a:pt x="257" y="243"/>
                  <a:pt x="250" y="250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5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8"/>
                </a:cubicBezTo>
                <a:cubicBezTo>
                  <a:pt x="57" y="262"/>
                  <a:pt x="50" y="256"/>
                  <a:pt x="43" y="250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19"/>
                  <a:pt x="15" y="210"/>
                  <a:pt x="12" y="201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0" y="15"/>
                  <a:pt x="219" y="19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533520" y="4238640"/>
            <a:ext cx="33109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実環境における画質の課題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1085760" y="4753080"/>
            <a:ext cx="4690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実際の映像は、様々な要因が組み合わ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809280" y="57909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2" y="166"/>
                  <a:pt x="290" y="175"/>
                </a:cubicBezTo>
                <a:cubicBezTo>
                  <a:pt x="288" y="184"/>
                  <a:pt x="285" y="194"/>
                  <a:pt x="281" y="202"/>
                </a:cubicBezTo>
                <a:cubicBezTo>
                  <a:pt x="278" y="211"/>
                  <a:pt x="273" y="220"/>
                  <a:pt x="268" y="228"/>
                </a:cubicBezTo>
                <a:cubicBezTo>
                  <a:pt x="263" y="235"/>
                  <a:pt x="257" y="243"/>
                  <a:pt x="250" y="250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5"/>
                  <a:pt x="184" y="288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7"/>
                  <a:pt x="73" y="273"/>
                  <a:pt x="65" y="268"/>
                </a:cubicBezTo>
                <a:cubicBezTo>
                  <a:pt x="57" y="262"/>
                  <a:pt x="50" y="256"/>
                  <a:pt x="43" y="250"/>
                </a:cubicBezTo>
                <a:cubicBezTo>
                  <a:pt x="36" y="243"/>
                  <a:pt x="30" y="235"/>
                  <a:pt x="25" y="228"/>
                </a:cubicBezTo>
                <a:cubicBezTo>
                  <a:pt x="20" y="220"/>
                  <a:pt x="15" y="211"/>
                  <a:pt x="12" y="202"/>
                </a:cubicBezTo>
                <a:cubicBezTo>
                  <a:pt x="8" y="194"/>
                  <a:pt x="5" y="184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8"/>
                </a:cubicBezTo>
                <a:cubicBezTo>
                  <a:pt x="5" y="109"/>
                  <a:pt x="8" y="100"/>
                  <a:pt x="12" y="91"/>
                </a:cubicBezTo>
                <a:cubicBezTo>
                  <a:pt x="15" y="82"/>
                  <a:pt x="20" y="74"/>
                  <a:pt x="25" y="66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0" y="15"/>
                  <a:pt x="219" y="19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6"/>
                </a:cubicBezTo>
                <a:cubicBezTo>
                  <a:pt x="273" y="74"/>
                  <a:pt x="278" y="82"/>
                  <a:pt x="281" y="91"/>
                </a:cubicBezTo>
                <a:cubicBezTo>
                  <a:pt x="285" y="100"/>
                  <a:pt x="288" y="109"/>
                  <a:pt x="290" y="118"/>
                </a:cubicBezTo>
                <a:cubicBezTo>
                  <a:pt x="292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1085760" y="5162400"/>
            <a:ext cx="413820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さった</a:t>
            </a:r>
            <a:r>
              <a:rPr b="0" lang="zh-CN" sz="2170" spc="-1" strike="noStrike">
                <a:solidFill>
                  <a:srgbClr val="c9342f"/>
                </a:solidFill>
                <a:latin typeface="NotoSansJP"/>
                <a:ea typeface="NotoSansJP"/>
              </a:rPr>
              <a:t>「複合劣化」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を被っている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1085760" y="5648400"/>
            <a:ext cx="4690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低解像度、照明変動、ノイズ、撮影ブ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809280" y="66862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2" y="165"/>
                  <a:pt x="290" y="174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20"/>
                  <a:pt x="268" y="228"/>
                </a:cubicBezTo>
                <a:cubicBezTo>
                  <a:pt x="263" y="236"/>
                  <a:pt x="257" y="243"/>
                  <a:pt x="250" y="250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19" y="273"/>
                  <a:pt x="210" y="278"/>
                  <a:pt x="202" y="281"/>
                </a:cubicBezTo>
                <a:cubicBezTo>
                  <a:pt x="193" y="285"/>
                  <a:pt x="184" y="288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2"/>
                  <a:pt x="50" y="256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20" y="220"/>
                  <a:pt x="15" y="211"/>
                  <a:pt x="12" y="202"/>
                </a:cubicBezTo>
                <a:cubicBezTo>
                  <a:pt x="8" y="193"/>
                  <a:pt x="5" y="184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0" y="15"/>
                  <a:pt x="219" y="19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1085760" y="6057720"/>
            <a:ext cx="8283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レなど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1085760" y="6543720"/>
            <a:ext cx="4690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従来技術では、複合劣化した画像の高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54" name="" descr=""/>
          <p:cNvPicPr/>
          <p:nvPr/>
        </p:nvPicPr>
        <p:blipFill>
          <a:blip r:embed="rId2"/>
          <a:stretch/>
        </p:blipFill>
        <p:spPr>
          <a:xfrm>
            <a:off x="6229440" y="1914480"/>
            <a:ext cx="4952520" cy="3647880"/>
          </a:xfrm>
          <a:prstGeom prst="rect">
            <a:avLst/>
          </a:prstGeom>
          <a:ln w="0">
            <a:noFill/>
          </a:ln>
        </p:spPr>
      </p:pic>
      <p:sp>
        <p:nvSpPr>
          <p:cNvPr id="55" name=""/>
          <p:cNvSpPr txBox="1"/>
          <p:nvPr/>
        </p:nvSpPr>
        <p:spPr>
          <a:xfrm>
            <a:off x="6725880" y="1438200"/>
            <a:ext cx="47066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複合劣化画像の例 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論文図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5.15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より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)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6229440" y="5781600"/>
            <a:ext cx="524160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本研究では、機械学習を用いてこの複合劣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6229440" y="6191280"/>
            <a:ext cx="38624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化の問題にアプローチします。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914400" y="392400"/>
            <a:ext cx="994320" cy="36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研究背景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3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65" name="" descr=""/>
          <p:cNvPicPr/>
          <p:nvPr/>
        </p:nvPicPr>
        <p:blipFill>
          <a:blip r:embed="rId1"/>
          <a:stretch/>
        </p:blipFill>
        <p:spPr>
          <a:xfrm>
            <a:off x="10515600" y="38160"/>
            <a:ext cx="1142640" cy="1142640"/>
          </a:xfrm>
          <a:prstGeom prst="rect">
            <a:avLst/>
          </a:prstGeom>
          <a:ln w="0">
            <a:noFill/>
          </a:ln>
        </p:spPr>
      </p:pic>
      <p:sp>
        <p:nvSpPr>
          <p:cNvPr id="66" name=""/>
          <p:cNvSpPr txBox="1"/>
          <p:nvPr/>
        </p:nvSpPr>
        <p:spPr>
          <a:xfrm>
            <a:off x="533520" y="923760"/>
            <a:ext cx="60692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複合劣化画像からの高精度な文字認識を実現する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1361880" y="20858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1" y="164"/>
                  <a:pt x="289" y="175"/>
                </a:cubicBezTo>
                <a:cubicBezTo>
                  <a:pt x="287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3"/>
                  <a:pt x="249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19" y="273"/>
                  <a:pt x="211" y="277"/>
                  <a:pt x="202" y="281"/>
                </a:cubicBezTo>
                <a:cubicBezTo>
                  <a:pt x="193" y="284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49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7" y="193"/>
                  <a:pt x="5" y="184"/>
                  <a:pt x="3" y="175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1" y="15"/>
                  <a:pt x="219" y="19"/>
                  <a:pt x="227" y="24"/>
                </a:cubicBezTo>
                <a:cubicBezTo>
                  <a:pt x="235" y="30"/>
                  <a:pt x="243" y="36"/>
                  <a:pt x="249" y="42"/>
                </a:cubicBezTo>
                <a:cubicBezTo>
                  <a:pt x="256" y="49"/>
                  <a:pt x="262" y="57"/>
                  <a:pt x="268" y="65"/>
                </a:cubicBezTo>
                <a:cubicBezTo>
                  <a:pt x="273" y="72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6"/>
                  <a:pt x="292" y="136"/>
                  <a:pt x="292" y="145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793800" y="1438200"/>
            <a:ext cx="25718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1.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ロバスト性の欠如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1361880" y="25714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1" y="165"/>
                  <a:pt x="289" y="174"/>
                </a:cubicBezTo>
                <a:cubicBezTo>
                  <a:pt x="287" y="184"/>
                  <a:pt x="285" y="193"/>
                  <a:pt x="281" y="201"/>
                </a:cubicBezTo>
                <a:cubicBezTo>
                  <a:pt x="277" y="210"/>
                  <a:pt x="273" y="219"/>
                  <a:pt x="268" y="227"/>
                </a:cubicBezTo>
                <a:cubicBezTo>
                  <a:pt x="262" y="235"/>
                  <a:pt x="256" y="242"/>
                  <a:pt x="249" y="249"/>
                </a:cubicBezTo>
                <a:cubicBezTo>
                  <a:pt x="243" y="255"/>
                  <a:pt x="235" y="261"/>
                  <a:pt x="227" y="267"/>
                </a:cubicBezTo>
                <a:cubicBezTo>
                  <a:pt x="219" y="272"/>
                  <a:pt x="211" y="277"/>
                  <a:pt x="202" y="281"/>
                </a:cubicBezTo>
                <a:cubicBezTo>
                  <a:pt x="193" y="285"/>
                  <a:pt x="184" y="288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1"/>
                  <a:pt x="49" y="255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19" y="219"/>
                  <a:pt x="15" y="210"/>
                  <a:pt x="11" y="201"/>
                </a:cubicBezTo>
                <a:cubicBezTo>
                  <a:pt x="7" y="193"/>
                  <a:pt x="5" y="184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1" y="15"/>
                  <a:pt x="219" y="19"/>
                  <a:pt x="227" y="25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1638360" y="1942920"/>
            <a:ext cx="965520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ナンバープレート灯やヘッドライトによる</a:t>
            </a:r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環境光の外乱（白飛びなど）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に弱い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1638360" y="2428920"/>
            <a:ext cx="82375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従来の画質改善法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(Retinex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法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)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では、照明成分の推定精度が限定的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1361880" y="35622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1" y="165"/>
                  <a:pt x="289" y="175"/>
                </a:cubicBezTo>
                <a:cubicBezTo>
                  <a:pt x="287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3"/>
                  <a:pt x="249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19" y="273"/>
                  <a:pt x="211" y="277"/>
                  <a:pt x="202" y="281"/>
                </a:cubicBezTo>
                <a:cubicBezTo>
                  <a:pt x="193" y="285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49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7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1" y="15"/>
                  <a:pt x="219" y="19"/>
                  <a:pt x="227" y="24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49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6"/>
                  <a:pt x="292" y="136"/>
                  <a:pt x="292" y="146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793800" y="2914560"/>
            <a:ext cx="20199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2.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効率性の低さ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1361880" y="40478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1" y="165"/>
                  <a:pt x="289" y="174"/>
                </a:cubicBezTo>
                <a:cubicBezTo>
                  <a:pt x="287" y="184"/>
                  <a:pt x="285" y="193"/>
                  <a:pt x="281" y="201"/>
                </a:cubicBezTo>
                <a:cubicBezTo>
                  <a:pt x="277" y="210"/>
                  <a:pt x="273" y="219"/>
                  <a:pt x="268" y="227"/>
                </a:cubicBezTo>
                <a:cubicBezTo>
                  <a:pt x="262" y="235"/>
                  <a:pt x="256" y="242"/>
                  <a:pt x="249" y="249"/>
                </a:cubicBezTo>
                <a:cubicBezTo>
                  <a:pt x="243" y="256"/>
                  <a:pt x="235" y="262"/>
                  <a:pt x="227" y="268"/>
                </a:cubicBezTo>
                <a:cubicBezTo>
                  <a:pt x="219" y="273"/>
                  <a:pt x="211" y="278"/>
                  <a:pt x="202" y="281"/>
                </a:cubicBezTo>
                <a:cubicBezTo>
                  <a:pt x="193" y="285"/>
                  <a:pt x="184" y="288"/>
                  <a:pt x="175" y="290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2"/>
                  <a:pt x="49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19" y="219"/>
                  <a:pt x="15" y="210"/>
                  <a:pt x="11" y="201"/>
                </a:cubicBezTo>
                <a:cubicBezTo>
                  <a:pt x="7" y="193"/>
                  <a:pt x="5" y="184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1" y="15"/>
                  <a:pt x="219" y="20"/>
                  <a:pt x="227" y="25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1638360" y="3419640"/>
            <a:ext cx="91036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低解像度で文字情報が欠落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した画像から、効率的に情報を再構成できない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1638360" y="3905280"/>
            <a:ext cx="855180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従来の超解像技術ではアーティファクト（偽の模様）が発生しやすい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1361880" y="50385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1" y="165"/>
                  <a:pt x="289" y="175"/>
                </a:cubicBezTo>
                <a:cubicBezTo>
                  <a:pt x="287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3"/>
                  <a:pt x="249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19" y="273"/>
                  <a:pt x="211" y="277"/>
                  <a:pt x="202" y="281"/>
                </a:cubicBezTo>
                <a:cubicBezTo>
                  <a:pt x="193" y="285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49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7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1" y="15"/>
                  <a:pt x="219" y="19"/>
                  <a:pt x="227" y="24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49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7"/>
                  <a:pt x="292" y="137"/>
                  <a:pt x="292" y="146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793800" y="4390920"/>
            <a:ext cx="20199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3.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適応性の不足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1361880" y="55242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1" y="165"/>
                  <a:pt x="289" y="174"/>
                </a:cubicBezTo>
                <a:cubicBezTo>
                  <a:pt x="287" y="184"/>
                  <a:pt x="285" y="193"/>
                  <a:pt x="281" y="202"/>
                </a:cubicBezTo>
                <a:cubicBezTo>
                  <a:pt x="277" y="210"/>
                  <a:pt x="273" y="219"/>
                  <a:pt x="268" y="228"/>
                </a:cubicBezTo>
                <a:cubicBezTo>
                  <a:pt x="262" y="236"/>
                  <a:pt x="256" y="243"/>
                  <a:pt x="249" y="250"/>
                </a:cubicBezTo>
                <a:cubicBezTo>
                  <a:pt x="243" y="257"/>
                  <a:pt x="235" y="263"/>
                  <a:pt x="227" y="268"/>
                </a:cubicBezTo>
                <a:cubicBezTo>
                  <a:pt x="219" y="273"/>
                  <a:pt x="211" y="278"/>
                  <a:pt x="202" y="281"/>
                </a:cubicBezTo>
                <a:cubicBezTo>
                  <a:pt x="193" y="285"/>
                  <a:pt x="184" y="288"/>
                  <a:pt x="175" y="290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3"/>
                  <a:pt x="49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19" y="219"/>
                  <a:pt x="15" y="210"/>
                  <a:pt x="11" y="202"/>
                </a:cubicBezTo>
                <a:cubicBezTo>
                  <a:pt x="7" y="193"/>
                  <a:pt x="5" y="184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1" y="15"/>
                  <a:pt x="219" y="20"/>
                  <a:pt x="227" y="25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1638360" y="4896000"/>
            <a:ext cx="93794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多様な文字フォントや、様々な種類の複合劣化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に対し、柔軟に対応できない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1638360" y="5381640"/>
            <a:ext cx="100872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従来の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CNN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は入力画像の解像度が固定されており、劣化状態に応じた処理が困難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914400" y="392400"/>
            <a:ext cx="251568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解決したい</a:t>
            </a:r>
            <a:r>
              <a:rPr b="0" lang="en-US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3</a:t>
            </a:r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つの課題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4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89" name="" descr=""/>
          <p:cNvPicPr/>
          <p:nvPr/>
        </p:nvPicPr>
        <p:blipFill>
          <a:blip r:embed="rId1"/>
          <a:stretch/>
        </p:blipFill>
        <p:spPr>
          <a:xfrm>
            <a:off x="10515600" y="38160"/>
            <a:ext cx="1142640" cy="1142640"/>
          </a:xfrm>
          <a:prstGeom prst="rect">
            <a:avLst/>
          </a:prstGeom>
          <a:ln w="0">
            <a:noFill/>
          </a:ln>
        </p:spPr>
      </p:pic>
      <p:sp>
        <p:nvSpPr>
          <p:cNvPr id="90" name=""/>
          <p:cNvSpPr txBox="1"/>
          <p:nvPr/>
        </p:nvSpPr>
        <p:spPr>
          <a:xfrm>
            <a:off x="533520" y="923760"/>
            <a:ext cx="74044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3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つの課題に対し、それぞれに特化した機械学習手法を提案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533520" y="1438200"/>
            <a:ext cx="45820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課題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1: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ロバスト性の欠如（環境光）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809280" y="26002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2" y="164"/>
                  <a:pt x="290" y="174"/>
                </a:cubicBezTo>
                <a:cubicBezTo>
                  <a:pt x="288" y="183"/>
                  <a:pt x="285" y="192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2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2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2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4"/>
                  <a:pt x="219" y="19"/>
                  <a:pt x="228" y="24"/>
                </a:cubicBezTo>
                <a:cubicBezTo>
                  <a:pt x="236" y="29"/>
                  <a:pt x="243" y="35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89"/>
                </a:cubicBezTo>
                <a:cubicBezTo>
                  <a:pt x="285" y="98"/>
                  <a:pt x="288" y="107"/>
                  <a:pt x="290" y="117"/>
                </a:cubicBezTo>
                <a:cubicBezTo>
                  <a:pt x="292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533520" y="1942920"/>
            <a:ext cx="41605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提案</a:t>
            </a:r>
            <a:r>
              <a:rPr b="0" lang="en-US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1: SVR</a:t>
            </a:r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を用いた</a:t>
            </a:r>
            <a:r>
              <a:rPr b="0" lang="en-US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Retinex</a:t>
            </a:r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処理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1085760" y="2457360"/>
            <a:ext cx="87577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サポートベクター回帰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(SVR)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で照明成分を高精度に推定し、外乱を除去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533520" y="3019320"/>
            <a:ext cx="43063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課題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2: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効率性の低さ（低解像度）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809280" y="41814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2" y="164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2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4"/>
                  <a:pt x="219" y="19"/>
                  <a:pt x="228" y="24"/>
                </a:cubicBezTo>
                <a:cubicBezTo>
                  <a:pt x="236" y="30"/>
                  <a:pt x="243" y="36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90"/>
                </a:cubicBezTo>
                <a:cubicBezTo>
                  <a:pt x="285" y="98"/>
                  <a:pt x="288" y="107"/>
                  <a:pt x="290" y="117"/>
                </a:cubicBezTo>
                <a:cubicBezTo>
                  <a:pt x="292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533520" y="3533760"/>
            <a:ext cx="51170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提案</a:t>
            </a:r>
            <a:r>
              <a:rPr b="0" lang="en-US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2: SVM</a:t>
            </a:r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を用いた画素値選択型超解像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1085760" y="4038480"/>
            <a:ext cx="93816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サポートベクターマシン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(SVM)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で最適な画素を選択し、鮮明な画像を再構成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533520" y="4610160"/>
            <a:ext cx="45820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課題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3: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適応性の不足（多様な劣化）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809280" y="57718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2" y="166"/>
                  <a:pt x="290" y="175"/>
                </a:cubicBezTo>
                <a:cubicBezTo>
                  <a:pt x="288" y="185"/>
                  <a:pt x="285" y="194"/>
                  <a:pt x="281" y="202"/>
                </a:cubicBezTo>
                <a:cubicBezTo>
                  <a:pt x="278" y="211"/>
                  <a:pt x="273" y="220"/>
                  <a:pt x="268" y="228"/>
                </a:cubicBezTo>
                <a:cubicBezTo>
                  <a:pt x="263" y="236"/>
                  <a:pt x="257" y="243"/>
                  <a:pt x="250" y="250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19" y="273"/>
                  <a:pt x="210" y="278"/>
                  <a:pt x="202" y="281"/>
                </a:cubicBezTo>
                <a:cubicBezTo>
                  <a:pt x="193" y="285"/>
                  <a:pt x="184" y="288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2"/>
                  <a:pt x="50" y="256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20" y="220"/>
                  <a:pt x="15" y="211"/>
                  <a:pt x="12" y="202"/>
                </a:cubicBezTo>
                <a:cubicBezTo>
                  <a:pt x="8" y="194"/>
                  <a:pt x="5" y="185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7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0" y="15"/>
                  <a:pt x="219" y="19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533520" y="5114880"/>
            <a:ext cx="47383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提案</a:t>
            </a:r>
            <a:r>
              <a:rPr b="0" lang="en-US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3: </a:t>
            </a:r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多重構造</a:t>
            </a:r>
            <a:r>
              <a:rPr b="0" lang="en-US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CNN</a:t>
            </a:r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による文字認識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1085760" y="5629320"/>
            <a:ext cx="91036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複数の解像度の画像を並列処理し、劣化状態に応じて最適な情報から認識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904320" y="6610320"/>
            <a:ext cx="105184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これら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3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つの手法を統合し、複合劣化画像に対する総合的な認識性能の向上を目指す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914400" y="392400"/>
            <a:ext cx="1987920" cy="36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提案手法の全体像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5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11" name="" descr=""/>
          <p:cNvPicPr/>
          <p:nvPr/>
        </p:nvPicPr>
        <p:blipFill>
          <a:blip r:embed="rId1"/>
          <a:stretch/>
        </p:blipFill>
        <p:spPr>
          <a:xfrm>
            <a:off x="10515600" y="38160"/>
            <a:ext cx="1142640" cy="1142640"/>
          </a:xfrm>
          <a:prstGeom prst="rect">
            <a:avLst/>
          </a:prstGeom>
          <a:ln w="0">
            <a:noFill/>
          </a:ln>
        </p:spPr>
      </p:pic>
      <p:sp>
        <p:nvSpPr>
          <p:cNvPr id="112" name=""/>
          <p:cNvSpPr txBox="1"/>
          <p:nvPr/>
        </p:nvSpPr>
        <p:spPr>
          <a:xfrm>
            <a:off x="533520" y="923760"/>
            <a:ext cx="93096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サポートベクター回帰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(SVR)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により、環境光の外乱に頑健な画質改善を実現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809280" y="20858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2" y="164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3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0" y="15"/>
                  <a:pt x="219" y="19"/>
                  <a:pt x="228" y="24"/>
                </a:cubicBezTo>
                <a:cubicBezTo>
                  <a:pt x="236" y="30"/>
                  <a:pt x="243" y="36"/>
                  <a:pt x="250" y="42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2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533520" y="1438200"/>
            <a:ext cx="32490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従来手法 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(Retinex)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の課題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1085760" y="1942920"/>
            <a:ext cx="4690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照明成分の推定精度が低く、白飛びな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809280" y="29905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2" y="165"/>
                  <a:pt x="290" y="174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0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2"/>
                  <a:pt x="210" y="277"/>
                  <a:pt x="202" y="281"/>
                </a:cubicBezTo>
                <a:cubicBezTo>
                  <a:pt x="193" y="285"/>
                  <a:pt x="184" y="288"/>
                  <a:pt x="174" y="290"/>
                </a:cubicBezTo>
                <a:cubicBezTo>
                  <a:pt x="165" y="292"/>
                  <a:pt x="156" y="292"/>
                  <a:pt x="146" y="292"/>
                </a:cubicBezTo>
                <a:cubicBezTo>
                  <a:pt x="136" y="292"/>
                  <a:pt x="127" y="292"/>
                  <a:pt x="118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0"/>
                  <a:pt x="12" y="202"/>
                </a:cubicBezTo>
                <a:cubicBezTo>
                  <a:pt x="8" y="193"/>
                  <a:pt x="5" y="184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0" y="15"/>
                  <a:pt x="219" y="20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8"/>
                </a:cubicBezTo>
                <a:cubicBezTo>
                  <a:pt x="292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1085760" y="2362320"/>
            <a:ext cx="30351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どを十分に除去できない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1085760" y="2847960"/>
            <a:ext cx="47635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Halo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アーティファクト（輪郭の不自然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1085760" y="3257640"/>
            <a:ext cx="30351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な強調）が発生しやすい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809280" y="48956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2" y="165"/>
                  <a:pt x="290" y="174"/>
                </a:cubicBezTo>
                <a:cubicBezTo>
                  <a:pt x="288" y="183"/>
                  <a:pt x="285" y="192"/>
                  <a:pt x="281" y="201"/>
                </a:cubicBezTo>
                <a:cubicBezTo>
                  <a:pt x="278" y="210"/>
                  <a:pt x="273" y="219"/>
                  <a:pt x="268" y="227"/>
                </a:cubicBezTo>
                <a:cubicBezTo>
                  <a:pt x="263" y="235"/>
                  <a:pt x="257" y="243"/>
                  <a:pt x="250" y="250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5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8"/>
                </a:cubicBezTo>
                <a:cubicBezTo>
                  <a:pt x="57" y="262"/>
                  <a:pt x="50" y="256"/>
                  <a:pt x="43" y="250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19"/>
                  <a:pt x="15" y="210"/>
                  <a:pt x="12" y="201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0" y="15"/>
                  <a:pt x="219" y="19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533520" y="4238640"/>
            <a:ext cx="11041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提案手法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1085760" y="4753080"/>
            <a:ext cx="47559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機械学習の一種である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SVR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を用いて、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809280" y="57909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2" y="166"/>
                  <a:pt x="290" y="175"/>
                </a:cubicBezTo>
                <a:cubicBezTo>
                  <a:pt x="288" y="184"/>
                  <a:pt x="285" y="194"/>
                  <a:pt x="281" y="202"/>
                </a:cubicBezTo>
                <a:cubicBezTo>
                  <a:pt x="278" y="211"/>
                  <a:pt x="273" y="220"/>
                  <a:pt x="268" y="228"/>
                </a:cubicBezTo>
                <a:cubicBezTo>
                  <a:pt x="263" y="235"/>
                  <a:pt x="257" y="243"/>
                  <a:pt x="250" y="250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5"/>
                  <a:pt x="184" y="288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7"/>
                  <a:pt x="73" y="273"/>
                  <a:pt x="65" y="268"/>
                </a:cubicBezTo>
                <a:cubicBezTo>
                  <a:pt x="57" y="262"/>
                  <a:pt x="50" y="256"/>
                  <a:pt x="43" y="250"/>
                </a:cubicBezTo>
                <a:cubicBezTo>
                  <a:pt x="36" y="243"/>
                  <a:pt x="30" y="235"/>
                  <a:pt x="25" y="228"/>
                </a:cubicBezTo>
                <a:cubicBezTo>
                  <a:pt x="20" y="220"/>
                  <a:pt x="15" y="211"/>
                  <a:pt x="12" y="202"/>
                </a:cubicBezTo>
                <a:cubicBezTo>
                  <a:pt x="8" y="194"/>
                  <a:pt x="5" y="184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8"/>
                </a:cubicBezTo>
                <a:cubicBezTo>
                  <a:pt x="5" y="109"/>
                  <a:pt x="8" y="100"/>
                  <a:pt x="12" y="91"/>
                </a:cubicBezTo>
                <a:cubicBezTo>
                  <a:pt x="15" y="82"/>
                  <a:pt x="20" y="74"/>
                  <a:pt x="25" y="66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0" y="15"/>
                  <a:pt x="219" y="19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6"/>
                </a:cubicBezTo>
                <a:cubicBezTo>
                  <a:pt x="273" y="74"/>
                  <a:pt x="278" y="82"/>
                  <a:pt x="281" y="91"/>
                </a:cubicBezTo>
                <a:cubicBezTo>
                  <a:pt x="285" y="100"/>
                  <a:pt x="288" y="109"/>
                  <a:pt x="290" y="118"/>
                </a:cubicBezTo>
                <a:cubicBezTo>
                  <a:pt x="292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1085760" y="5162400"/>
            <a:ext cx="4690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画像中の照明成分をより高精度に推定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1085760" y="5648400"/>
            <a:ext cx="48427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これにより、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Halo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を抑制しつつ、環境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1085760" y="6057720"/>
            <a:ext cx="30351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光の外乱を効果的に除去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6669360" y="1438200"/>
            <a:ext cx="48254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画質改善効果の比較 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論文図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2.9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より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)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6321960" y="1942920"/>
            <a:ext cx="54262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[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図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: (a)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補正前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, (b)SSR(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従来法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), (c)2MSR(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従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6278400" y="2362320"/>
            <a:ext cx="53978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来法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), (d)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提案法 のナンバープレート画像比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7101720" y="2771640"/>
            <a:ext cx="37515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較。提案法が最も自然で鮮明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]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6229440" y="3286080"/>
            <a:ext cx="54205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提案手法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(d)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は、白飛びが抑制され、文字が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6229440" y="3695760"/>
            <a:ext cx="33109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最もクリアになっている。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914400" y="392400"/>
            <a:ext cx="424476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提案手法</a:t>
            </a:r>
            <a:r>
              <a:rPr b="0" lang="en-US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1: SVR</a:t>
            </a:r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を用いた</a:t>
            </a:r>
            <a:r>
              <a:rPr b="0" lang="en-US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Retinex</a:t>
            </a:r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処理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6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40" name="" descr=""/>
          <p:cNvPicPr/>
          <p:nvPr/>
        </p:nvPicPr>
        <p:blipFill>
          <a:blip r:embed="rId1"/>
          <a:stretch/>
        </p:blipFill>
        <p:spPr>
          <a:xfrm>
            <a:off x="10515600" y="38160"/>
            <a:ext cx="1142640" cy="1142640"/>
          </a:xfrm>
          <a:prstGeom prst="rect">
            <a:avLst/>
          </a:prstGeom>
          <a:ln w="0">
            <a:noFill/>
          </a:ln>
        </p:spPr>
      </p:pic>
      <p:sp>
        <p:nvSpPr>
          <p:cNvPr id="141" name=""/>
          <p:cNvSpPr txBox="1"/>
          <p:nvPr/>
        </p:nvSpPr>
        <p:spPr>
          <a:xfrm>
            <a:off x="533520" y="923760"/>
            <a:ext cx="99331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サポートベクターマシン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(SVM)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により、低解像度から鮮明な画像を効率的に復元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809280" y="20858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2" y="164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3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0" y="15"/>
                  <a:pt x="219" y="19"/>
                  <a:pt x="228" y="24"/>
                </a:cubicBezTo>
                <a:cubicBezTo>
                  <a:pt x="236" y="30"/>
                  <a:pt x="243" y="36"/>
                  <a:pt x="250" y="42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2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533520" y="1438200"/>
            <a:ext cx="33397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従来手法 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超解像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)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の課題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1085760" y="1942920"/>
            <a:ext cx="4690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複数の低解像度画像を合成する際、情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1085760" y="2362320"/>
            <a:ext cx="4690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報が欠落している部分にアーティファ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809280" y="34002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2" y="166"/>
                  <a:pt x="290" y="175"/>
                </a:cubicBezTo>
                <a:cubicBezTo>
                  <a:pt x="288" y="184"/>
                  <a:pt x="285" y="194"/>
                  <a:pt x="281" y="202"/>
                </a:cubicBezTo>
                <a:cubicBezTo>
                  <a:pt x="278" y="211"/>
                  <a:pt x="273" y="220"/>
                  <a:pt x="268" y="227"/>
                </a:cubicBezTo>
                <a:cubicBezTo>
                  <a:pt x="263" y="235"/>
                  <a:pt x="257" y="243"/>
                  <a:pt x="250" y="250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5"/>
                  <a:pt x="184" y="288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7"/>
                  <a:pt x="73" y="273"/>
                  <a:pt x="65" y="268"/>
                </a:cubicBezTo>
                <a:cubicBezTo>
                  <a:pt x="57" y="262"/>
                  <a:pt x="50" y="256"/>
                  <a:pt x="43" y="250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20"/>
                  <a:pt x="15" y="211"/>
                  <a:pt x="12" y="202"/>
                </a:cubicBezTo>
                <a:cubicBezTo>
                  <a:pt x="8" y="194"/>
                  <a:pt x="5" y="184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8"/>
                </a:cubicBezTo>
                <a:cubicBezTo>
                  <a:pt x="5" y="109"/>
                  <a:pt x="8" y="100"/>
                  <a:pt x="12" y="91"/>
                </a:cubicBezTo>
                <a:cubicBezTo>
                  <a:pt x="15" y="82"/>
                  <a:pt x="20" y="74"/>
                  <a:pt x="25" y="66"/>
                </a:cubicBezTo>
                <a:cubicBezTo>
                  <a:pt x="30" y="58"/>
                  <a:pt x="36" y="51"/>
                  <a:pt x="43" y="44"/>
                </a:cubicBezTo>
                <a:cubicBezTo>
                  <a:pt x="50" y="37"/>
                  <a:pt x="57" y="31"/>
                  <a:pt x="65" y="26"/>
                </a:cubicBezTo>
                <a:cubicBezTo>
                  <a:pt x="73" y="20"/>
                  <a:pt x="81" y="16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0" y="16"/>
                  <a:pt x="219" y="20"/>
                  <a:pt x="228" y="26"/>
                </a:cubicBezTo>
                <a:cubicBezTo>
                  <a:pt x="236" y="31"/>
                  <a:pt x="243" y="37"/>
                  <a:pt x="250" y="44"/>
                </a:cubicBezTo>
                <a:cubicBezTo>
                  <a:pt x="257" y="51"/>
                  <a:pt x="263" y="58"/>
                  <a:pt x="268" y="66"/>
                </a:cubicBezTo>
                <a:cubicBezTo>
                  <a:pt x="273" y="74"/>
                  <a:pt x="278" y="82"/>
                  <a:pt x="281" y="91"/>
                </a:cubicBezTo>
                <a:cubicBezTo>
                  <a:pt x="285" y="100"/>
                  <a:pt x="288" y="109"/>
                  <a:pt x="290" y="118"/>
                </a:cubicBezTo>
                <a:cubicBezTo>
                  <a:pt x="292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1085760" y="2771640"/>
            <a:ext cx="41385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クト（偽の模様）が発生しやすい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1085760" y="3257640"/>
            <a:ext cx="48636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特に文字の輪郭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エッジ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)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がぼやけてし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1085760" y="3676680"/>
            <a:ext cx="5522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まう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809280" y="53053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2" y="164"/>
                  <a:pt x="290" y="174"/>
                </a:cubicBezTo>
                <a:cubicBezTo>
                  <a:pt x="288" y="183"/>
                  <a:pt x="285" y="192"/>
                  <a:pt x="281" y="201"/>
                </a:cubicBezTo>
                <a:cubicBezTo>
                  <a:pt x="278" y="210"/>
                  <a:pt x="273" y="218"/>
                  <a:pt x="268" y="226"/>
                </a:cubicBezTo>
                <a:cubicBezTo>
                  <a:pt x="263" y="234"/>
                  <a:pt x="257" y="241"/>
                  <a:pt x="250" y="248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8"/>
                </a:cubicBezTo>
                <a:cubicBezTo>
                  <a:pt x="36" y="241"/>
                  <a:pt x="30" y="234"/>
                  <a:pt x="25" y="226"/>
                </a:cubicBezTo>
                <a:cubicBezTo>
                  <a:pt x="20" y="218"/>
                  <a:pt x="15" y="210"/>
                  <a:pt x="12" y="201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8"/>
                  <a:pt x="12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5"/>
                  <a:pt x="219" y="19"/>
                  <a:pt x="228" y="24"/>
                </a:cubicBezTo>
                <a:cubicBezTo>
                  <a:pt x="236" y="30"/>
                  <a:pt x="243" y="36"/>
                  <a:pt x="250" y="42"/>
                </a:cubicBezTo>
                <a:cubicBezTo>
                  <a:pt x="257" y="49"/>
                  <a:pt x="263" y="57"/>
                  <a:pt x="268" y="64"/>
                </a:cubicBezTo>
                <a:cubicBezTo>
                  <a:pt x="273" y="72"/>
                  <a:pt x="278" y="81"/>
                  <a:pt x="281" y="90"/>
                </a:cubicBezTo>
                <a:cubicBezTo>
                  <a:pt x="285" y="98"/>
                  <a:pt x="288" y="108"/>
                  <a:pt x="290" y="117"/>
                </a:cubicBezTo>
                <a:cubicBezTo>
                  <a:pt x="292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533520" y="4657680"/>
            <a:ext cx="11041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提案手法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1085760" y="5162400"/>
            <a:ext cx="44143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複数の低解像度フレームの中から、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1085760" y="5581800"/>
            <a:ext cx="47484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SVM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を用いて「最も確からしい」画素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809280" y="66196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2" y="166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3"/>
                  <a:pt x="250" y="249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5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8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8"/>
                </a:cubicBezTo>
                <a:cubicBezTo>
                  <a:pt x="5" y="109"/>
                  <a:pt x="8" y="100"/>
                  <a:pt x="12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0" y="15"/>
                  <a:pt x="219" y="19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100"/>
                  <a:pt x="288" y="109"/>
                  <a:pt x="290" y="118"/>
                </a:cubicBezTo>
                <a:cubicBezTo>
                  <a:pt x="292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1085760" y="5991120"/>
            <a:ext cx="41385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を選択して高解像度画像を再構成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1085760" y="6477120"/>
            <a:ext cx="4690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アーティファクトを抑制し、鮮明なエ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6725880" y="1438200"/>
            <a:ext cx="47066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超解像結果の比較 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論文図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3.10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より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)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6306120" y="1942920"/>
            <a:ext cx="55033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[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図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: (a)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従来超解像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, (b)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提案超解像 のナンバ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6328080" y="2362320"/>
            <a:ext cx="524160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ープレート画像比較。提案法の方が文字の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7938720" y="2771640"/>
            <a:ext cx="20966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輪郭がシャープ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]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6229440" y="3286080"/>
            <a:ext cx="55796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提案手法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(b)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は、従来手法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(a)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に比べて文字の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6229440" y="3695760"/>
            <a:ext cx="41385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エッジが鮮明に復元されている。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914400" y="392400"/>
            <a:ext cx="510516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提案手法</a:t>
            </a:r>
            <a:r>
              <a:rPr b="0" lang="en-US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2: SVM</a:t>
            </a:r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を用いた画素値選択型超解像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7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70" name="" descr=""/>
          <p:cNvPicPr/>
          <p:nvPr/>
        </p:nvPicPr>
        <p:blipFill>
          <a:blip r:embed="rId1"/>
          <a:stretch/>
        </p:blipFill>
        <p:spPr>
          <a:xfrm>
            <a:off x="10515600" y="38160"/>
            <a:ext cx="1142640" cy="1142640"/>
          </a:xfrm>
          <a:prstGeom prst="rect">
            <a:avLst/>
          </a:prstGeom>
          <a:ln w="0">
            <a:noFill/>
          </a:ln>
        </p:spPr>
      </p:pic>
      <p:sp>
        <p:nvSpPr>
          <p:cNvPr id="171" name=""/>
          <p:cNvSpPr txBox="1"/>
          <p:nvPr/>
        </p:nvSpPr>
        <p:spPr>
          <a:xfrm>
            <a:off x="533520" y="923760"/>
            <a:ext cx="95353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複数の解像度を並列処理する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CNN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アーキテクチャにより、多様な劣化に適応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809280" y="20858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2" y="164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3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0" y="15"/>
                  <a:pt x="219" y="19"/>
                  <a:pt x="228" y="24"/>
                </a:cubicBezTo>
                <a:cubicBezTo>
                  <a:pt x="236" y="30"/>
                  <a:pt x="243" y="36"/>
                  <a:pt x="250" y="42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2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533520" y="1438200"/>
            <a:ext cx="41702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従来手法 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単一構造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CNN)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の課題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1085760" y="1942920"/>
            <a:ext cx="4690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入力画像の解像度が固定されているた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1085760" y="2362320"/>
            <a:ext cx="4690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め、劣化の度合いに応じた最適な処理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809280" y="34002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2" y="166"/>
                  <a:pt x="290" y="175"/>
                </a:cubicBezTo>
                <a:cubicBezTo>
                  <a:pt x="288" y="184"/>
                  <a:pt x="285" y="194"/>
                  <a:pt x="281" y="202"/>
                </a:cubicBezTo>
                <a:cubicBezTo>
                  <a:pt x="278" y="211"/>
                  <a:pt x="273" y="220"/>
                  <a:pt x="268" y="227"/>
                </a:cubicBezTo>
                <a:cubicBezTo>
                  <a:pt x="263" y="235"/>
                  <a:pt x="257" y="243"/>
                  <a:pt x="250" y="250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5"/>
                  <a:pt x="184" y="288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7"/>
                  <a:pt x="73" y="273"/>
                  <a:pt x="65" y="268"/>
                </a:cubicBezTo>
                <a:cubicBezTo>
                  <a:pt x="57" y="262"/>
                  <a:pt x="50" y="256"/>
                  <a:pt x="43" y="250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20"/>
                  <a:pt x="15" y="211"/>
                  <a:pt x="12" y="202"/>
                </a:cubicBezTo>
                <a:cubicBezTo>
                  <a:pt x="8" y="194"/>
                  <a:pt x="5" y="184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8"/>
                </a:cubicBezTo>
                <a:cubicBezTo>
                  <a:pt x="5" y="109"/>
                  <a:pt x="8" y="100"/>
                  <a:pt x="12" y="91"/>
                </a:cubicBezTo>
                <a:cubicBezTo>
                  <a:pt x="15" y="82"/>
                  <a:pt x="20" y="74"/>
                  <a:pt x="25" y="66"/>
                </a:cubicBezTo>
                <a:cubicBezTo>
                  <a:pt x="30" y="58"/>
                  <a:pt x="36" y="51"/>
                  <a:pt x="43" y="44"/>
                </a:cubicBezTo>
                <a:cubicBezTo>
                  <a:pt x="50" y="37"/>
                  <a:pt x="57" y="31"/>
                  <a:pt x="65" y="26"/>
                </a:cubicBezTo>
                <a:cubicBezTo>
                  <a:pt x="73" y="20"/>
                  <a:pt x="81" y="16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0" y="16"/>
                  <a:pt x="219" y="20"/>
                  <a:pt x="228" y="26"/>
                </a:cubicBezTo>
                <a:cubicBezTo>
                  <a:pt x="236" y="31"/>
                  <a:pt x="243" y="37"/>
                  <a:pt x="250" y="44"/>
                </a:cubicBezTo>
                <a:cubicBezTo>
                  <a:pt x="257" y="51"/>
                  <a:pt x="263" y="58"/>
                  <a:pt x="268" y="66"/>
                </a:cubicBezTo>
                <a:cubicBezTo>
                  <a:pt x="273" y="74"/>
                  <a:pt x="278" y="82"/>
                  <a:pt x="281" y="91"/>
                </a:cubicBezTo>
                <a:cubicBezTo>
                  <a:pt x="285" y="100"/>
                  <a:pt x="288" y="109"/>
                  <a:pt x="290" y="118"/>
                </a:cubicBezTo>
                <a:cubicBezTo>
                  <a:pt x="292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1085760" y="2771640"/>
            <a:ext cx="13798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ができない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1085760" y="3257640"/>
            <a:ext cx="4690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劣化が強い画像では認識性能が大幅に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1085760" y="3676680"/>
            <a:ext cx="11041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低下する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809280" y="53053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2" y="164"/>
                  <a:pt x="290" y="174"/>
                </a:cubicBezTo>
                <a:cubicBezTo>
                  <a:pt x="288" y="183"/>
                  <a:pt x="285" y="192"/>
                  <a:pt x="281" y="201"/>
                </a:cubicBezTo>
                <a:cubicBezTo>
                  <a:pt x="278" y="210"/>
                  <a:pt x="273" y="218"/>
                  <a:pt x="268" y="226"/>
                </a:cubicBezTo>
                <a:cubicBezTo>
                  <a:pt x="263" y="234"/>
                  <a:pt x="257" y="241"/>
                  <a:pt x="250" y="248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8"/>
                </a:cubicBezTo>
                <a:cubicBezTo>
                  <a:pt x="36" y="241"/>
                  <a:pt x="30" y="234"/>
                  <a:pt x="25" y="226"/>
                </a:cubicBezTo>
                <a:cubicBezTo>
                  <a:pt x="20" y="218"/>
                  <a:pt x="15" y="210"/>
                  <a:pt x="12" y="201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8"/>
                  <a:pt x="12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5"/>
                  <a:pt x="219" y="19"/>
                  <a:pt x="228" y="24"/>
                </a:cubicBezTo>
                <a:cubicBezTo>
                  <a:pt x="236" y="30"/>
                  <a:pt x="243" y="36"/>
                  <a:pt x="250" y="42"/>
                </a:cubicBezTo>
                <a:cubicBezTo>
                  <a:pt x="257" y="49"/>
                  <a:pt x="263" y="57"/>
                  <a:pt x="268" y="64"/>
                </a:cubicBezTo>
                <a:cubicBezTo>
                  <a:pt x="273" y="72"/>
                  <a:pt x="278" y="81"/>
                  <a:pt x="281" y="90"/>
                </a:cubicBezTo>
                <a:cubicBezTo>
                  <a:pt x="285" y="98"/>
                  <a:pt x="288" y="108"/>
                  <a:pt x="290" y="117"/>
                </a:cubicBezTo>
                <a:cubicBezTo>
                  <a:pt x="292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533520" y="4657680"/>
            <a:ext cx="11041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提案手法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1085760" y="5162400"/>
            <a:ext cx="4690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入力画像を複数の解像度（イメージピ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809280" y="62006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3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8"/>
                </a:cubicBezTo>
                <a:cubicBezTo>
                  <a:pt x="5" y="109"/>
                  <a:pt x="8" y="100"/>
                  <a:pt x="12" y="90"/>
                </a:cubicBezTo>
                <a:cubicBezTo>
                  <a:pt x="15" y="81"/>
                  <a:pt x="20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0" y="15"/>
                  <a:pt x="219" y="19"/>
                  <a:pt x="228" y="24"/>
                </a:cubicBezTo>
                <a:cubicBezTo>
                  <a:pt x="236" y="30"/>
                  <a:pt x="243" y="36"/>
                  <a:pt x="250" y="42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2"/>
                  <a:pt x="278" y="81"/>
                  <a:pt x="281" y="90"/>
                </a:cubicBezTo>
                <a:cubicBezTo>
                  <a:pt x="285" y="100"/>
                  <a:pt x="288" y="109"/>
                  <a:pt x="290" y="118"/>
                </a:cubicBezTo>
                <a:cubicBezTo>
                  <a:pt x="292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1085760" y="5581800"/>
            <a:ext cx="22075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ラミッド）に変換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1085760" y="6057720"/>
            <a:ext cx="48463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各解像度を並列の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CNN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で処理し、結果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1085760" y="6477120"/>
            <a:ext cx="8283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を統合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87" name="" descr=""/>
          <p:cNvPicPr/>
          <p:nvPr/>
        </p:nvPicPr>
        <p:blipFill>
          <a:blip r:embed="rId2"/>
          <a:stretch/>
        </p:blipFill>
        <p:spPr>
          <a:xfrm>
            <a:off x="6229440" y="1914480"/>
            <a:ext cx="4952520" cy="4704840"/>
          </a:xfrm>
          <a:prstGeom prst="rect">
            <a:avLst/>
          </a:prstGeom>
          <a:ln w="0">
            <a:noFill/>
          </a:ln>
        </p:spPr>
      </p:pic>
      <p:sp>
        <p:nvSpPr>
          <p:cNvPr id="188" name=""/>
          <p:cNvSpPr txBox="1"/>
          <p:nvPr/>
        </p:nvSpPr>
        <p:spPr>
          <a:xfrm>
            <a:off x="6264720" y="1438200"/>
            <a:ext cx="56530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提案手法のアーキテクチャ 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論文図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4.5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より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)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914400" y="392400"/>
            <a:ext cx="476424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提案手法</a:t>
            </a:r>
            <a:r>
              <a:rPr b="0" lang="en-US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3: </a:t>
            </a:r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多重構造</a:t>
            </a:r>
            <a:r>
              <a:rPr b="0" lang="en-US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CNN</a:t>
            </a:r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による文字認識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8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96" name="" descr=""/>
          <p:cNvPicPr/>
          <p:nvPr/>
        </p:nvPicPr>
        <p:blipFill>
          <a:blip r:embed="rId1"/>
          <a:stretch/>
        </p:blipFill>
        <p:spPr>
          <a:xfrm>
            <a:off x="10515600" y="38160"/>
            <a:ext cx="1142640" cy="1142640"/>
          </a:xfrm>
          <a:prstGeom prst="rect">
            <a:avLst/>
          </a:prstGeom>
          <a:ln w="0">
            <a:noFill/>
          </a:ln>
        </p:spPr>
      </p:pic>
      <p:sp>
        <p:nvSpPr>
          <p:cNvPr id="197" name=""/>
          <p:cNvSpPr/>
          <p:nvPr/>
        </p:nvSpPr>
        <p:spPr>
          <a:xfrm>
            <a:off x="809280" y="15811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4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2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4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7"/>
                </a:cubicBezTo>
                <a:cubicBezTo>
                  <a:pt x="5" y="107"/>
                  <a:pt x="8" y="98"/>
                  <a:pt x="12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2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4"/>
                  <a:pt x="219" y="19"/>
                  <a:pt x="228" y="24"/>
                </a:cubicBezTo>
                <a:cubicBezTo>
                  <a:pt x="236" y="29"/>
                  <a:pt x="243" y="35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89"/>
                </a:cubicBezTo>
                <a:cubicBezTo>
                  <a:pt x="285" y="98"/>
                  <a:pt x="288" y="107"/>
                  <a:pt x="290" y="117"/>
                </a:cubicBezTo>
                <a:cubicBezTo>
                  <a:pt x="292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533520" y="923760"/>
            <a:ext cx="41385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提案手法の有効性を定量的に評価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1361880" y="19904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1" y="166"/>
                  <a:pt x="289" y="175"/>
                </a:cubicBezTo>
                <a:cubicBezTo>
                  <a:pt x="287" y="185"/>
                  <a:pt x="285" y="194"/>
                  <a:pt x="281" y="202"/>
                </a:cubicBezTo>
                <a:cubicBezTo>
                  <a:pt x="277" y="211"/>
                  <a:pt x="273" y="220"/>
                  <a:pt x="268" y="228"/>
                </a:cubicBezTo>
                <a:cubicBezTo>
                  <a:pt x="262" y="236"/>
                  <a:pt x="256" y="243"/>
                  <a:pt x="249" y="250"/>
                </a:cubicBezTo>
                <a:cubicBezTo>
                  <a:pt x="243" y="256"/>
                  <a:pt x="235" y="262"/>
                  <a:pt x="227" y="268"/>
                </a:cubicBezTo>
                <a:cubicBezTo>
                  <a:pt x="219" y="273"/>
                  <a:pt x="211" y="278"/>
                  <a:pt x="202" y="281"/>
                </a:cubicBezTo>
                <a:cubicBezTo>
                  <a:pt x="193" y="285"/>
                  <a:pt x="184" y="288"/>
                  <a:pt x="175" y="290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2"/>
                  <a:pt x="49" y="256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19" y="220"/>
                  <a:pt x="15" y="211"/>
                  <a:pt x="11" y="202"/>
                </a:cubicBezTo>
                <a:cubicBezTo>
                  <a:pt x="7" y="194"/>
                  <a:pt x="5" y="185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1" y="15"/>
                  <a:pt x="219" y="20"/>
                  <a:pt x="227" y="25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7"/>
                  <a:pt x="292" y="136"/>
                  <a:pt x="292" y="147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1085760" y="1438200"/>
            <a:ext cx="16556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データセット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1361880" y="24764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1" y="164"/>
                  <a:pt x="289" y="174"/>
                </a:cubicBezTo>
                <a:cubicBezTo>
                  <a:pt x="287" y="183"/>
                  <a:pt x="285" y="192"/>
                  <a:pt x="281" y="201"/>
                </a:cubicBezTo>
                <a:cubicBezTo>
                  <a:pt x="277" y="210"/>
                  <a:pt x="273" y="218"/>
                  <a:pt x="268" y="226"/>
                </a:cubicBezTo>
                <a:cubicBezTo>
                  <a:pt x="262" y="234"/>
                  <a:pt x="256" y="241"/>
                  <a:pt x="249" y="248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19" y="272"/>
                  <a:pt x="211" y="277"/>
                  <a:pt x="202" y="281"/>
                </a:cubicBezTo>
                <a:cubicBezTo>
                  <a:pt x="193" y="284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49" y="256"/>
                  <a:pt x="43" y="248"/>
                </a:cubicBezTo>
                <a:cubicBezTo>
                  <a:pt x="36" y="241"/>
                  <a:pt x="30" y="234"/>
                  <a:pt x="25" y="226"/>
                </a:cubicBezTo>
                <a:cubicBezTo>
                  <a:pt x="19" y="218"/>
                  <a:pt x="15" y="210"/>
                  <a:pt x="11" y="201"/>
                </a:cubicBezTo>
                <a:cubicBezTo>
                  <a:pt x="7" y="192"/>
                  <a:pt x="5" y="183"/>
                  <a:pt x="3" y="174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89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2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1" y="14"/>
                  <a:pt x="219" y="19"/>
                  <a:pt x="227" y="24"/>
                </a:cubicBezTo>
                <a:cubicBezTo>
                  <a:pt x="235" y="29"/>
                  <a:pt x="243" y="36"/>
                  <a:pt x="249" y="42"/>
                </a:cubicBezTo>
                <a:cubicBezTo>
                  <a:pt x="256" y="49"/>
                  <a:pt x="262" y="56"/>
                  <a:pt x="268" y="64"/>
                </a:cubicBezTo>
                <a:cubicBezTo>
                  <a:pt x="273" y="72"/>
                  <a:pt x="277" y="81"/>
                  <a:pt x="281" y="89"/>
                </a:cubicBezTo>
                <a:cubicBezTo>
                  <a:pt x="285" y="98"/>
                  <a:pt x="287" y="107"/>
                  <a:pt x="289" y="117"/>
                </a:cubicBezTo>
                <a:cubicBezTo>
                  <a:pt x="291" y="126"/>
                  <a:pt x="292" y="136"/>
                  <a:pt x="292" y="145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1638360" y="1847880"/>
            <a:ext cx="68968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実環境の様々な条件下で撮影したナンバープレート画像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1638360" y="2333520"/>
            <a:ext cx="98294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計算機上でシミュレーションによる複合劣化（低解像度化、ノイズ、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JPEG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圧縮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809280" y="33717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8"/>
                </a:cubicBezTo>
                <a:cubicBezTo>
                  <a:pt x="5" y="109"/>
                  <a:pt x="8" y="99"/>
                  <a:pt x="12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4"/>
                  <a:pt x="219" y="19"/>
                  <a:pt x="228" y="24"/>
                </a:cubicBezTo>
                <a:cubicBezTo>
                  <a:pt x="236" y="30"/>
                  <a:pt x="243" y="36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90"/>
                </a:cubicBezTo>
                <a:cubicBezTo>
                  <a:pt x="285" y="99"/>
                  <a:pt x="288" y="109"/>
                  <a:pt x="290" y="118"/>
                </a:cubicBezTo>
                <a:cubicBezTo>
                  <a:pt x="292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1638360" y="2752560"/>
            <a:ext cx="16556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など）を付与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1361880" y="37908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1" y="165"/>
                  <a:pt x="289" y="175"/>
                </a:cubicBezTo>
                <a:cubicBezTo>
                  <a:pt x="287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3"/>
                  <a:pt x="249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19" y="273"/>
                  <a:pt x="211" y="277"/>
                  <a:pt x="202" y="281"/>
                </a:cubicBezTo>
                <a:cubicBezTo>
                  <a:pt x="193" y="285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49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7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8"/>
                </a:cubicBezTo>
                <a:cubicBezTo>
                  <a:pt x="5" y="109"/>
                  <a:pt x="7" y="100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1" y="15"/>
                  <a:pt x="219" y="19"/>
                  <a:pt x="227" y="24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49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100"/>
                  <a:pt x="287" y="109"/>
                  <a:pt x="289" y="118"/>
                </a:cubicBezTo>
                <a:cubicBezTo>
                  <a:pt x="291" y="127"/>
                  <a:pt x="292" y="137"/>
                  <a:pt x="292" y="146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1085760" y="3228840"/>
            <a:ext cx="11041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比較対象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1361880" y="42764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1" y="165"/>
                  <a:pt x="289" y="174"/>
                </a:cubicBezTo>
                <a:cubicBezTo>
                  <a:pt x="287" y="184"/>
                  <a:pt x="285" y="193"/>
                  <a:pt x="281" y="202"/>
                </a:cubicBezTo>
                <a:cubicBezTo>
                  <a:pt x="277" y="211"/>
                  <a:pt x="273" y="220"/>
                  <a:pt x="268" y="228"/>
                </a:cubicBezTo>
                <a:cubicBezTo>
                  <a:pt x="262" y="236"/>
                  <a:pt x="256" y="243"/>
                  <a:pt x="249" y="250"/>
                </a:cubicBezTo>
                <a:cubicBezTo>
                  <a:pt x="243" y="256"/>
                  <a:pt x="235" y="262"/>
                  <a:pt x="227" y="268"/>
                </a:cubicBezTo>
                <a:cubicBezTo>
                  <a:pt x="219" y="273"/>
                  <a:pt x="211" y="278"/>
                  <a:pt x="202" y="281"/>
                </a:cubicBezTo>
                <a:cubicBezTo>
                  <a:pt x="193" y="285"/>
                  <a:pt x="184" y="288"/>
                  <a:pt x="175" y="290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2"/>
                  <a:pt x="49" y="256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19" y="220"/>
                  <a:pt x="15" y="211"/>
                  <a:pt x="11" y="202"/>
                </a:cubicBezTo>
                <a:cubicBezTo>
                  <a:pt x="7" y="193"/>
                  <a:pt x="5" y="184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1" y="15"/>
                  <a:pt x="219" y="20"/>
                  <a:pt x="227" y="25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1638360" y="3648240"/>
            <a:ext cx="76820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画質改善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**: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従来の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Retinex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法 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(SSR, 2MSR)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、従来の超解像法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809280" y="47527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2" y="166"/>
                  <a:pt x="290" y="175"/>
                </a:cubicBezTo>
                <a:cubicBezTo>
                  <a:pt x="288" y="184"/>
                  <a:pt x="285" y="194"/>
                  <a:pt x="281" y="202"/>
                </a:cubicBezTo>
                <a:cubicBezTo>
                  <a:pt x="278" y="211"/>
                  <a:pt x="273" y="220"/>
                  <a:pt x="268" y="228"/>
                </a:cubicBezTo>
                <a:cubicBezTo>
                  <a:pt x="263" y="236"/>
                  <a:pt x="257" y="243"/>
                  <a:pt x="250" y="250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19" y="273"/>
                  <a:pt x="210" y="278"/>
                  <a:pt x="202" y="281"/>
                </a:cubicBezTo>
                <a:cubicBezTo>
                  <a:pt x="193" y="285"/>
                  <a:pt x="184" y="288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2"/>
                  <a:pt x="50" y="256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20" y="220"/>
                  <a:pt x="15" y="211"/>
                  <a:pt x="12" y="202"/>
                </a:cubicBezTo>
                <a:cubicBezTo>
                  <a:pt x="8" y="194"/>
                  <a:pt x="5" y="184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8"/>
                </a:cubicBezTo>
                <a:cubicBezTo>
                  <a:pt x="5" y="109"/>
                  <a:pt x="8" y="100"/>
                  <a:pt x="12" y="91"/>
                </a:cubicBezTo>
                <a:cubicBezTo>
                  <a:pt x="15" y="82"/>
                  <a:pt x="20" y="74"/>
                  <a:pt x="25" y="66"/>
                </a:cubicBezTo>
                <a:cubicBezTo>
                  <a:pt x="30" y="58"/>
                  <a:pt x="36" y="51"/>
                  <a:pt x="43" y="44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0" y="15"/>
                  <a:pt x="219" y="19"/>
                  <a:pt x="228" y="25"/>
                </a:cubicBezTo>
                <a:cubicBezTo>
                  <a:pt x="236" y="30"/>
                  <a:pt x="243" y="36"/>
                  <a:pt x="250" y="44"/>
                </a:cubicBezTo>
                <a:cubicBezTo>
                  <a:pt x="257" y="51"/>
                  <a:pt x="263" y="58"/>
                  <a:pt x="268" y="66"/>
                </a:cubicBezTo>
                <a:cubicBezTo>
                  <a:pt x="273" y="74"/>
                  <a:pt x="278" y="82"/>
                  <a:pt x="281" y="91"/>
                </a:cubicBezTo>
                <a:cubicBezTo>
                  <a:pt x="285" y="100"/>
                  <a:pt x="288" y="109"/>
                  <a:pt x="290" y="118"/>
                </a:cubicBezTo>
                <a:cubicBezTo>
                  <a:pt x="292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1638360" y="4133880"/>
            <a:ext cx="92984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文字認識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**: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一般的な単一構造の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CNN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、従来の複数候補選択アルゴリズム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1361880" y="51717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1" y="166"/>
                  <a:pt x="289" y="175"/>
                </a:cubicBezTo>
                <a:cubicBezTo>
                  <a:pt x="287" y="185"/>
                  <a:pt x="285" y="194"/>
                  <a:pt x="281" y="203"/>
                </a:cubicBezTo>
                <a:cubicBezTo>
                  <a:pt x="277" y="211"/>
                  <a:pt x="273" y="220"/>
                  <a:pt x="268" y="228"/>
                </a:cubicBezTo>
                <a:cubicBezTo>
                  <a:pt x="262" y="236"/>
                  <a:pt x="256" y="243"/>
                  <a:pt x="249" y="250"/>
                </a:cubicBezTo>
                <a:cubicBezTo>
                  <a:pt x="243" y="257"/>
                  <a:pt x="235" y="263"/>
                  <a:pt x="227" y="268"/>
                </a:cubicBezTo>
                <a:cubicBezTo>
                  <a:pt x="219" y="273"/>
                  <a:pt x="211" y="278"/>
                  <a:pt x="202" y="281"/>
                </a:cubicBezTo>
                <a:cubicBezTo>
                  <a:pt x="193" y="285"/>
                  <a:pt x="184" y="288"/>
                  <a:pt x="175" y="290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3"/>
                  <a:pt x="49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19" y="220"/>
                  <a:pt x="15" y="211"/>
                  <a:pt x="11" y="203"/>
                </a:cubicBezTo>
                <a:cubicBezTo>
                  <a:pt x="7" y="194"/>
                  <a:pt x="5" y="185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9"/>
                </a:cubicBezTo>
                <a:cubicBezTo>
                  <a:pt x="5" y="109"/>
                  <a:pt x="7" y="100"/>
                  <a:pt x="11" y="91"/>
                </a:cubicBezTo>
                <a:cubicBezTo>
                  <a:pt x="15" y="82"/>
                  <a:pt x="19" y="74"/>
                  <a:pt x="25" y="66"/>
                </a:cubicBezTo>
                <a:cubicBezTo>
                  <a:pt x="30" y="58"/>
                  <a:pt x="36" y="51"/>
                  <a:pt x="43" y="44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1" y="15"/>
                  <a:pt x="219" y="20"/>
                  <a:pt x="227" y="25"/>
                </a:cubicBezTo>
                <a:cubicBezTo>
                  <a:pt x="235" y="30"/>
                  <a:pt x="243" y="36"/>
                  <a:pt x="249" y="44"/>
                </a:cubicBezTo>
                <a:cubicBezTo>
                  <a:pt x="256" y="51"/>
                  <a:pt x="262" y="58"/>
                  <a:pt x="268" y="66"/>
                </a:cubicBezTo>
                <a:cubicBezTo>
                  <a:pt x="273" y="74"/>
                  <a:pt x="277" y="82"/>
                  <a:pt x="281" y="91"/>
                </a:cubicBezTo>
                <a:cubicBezTo>
                  <a:pt x="285" y="100"/>
                  <a:pt x="287" y="109"/>
                  <a:pt x="289" y="119"/>
                </a:cubicBezTo>
                <a:cubicBezTo>
                  <a:pt x="291" y="128"/>
                  <a:pt x="292" y="137"/>
                  <a:pt x="292" y="147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1085760" y="4610160"/>
            <a:ext cx="11041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評価指標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1361880" y="56577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1" y="165"/>
                  <a:pt x="289" y="175"/>
                </a:cubicBezTo>
                <a:cubicBezTo>
                  <a:pt x="287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2"/>
                  <a:pt x="249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19" y="273"/>
                  <a:pt x="211" y="277"/>
                  <a:pt x="202" y="281"/>
                </a:cubicBezTo>
                <a:cubicBezTo>
                  <a:pt x="193" y="284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49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7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8"/>
                  <a:pt x="11" y="90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1" y="14"/>
                  <a:pt x="219" y="19"/>
                  <a:pt x="227" y="24"/>
                </a:cubicBezTo>
                <a:cubicBezTo>
                  <a:pt x="235" y="30"/>
                  <a:pt x="243" y="36"/>
                  <a:pt x="249" y="42"/>
                </a:cubicBezTo>
                <a:cubicBezTo>
                  <a:pt x="256" y="49"/>
                  <a:pt x="262" y="56"/>
                  <a:pt x="268" y="64"/>
                </a:cubicBezTo>
                <a:cubicBezTo>
                  <a:pt x="273" y="72"/>
                  <a:pt x="277" y="81"/>
                  <a:pt x="281" y="90"/>
                </a:cubicBezTo>
                <a:cubicBezTo>
                  <a:pt x="285" y="98"/>
                  <a:pt x="287" y="108"/>
                  <a:pt x="289" y="117"/>
                </a:cubicBezTo>
                <a:cubicBezTo>
                  <a:pt x="291" y="126"/>
                  <a:pt x="292" y="136"/>
                  <a:pt x="292" y="146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1638360" y="5029200"/>
            <a:ext cx="61081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文字認識正答率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**: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文字を正しく認識できた割合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1361880" y="61340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1" y="164"/>
                  <a:pt x="289" y="174"/>
                </a:cubicBezTo>
                <a:cubicBezTo>
                  <a:pt x="287" y="183"/>
                  <a:pt x="285" y="192"/>
                  <a:pt x="281" y="201"/>
                </a:cubicBezTo>
                <a:cubicBezTo>
                  <a:pt x="277" y="210"/>
                  <a:pt x="273" y="218"/>
                  <a:pt x="268" y="226"/>
                </a:cubicBezTo>
                <a:cubicBezTo>
                  <a:pt x="262" y="234"/>
                  <a:pt x="256" y="241"/>
                  <a:pt x="249" y="248"/>
                </a:cubicBezTo>
                <a:cubicBezTo>
                  <a:pt x="243" y="255"/>
                  <a:pt x="235" y="261"/>
                  <a:pt x="227" y="266"/>
                </a:cubicBezTo>
                <a:cubicBezTo>
                  <a:pt x="219" y="271"/>
                  <a:pt x="211" y="277"/>
                  <a:pt x="202" y="281"/>
                </a:cubicBezTo>
                <a:cubicBezTo>
                  <a:pt x="193" y="284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1"/>
                  <a:pt x="65" y="266"/>
                </a:cubicBezTo>
                <a:cubicBezTo>
                  <a:pt x="57" y="261"/>
                  <a:pt x="49" y="255"/>
                  <a:pt x="43" y="248"/>
                </a:cubicBezTo>
                <a:cubicBezTo>
                  <a:pt x="36" y="241"/>
                  <a:pt x="30" y="234"/>
                  <a:pt x="25" y="226"/>
                </a:cubicBezTo>
                <a:cubicBezTo>
                  <a:pt x="19" y="218"/>
                  <a:pt x="15" y="210"/>
                  <a:pt x="11" y="201"/>
                </a:cubicBezTo>
                <a:cubicBezTo>
                  <a:pt x="7" y="192"/>
                  <a:pt x="5" y="183"/>
                  <a:pt x="3" y="174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89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2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1" y="14"/>
                  <a:pt x="219" y="19"/>
                  <a:pt x="227" y="24"/>
                </a:cubicBezTo>
                <a:cubicBezTo>
                  <a:pt x="235" y="29"/>
                  <a:pt x="243" y="36"/>
                  <a:pt x="249" y="42"/>
                </a:cubicBezTo>
                <a:cubicBezTo>
                  <a:pt x="256" y="49"/>
                  <a:pt x="262" y="56"/>
                  <a:pt x="268" y="64"/>
                </a:cubicBezTo>
                <a:cubicBezTo>
                  <a:pt x="273" y="72"/>
                  <a:pt x="277" y="81"/>
                  <a:pt x="281" y="89"/>
                </a:cubicBezTo>
                <a:cubicBezTo>
                  <a:pt x="285" y="98"/>
                  <a:pt x="287" y="107"/>
                  <a:pt x="289" y="117"/>
                </a:cubicBezTo>
                <a:cubicBezTo>
                  <a:pt x="291" y="126"/>
                  <a:pt x="292" y="136"/>
                  <a:pt x="292" y="145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1638360" y="5514840"/>
            <a:ext cx="94179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平均候補数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**: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正解を得るまでに必要な候補の平均数（少ないほど実用的）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1638360" y="5991120"/>
            <a:ext cx="80388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視覚的評価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**: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改善後の画像の鮮明さやアーティファクトの有無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914400" y="392400"/>
            <a:ext cx="994320" cy="36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実験設定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9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26" name="" descr=""/>
          <p:cNvPicPr/>
          <p:nvPr/>
        </p:nvPicPr>
        <p:blipFill>
          <a:blip r:embed="rId1"/>
          <a:stretch/>
        </p:blipFill>
        <p:spPr>
          <a:xfrm>
            <a:off x="10515600" y="38160"/>
            <a:ext cx="1142640" cy="1142640"/>
          </a:xfrm>
          <a:prstGeom prst="rect">
            <a:avLst/>
          </a:prstGeom>
          <a:ln w="0">
            <a:noFill/>
          </a:ln>
        </p:spPr>
      </p:pic>
      <p:sp>
        <p:nvSpPr>
          <p:cNvPr id="227" name=""/>
          <p:cNvSpPr txBox="1"/>
          <p:nvPr/>
        </p:nvSpPr>
        <p:spPr>
          <a:xfrm>
            <a:off x="533520" y="923760"/>
            <a:ext cx="66211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いずれの手法も、従来手法を大幅に上回る性能を達成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533520" y="1438200"/>
            <a:ext cx="50533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SVR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を用いた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Retinex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処理 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ロバスト性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)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606960" y="1942920"/>
            <a:ext cx="114742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[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図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: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論文図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2.13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のグラフ。提案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Retinex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が他の手法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(SSR, 2MSR)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より高い正答率を維持して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5772960" y="2362320"/>
            <a:ext cx="7171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いる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]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533520" y="2867040"/>
            <a:ext cx="62035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従来法に対し、文字認識の正答率が</a:t>
            </a:r>
            <a:r>
              <a:rPr b="0" lang="zh-CN" sz="2170" spc="-1" strike="noStrike">
                <a:solidFill>
                  <a:srgbClr val="c9342f"/>
                </a:solidFill>
                <a:latin typeface="NotoSansJP"/>
                <a:ea typeface="NotoSansJP"/>
              </a:rPr>
              <a:t>最大</a:t>
            </a:r>
            <a:r>
              <a:rPr b="0" lang="en-US" sz="2170" spc="-1" strike="noStrike">
                <a:solidFill>
                  <a:srgbClr val="c9342f"/>
                </a:solidFill>
                <a:latin typeface="NotoSansJP"/>
                <a:ea typeface="NotoSansJP"/>
              </a:rPr>
              <a:t>32%</a:t>
            </a:r>
            <a:r>
              <a:rPr b="0" lang="zh-CN" sz="2170" spc="-1" strike="noStrike">
                <a:solidFill>
                  <a:srgbClr val="c9342f"/>
                </a:solidFill>
                <a:latin typeface="NotoSansJP"/>
                <a:ea typeface="NotoSansJP"/>
              </a:rPr>
              <a:t>向上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533520" y="3381480"/>
            <a:ext cx="38030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SVM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を用いた超解像 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効率性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)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542520" y="3886200"/>
            <a:ext cx="114577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[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図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: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論文表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5.7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の正答率をグラフ化したもの。提案超解像が従来超解像より高い正答率を示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5501160" y="4305240"/>
            <a:ext cx="12690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している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]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533520" y="4809960"/>
            <a:ext cx="62035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従来法に対し、文字認識の正答率が</a:t>
            </a:r>
            <a:r>
              <a:rPr b="0" lang="zh-CN" sz="2170" spc="-1" strike="noStrike">
                <a:solidFill>
                  <a:srgbClr val="c9342f"/>
                </a:solidFill>
                <a:latin typeface="NotoSansJP"/>
                <a:ea typeface="NotoSansJP"/>
              </a:rPr>
              <a:t>最大</a:t>
            </a:r>
            <a:r>
              <a:rPr b="0" lang="en-US" sz="2170" spc="-1" strike="noStrike">
                <a:solidFill>
                  <a:srgbClr val="c9342f"/>
                </a:solidFill>
                <a:latin typeface="NotoSansJP"/>
                <a:ea typeface="NotoSansJP"/>
              </a:rPr>
              <a:t>32%</a:t>
            </a:r>
            <a:r>
              <a:rPr b="0" lang="zh-CN" sz="2170" spc="-1" strike="noStrike">
                <a:solidFill>
                  <a:srgbClr val="c9342f"/>
                </a:solidFill>
                <a:latin typeface="NotoSansJP"/>
                <a:ea typeface="NotoSansJP"/>
              </a:rPr>
              <a:t>向上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533520" y="5324400"/>
            <a:ext cx="50043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多重構造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CNN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による文字認識 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適応性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)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565200" y="5829120"/>
            <a:ext cx="115668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[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図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: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論文図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4.8(a)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のグラフ。提案の文字認識法が他の手法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(CA, CT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など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)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より高い正答率を維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5362920" y="6248520"/>
            <a:ext cx="15447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持している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]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533520" y="6753240"/>
            <a:ext cx="102560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従来法に対し 文字認識の正答率が</a:t>
            </a:r>
            <a:r>
              <a:rPr b="0" lang="zh-CN" sz="2170" spc="-1" strike="noStrike">
                <a:solidFill>
                  <a:srgbClr val="c9342f"/>
                </a:solidFill>
                <a:latin typeface="NotoSansJP"/>
                <a:ea typeface="NotoSansJP"/>
              </a:rPr>
              <a:t>最大</a:t>
            </a:r>
            <a:r>
              <a:rPr b="0" lang="en-US" sz="2170" spc="-1" strike="noStrike">
                <a:solidFill>
                  <a:srgbClr val="c9342f"/>
                </a:solidFill>
                <a:latin typeface="NotoSansJP"/>
                <a:ea typeface="NotoSansJP"/>
              </a:rPr>
              <a:t>7 2%</a:t>
            </a:r>
            <a:r>
              <a:rPr b="0" lang="zh-CN" sz="2170" spc="-1" strike="noStrike">
                <a:solidFill>
                  <a:srgbClr val="c9342f"/>
                </a:solidFill>
                <a:latin typeface="NotoSansJP"/>
                <a:ea typeface="NotoSansJP"/>
              </a:rPr>
              <a:t>向上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 特に劣化が強い領域で優位性が顕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914400" y="392400"/>
            <a:ext cx="313308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結果</a:t>
            </a:r>
            <a:r>
              <a:rPr b="0" lang="en-US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1: </a:t>
            </a:r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各提案手法の有効性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11777400" y="6436800"/>
            <a:ext cx="34812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10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47" name="" descr=""/>
          <p:cNvPicPr/>
          <p:nvPr/>
        </p:nvPicPr>
        <p:blipFill>
          <a:blip r:embed="rId1"/>
          <a:stretch/>
        </p:blipFill>
        <p:spPr>
          <a:xfrm>
            <a:off x="10515600" y="38160"/>
            <a:ext cx="1142640" cy="1142640"/>
          </a:xfrm>
          <a:prstGeom prst="rect">
            <a:avLst/>
          </a:prstGeom>
          <a:ln w="0">
            <a:noFill/>
          </a:ln>
        </p:spPr>
      </p:pic>
      <p:sp>
        <p:nvSpPr>
          <p:cNvPr id="248" name=""/>
          <p:cNvSpPr txBox="1"/>
          <p:nvPr/>
        </p:nvSpPr>
        <p:spPr>
          <a:xfrm>
            <a:off x="533520" y="923760"/>
            <a:ext cx="60692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認識性能が飛躍的に向上し、高い実用性を示した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809280" y="20858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2" y="164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3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0" y="15"/>
                  <a:pt x="219" y="19"/>
                  <a:pt x="228" y="24"/>
                </a:cubicBezTo>
                <a:cubicBezTo>
                  <a:pt x="236" y="30"/>
                  <a:pt x="243" y="36"/>
                  <a:pt x="250" y="42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2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533520" y="1438200"/>
            <a:ext cx="22075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総合的な性能向上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1085760" y="1942920"/>
            <a:ext cx="50014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提案した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3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つの手法をすべて統合した場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1085760" y="2362320"/>
            <a:ext cx="44143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合、従来手法の組み合わせと比較し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1085760" y="2771640"/>
            <a:ext cx="47257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て、文字認識の</a:t>
            </a:r>
            <a:r>
              <a:rPr b="0" lang="zh-CN" sz="2170" spc="-1" strike="noStrike">
                <a:solidFill>
                  <a:srgbClr val="c9342f"/>
                </a:solidFill>
                <a:latin typeface="NotoSansJP"/>
                <a:ea typeface="NotoSansJP"/>
              </a:rPr>
              <a:t>正答率が約</a:t>
            </a:r>
            <a:r>
              <a:rPr b="0" lang="en-US" sz="2170" spc="-1" strike="noStrike">
                <a:solidFill>
                  <a:srgbClr val="c9342f"/>
                </a:solidFill>
                <a:latin typeface="NotoSansJP"/>
                <a:ea typeface="NotoSansJP"/>
              </a:rPr>
              <a:t>2</a:t>
            </a:r>
            <a:r>
              <a:rPr b="0" lang="zh-CN" sz="2170" spc="-1" strike="noStrike">
                <a:solidFill>
                  <a:srgbClr val="c9342f"/>
                </a:solidFill>
                <a:latin typeface="NotoSansJP"/>
                <a:ea typeface="NotoSansJP"/>
              </a:rPr>
              <a:t>倍に向上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809280" y="44100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7"/>
                </a:cubicBezTo>
                <a:cubicBezTo>
                  <a:pt x="5" y="107"/>
                  <a:pt x="8" y="98"/>
                  <a:pt x="12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4"/>
                  <a:pt x="219" y="19"/>
                  <a:pt x="228" y="24"/>
                </a:cubicBezTo>
                <a:cubicBezTo>
                  <a:pt x="236" y="30"/>
                  <a:pt x="243" y="36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90"/>
                </a:cubicBezTo>
                <a:cubicBezTo>
                  <a:pt x="285" y="98"/>
                  <a:pt x="288" y="107"/>
                  <a:pt x="290" y="117"/>
                </a:cubicBezTo>
                <a:cubicBezTo>
                  <a:pt x="292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533520" y="3753000"/>
            <a:ext cx="27590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実用面でのインパクト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1085760" y="4267080"/>
            <a:ext cx="4690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犯罪捜査における</a:t>
            </a:r>
            <a:r>
              <a:rPr b="0" lang="zh-CN" sz="2170" spc="-1" strike="noStrike">
                <a:solidFill>
                  <a:srgbClr val="c9342f"/>
                </a:solidFill>
                <a:latin typeface="NotoSansJP"/>
                <a:ea typeface="NotoSansJP"/>
              </a:rPr>
              <a:t>車両の絞り込み台数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1085760" y="4676760"/>
            <a:ext cx="49431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c9342f"/>
                </a:solidFill>
                <a:latin typeface="NotoSansJP"/>
                <a:ea typeface="NotoSansJP"/>
              </a:rPr>
              <a:t>を従来の約</a:t>
            </a:r>
            <a:r>
              <a:rPr b="0" lang="en-US" sz="2170" spc="-1" strike="noStrike">
                <a:solidFill>
                  <a:srgbClr val="c9342f"/>
                </a:solidFill>
                <a:latin typeface="NotoSansJP"/>
                <a:ea typeface="NotoSansJP"/>
              </a:rPr>
              <a:t>2%</a:t>
            </a:r>
            <a:r>
              <a:rPr b="0" lang="zh-CN" sz="2170" spc="-1" strike="noStrike">
                <a:solidFill>
                  <a:srgbClr val="c9342f"/>
                </a:solidFill>
                <a:latin typeface="NotoSansJP"/>
                <a:ea typeface="NotoSansJP"/>
              </a:rPr>
              <a:t>にまで削減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できる可能性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809280" y="57243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2" y="164"/>
                  <a:pt x="290" y="174"/>
                </a:cubicBezTo>
                <a:cubicBezTo>
                  <a:pt x="288" y="183"/>
                  <a:pt x="285" y="192"/>
                  <a:pt x="281" y="201"/>
                </a:cubicBezTo>
                <a:cubicBezTo>
                  <a:pt x="278" y="210"/>
                  <a:pt x="273" y="218"/>
                  <a:pt x="268" y="226"/>
                </a:cubicBezTo>
                <a:cubicBezTo>
                  <a:pt x="263" y="234"/>
                  <a:pt x="257" y="242"/>
                  <a:pt x="250" y="248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5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8"/>
                </a:cubicBezTo>
                <a:cubicBezTo>
                  <a:pt x="36" y="242"/>
                  <a:pt x="30" y="234"/>
                  <a:pt x="25" y="226"/>
                </a:cubicBezTo>
                <a:cubicBezTo>
                  <a:pt x="20" y="218"/>
                  <a:pt x="15" y="210"/>
                  <a:pt x="12" y="201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0" y="15"/>
                  <a:pt x="219" y="19"/>
                  <a:pt x="228" y="24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1085760" y="5095800"/>
            <a:ext cx="8283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を示唆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1085760" y="5581800"/>
            <a:ext cx="4690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捜査の大幅な効率化と、人的‧時間的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1085760" y="5991120"/>
            <a:ext cx="33109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コストの劇的な削減に貢献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6309000" y="1438200"/>
            <a:ext cx="53798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劣化強度と平均候補数の関係 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論文図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5.12)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6266520" y="1942920"/>
            <a:ext cx="57859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[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図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: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劣化が強くなっても、提案手法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紫の線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)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6364440" y="2362320"/>
            <a:ext cx="54151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は実用レベルの平均候補数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赤の破線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)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以下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7520400" y="2771640"/>
            <a:ext cx="29239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を維持しているグラフ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]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6229440" y="3286080"/>
            <a:ext cx="524160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提案手法は、幅広い劣化強度に対して実用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6229440" y="3695760"/>
            <a:ext cx="55533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的な候補数（平均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2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候補以下）で正解を提示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6229440" y="4114800"/>
            <a:ext cx="11041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できる。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914400" y="392400"/>
            <a:ext cx="362988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結果</a:t>
            </a:r>
            <a:r>
              <a:rPr b="0" lang="en-US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2: </a:t>
            </a:r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全手法の統合による効果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11777400" y="6436800"/>
            <a:ext cx="34812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11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76" name="" descr=""/>
          <p:cNvPicPr/>
          <p:nvPr/>
        </p:nvPicPr>
        <p:blipFill>
          <a:blip r:embed="rId1"/>
          <a:stretch/>
        </p:blipFill>
        <p:spPr>
          <a:xfrm>
            <a:off x="10515600" y="38160"/>
            <a:ext cx="1142640" cy="1142640"/>
          </a:xfrm>
          <a:prstGeom prst="rect">
            <a:avLst/>
          </a:prstGeom>
          <a:ln w="0">
            <a:noFill/>
          </a:ln>
        </p:spPr>
      </p:pic>
      <p:sp>
        <p:nvSpPr>
          <p:cNvPr id="277" name=""/>
          <p:cNvSpPr/>
          <p:nvPr/>
        </p:nvSpPr>
        <p:spPr>
          <a:xfrm>
            <a:off x="809280" y="15811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4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2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4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7"/>
                </a:cubicBezTo>
                <a:cubicBezTo>
                  <a:pt x="5" y="107"/>
                  <a:pt x="8" y="98"/>
                  <a:pt x="12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2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4"/>
                  <a:pt x="219" y="19"/>
                  <a:pt x="228" y="24"/>
                </a:cubicBezTo>
                <a:cubicBezTo>
                  <a:pt x="236" y="29"/>
                  <a:pt x="243" y="35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89"/>
                </a:cubicBezTo>
                <a:cubicBezTo>
                  <a:pt x="285" y="98"/>
                  <a:pt x="288" y="107"/>
                  <a:pt x="290" y="117"/>
                </a:cubicBezTo>
                <a:cubicBezTo>
                  <a:pt x="292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533520" y="923760"/>
            <a:ext cx="855180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提案手法群は、相乗効果により複合劣化画像に対する頑健性を高めた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1085760" y="1438200"/>
            <a:ext cx="109267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各手法の専門性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: 3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つの手法が「環境光」「低解像度」「多様な劣化」という異なる課題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809280" y="24764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2" y="164"/>
                  <a:pt x="290" y="174"/>
                </a:cubicBezTo>
                <a:cubicBezTo>
                  <a:pt x="288" y="183"/>
                  <a:pt x="285" y="192"/>
                  <a:pt x="281" y="201"/>
                </a:cubicBezTo>
                <a:cubicBezTo>
                  <a:pt x="278" y="210"/>
                  <a:pt x="273" y="218"/>
                  <a:pt x="268" y="226"/>
                </a:cubicBezTo>
                <a:cubicBezTo>
                  <a:pt x="263" y="234"/>
                  <a:pt x="257" y="241"/>
                  <a:pt x="250" y="248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2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8"/>
                </a:cubicBezTo>
                <a:cubicBezTo>
                  <a:pt x="36" y="241"/>
                  <a:pt x="30" y="234"/>
                  <a:pt x="25" y="226"/>
                </a:cubicBezTo>
                <a:cubicBezTo>
                  <a:pt x="20" y="218"/>
                  <a:pt x="15" y="210"/>
                  <a:pt x="12" y="201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2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2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4"/>
                  <a:pt x="219" y="19"/>
                  <a:pt x="228" y="24"/>
                </a:cubicBezTo>
                <a:cubicBezTo>
                  <a:pt x="236" y="29"/>
                  <a:pt x="243" y="36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89"/>
                </a:cubicBezTo>
                <a:cubicBezTo>
                  <a:pt x="285" y="98"/>
                  <a:pt x="288" y="107"/>
                  <a:pt x="290" y="117"/>
                </a:cubicBezTo>
                <a:cubicBezTo>
                  <a:pt x="292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1085760" y="1847880"/>
            <a:ext cx="965520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にそれぞれ特化して対応したことで、総合的な性能が向上したと考えられる。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1085760" y="2333520"/>
            <a:ext cx="106484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劣化が強い状況での優位性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: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特に多重構造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CNN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は、劣化が強くなるほど従来法との差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1085760" y="2752560"/>
            <a:ext cx="104828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が開き、適応性の高さが示された。これは、劣化に応じて適切な解像度の情報を自動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809280" y="37908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3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5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8"/>
                </a:cubicBezTo>
                <a:cubicBezTo>
                  <a:pt x="5" y="109"/>
                  <a:pt x="8" y="100"/>
                  <a:pt x="12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0" y="15"/>
                  <a:pt x="219" y="19"/>
                  <a:pt x="228" y="24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100"/>
                  <a:pt x="288" y="109"/>
                  <a:pt x="290" y="118"/>
                </a:cubicBezTo>
                <a:cubicBezTo>
                  <a:pt x="292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1085760" y="3162240"/>
            <a:ext cx="71726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的に選択できるアーキテクチャの有効性を示唆している。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1085760" y="3648240"/>
            <a:ext cx="106282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実用性の高さ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: 1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候補目での正答率も従来法より高く（表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5.8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）、平均候補数も少ない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1085760" y="4057560"/>
            <a:ext cx="106171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（図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5.12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）ことから、提案手法は単に最終的な正答率が高いだけでなく、捜査の初期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809280" y="51051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2" y="165"/>
                  <a:pt x="290" y="174"/>
                </a:cubicBezTo>
                <a:cubicBezTo>
                  <a:pt x="288" y="183"/>
                  <a:pt x="285" y="193"/>
                  <a:pt x="281" y="201"/>
                </a:cubicBezTo>
                <a:cubicBezTo>
                  <a:pt x="278" y="210"/>
                  <a:pt x="273" y="219"/>
                  <a:pt x="268" y="228"/>
                </a:cubicBezTo>
                <a:cubicBezTo>
                  <a:pt x="263" y="235"/>
                  <a:pt x="257" y="243"/>
                  <a:pt x="250" y="250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5"/>
                  <a:pt x="184" y="288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7"/>
                  <a:pt x="73" y="273"/>
                  <a:pt x="65" y="268"/>
                </a:cubicBezTo>
                <a:cubicBezTo>
                  <a:pt x="57" y="262"/>
                  <a:pt x="50" y="256"/>
                  <a:pt x="43" y="250"/>
                </a:cubicBezTo>
                <a:cubicBezTo>
                  <a:pt x="36" y="243"/>
                  <a:pt x="30" y="235"/>
                  <a:pt x="25" y="228"/>
                </a:cubicBezTo>
                <a:cubicBezTo>
                  <a:pt x="20" y="219"/>
                  <a:pt x="15" y="210"/>
                  <a:pt x="12" y="201"/>
                </a:cubicBezTo>
                <a:cubicBezTo>
                  <a:pt x="8" y="193"/>
                  <a:pt x="5" y="183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0" y="15"/>
                  <a:pt x="219" y="19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1085760" y="4476600"/>
            <a:ext cx="744840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段階で迅速に有力な候補を提示できる実用性を備えている。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1085760" y="4962600"/>
            <a:ext cx="105670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相乗効果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: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画質改善（提案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1, 2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）によって文字認識（提案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3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）の入力がクリーンにな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1085760" y="5371920"/>
            <a:ext cx="77245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り、認識精度がさらに向上するという相乗効果が確認された。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914400" y="392400"/>
            <a:ext cx="497520" cy="36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考察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11777400" y="6436800"/>
            <a:ext cx="34812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12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99" name="" descr=""/>
          <p:cNvPicPr/>
          <p:nvPr/>
        </p:nvPicPr>
        <p:blipFill>
          <a:blip r:embed="rId1"/>
          <a:stretch/>
        </p:blipFill>
        <p:spPr>
          <a:xfrm>
            <a:off x="10515600" y="38160"/>
            <a:ext cx="1142640" cy="1142640"/>
          </a:xfrm>
          <a:prstGeom prst="rect">
            <a:avLst/>
          </a:prstGeom>
          <a:ln w="0">
            <a:noFill/>
          </a:ln>
        </p:spPr>
      </p:pic>
      <p:sp>
        <p:nvSpPr>
          <p:cNvPr id="300" name=""/>
          <p:cNvSpPr/>
          <p:nvPr/>
        </p:nvSpPr>
        <p:spPr>
          <a:xfrm>
            <a:off x="809280" y="15811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4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2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4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7"/>
                </a:cubicBezTo>
                <a:cubicBezTo>
                  <a:pt x="5" y="107"/>
                  <a:pt x="8" y="98"/>
                  <a:pt x="12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2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4"/>
                  <a:pt x="219" y="19"/>
                  <a:pt x="228" y="24"/>
                </a:cubicBezTo>
                <a:cubicBezTo>
                  <a:pt x="236" y="29"/>
                  <a:pt x="243" y="35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89"/>
                </a:cubicBezTo>
                <a:cubicBezTo>
                  <a:pt x="285" y="98"/>
                  <a:pt x="288" y="107"/>
                  <a:pt x="290" y="117"/>
                </a:cubicBezTo>
                <a:cubicBezTo>
                  <a:pt x="292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533520" y="923760"/>
            <a:ext cx="33109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本研究の限界と将来の展望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1085760" y="1438200"/>
            <a:ext cx="104925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ナンバープレート領域抽出の自動化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: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本研究では領域抽出後の画像を扱っているが、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1085760" y="1847880"/>
            <a:ext cx="104828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実用上は画像全体からナンバープレート領域を正確に抽出する前処理が重要となる。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809280" y="28954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2" y="164"/>
                  <a:pt x="290" y="174"/>
                </a:cubicBezTo>
                <a:cubicBezTo>
                  <a:pt x="288" y="183"/>
                  <a:pt x="285" y="192"/>
                  <a:pt x="281" y="201"/>
                </a:cubicBezTo>
                <a:cubicBezTo>
                  <a:pt x="278" y="210"/>
                  <a:pt x="273" y="218"/>
                  <a:pt x="268" y="226"/>
                </a:cubicBezTo>
                <a:cubicBezTo>
                  <a:pt x="263" y="234"/>
                  <a:pt x="257" y="241"/>
                  <a:pt x="250" y="248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8"/>
                </a:cubicBezTo>
                <a:cubicBezTo>
                  <a:pt x="36" y="241"/>
                  <a:pt x="30" y="234"/>
                  <a:pt x="25" y="226"/>
                </a:cubicBezTo>
                <a:cubicBezTo>
                  <a:pt x="20" y="218"/>
                  <a:pt x="15" y="210"/>
                  <a:pt x="12" y="201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8"/>
                  <a:pt x="12" y="90"/>
                </a:cubicBezTo>
                <a:cubicBezTo>
                  <a:pt x="15" y="81"/>
                  <a:pt x="20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5"/>
                  <a:pt x="219" y="19"/>
                  <a:pt x="228" y="24"/>
                </a:cubicBezTo>
                <a:cubicBezTo>
                  <a:pt x="236" y="30"/>
                  <a:pt x="243" y="36"/>
                  <a:pt x="250" y="42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2"/>
                  <a:pt x="278" y="81"/>
                  <a:pt x="281" y="90"/>
                </a:cubicBezTo>
                <a:cubicBezTo>
                  <a:pt x="285" y="98"/>
                  <a:pt x="288" y="108"/>
                  <a:pt x="290" y="117"/>
                </a:cubicBezTo>
                <a:cubicBezTo>
                  <a:pt x="292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1085760" y="2266920"/>
            <a:ext cx="855180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この部分にも機械学習を導入し、さらに頑健性を高める必要がある。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1085760" y="2752560"/>
            <a:ext cx="104925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動いている車両への対応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: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本研究は静止している車両を主対象としている。走行中の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1085760" y="3162240"/>
            <a:ext cx="104828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車両で発生するモーションブラー（被写体ブレ）に対応するため、ブレ除去に特化し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809280" y="42004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2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7"/>
                </a:cubicBezTo>
                <a:cubicBezTo>
                  <a:pt x="5" y="107"/>
                  <a:pt x="8" y="98"/>
                  <a:pt x="12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2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4"/>
                  <a:pt x="219" y="19"/>
                  <a:pt x="228" y="24"/>
                </a:cubicBezTo>
                <a:cubicBezTo>
                  <a:pt x="236" y="29"/>
                  <a:pt x="243" y="35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89"/>
                </a:cubicBezTo>
                <a:cubicBezTo>
                  <a:pt x="285" y="98"/>
                  <a:pt x="288" y="107"/>
                  <a:pt x="290" y="117"/>
                </a:cubicBezTo>
                <a:cubicBezTo>
                  <a:pt x="292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1085760" y="3581280"/>
            <a:ext cx="68968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たニューラルネットワークの導入が今後の課題となる。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1085760" y="4057560"/>
            <a:ext cx="104925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さらなる多様性への対応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: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緑色のプレートや異なるフォントなど、本研究で扱いきれ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1085760" y="4476600"/>
            <a:ext cx="855180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なかった種類のナンバープレートへの汎化性能を高める必要がある。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914400" y="392400"/>
            <a:ext cx="1242720" cy="36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今後の課題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11777400" y="6436800"/>
            <a:ext cx="34812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13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19" name="" descr=""/>
          <p:cNvPicPr/>
          <p:nvPr/>
        </p:nvPicPr>
        <p:blipFill>
          <a:blip r:embed="rId1"/>
          <a:stretch/>
        </p:blipFill>
        <p:spPr>
          <a:xfrm>
            <a:off x="10515600" y="38160"/>
            <a:ext cx="1142640" cy="1142640"/>
          </a:xfrm>
          <a:prstGeom prst="rect">
            <a:avLst/>
          </a:prstGeom>
          <a:ln w="0">
            <a:noFill/>
          </a:ln>
        </p:spPr>
      </p:pic>
      <p:sp>
        <p:nvSpPr>
          <p:cNvPr id="320" name=""/>
          <p:cNvSpPr txBox="1"/>
          <p:nvPr/>
        </p:nvSpPr>
        <p:spPr>
          <a:xfrm>
            <a:off x="533520" y="923760"/>
            <a:ext cx="16556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本研究の貢献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1" name=""/>
          <p:cNvSpPr/>
          <p:nvPr/>
        </p:nvSpPr>
        <p:spPr>
          <a:xfrm>
            <a:off x="1361880" y="20858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1" y="164"/>
                  <a:pt x="289" y="175"/>
                </a:cubicBezTo>
                <a:cubicBezTo>
                  <a:pt x="287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3"/>
                  <a:pt x="249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19" y="273"/>
                  <a:pt x="211" y="277"/>
                  <a:pt x="202" y="281"/>
                </a:cubicBezTo>
                <a:cubicBezTo>
                  <a:pt x="193" y="284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49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7" y="193"/>
                  <a:pt x="5" y="184"/>
                  <a:pt x="3" y="175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1" y="15"/>
                  <a:pt x="219" y="19"/>
                  <a:pt x="227" y="24"/>
                </a:cubicBezTo>
                <a:cubicBezTo>
                  <a:pt x="235" y="30"/>
                  <a:pt x="243" y="36"/>
                  <a:pt x="249" y="42"/>
                </a:cubicBezTo>
                <a:cubicBezTo>
                  <a:pt x="256" y="49"/>
                  <a:pt x="262" y="57"/>
                  <a:pt x="268" y="65"/>
                </a:cubicBezTo>
                <a:cubicBezTo>
                  <a:pt x="273" y="72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6"/>
                  <a:pt x="292" y="136"/>
                  <a:pt x="292" y="145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793800" y="1438200"/>
            <a:ext cx="50900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1.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複合劣化に対応する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3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つの手法を提案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1638360" y="1942920"/>
            <a:ext cx="96908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環境光の外乱、低解像度、多様な劣化という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3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つの主要課題に対し、それぞれ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1638360" y="2362320"/>
            <a:ext cx="101545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SVR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を用いた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Retinex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処理、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SVM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を用いた超解像、多重構造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CNN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という機械学習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1638360" y="2771640"/>
            <a:ext cx="33109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ベースの手法を提案した。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1361880" y="39146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1" y="165"/>
                  <a:pt x="289" y="175"/>
                </a:cubicBezTo>
                <a:cubicBezTo>
                  <a:pt x="287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3"/>
                  <a:pt x="249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19" y="273"/>
                  <a:pt x="211" y="277"/>
                  <a:pt x="202" y="281"/>
                </a:cubicBezTo>
                <a:cubicBezTo>
                  <a:pt x="193" y="284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49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7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8"/>
                </a:cubicBezTo>
                <a:cubicBezTo>
                  <a:pt x="5" y="109"/>
                  <a:pt x="7" y="100"/>
                  <a:pt x="11" y="91"/>
                </a:cubicBezTo>
                <a:cubicBezTo>
                  <a:pt x="15" y="82"/>
                  <a:pt x="19" y="73"/>
                  <a:pt x="25" y="66"/>
                </a:cubicBezTo>
                <a:cubicBezTo>
                  <a:pt x="30" y="58"/>
                  <a:pt x="36" y="50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1" y="15"/>
                  <a:pt x="219" y="19"/>
                  <a:pt x="227" y="24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50"/>
                  <a:pt x="262" y="58"/>
                  <a:pt x="268" y="66"/>
                </a:cubicBezTo>
                <a:cubicBezTo>
                  <a:pt x="273" y="73"/>
                  <a:pt x="277" y="82"/>
                  <a:pt x="281" y="91"/>
                </a:cubicBezTo>
                <a:cubicBezTo>
                  <a:pt x="285" y="100"/>
                  <a:pt x="287" y="109"/>
                  <a:pt x="289" y="118"/>
                </a:cubicBezTo>
                <a:cubicBezTo>
                  <a:pt x="291" y="127"/>
                  <a:pt x="292" y="137"/>
                  <a:pt x="292" y="146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793800" y="3257640"/>
            <a:ext cx="45028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2.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従来法を大幅に上回る性能を実証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1638360" y="3771720"/>
            <a:ext cx="100656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各手法がそれぞれの課題において従来法を最大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32%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上回る性能向上を達成し、そ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1638360" y="4181400"/>
            <a:ext cx="35866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の有効性を実験的に示した。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1361880" y="53146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1" y="165"/>
                  <a:pt x="289" y="174"/>
                </a:cubicBezTo>
                <a:cubicBezTo>
                  <a:pt x="287" y="184"/>
                  <a:pt x="285" y="193"/>
                  <a:pt x="281" y="201"/>
                </a:cubicBezTo>
                <a:cubicBezTo>
                  <a:pt x="277" y="210"/>
                  <a:pt x="273" y="219"/>
                  <a:pt x="268" y="228"/>
                </a:cubicBezTo>
                <a:cubicBezTo>
                  <a:pt x="262" y="236"/>
                  <a:pt x="256" y="243"/>
                  <a:pt x="249" y="250"/>
                </a:cubicBezTo>
                <a:cubicBezTo>
                  <a:pt x="243" y="256"/>
                  <a:pt x="235" y="262"/>
                  <a:pt x="227" y="268"/>
                </a:cubicBezTo>
                <a:cubicBezTo>
                  <a:pt x="219" y="273"/>
                  <a:pt x="211" y="278"/>
                  <a:pt x="202" y="281"/>
                </a:cubicBezTo>
                <a:cubicBezTo>
                  <a:pt x="193" y="285"/>
                  <a:pt x="184" y="288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2"/>
                  <a:pt x="49" y="256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19" y="219"/>
                  <a:pt x="15" y="210"/>
                  <a:pt x="11" y="201"/>
                </a:cubicBezTo>
                <a:cubicBezTo>
                  <a:pt x="7" y="193"/>
                  <a:pt x="5" y="184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1" y="15"/>
                  <a:pt x="219" y="19"/>
                  <a:pt x="227" y="25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793800" y="4667400"/>
            <a:ext cx="50544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3.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高い実用性と社会的インパクトを示唆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1638360" y="5172120"/>
            <a:ext cx="99669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全手法の統合により、認識性能は従来比で約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2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倍に向上。これにより、犯罪捜査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1638360" y="5591160"/>
            <a:ext cx="99309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における車両絞り込み効率を飛躍的に高め、捜査コストを大幅に削減できる可能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1638360" y="6000840"/>
            <a:ext cx="16556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性を示した。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914400" y="392400"/>
            <a:ext cx="745920" cy="36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まとめ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7" name=""/>
          <p:cNvSpPr txBox="1"/>
          <p:nvPr/>
        </p:nvSpPr>
        <p:spPr>
          <a:xfrm>
            <a:off x="11777400" y="6436800"/>
            <a:ext cx="34812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14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LibreOffice/24.2.7.2$Linux_AARCH64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