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4946400" y="180828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論⽂紹介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5937120" y="1871280"/>
            <a:ext cx="131148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950" spc="-1" strike="noStrike">
                <a:solidFill>
                  <a:srgbClr val="0b4b78"/>
                </a:solidFill>
                <a:latin typeface="Arial"/>
                <a:ea typeface="Arial"/>
              </a:rPr>
              <a:t> </a:t>
            </a:r>
            <a:r>
              <a:rPr b="0" lang="en-US" sz="1950" spc="-1" strike="noStrike">
                <a:solidFill>
                  <a:srgbClr val="0b4b78"/>
                </a:solidFill>
                <a:latin typeface="Arial"/>
                <a:ea typeface="Arial"/>
              </a:rPr>
              <a:t>2026/04/07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1355040" y="2409840"/>
            <a:ext cx="954108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機械学習による複合劣化ナンバープレート画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0" y="3771720"/>
            <a:ext cx="12192120" cy="3086280"/>
          </a:xfrm>
          <a:custGeom>
            <a:avLst/>
            <a:gdLst/>
            <a:ahLst/>
            <a:rect l="0" t="0" r="r" b="b"/>
            <a:pathLst>
              <a:path w="33867" h="8573">
                <a:moveTo>
                  <a:pt x="0" y="0"/>
                </a:moveTo>
                <a:lnTo>
                  <a:pt x="33867" y="0"/>
                </a:lnTo>
                <a:lnTo>
                  <a:pt x="33867" y="8573"/>
                </a:lnTo>
                <a:lnTo>
                  <a:pt x="0" y="8573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4429080" y="3124080"/>
            <a:ext cx="3339720" cy="690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3750" spc="-1" strike="noStrike">
                <a:solidFill>
                  <a:srgbClr val="0b4b78"/>
                </a:solidFill>
                <a:latin typeface="NotoSansCJKjp"/>
                <a:ea typeface="NotoSansCJKjp"/>
              </a:rPr>
              <a:t>像の⾼精度認識</a:t>
            </a:r>
            <a:endParaRPr b="0" lang="en-US" sz="3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5575680" y="4668840"/>
            <a:ext cx="1143720" cy="331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800" spc="-1" strike="noStrike">
                <a:solidFill>
                  <a:srgbClr val="ffffff"/>
                </a:solidFill>
                <a:latin typeface="NotoSansCJKjp"/>
                <a:ea typeface="NotoSansCJKjp"/>
              </a:rPr>
              <a:t>所属未⼊⼒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290200" y="5240520"/>
            <a:ext cx="1719720" cy="41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50" spc="-1" strike="noStrike">
                <a:solidFill>
                  <a:srgbClr val="ffffff"/>
                </a:solidFill>
                <a:latin typeface="NotoSansCJKjp"/>
                <a:ea typeface="NotoSansCJKjp"/>
              </a:rPr>
              <a:t>発表者未⼊⼒</a:t>
            </a:r>
            <a:endParaRPr b="0" lang="en-US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3009960" y="22291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1.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3348720" y="2151360"/>
            <a:ext cx="213444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研究背景と課題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3009960" y="26863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2.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348720" y="2608560"/>
            <a:ext cx="122004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提案⼿法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009960" y="31435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3.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3348720" y="3065760"/>
            <a:ext cx="122004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実験設定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009960" y="36007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4.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348720" y="3522960"/>
            <a:ext cx="152460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結果と考察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009960" y="405792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400" spc="-1" strike="noStrike">
                <a:solidFill>
                  <a:srgbClr val="0b4b78"/>
                </a:solidFill>
                <a:latin typeface="Arial"/>
                <a:ea typeface="Arial"/>
              </a:rPr>
              <a:t>5. 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3348720" y="3980160"/>
            <a:ext cx="915120" cy="442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400" spc="-1" strike="noStrike">
                <a:solidFill>
                  <a:srgbClr val="0b4b78"/>
                </a:solidFill>
                <a:latin typeface="NotoSansCJKjp"/>
                <a:ea typeface="NotoSansCJKjp"/>
              </a:rPr>
              <a:t>まとめ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209520" y="266400"/>
            <a:ext cx="152640" cy="305280"/>
          </a:xfrm>
          <a:custGeom>
            <a:avLst/>
            <a:gdLst/>
            <a:ahLst/>
            <a:rect l="0" t="0" r="r" b="b"/>
            <a:pathLst>
              <a:path w="424" h="848">
                <a:moveTo>
                  <a:pt x="0" y="0"/>
                </a:moveTo>
                <a:lnTo>
                  <a:pt x="424" y="0"/>
                </a:lnTo>
                <a:lnTo>
                  <a:pt x="4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2666880" y="23335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2666880" y="27907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2666880" y="32479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2666880" y="37051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2666880" y="4162320"/>
            <a:ext cx="171720" cy="171720"/>
          </a:xfrm>
          <a:custGeom>
            <a:avLst/>
            <a:gdLst/>
            <a:ahLst/>
            <a:rect l="0" t="0" r="r" b="b"/>
            <a:pathLst>
              <a:path w="477" h="477">
                <a:moveTo>
                  <a:pt x="0" y="0"/>
                </a:moveTo>
                <a:lnTo>
                  <a:pt x="477" y="0"/>
                </a:lnTo>
                <a:lnTo>
                  <a:pt x="47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495360" y="129240"/>
            <a:ext cx="1623960" cy="469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5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アジェンダ</a:t>
            </a:r>
            <a:endParaRPr b="0" lang="en-US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857160" y="18284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5"/>
                  <a:pt x="165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3" y="48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4"/>
                  <a:pt x="103" y="0"/>
                  <a:pt x="120" y="0"/>
                </a:cubicBezTo>
                <a:cubicBezTo>
                  <a:pt x="136" y="0"/>
                  <a:pt x="151" y="4"/>
                  <a:pt x="165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8"/>
                  <a:pt x="224" y="60"/>
                  <a:pt x="230" y="75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533520" y="1057320"/>
            <a:ext cx="4550040" cy="439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39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監視カメラの普及と複合劣化画像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085760" y="16322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監視カメラは社会に広く普及し、犯罪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085760" y="2051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捜査等でナンバープレート画像が重要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857160" y="3143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85760" y="24609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な証拠として利⽤されている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085760" y="29466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しかし、実際に撮影される画像は、環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085760" y="33562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境光の外乱、低解像度、ノイズなど複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085760" y="377532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数の要因が重なった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3571920" y="3845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786840" y="377532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「複合劣化画像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5720400" y="3693240"/>
            <a:ext cx="27576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Mongolian"/>
                <a:ea typeface="NotoSansMongolian"/>
              </a:rPr>
              <a:t>」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08576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857160" y="4867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1300680" y="418500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であることが多い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85760" y="467064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こうした悪条件下では、⽂字が不鮮明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085760" y="50896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になり、従来の認識システムでは精度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561960" y="655308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615600" y="6606720"/>
            <a:ext cx="169200" cy="169200"/>
          </a:xfrm>
          <a:custGeom>
            <a:avLst/>
            <a:gdLst/>
            <a:ahLst/>
            <a:rect l="0" t="0" r="r" b="b"/>
            <a:pathLst>
              <a:path w="470" h="470">
                <a:moveTo>
                  <a:pt x="0" y="150"/>
                </a:moveTo>
                <a:lnTo>
                  <a:pt x="192" y="150"/>
                </a:lnTo>
                <a:lnTo>
                  <a:pt x="192" y="0"/>
                </a:lnTo>
                <a:lnTo>
                  <a:pt x="470" y="235"/>
                </a:lnTo>
                <a:lnTo>
                  <a:pt x="192" y="470"/>
                </a:lnTo>
                <a:lnTo>
                  <a:pt x="192" y="321"/>
                </a:lnTo>
                <a:lnTo>
                  <a:pt x="0" y="321"/>
                </a:lnTo>
                <a:lnTo>
                  <a:pt x="0" y="15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1085760" y="549936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が著しく低下するという問題がある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850680" y="65509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927720" y="648036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「読めない」を「読める」に！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794840" y="65509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871520" y="64803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複合劣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622944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[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306120" y="87012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658224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735960" y="8701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監視カメラで撮影された、⽩⾶びや低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6229440" y="128916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解像度で⽂字が読みにくいナンバープレー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6229440" y="169884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ト画像の例を⼊れる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715240" y="17694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]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839000" y="221328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複合劣化画像の例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研究背景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533520" y="870120"/>
            <a:ext cx="10207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本研究では、複合劣化したナンバープレート画像を正確に認識するために、以下の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1072872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10882440" y="8701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533520" y="128916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課題を解決することを⽬指します。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778680" y="18644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1409400" y="2504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1085760" y="179424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ロバスト性の向上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638360" y="2308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219060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40940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6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6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359440" y="230832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ヘッドライトなどの強い環境光による⽩⾶び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638360" y="279432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⽬標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190600" y="28645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359440" y="279432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光の影響に頑健な画質改善を実現する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78680" y="33408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1409400" y="3981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5"/>
                  <a:pt x="60" y="16"/>
                  <a:pt x="75" y="10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10"/>
                </a:cubicBezTo>
                <a:cubicBezTo>
                  <a:pt x="181" y="16"/>
                  <a:pt x="193" y="25"/>
                  <a:pt x="205" y="36"/>
                </a:cubicBezTo>
                <a:cubicBezTo>
                  <a:pt x="216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085760" y="32706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効率性の向上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638360" y="3784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2190600" y="3855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1409400" y="446688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4"/>
                  <a:pt x="166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1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1"/>
                  <a:pt x="0" y="136"/>
                  <a:pt x="0" y="121"/>
                </a:cubicBezTo>
                <a:cubicBezTo>
                  <a:pt x="0" y="105"/>
                  <a:pt x="3" y="90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6"/>
                  <a:pt x="75" y="10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10"/>
                </a:cubicBezTo>
                <a:cubicBezTo>
                  <a:pt x="181" y="16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2359440" y="378468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低解像度による⽂字情報の⽋落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638360" y="42706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⽬標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2190600" y="4341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2359440" y="427068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少ない情報から効率的に画像を再構成（超解像）する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78680" y="48171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1409400" y="5457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6" y="193"/>
                  <a:pt x="205" y="204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4"/>
                </a:cubicBezTo>
                <a:cubicBezTo>
                  <a:pt x="25" y="193"/>
                  <a:pt x="16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085760" y="47469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適応性の向上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638360" y="52614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2190600" y="53316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1409400" y="59432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5"/>
                  <a:pt x="166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1"/>
                </a:cubicBezTo>
                <a:cubicBezTo>
                  <a:pt x="60" y="225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5"/>
                  <a:pt x="3" y="90"/>
                  <a:pt x="9" y="75"/>
                </a:cubicBezTo>
                <a:cubicBezTo>
                  <a:pt x="16" y="60"/>
                  <a:pt x="25" y="48"/>
                  <a:pt x="36" y="36"/>
                </a:cubicBezTo>
                <a:cubicBezTo>
                  <a:pt x="47" y="24"/>
                  <a:pt x="60" y="16"/>
                  <a:pt x="75" y="10"/>
                </a:cubicBezTo>
                <a:cubicBezTo>
                  <a:pt x="89" y="4"/>
                  <a:pt x="105" y="0"/>
                  <a:pt x="120" y="0"/>
                </a:cubicBezTo>
                <a:cubicBezTo>
                  <a:pt x="136" y="0"/>
                  <a:pt x="151" y="4"/>
                  <a:pt x="166" y="10"/>
                </a:cubicBezTo>
                <a:cubicBezTo>
                  <a:pt x="181" y="16"/>
                  <a:pt x="193" y="24"/>
                  <a:pt x="205" y="36"/>
                </a:cubicBezTo>
                <a:cubicBezTo>
                  <a:pt x="216" y="48"/>
                  <a:pt x="224" y="60"/>
                  <a:pt x="230" y="75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2359440" y="526140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多様な劣化パターンや、ひらがな等の複雑な⽂字形状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1638360" y="57470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⽬標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2190600" y="58176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2359440" y="5747040"/>
            <a:ext cx="6069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様々な状況に柔軟に対応できる⾼性能な⽂字認識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914400" y="35100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解決したい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2152800" y="414000"/>
            <a:ext cx="2473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29032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3352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86880" y="87012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つの課題を解決するため、それぞれに特化した機械学習⼿法を提案し、統合します。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533520" y="1661400"/>
            <a:ext cx="3222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80" spc="-1" strike="noStrike">
                <a:solidFill>
                  <a:srgbClr val="111111"/>
                </a:solidFill>
                <a:latin typeface="Arial"/>
                <a:ea typeface="Arial"/>
              </a:rPr>
              <a:t>1. 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855720" y="1587600"/>
            <a:ext cx="2027520" cy="419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8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ロバスト性向上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533520" y="219780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101240" y="21276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2206440" y="219780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3204000" y="21276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533520" y="25369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環境光の外乱を抑制し、安定した画質改善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33520" y="2956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を実現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6229440" y="1661400"/>
            <a:ext cx="3222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80" spc="-1" strike="noStrike">
                <a:solidFill>
                  <a:srgbClr val="111111"/>
                </a:solidFill>
                <a:latin typeface="Arial"/>
                <a:ea typeface="Arial"/>
              </a:rPr>
              <a:t>2. 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6551640" y="1587600"/>
            <a:ext cx="1448640" cy="419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8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効率性向上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229440" y="21978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827760" y="21276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を⽤いた画素選択型超解像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229440" y="2536920"/>
            <a:ext cx="52416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低解像度画像から⽂字のエッジなどを鮮明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229440" y="2956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に復元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533520" y="3928680"/>
            <a:ext cx="3222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280" spc="-1" strike="noStrike">
                <a:solidFill>
                  <a:srgbClr val="111111"/>
                </a:solidFill>
                <a:latin typeface="Arial"/>
                <a:ea typeface="Arial"/>
              </a:rPr>
              <a:t>3. 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855720" y="3854520"/>
            <a:ext cx="1448640" cy="419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28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適応性向上</a:t>
            </a:r>
            <a:endParaRPr b="0" lang="en-US" sz="22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533520" y="43945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638360" y="44647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2236680" y="439452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による⽂字認識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533520" y="481356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多様な劣化パターンに対応し、⾼精度な⽂字認識を実現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7425360" y="4884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1404360" y="573732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これらの⼿法を統合し、複合劣化画像に対する⾼精度な認識システムを構築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914400" y="3510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提案⼿法の全体像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5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33520" y="118440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環境光による画像の⽩⾶びや不⾃然な輪郭（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049800" y="125496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Halo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857160" y="18856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6617880" y="118440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アーティファクト）を抑制します。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085760" y="1759680"/>
            <a:ext cx="99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2083680" y="1689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2636280" y="1759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804760" y="1689480"/>
            <a:ext cx="8827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画像を「照明成分」と「反射成分」に分離し、照明の影響を除去する画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857160" y="2790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3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085760" y="210852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質改善⼿法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085760" y="25941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638360" y="26647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1807200" y="25941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2635920" y="266472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3572280" y="259416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処理では、照明成分の推定が不正確で、特に画像の輪郭周りに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085760" y="307440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Halo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857160" y="3686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1653840" y="300384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アーティファクト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が発⽣しやすい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1085760" y="3489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638360" y="3560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807200" y="348948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照明成分の推定にサポートベクター回帰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768360" y="3560040"/>
            <a:ext cx="90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(SVR)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1409400" y="4095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8"/>
                  <a:pt x="25" y="46"/>
                  <a:pt x="36" y="34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4"/>
                </a:cubicBezTo>
                <a:cubicBezTo>
                  <a:pt x="216" y="46"/>
                  <a:pt x="224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7673760" y="34894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を導⼊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638360" y="396972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1409400" y="4581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5"/>
                  <a:pt x="60" y="16"/>
                  <a:pt x="75" y="10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10"/>
                </a:cubicBezTo>
                <a:cubicBezTo>
                  <a:pt x="181" y="16"/>
                  <a:pt x="193" y="25"/>
                  <a:pt x="205" y="36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2206440" y="389916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を⽤いることで、より滑らかで正確な照明成分の推定が可能に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1638360" y="43848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結果として、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3273480" y="4455360"/>
            <a:ext cx="56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Halo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2" name="" descr=""/>
          <p:cNvPicPr/>
          <p:nvPr/>
        </p:nvPicPr>
        <p:blipFill>
          <a:blip r:embed="rId1"/>
          <a:stretch/>
        </p:blipFill>
        <p:spPr>
          <a:xfrm>
            <a:off x="533520" y="4981680"/>
            <a:ext cx="6095520" cy="7324200"/>
          </a:xfrm>
          <a:prstGeom prst="rect">
            <a:avLst/>
          </a:prstGeom>
          <a:ln w="0">
            <a:noFill/>
          </a:ln>
        </p:spPr>
      </p:pic>
      <p:sp>
        <p:nvSpPr>
          <p:cNvPr id="183" name=""/>
          <p:cNvSpPr txBox="1"/>
          <p:nvPr/>
        </p:nvSpPr>
        <p:spPr>
          <a:xfrm>
            <a:off x="3841560" y="4384800"/>
            <a:ext cx="6896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作⽤を効果的に抑制し、環境光に頑健な画質改善を達成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⼿法①：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905120" y="414000"/>
            <a:ext cx="511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SVR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241416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3404880" y="414000"/>
            <a:ext cx="896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299480" y="351000"/>
            <a:ext cx="2733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処理によるロバスト性向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533160" y="714240"/>
            <a:ext cx="267120" cy="57600"/>
          </a:xfrm>
          <a:custGeom>
            <a:avLst/>
            <a:gdLst/>
            <a:ahLst/>
            <a:rect l="0" t="0" r="r" b="b"/>
            <a:pathLst>
              <a:path w="742" h="160">
                <a:moveTo>
                  <a:pt x="0" y="106"/>
                </a:move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7"/>
                  <a:pt x="722" y="10"/>
                  <a:pt x="727" y="15"/>
                </a:cubicBezTo>
                <a:cubicBezTo>
                  <a:pt x="731" y="20"/>
                  <a:pt x="735" y="26"/>
                  <a:pt x="738" y="33"/>
                </a:cubicBezTo>
                <a:cubicBezTo>
                  <a:pt x="741" y="39"/>
                  <a:pt x="742" y="46"/>
                  <a:pt x="742" y="53"/>
                </a:cubicBezTo>
                <a:lnTo>
                  <a:pt x="742" y="106"/>
                </a:lnTo>
                <a:cubicBezTo>
                  <a:pt x="742" y="113"/>
                  <a:pt x="741" y="119"/>
                  <a:pt x="738" y="126"/>
                </a:cubicBezTo>
                <a:cubicBezTo>
                  <a:pt x="735" y="132"/>
                  <a:pt x="731" y="138"/>
                  <a:pt x="727" y="143"/>
                </a:cubicBezTo>
                <a:cubicBezTo>
                  <a:pt x="722" y="148"/>
                  <a:pt x="716" y="153"/>
                  <a:pt x="709" y="156"/>
                </a:cubicBezTo>
                <a:cubicBezTo>
                  <a:pt x="703" y="158"/>
                  <a:pt x="696" y="160"/>
                  <a:pt x="689" y="160"/>
                </a:cubicBezTo>
                <a:lnTo>
                  <a:pt x="53" y="160"/>
                </a:lnTo>
                <a:cubicBezTo>
                  <a:pt x="46" y="160"/>
                  <a:pt x="39" y="158"/>
                  <a:pt x="33" y="156"/>
                </a:cubicBezTo>
                <a:cubicBezTo>
                  <a:pt x="26" y="153"/>
                  <a:pt x="21" y="148"/>
                  <a:pt x="16" y="143"/>
                </a:cubicBezTo>
                <a:cubicBezTo>
                  <a:pt x="11" y="138"/>
                  <a:pt x="7" y="132"/>
                  <a:pt x="4" y="126"/>
                </a:cubicBezTo>
                <a:cubicBezTo>
                  <a:pt x="2" y="119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14400" y="665280"/>
            <a:ext cx="249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上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6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857160" y="18856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33520" y="118440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低解像度でぼやけた⽂字を鮮明に復元します。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1085760" y="168948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マルチフレーム超解像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3839760" y="1759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4008600" y="168948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複数枚の少しずつ位置がずれた低解像度画像から、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0356120" y="1759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0509840" y="16894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枚の⾼解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857160" y="2790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3" y="192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085760" y="210852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像度画像を⽣成する技術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085760" y="25941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1638360" y="26647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807200" y="259416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従来法では、画素が対応しない領域（開⼝部）の情報が⽋損し、エッジがぼや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1085760" y="30038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ける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1638360" y="30744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1853280" y="30038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「開⼝問題」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510720" y="30744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857160" y="3686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3725640" y="300384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が発⽣する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085760" y="34894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638360" y="3560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1807200" y="348948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サポートベクターマシン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4834800" y="35600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(SVM)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770800" y="3489480"/>
            <a:ext cx="5793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を⽤いて、複数の低解像度画像から再構成に最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1409400" y="4514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085760" y="38991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も寄与する</a:t>
            </a:r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最適な画素を選択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638360" y="438876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1409400" y="50004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6"/>
                </a:cubicBezTo>
                <a:cubicBezTo>
                  <a:pt x="216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2237040" y="431820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の識別能⼒を利⽤し、情報の⽋損を最⼩限に抑えながら画像を再構成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24" name="" descr=""/>
          <p:cNvPicPr/>
          <p:nvPr/>
        </p:nvPicPr>
        <p:blipFill>
          <a:blip r:embed="rId1"/>
          <a:stretch/>
        </p:blipFill>
        <p:spPr>
          <a:xfrm>
            <a:off x="533520" y="5391000"/>
            <a:ext cx="6095520" cy="6210000"/>
          </a:xfrm>
          <a:prstGeom prst="rect">
            <a:avLst/>
          </a:prstGeom>
          <a:ln w="0">
            <a:noFill/>
          </a:ln>
        </p:spPr>
      </p:pic>
      <p:sp>
        <p:nvSpPr>
          <p:cNvPr id="225" name=""/>
          <p:cNvSpPr txBox="1"/>
          <p:nvPr/>
        </p:nvSpPr>
        <p:spPr>
          <a:xfrm>
            <a:off x="1638360" y="480420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これにより、⽂字のエッジなどがより鮮明に復元され、認識しやすい画像に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⼿法②：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1905120" y="414000"/>
            <a:ext cx="538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2441520" y="351000"/>
            <a:ext cx="472068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を⽤いた画素選択型超解像による効率性向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533160" y="714240"/>
            <a:ext cx="267120" cy="57600"/>
          </a:xfrm>
          <a:custGeom>
            <a:avLst/>
            <a:gdLst/>
            <a:ahLst/>
            <a:rect l="0" t="0" r="r" b="b"/>
            <a:pathLst>
              <a:path w="742" h="160">
                <a:moveTo>
                  <a:pt x="0" y="106"/>
                </a:move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7"/>
                  <a:pt x="722" y="10"/>
                  <a:pt x="727" y="15"/>
                </a:cubicBezTo>
                <a:cubicBezTo>
                  <a:pt x="731" y="20"/>
                  <a:pt x="735" y="26"/>
                  <a:pt x="738" y="33"/>
                </a:cubicBezTo>
                <a:cubicBezTo>
                  <a:pt x="741" y="39"/>
                  <a:pt x="742" y="46"/>
                  <a:pt x="742" y="53"/>
                </a:cubicBezTo>
                <a:lnTo>
                  <a:pt x="742" y="106"/>
                </a:lnTo>
                <a:cubicBezTo>
                  <a:pt x="742" y="113"/>
                  <a:pt x="741" y="119"/>
                  <a:pt x="738" y="126"/>
                </a:cubicBezTo>
                <a:cubicBezTo>
                  <a:pt x="735" y="132"/>
                  <a:pt x="731" y="138"/>
                  <a:pt x="727" y="143"/>
                </a:cubicBezTo>
                <a:cubicBezTo>
                  <a:pt x="722" y="148"/>
                  <a:pt x="716" y="153"/>
                  <a:pt x="709" y="156"/>
                </a:cubicBezTo>
                <a:cubicBezTo>
                  <a:pt x="703" y="158"/>
                  <a:pt x="696" y="160"/>
                  <a:pt x="689" y="160"/>
                </a:cubicBezTo>
                <a:lnTo>
                  <a:pt x="53" y="160"/>
                </a:lnTo>
                <a:cubicBezTo>
                  <a:pt x="46" y="160"/>
                  <a:pt x="39" y="158"/>
                  <a:pt x="33" y="156"/>
                </a:cubicBezTo>
                <a:cubicBezTo>
                  <a:pt x="26" y="153"/>
                  <a:pt x="21" y="148"/>
                  <a:pt x="16" y="143"/>
                </a:cubicBezTo>
                <a:cubicBezTo>
                  <a:pt x="11" y="138"/>
                  <a:pt x="7" y="132"/>
                  <a:pt x="4" y="126"/>
                </a:cubicBezTo>
                <a:cubicBezTo>
                  <a:pt x="2" y="119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914400" y="665280"/>
            <a:ext cx="2491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上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7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33520" y="87012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多様な劣化パターンや複雑な⽂字形状に対応します。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085760" y="13845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6383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807200" y="13845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2635920" y="14551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3234240" y="1384560"/>
            <a:ext cx="8276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は単⼀の解像度しか扱えないため、画像の劣化度合いによっては最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857160" y="2476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1085760" y="17942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適な性能を発揮できない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085760" y="22798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1638360" y="2350440"/>
            <a:ext cx="320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1960920" y="2279880"/>
            <a:ext cx="9103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つの⼊⼒画像から複数の解像度の画像を⽣成し、それらを並列に処理する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11076120" y="2350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085760" y="269892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2467080" y="27694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3065400" y="269892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」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3341520" y="27694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**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1409400" y="3305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4" y="179"/>
                  <a:pt x="216" y="192"/>
                  <a:pt x="205" y="203"/>
                </a:cubicBezTo>
                <a:cubicBezTo>
                  <a:pt x="193" y="214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4"/>
                  <a:pt x="36" y="203"/>
                </a:cubicBezTo>
                <a:cubicBezTo>
                  <a:pt x="25" y="192"/>
                  <a:pt x="16" y="179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8"/>
                  <a:pt x="25" y="46"/>
                  <a:pt x="36" y="34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4"/>
                </a:cubicBezTo>
                <a:cubicBezTo>
                  <a:pt x="216" y="46"/>
                  <a:pt x="224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3556800" y="26989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を構築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638360" y="310860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低解像度画像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3295800" y="3179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1409400" y="3790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3449160" y="3108600"/>
            <a:ext cx="33109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全体的な形状の把握に有利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638360" y="359424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⾼解像度画像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3295800" y="3664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1409400" y="4276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6" y="193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3"/>
                  <a:pt x="16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3449160" y="359424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細部の特徴抽出に有利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1638360" y="408024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これらの階層からの出⼒を統合することで、画像の劣化状態に応じて最適な情報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64" name="" descr=""/>
          <p:cNvPicPr/>
          <p:nvPr/>
        </p:nvPicPr>
        <p:blipFill>
          <a:blip r:embed="rId1"/>
          <a:stretch/>
        </p:blipFill>
        <p:spPr>
          <a:xfrm>
            <a:off x="533520" y="5086440"/>
            <a:ext cx="6095520" cy="7333920"/>
          </a:xfrm>
          <a:prstGeom prst="rect">
            <a:avLst/>
          </a:prstGeom>
          <a:ln w="0">
            <a:noFill/>
          </a:ln>
        </p:spPr>
      </p:pic>
      <p:sp>
        <p:nvSpPr>
          <p:cNvPr id="265" name=""/>
          <p:cNvSpPr txBox="1"/>
          <p:nvPr/>
        </p:nvSpPr>
        <p:spPr>
          <a:xfrm>
            <a:off x="1638360" y="44895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を活⽤し、認識精度を向上させる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914400" y="3510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⼿法③：多重構造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2895480" y="414000"/>
            <a:ext cx="5385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3432240" y="351000"/>
            <a:ext cx="1987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による適応性向上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8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33520" y="870120"/>
            <a:ext cx="85518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提案⼿法の有効性を検証するため、以下の設定で実験を⾏いました。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140940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085760" y="13845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データセット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38360" y="188928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実環境画像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3019320" y="1959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3188160" y="1889280"/>
            <a:ext cx="8276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実際に⾞両にナンバープレートを設置し、多様な条件下（昼夜、天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140940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4"/>
                  <a:pt x="166" y="230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0"/>
                </a:cubicBezTo>
                <a:cubicBezTo>
                  <a:pt x="60" y="224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6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6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1638360" y="230832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候、ナンバー灯の有無など）で撮影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638360" y="279432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⼈⼯劣化画像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3295800" y="28645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3464640" y="2794320"/>
            <a:ext cx="63450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実写画像に対し、計算機上で解像度低下、ノイズ、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9809280" y="286452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JPEG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0530720" y="27943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圧縮など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857160" y="38858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5"/>
                  <a:pt x="165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3" y="48"/>
                  <a:pt x="35" y="36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4"/>
                  <a:pt x="103" y="0"/>
                  <a:pt x="120" y="0"/>
                </a:cubicBezTo>
                <a:cubicBezTo>
                  <a:pt x="136" y="0"/>
                  <a:pt x="151" y="4"/>
                  <a:pt x="165" y="10"/>
                </a:cubicBezTo>
                <a:cubicBezTo>
                  <a:pt x="180" y="16"/>
                  <a:pt x="193" y="24"/>
                  <a:pt x="204" y="36"/>
                </a:cubicBezTo>
                <a:cubicBezTo>
                  <a:pt x="215" y="48"/>
                  <a:pt x="224" y="60"/>
                  <a:pt x="230" y="75"/>
                </a:cubicBezTo>
                <a:cubicBezTo>
                  <a:pt x="236" y="90"/>
                  <a:pt x="239" y="105"/>
                  <a:pt x="239" y="121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638360" y="320400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を系統的に加え、各劣化要因への耐性を定量的に評価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1409400" y="43909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085760" y="36896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評価指標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38360" y="4194360"/>
            <a:ext cx="1655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⽂字認識精度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3295800" y="42649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1883520" y="46839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a.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2190600" y="461340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正答率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3019320" y="4683960"/>
            <a:ext cx="320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3341880" y="461340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番⽬の候補で正解できる確率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1883520" y="51696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b.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2190600" y="509940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平均候補数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3571920" y="51696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857160" y="577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3740760" y="509940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正解を得るまでに必要な候補の平均数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1409400" y="6286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6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6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1085760" y="55756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⽐較対象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1638360" y="608976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提案した各⼿法（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3848040" y="6160320"/>
            <a:ext cx="234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SVR-Retinex, 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6196680" y="608976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7025400" y="6160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,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7178760" y="60897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8283600" y="61603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8882280" y="608976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）と、それぞれの従来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1638360" y="64994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⼿法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914400" y="351000"/>
            <a:ext cx="9943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実験設定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1946240" y="6458400"/>
            <a:ext cx="30456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9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533520" y="87012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各提案⼿法は、従来⼿法と⽐較して⽂字認識の正答率を⼤幅に向上させました。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1085760" y="1455120"/>
            <a:ext cx="182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SVR-Retinex 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2912400" y="138456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ロバスト性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429336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1085760" y="17942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638360" y="18644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2574720" y="179424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処理と⽐較し、正答率が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5613480" y="186444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857160" y="2504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6166440" y="17942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以上向上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1085760" y="23788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1684440" y="2308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超解像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251316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2682000" y="2308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効率性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351036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085760" y="271800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従来超解像処理と⽐較し、正答率が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5505480" y="27885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32%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857160" y="34286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5"/>
                  <a:pt x="165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10"/>
                </a:cubicBezTo>
                <a:cubicBezTo>
                  <a:pt x="88" y="4"/>
                  <a:pt x="103" y="0"/>
                  <a:pt x="120" y="0"/>
                </a:cubicBezTo>
                <a:cubicBezTo>
                  <a:pt x="136" y="0"/>
                  <a:pt x="151" y="4"/>
                  <a:pt x="165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1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6058440" y="271800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以上向上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1085760" y="323244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2190600" y="3303000"/>
            <a:ext cx="765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 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957760" y="323244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適応性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1409400" y="3933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3786480" y="33030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1638360" y="373716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2190600" y="380772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2789280" y="373716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と⽐較し、正答率が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5551560" y="380772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1.17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1409400" y="4419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6" y="192"/>
                  <a:pt x="205" y="203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3"/>
                </a:cubicBezTo>
                <a:cubicBezTo>
                  <a:pt x="25" y="192"/>
                  <a:pt x="16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6089040" y="37371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倍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1638360" y="422316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第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1914480" y="42933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2068200" y="42231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候補までに正解が含まれる確率は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6211800" y="42933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90%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6764400" y="422316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に達し、⾼い実⽤性を⽰した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2234520" y="5204160"/>
            <a:ext cx="7724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各⼿法がそれぞれの課題に対して有効であることが確認できた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91440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結果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1409760" y="414000"/>
            <a:ext cx="303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(1)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1712520" y="351000"/>
            <a:ext cx="2484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：各提案⼿法の有効性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10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33520" y="870120"/>
            <a:ext cx="8827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提案⼿法をすべて統合することで、認識性能が⾶躍的に向上しました。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68" name="" descr=""/>
          <p:cNvPicPr/>
          <p:nvPr/>
        </p:nvPicPr>
        <p:blipFill>
          <a:blip r:embed="rId1"/>
          <a:stretch/>
        </p:blipFill>
        <p:spPr>
          <a:xfrm>
            <a:off x="533520" y="2171520"/>
            <a:ext cx="4619160" cy="5562360"/>
          </a:xfrm>
          <a:prstGeom prst="rect">
            <a:avLst/>
          </a:prstGeom>
          <a:ln w="0">
            <a:noFill/>
          </a:ln>
        </p:spPr>
      </p:pic>
      <p:sp>
        <p:nvSpPr>
          <p:cNvPr id="369" name=""/>
          <p:cNvSpPr/>
          <p:nvPr/>
        </p:nvSpPr>
        <p:spPr>
          <a:xfrm>
            <a:off x="5429160" y="2171520"/>
            <a:ext cx="2038680" cy="543240"/>
          </a:xfrm>
          <a:custGeom>
            <a:avLst/>
            <a:gdLst/>
            <a:ahLst/>
            <a:rect l="0" t="0" r="r" b="b"/>
            <a:pathLst>
              <a:path w="5663" h="1509">
                <a:moveTo>
                  <a:pt x="0" y="0"/>
                </a:moveTo>
                <a:lnTo>
                  <a:pt x="5663" y="0"/>
                </a:lnTo>
                <a:lnTo>
                  <a:pt x="566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7467480" y="2171520"/>
            <a:ext cx="1086120" cy="543240"/>
          </a:xfrm>
          <a:custGeom>
            <a:avLst/>
            <a:gdLst/>
            <a:ahLst/>
            <a:rect l="0" t="0" r="r" b="b"/>
            <a:pathLst>
              <a:path w="3017" h="1509">
                <a:moveTo>
                  <a:pt x="0" y="0"/>
                </a:moveTo>
                <a:lnTo>
                  <a:pt x="3017" y="0"/>
                </a:lnTo>
                <a:lnTo>
                  <a:pt x="301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8553240" y="2171520"/>
            <a:ext cx="1895760" cy="543240"/>
          </a:xfrm>
          <a:custGeom>
            <a:avLst/>
            <a:gdLst/>
            <a:ahLst/>
            <a:rect l="0" t="0" r="r" b="b"/>
            <a:pathLst>
              <a:path w="5266" h="1509">
                <a:moveTo>
                  <a:pt x="0" y="0"/>
                </a:moveTo>
                <a:lnTo>
                  <a:pt x="5266" y="0"/>
                </a:lnTo>
                <a:lnTo>
                  <a:pt x="526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10448640" y="2171520"/>
            <a:ext cx="1209960" cy="543240"/>
          </a:xfrm>
          <a:custGeom>
            <a:avLst/>
            <a:gdLst/>
            <a:ahLst/>
            <a:rect l="0" t="0" r="r" b="b"/>
            <a:pathLst>
              <a:path w="3361" h="1509">
                <a:moveTo>
                  <a:pt x="0" y="0"/>
                </a:moveTo>
                <a:lnTo>
                  <a:pt x="3361" y="0"/>
                </a:lnTo>
                <a:lnTo>
                  <a:pt x="33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5429160" y="2714400"/>
            <a:ext cx="2038680" cy="533880"/>
          </a:xfrm>
          <a:custGeom>
            <a:avLst/>
            <a:gdLst/>
            <a:ahLst/>
            <a:rect l="0" t="0" r="r" b="b"/>
            <a:pathLst>
              <a:path w="5663" h="1483">
                <a:moveTo>
                  <a:pt x="0" y="0"/>
                </a:moveTo>
                <a:lnTo>
                  <a:pt x="5663" y="0"/>
                </a:lnTo>
                <a:lnTo>
                  <a:pt x="566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7467480" y="2714400"/>
            <a:ext cx="1086120" cy="533880"/>
          </a:xfrm>
          <a:custGeom>
            <a:avLst/>
            <a:gdLst/>
            <a:ahLst/>
            <a:rect l="0" t="0" r="r" b="b"/>
            <a:pathLst>
              <a:path w="3017" h="1483">
                <a:moveTo>
                  <a:pt x="0" y="0"/>
                </a:moveTo>
                <a:lnTo>
                  <a:pt x="3017" y="0"/>
                </a:lnTo>
                <a:lnTo>
                  <a:pt x="301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8553240" y="2714400"/>
            <a:ext cx="1895760" cy="533880"/>
          </a:xfrm>
          <a:custGeom>
            <a:avLst/>
            <a:gdLst/>
            <a:ahLst/>
            <a:rect l="0" t="0" r="r" b="b"/>
            <a:pathLst>
              <a:path w="5266" h="1483">
                <a:moveTo>
                  <a:pt x="0" y="0"/>
                </a:moveTo>
                <a:lnTo>
                  <a:pt x="5266" y="0"/>
                </a:lnTo>
                <a:lnTo>
                  <a:pt x="526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10448640" y="2714400"/>
            <a:ext cx="1209960" cy="533880"/>
          </a:xfrm>
          <a:custGeom>
            <a:avLst/>
            <a:gdLst/>
            <a:ahLst/>
            <a:rect l="0" t="0" r="r" b="b"/>
            <a:pathLst>
              <a:path w="3361" h="1483">
                <a:moveTo>
                  <a:pt x="0" y="0"/>
                </a:moveTo>
                <a:lnTo>
                  <a:pt x="3361" y="0"/>
                </a:lnTo>
                <a:lnTo>
                  <a:pt x="33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5429160" y="3247920"/>
            <a:ext cx="2038680" cy="543240"/>
          </a:xfrm>
          <a:custGeom>
            <a:avLst/>
            <a:gdLst/>
            <a:ahLst/>
            <a:rect l="0" t="0" r="r" b="b"/>
            <a:pathLst>
              <a:path w="5663" h="1509">
                <a:moveTo>
                  <a:pt x="0" y="0"/>
                </a:moveTo>
                <a:lnTo>
                  <a:pt x="5663" y="0"/>
                </a:lnTo>
                <a:lnTo>
                  <a:pt x="566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7467480" y="3247920"/>
            <a:ext cx="1086120" cy="543240"/>
          </a:xfrm>
          <a:custGeom>
            <a:avLst/>
            <a:gdLst/>
            <a:ahLst/>
            <a:rect l="0" t="0" r="r" b="b"/>
            <a:pathLst>
              <a:path w="3017" h="1509">
                <a:moveTo>
                  <a:pt x="0" y="0"/>
                </a:moveTo>
                <a:lnTo>
                  <a:pt x="3017" y="0"/>
                </a:lnTo>
                <a:lnTo>
                  <a:pt x="301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8553240" y="3247920"/>
            <a:ext cx="1895760" cy="543240"/>
          </a:xfrm>
          <a:custGeom>
            <a:avLst/>
            <a:gdLst/>
            <a:ahLst/>
            <a:rect l="0" t="0" r="r" b="b"/>
            <a:pathLst>
              <a:path w="5266" h="1509">
                <a:moveTo>
                  <a:pt x="0" y="0"/>
                </a:moveTo>
                <a:lnTo>
                  <a:pt x="5266" y="0"/>
                </a:lnTo>
                <a:lnTo>
                  <a:pt x="526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10448640" y="3247920"/>
            <a:ext cx="1209960" cy="543240"/>
          </a:xfrm>
          <a:custGeom>
            <a:avLst/>
            <a:gdLst/>
            <a:ahLst/>
            <a:rect l="0" t="0" r="r" b="b"/>
            <a:pathLst>
              <a:path w="3361" h="1509">
                <a:moveTo>
                  <a:pt x="0" y="0"/>
                </a:moveTo>
                <a:lnTo>
                  <a:pt x="3361" y="0"/>
                </a:lnTo>
                <a:lnTo>
                  <a:pt x="33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5429160" y="3790800"/>
            <a:ext cx="2038680" cy="533880"/>
          </a:xfrm>
          <a:custGeom>
            <a:avLst/>
            <a:gdLst/>
            <a:ahLst/>
            <a:rect l="0" t="0" r="r" b="b"/>
            <a:pathLst>
              <a:path w="5663" h="1483">
                <a:moveTo>
                  <a:pt x="0" y="0"/>
                </a:moveTo>
                <a:lnTo>
                  <a:pt x="5663" y="0"/>
                </a:lnTo>
                <a:lnTo>
                  <a:pt x="566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7467480" y="3790800"/>
            <a:ext cx="1086120" cy="533880"/>
          </a:xfrm>
          <a:custGeom>
            <a:avLst/>
            <a:gdLst/>
            <a:ahLst/>
            <a:rect l="0" t="0" r="r" b="b"/>
            <a:pathLst>
              <a:path w="3017" h="1483">
                <a:moveTo>
                  <a:pt x="0" y="0"/>
                </a:moveTo>
                <a:lnTo>
                  <a:pt x="3017" y="0"/>
                </a:lnTo>
                <a:lnTo>
                  <a:pt x="301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8553240" y="3790800"/>
            <a:ext cx="1895760" cy="533880"/>
          </a:xfrm>
          <a:custGeom>
            <a:avLst/>
            <a:gdLst/>
            <a:ahLst/>
            <a:rect l="0" t="0" r="r" b="b"/>
            <a:pathLst>
              <a:path w="5266" h="1483">
                <a:moveTo>
                  <a:pt x="0" y="0"/>
                </a:moveTo>
                <a:lnTo>
                  <a:pt x="5266" y="0"/>
                </a:lnTo>
                <a:lnTo>
                  <a:pt x="526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10448640" y="3790800"/>
            <a:ext cx="1209960" cy="533880"/>
          </a:xfrm>
          <a:custGeom>
            <a:avLst/>
            <a:gdLst/>
            <a:ahLst/>
            <a:rect l="0" t="0" r="r" b="b"/>
            <a:pathLst>
              <a:path w="3361" h="1483">
                <a:moveTo>
                  <a:pt x="0" y="0"/>
                </a:moveTo>
                <a:lnTo>
                  <a:pt x="3361" y="0"/>
                </a:lnTo>
                <a:lnTo>
                  <a:pt x="33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5419440" y="21715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5419440" y="217152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7457760" y="21715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7467480" y="217152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8543880" y="21715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8553240" y="2171520"/>
            <a:ext cx="1905480" cy="9720"/>
          </a:xfrm>
          <a:custGeom>
            <a:avLst/>
            <a:gdLst/>
            <a:ahLst/>
            <a:rect l="0" t="0" r="r" b="b"/>
            <a:pathLst>
              <a:path w="5293" h="27">
                <a:moveTo>
                  <a:pt x="0" y="0"/>
                </a:moveTo>
                <a:lnTo>
                  <a:pt x="5293" y="0"/>
                </a:lnTo>
                <a:lnTo>
                  <a:pt x="5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10448640" y="21715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10458360" y="2171520"/>
            <a:ext cx="1200240" cy="9720"/>
          </a:xfrm>
          <a:custGeom>
            <a:avLst/>
            <a:gdLst/>
            <a:ahLst/>
            <a:rect l="0" t="0" r="r" b="b"/>
            <a:pathLst>
              <a:path w="3334" h="27">
                <a:moveTo>
                  <a:pt x="0" y="0"/>
                </a:moveTo>
                <a:lnTo>
                  <a:pt x="3334" y="0"/>
                </a:lnTo>
                <a:lnTo>
                  <a:pt x="33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11648880" y="21715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5419440" y="270504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7467480" y="270504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8553240" y="2705040"/>
            <a:ext cx="1905480" cy="9720"/>
          </a:xfrm>
          <a:custGeom>
            <a:avLst/>
            <a:gdLst/>
            <a:ahLst/>
            <a:rect l="0" t="0" r="r" b="b"/>
            <a:pathLst>
              <a:path w="5293" h="27">
                <a:moveTo>
                  <a:pt x="0" y="0"/>
                </a:moveTo>
                <a:lnTo>
                  <a:pt x="5293" y="0"/>
                </a:lnTo>
                <a:lnTo>
                  <a:pt x="5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10458360" y="2705040"/>
            <a:ext cx="1200240" cy="9720"/>
          </a:xfrm>
          <a:custGeom>
            <a:avLst/>
            <a:gdLst/>
            <a:ahLst/>
            <a:rect l="0" t="0" r="r" b="b"/>
            <a:pathLst>
              <a:path w="3334" h="27">
                <a:moveTo>
                  <a:pt x="0" y="0"/>
                </a:moveTo>
                <a:lnTo>
                  <a:pt x="3334" y="0"/>
                </a:lnTo>
                <a:lnTo>
                  <a:pt x="33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5419440" y="2714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7457760" y="2714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8543880" y="2714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10448640" y="2714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11648880" y="2714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5419440" y="32572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5419440" y="324792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7457760" y="32572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7467480" y="324792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8543880" y="32572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8553240" y="3247920"/>
            <a:ext cx="1905480" cy="9720"/>
          </a:xfrm>
          <a:custGeom>
            <a:avLst/>
            <a:gdLst/>
            <a:ahLst/>
            <a:rect l="0" t="0" r="r" b="b"/>
            <a:pathLst>
              <a:path w="5293" h="27">
                <a:moveTo>
                  <a:pt x="0" y="0"/>
                </a:moveTo>
                <a:lnTo>
                  <a:pt x="5293" y="0"/>
                </a:lnTo>
                <a:lnTo>
                  <a:pt x="5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10448640" y="32572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10458360" y="3247920"/>
            <a:ext cx="1200240" cy="9720"/>
          </a:xfrm>
          <a:custGeom>
            <a:avLst/>
            <a:gdLst/>
            <a:ahLst/>
            <a:rect l="0" t="0" r="r" b="b"/>
            <a:pathLst>
              <a:path w="3334" h="27">
                <a:moveTo>
                  <a:pt x="0" y="0"/>
                </a:moveTo>
                <a:lnTo>
                  <a:pt x="3334" y="0"/>
                </a:lnTo>
                <a:lnTo>
                  <a:pt x="33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11648880" y="32572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5419440" y="37908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5419440" y="37810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7457760" y="37908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7467480" y="3781080"/>
            <a:ext cx="1086120" cy="10080"/>
          </a:xfrm>
          <a:custGeom>
            <a:avLst/>
            <a:gdLst/>
            <a:ahLst/>
            <a:rect l="0" t="0" r="r" b="b"/>
            <a:pathLst>
              <a:path w="3017" h="28">
                <a:moveTo>
                  <a:pt x="0" y="0"/>
                </a:moveTo>
                <a:lnTo>
                  <a:pt x="3017" y="0"/>
                </a:lnTo>
                <a:lnTo>
                  <a:pt x="30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8543880" y="37908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8553240" y="3781080"/>
            <a:ext cx="1905480" cy="10080"/>
          </a:xfrm>
          <a:custGeom>
            <a:avLst/>
            <a:gdLst/>
            <a:ahLst/>
            <a:rect l="0" t="0" r="r" b="b"/>
            <a:pathLst>
              <a:path w="5293" h="28">
                <a:moveTo>
                  <a:pt x="0" y="0"/>
                </a:moveTo>
                <a:lnTo>
                  <a:pt x="5293" y="0"/>
                </a:lnTo>
                <a:lnTo>
                  <a:pt x="52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10448640" y="37908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10458360" y="3781080"/>
            <a:ext cx="1200240" cy="10080"/>
          </a:xfrm>
          <a:custGeom>
            <a:avLst/>
            <a:gdLst/>
            <a:ahLst/>
            <a:rect l="0" t="0" r="r" b="b"/>
            <a:pathLst>
              <a:path w="3334" h="28">
                <a:moveTo>
                  <a:pt x="0" y="0"/>
                </a:moveTo>
                <a:lnTo>
                  <a:pt x="3334" y="0"/>
                </a:lnTo>
                <a:lnTo>
                  <a:pt x="33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11648880" y="37908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5419440" y="432432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7467480" y="4324320"/>
            <a:ext cx="1086120" cy="9720"/>
          </a:xfrm>
          <a:custGeom>
            <a:avLst/>
            <a:gdLst/>
            <a:ahLst/>
            <a:rect l="0" t="0" r="r" b="b"/>
            <a:pathLst>
              <a:path w="3017" h="27">
                <a:moveTo>
                  <a:pt x="0" y="0"/>
                </a:moveTo>
                <a:lnTo>
                  <a:pt x="3017" y="0"/>
                </a:lnTo>
                <a:lnTo>
                  <a:pt x="30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8553240" y="4324320"/>
            <a:ext cx="1905480" cy="9720"/>
          </a:xfrm>
          <a:custGeom>
            <a:avLst/>
            <a:gdLst/>
            <a:ahLst/>
            <a:rect l="0" t="0" r="r" b="b"/>
            <a:pathLst>
              <a:path w="5293" h="27">
                <a:moveTo>
                  <a:pt x="0" y="0"/>
                </a:moveTo>
                <a:lnTo>
                  <a:pt x="5293" y="0"/>
                </a:lnTo>
                <a:lnTo>
                  <a:pt x="5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10458360" y="4324320"/>
            <a:ext cx="1200240" cy="9720"/>
          </a:xfrm>
          <a:custGeom>
            <a:avLst/>
            <a:gdLst/>
            <a:ahLst/>
            <a:rect l="0" t="0" r="r" b="b"/>
            <a:pathLst>
              <a:path w="3334" h="27">
                <a:moveTo>
                  <a:pt x="0" y="0"/>
                </a:moveTo>
                <a:lnTo>
                  <a:pt x="3334" y="0"/>
                </a:lnTo>
                <a:lnTo>
                  <a:pt x="33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533520" y="1571760"/>
            <a:ext cx="3943440" cy="439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39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正解を得るのに必要な候補数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5422320" y="1649160"/>
            <a:ext cx="3034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11111"/>
                </a:solidFill>
                <a:latin typeface="Arial"/>
                <a:ea typeface="Arial"/>
              </a:rPr>
              <a:t>1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5591160" y="1571760"/>
            <a:ext cx="2426760" cy="439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39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候補⽬での正答率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5555520" y="22132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劣化強度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7595640" y="2213280"/>
            <a:ext cx="1716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従来法 提案法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9510120" y="2283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9678960" y="221328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統合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10231560" y="22838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10638360" y="22132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向上率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5555520" y="274680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弱い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6108120" y="2817000"/>
            <a:ext cx="81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(k₂=8)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7618320" y="28170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86.6%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9110880" y="28170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87.4%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10657440" y="2817000"/>
            <a:ext cx="790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+0.8%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555520" y="328968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中程度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6384240" y="335988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(k₂=11)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7618320" y="33598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52.5%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9110880" y="33598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66.0%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10580760" y="3359880"/>
            <a:ext cx="942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+13.5%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5555520" y="3822840"/>
            <a:ext cx="5522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強い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6108120" y="389340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(k₂=13)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7618320" y="38934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31.3%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9110880" y="38934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47.9%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10580760" y="3893400"/>
            <a:ext cx="942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+16.6%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5422320" y="4531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(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514120" y="446112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表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5790600" y="453168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5.8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6174360" y="446112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6450840" y="4531680"/>
            <a:ext cx="367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818760" y="446112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と提案法の値を抜粋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57434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9304920" y="4531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5974560" y="538488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提案⼿法全体を統合すると、従来⼿法の組み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5974560" y="579456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合わせと⽐較して正答率が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最⼤で約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10386000" y="586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5743440" y="6476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0539720" y="579456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倍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5974560" y="6280560"/>
            <a:ext cx="55177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特に劣化が強い画像ほど、提案⼿法の優位性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5974560" y="66898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が顕著に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914400" y="351000"/>
            <a:ext cx="497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結果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1409760" y="414000"/>
            <a:ext cx="303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950" spc="-1" strike="noStrike">
                <a:solidFill>
                  <a:srgbClr val="111111"/>
                </a:solidFill>
                <a:latin typeface="Arial"/>
                <a:ea typeface="Arial"/>
              </a:rPr>
              <a:t>(2)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12520" y="351000"/>
            <a:ext cx="3229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：全⼿法を統合した総合性能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179936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11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533520" y="870120"/>
            <a:ext cx="96552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本研究の成果は、犯罪捜査などの実応⽤において⼤きな貢献が期待できます。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1085760" y="138456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従来⼿法の課題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301932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1085760" y="1794240"/>
            <a:ext cx="10482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認識精度が低いため、多数の候補⾞両を⽬視で確認する必要があり、捜査員に⼤きな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857160" y="2914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1085760" y="221328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負担がかかっていた。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1085760" y="271800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提案⼿法による貢献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1409400" y="34286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6" y="194"/>
                  <a:pt x="205" y="205"/>
                </a:cubicBezTo>
                <a:cubicBezTo>
                  <a:pt x="193" y="216"/>
                  <a:pt x="181" y="225"/>
                  <a:pt x="166" y="231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5" y="240"/>
                  <a:pt x="89" y="237"/>
                  <a:pt x="75" y="231"/>
                </a:cubicBezTo>
                <a:cubicBezTo>
                  <a:pt x="60" y="225"/>
                  <a:pt x="47" y="216"/>
                  <a:pt x="36" y="205"/>
                </a:cubicBezTo>
                <a:cubicBezTo>
                  <a:pt x="25" y="194"/>
                  <a:pt x="16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9"/>
                  <a:pt x="25" y="47"/>
                  <a:pt x="36" y="35"/>
                </a:cubicBezTo>
                <a:cubicBezTo>
                  <a:pt x="47" y="24"/>
                  <a:pt x="60" y="16"/>
                  <a:pt x="75" y="10"/>
                </a:cubicBezTo>
                <a:cubicBezTo>
                  <a:pt x="89" y="4"/>
                  <a:pt x="105" y="0"/>
                  <a:pt x="120" y="0"/>
                </a:cubicBezTo>
                <a:cubicBezTo>
                  <a:pt x="136" y="0"/>
                  <a:pt x="151" y="4"/>
                  <a:pt x="166" y="10"/>
                </a:cubicBezTo>
                <a:cubicBezTo>
                  <a:pt x="181" y="16"/>
                  <a:pt x="193" y="24"/>
                  <a:pt x="205" y="35"/>
                </a:cubicBezTo>
                <a:cubicBezTo>
                  <a:pt x="216" y="47"/>
                  <a:pt x="224" y="59"/>
                  <a:pt x="230" y="74"/>
                </a:cubicBezTo>
                <a:cubicBezTo>
                  <a:pt x="236" y="89"/>
                  <a:pt x="239" y="104"/>
                  <a:pt x="239" y="121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563640" y="27885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1409400" y="39146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79"/>
                  <a:pt x="216" y="192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2"/>
                  <a:pt x="16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1638360" y="3232440"/>
            <a:ext cx="71726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⾼い認識精度により、正解を少ない候補数で特定可能に。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1638360" y="3718080"/>
            <a:ext cx="9103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実験結果から、容疑⾞両を絞り込む台数を、従来⼿法を適⽤した場合の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10753920" y="378864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11153160" y="3718080"/>
            <a:ext cx="2764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ま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1409400" y="4809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1638360" y="4127760"/>
            <a:ext cx="41385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で削減できる可能性が⽰された。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1638360" y="4613400"/>
            <a:ext cx="6620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これは、捜査の</a:t>
            </a:r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劇的な効率化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</a:t>
            </a:r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負担軽減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に直結する。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1408320" y="5594760"/>
            <a:ext cx="9379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「読めない」画像を「読める」ようにすることで、社会的な課題解決に貢献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914400" y="351000"/>
            <a:ext cx="29815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考察：実⽤上のインパクト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12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857160" y="1581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7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533520" y="870120"/>
            <a:ext cx="744840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本研究のさらなる発展のため、以下の課題が挙げられます。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140940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085760" y="138456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ナンバープレート領域の抽出性能向上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1638360" y="188928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本研究では⽂字認識に焦点を当てたが、画像全体からナンバープレート領域を確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857160" y="299052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5" y="230"/>
                </a:cubicBezTo>
                <a:cubicBezTo>
                  <a:pt x="151" y="237"/>
                  <a:pt x="136" y="240"/>
                  <a:pt x="120" y="240"/>
                </a:cubicBezTo>
                <a:cubicBezTo>
                  <a:pt x="103" y="240"/>
                  <a:pt x="88" y="237"/>
                  <a:pt x="73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3" y="194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19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1638360" y="2308320"/>
            <a:ext cx="8000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実に⾒つけ出す前処理も、複合劣化環境下では依然として課題。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1409400" y="3495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1085760" y="279432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傾き補正性能の向上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1638360" y="329904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斜めから撮影された画像の傾き補正精度をさらに⾼めることで、認識精度全体の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857160" y="43909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5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3" y="239"/>
                  <a:pt x="88" y="236"/>
                  <a:pt x="73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3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20" y="0"/>
                </a:cubicBezTo>
                <a:cubicBezTo>
                  <a:pt x="136" y="0"/>
                  <a:pt x="151" y="3"/>
                  <a:pt x="165" y="9"/>
                </a:cubicBezTo>
                <a:cubicBezTo>
                  <a:pt x="180" y="15"/>
                  <a:pt x="193" y="23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1638360" y="371808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向上が期待できる。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1409400" y="4905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8"/>
                  <a:pt x="25" y="46"/>
                  <a:pt x="36" y="34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4"/>
                </a:cubicBezTo>
                <a:cubicBezTo>
                  <a:pt x="216" y="46"/>
                  <a:pt x="224" y="58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1085760" y="4194360"/>
            <a:ext cx="30351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動いている⾞両への対応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1638360" y="470880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⾛⾏中の⾞両を撮影した際に⽣じる「モーションブラー」に特化した画質改善⼿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1638360" y="5118480"/>
            <a:ext cx="46900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法やネットワーク構造の検討が必要。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914400" y="351000"/>
            <a:ext cx="12427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今後の課題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13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228240" y="228240"/>
            <a:ext cx="11735280" cy="6401160"/>
          </a:xfrm>
          <a:custGeom>
            <a:avLst/>
            <a:gdLst/>
            <a:ahLst/>
            <a:rect l="0" t="0" r="r" b="b"/>
            <a:pathLst>
              <a:path w="32598" h="17781">
                <a:moveTo>
                  <a:pt x="530" y="0"/>
                </a:moveTo>
                <a:lnTo>
                  <a:pt x="32069" y="0"/>
                </a:lnTo>
                <a:cubicBezTo>
                  <a:pt x="32104" y="0"/>
                  <a:pt x="32138" y="4"/>
                  <a:pt x="32172" y="11"/>
                </a:cubicBezTo>
                <a:cubicBezTo>
                  <a:pt x="32206" y="17"/>
                  <a:pt x="32239" y="27"/>
                  <a:pt x="32271" y="41"/>
                </a:cubicBezTo>
                <a:cubicBezTo>
                  <a:pt x="32304" y="54"/>
                  <a:pt x="32334" y="70"/>
                  <a:pt x="32363" y="90"/>
                </a:cubicBezTo>
                <a:cubicBezTo>
                  <a:pt x="32392" y="109"/>
                  <a:pt x="32419" y="131"/>
                  <a:pt x="32443" y="155"/>
                </a:cubicBezTo>
                <a:cubicBezTo>
                  <a:pt x="32468" y="180"/>
                  <a:pt x="32490" y="207"/>
                  <a:pt x="32509" y="236"/>
                </a:cubicBezTo>
                <a:cubicBezTo>
                  <a:pt x="32528" y="265"/>
                  <a:pt x="32545" y="295"/>
                  <a:pt x="32558" y="327"/>
                </a:cubicBezTo>
                <a:cubicBezTo>
                  <a:pt x="32571" y="359"/>
                  <a:pt x="32581" y="392"/>
                  <a:pt x="32588" y="426"/>
                </a:cubicBezTo>
                <a:cubicBezTo>
                  <a:pt x="32595" y="461"/>
                  <a:pt x="32598" y="495"/>
                  <a:pt x="32598" y="530"/>
                </a:cubicBezTo>
                <a:lnTo>
                  <a:pt x="32598" y="17252"/>
                </a:lnTo>
                <a:cubicBezTo>
                  <a:pt x="32598" y="17287"/>
                  <a:pt x="32595" y="17321"/>
                  <a:pt x="32588" y="17356"/>
                </a:cubicBezTo>
                <a:cubicBezTo>
                  <a:pt x="32581" y="17390"/>
                  <a:pt x="32571" y="17423"/>
                  <a:pt x="32558" y="17455"/>
                </a:cubicBezTo>
                <a:cubicBezTo>
                  <a:pt x="32545" y="17487"/>
                  <a:pt x="32528" y="17517"/>
                  <a:pt x="32509" y="17546"/>
                </a:cubicBezTo>
                <a:cubicBezTo>
                  <a:pt x="32490" y="17575"/>
                  <a:pt x="32468" y="17602"/>
                  <a:pt x="32443" y="17627"/>
                </a:cubicBezTo>
                <a:cubicBezTo>
                  <a:pt x="32419" y="17651"/>
                  <a:pt x="32392" y="17673"/>
                  <a:pt x="32363" y="17692"/>
                </a:cubicBezTo>
                <a:cubicBezTo>
                  <a:pt x="32334" y="17712"/>
                  <a:pt x="32304" y="17728"/>
                  <a:pt x="32271" y="17741"/>
                </a:cubicBezTo>
                <a:cubicBezTo>
                  <a:pt x="32239" y="17755"/>
                  <a:pt x="32206" y="17765"/>
                  <a:pt x="32172" y="17771"/>
                </a:cubicBezTo>
                <a:cubicBezTo>
                  <a:pt x="32138" y="17778"/>
                  <a:pt x="32104" y="17781"/>
                  <a:pt x="32069" y="17781"/>
                </a:cubicBezTo>
                <a:lnTo>
                  <a:pt x="530" y="17781"/>
                </a:lnTo>
                <a:cubicBezTo>
                  <a:pt x="495" y="17781"/>
                  <a:pt x="461" y="17778"/>
                  <a:pt x="426" y="17771"/>
                </a:cubicBezTo>
                <a:cubicBezTo>
                  <a:pt x="392" y="17765"/>
                  <a:pt x="359" y="17755"/>
                  <a:pt x="327" y="17741"/>
                </a:cubicBezTo>
                <a:cubicBezTo>
                  <a:pt x="295" y="17728"/>
                  <a:pt x="265" y="17712"/>
                  <a:pt x="236" y="17692"/>
                </a:cubicBezTo>
                <a:cubicBezTo>
                  <a:pt x="207" y="17673"/>
                  <a:pt x="180" y="17651"/>
                  <a:pt x="155" y="17627"/>
                </a:cubicBezTo>
                <a:cubicBezTo>
                  <a:pt x="131" y="17602"/>
                  <a:pt x="109" y="17575"/>
                  <a:pt x="90" y="17546"/>
                </a:cubicBezTo>
                <a:cubicBezTo>
                  <a:pt x="70" y="17517"/>
                  <a:pt x="54" y="17487"/>
                  <a:pt x="41" y="17455"/>
                </a:cubicBezTo>
                <a:cubicBezTo>
                  <a:pt x="27" y="17423"/>
                  <a:pt x="17" y="17390"/>
                  <a:pt x="11" y="17356"/>
                </a:cubicBezTo>
                <a:cubicBezTo>
                  <a:pt x="4" y="17321"/>
                  <a:pt x="0" y="17287"/>
                  <a:pt x="0" y="17252"/>
                </a:cubicBezTo>
                <a:lnTo>
                  <a:pt x="0" y="530"/>
                </a:lnTo>
                <a:cubicBezTo>
                  <a:pt x="0" y="495"/>
                  <a:pt x="4" y="461"/>
                  <a:pt x="11" y="426"/>
                </a:cubicBezTo>
                <a:cubicBezTo>
                  <a:pt x="17" y="392"/>
                  <a:pt x="27" y="359"/>
                  <a:pt x="41" y="327"/>
                </a:cubicBezTo>
                <a:cubicBezTo>
                  <a:pt x="54" y="295"/>
                  <a:pt x="70" y="265"/>
                  <a:pt x="90" y="236"/>
                </a:cubicBezTo>
                <a:cubicBezTo>
                  <a:pt x="109" y="207"/>
                  <a:pt x="131" y="180"/>
                  <a:pt x="155" y="155"/>
                </a:cubicBezTo>
                <a:cubicBezTo>
                  <a:pt x="180" y="131"/>
                  <a:pt x="207" y="109"/>
                  <a:pt x="236" y="90"/>
                </a:cubicBezTo>
                <a:cubicBezTo>
                  <a:pt x="265" y="70"/>
                  <a:pt x="295" y="54"/>
                  <a:pt x="327" y="41"/>
                </a:cubicBezTo>
                <a:cubicBezTo>
                  <a:pt x="359" y="27"/>
                  <a:pt x="392" y="17"/>
                  <a:pt x="426" y="11"/>
                </a:cubicBezTo>
                <a:cubicBezTo>
                  <a:pt x="461" y="4"/>
                  <a:pt x="495" y="0"/>
                  <a:pt x="53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533520" y="870120"/>
            <a:ext cx="19317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本研究の貢献を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2467080" y="940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2620440" y="870120"/>
            <a:ext cx="22075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点にまとめます。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778680" y="14551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1.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1085760" y="1384560"/>
            <a:ext cx="27590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複合劣化画像に対する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3848040" y="14551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083a5e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1409400" y="20858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60"/>
                  <a:pt x="25" y="47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4001760" y="1384560"/>
            <a:ext cx="24832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つの特化⼿法を提案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1638360" y="188928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「ロバスト性」「効率性」「適応性」の課題に対し、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7991640" y="195984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SVR-Retinex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9587880" y="1807200"/>
            <a:ext cx="275760" cy="48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Mongolian"/>
                <a:ea typeface="NotoSansMongolian"/>
              </a:rPr>
              <a:t>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9714600" y="19598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SVM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10312920" y="188928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超解像、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1638360" y="2308320"/>
            <a:ext cx="1104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多重構造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2743200" y="237888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CNN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3341520" y="2308320"/>
            <a:ext cx="8283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という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4170240" y="237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4323960" y="230832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つの機械学習⼿法を開発した。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778680" y="28645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2.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1409400" y="3495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1085760" y="279432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各⼿法の有効性を実験的に証明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1638360" y="3299040"/>
            <a:ext cx="993096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それぞれの提案⼿法が、従来法と⽐較して画質改善と認識精度の両⾯で優位性を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1638360" y="3718080"/>
            <a:ext cx="35866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持つことを定量的に⽰した。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778680" y="426492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11111"/>
                </a:solidFill>
                <a:latin typeface="Arial"/>
                <a:ea typeface="Arial"/>
              </a:rPr>
              <a:t>3.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1409400" y="4905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6" y="58"/>
                  <a:pt x="25" y="46"/>
                  <a:pt x="36" y="34"/>
                </a:cubicBezTo>
                <a:cubicBezTo>
                  <a:pt x="47" y="23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3"/>
                  <a:pt x="205" y="34"/>
                </a:cubicBezTo>
                <a:cubicBezTo>
                  <a:pt x="216" y="46"/>
                  <a:pt x="224" y="58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1085760" y="419436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083a5e"/>
                </a:solidFill>
                <a:latin typeface="NotoSansCJKjp"/>
                <a:ea typeface="NotoSansCJKjp"/>
              </a:rPr>
              <a:t>全⼿法の統合による⾶躍的な性能向上と実⽤性の提⽰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1638360" y="4708800"/>
            <a:ext cx="66211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全⼿法を統合することで、従来⽐で認識精度が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最⼤約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8248680" y="47793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1409400" y="53910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0"/>
                  <a:pt x="216" y="193"/>
                  <a:pt x="205" y="204"/>
                </a:cubicBezTo>
                <a:cubicBezTo>
                  <a:pt x="193" y="215"/>
                  <a:pt x="181" y="224"/>
                  <a:pt x="166" y="230"/>
                </a:cubicBezTo>
                <a:cubicBezTo>
                  <a:pt x="151" y="236"/>
                  <a:pt x="136" y="239"/>
                  <a:pt x="120" y="239"/>
                </a:cubicBezTo>
                <a:cubicBezTo>
                  <a:pt x="105" y="239"/>
                  <a:pt x="89" y="236"/>
                  <a:pt x="75" y="230"/>
                </a:cubicBezTo>
                <a:cubicBezTo>
                  <a:pt x="60" y="224"/>
                  <a:pt x="47" y="215"/>
                  <a:pt x="36" y="204"/>
                </a:cubicBezTo>
                <a:cubicBezTo>
                  <a:pt x="25" y="193"/>
                  <a:pt x="16" y="180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6" y="59"/>
                  <a:pt x="25" y="46"/>
                  <a:pt x="36" y="35"/>
                </a:cubicBezTo>
                <a:cubicBezTo>
                  <a:pt x="47" y="24"/>
                  <a:pt x="60" y="15"/>
                  <a:pt x="75" y="9"/>
                </a:cubicBezTo>
                <a:cubicBezTo>
                  <a:pt x="89" y="3"/>
                  <a:pt x="105" y="0"/>
                  <a:pt x="120" y="0"/>
                </a:cubicBezTo>
                <a:cubicBezTo>
                  <a:pt x="136" y="0"/>
                  <a:pt x="151" y="3"/>
                  <a:pt x="166" y="9"/>
                </a:cubicBezTo>
                <a:cubicBezTo>
                  <a:pt x="181" y="15"/>
                  <a:pt x="193" y="24"/>
                  <a:pt x="205" y="35"/>
                </a:cubicBezTo>
                <a:cubicBezTo>
                  <a:pt x="216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noFill/>
          <a:ln w="9360">
            <a:solidFill>
              <a:srgbClr val="11111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8402040" y="4708800"/>
            <a:ext cx="137988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倍</a:t>
            </a:r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に向上。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1638360" y="5194440"/>
            <a:ext cx="49658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犯罪捜査における⾞両絞り込み台数を</a:t>
            </a:r>
            <a:r>
              <a:rPr b="0" lang="zh-CN" sz="2170" spc="-1" strike="noStrike">
                <a:solidFill>
                  <a:srgbClr val="c9342f"/>
                </a:solidFill>
                <a:latin typeface="NotoSansCJKjp"/>
                <a:ea typeface="NotoSansCJKjp"/>
              </a:rPr>
              <a:t>約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6610320" y="52650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c9342f"/>
                </a:solidFill>
                <a:latin typeface="Arial"/>
                <a:ea typeface="Arial"/>
              </a:rPr>
              <a:t>2%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7009920" y="5194440"/>
            <a:ext cx="441432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まで削減できる可能性を⽰し、社会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1638360" y="5604120"/>
            <a:ext cx="3862440" cy="39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2170" spc="-1" strike="noStrike">
                <a:solidFill>
                  <a:srgbClr val="111111"/>
                </a:solidFill>
                <a:latin typeface="NotoSansCJKjp"/>
                <a:ea typeface="NotoSansCJKjp"/>
              </a:rPr>
              <a:t>実装への⼤きな⼀歩を築いた。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533160" y="561960"/>
            <a:ext cx="267120" cy="57240"/>
          </a:xfrm>
          <a:custGeom>
            <a:avLst/>
            <a:gdLst/>
            <a:ahLst/>
            <a:rect l="0" t="0" r="r" b="b"/>
            <a:pathLst>
              <a:path w="742" h="159">
                <a:moveTo>
                  <a:pt x="0" y="106"/>
                </a:moveTo>
                <a:lnTo>
                  <a:pt x="0" y="52"/>
                </a:lnTo>
                <a:cubicBezTo>
                  <a:pt x="0" y="45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689" y="0"/>
                </a:lnTo>
                <a:cubicBezTo>
                  <a:pt x="696" y="0"/>
                  <a:pt x="703" y="1"/>
                  <a:pt x="709" y="4"/>
                </a:cubicBezTo>
                <a:cubicBezTo>
                  <a:pt x="716" y="6"/>
                  <a:pt x="722" y="10"/>
                  <a:pt x="727" y="15"/>
                </a:cubicBezTo>
                <a:cubicBezTo>
                  <a:pt x="731" y="20"/>
                  <a:pt x="735" y="26"/>
                  <a:pt x="738" y="32"/>
                </a:cubicBezTo>
                <a:cubicBezTo>
                  <a:pt x="741" y="39"/>
                  <a:pt x="742" y="45"/>
                  <a:pt x="742" y="52"/>
                </a:cubicBezTo>
                <a:lnTo>
                  <a:pt x="742" y="106"/>
                </a:lnTo>
                <a:cubicBezTo>
                  <a:pt x="742" y="113"/>
                  <a:pt x="741" y="120"/>
                  <a:pt x="738" y="127"/>
                </a:cubicBezTo>
                <a:cubicBezTo>
                  <a:pt x="735" y="133"/>
                  <a:pt x="731" y="139"/>
                  <a:pt x="727" y="144"/>
                </a:cubicBezTo>
                <a:cubicBezTo>
                  <a:pt x="722" y="149"/>
                  <a:pt x="716" y="153"/>
                  <a:pt x="709" y="155"/>
                </a:cubicBezTo>
                <a:cubicBezTo>
                  <a:pt x="703" y="158"/>
                  <a:pt x="696" y="159"/>
                  <a:pt x="689" y="159"/>
                </a:cubicBezTo>
                <a:lnTo>
                  <a:pt x="53" y="159"/>
                </a:lnTo>
                <a:cubicBezTo>
                  <a:pt x="46" y="159"/>
                  <a:pt x="39" y="158"/>
                  <a:pt x="33" y="155"/>
                </a:cubicBezTo>
                <a:cubicBezTo>
                  <a:pt x="26" y="153"/>
                  <a:pt x="21" y="149"/>
                  <a:pt x="16" y="144"/>
                </a:cubicBezTo>
                <a:cubicBezTo>
                  <a:pt x="11" y="139"/>
                  <a:pt x="7" y="133"/>
                  <a:pt x="4" y="127"/>
                </a:cubicBezTo>
                <a:cubicBezTo>
                  <a:pt x="2" y="120"/>
                  <a:pt x="0" y="113"/>
                  <a:pt x="0" y="106"/>
                </a:cubicBezTo>
                <a:close/>
              </a:path>
            </a:pathLst>
          </a:custGeom>
          <a:solidFill>
            <a:srgbClr val="0b4b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914400" y="351000"/>
            <a:ext cx="745920" cy="36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zh-CN" sz="1950" spc="-1" strike="noStrike">
                <a:solidFill>
                  <a:srgbClr val="111111"/>
                </a:solidFill>
                <a:latin typeface="NotoSansCJKjp"/>
                <a:ea typeface="NotoSansCJKjp"/>
              </a:rPr>
              <a:t>まとめ</a:t>
            </a:r>
            <a:endParaRPr b="0" lang="en-US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11776680" y="6458400"/>
            <a:ext cx="339120" cy="340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400" spc="-1" strike="noStrike">
                <a:solidFill>
                  <a:srgbClr val="111111"/>
                </a:solidFill>
                <a:latin typeface="Arial"/>
                <a:ea typeface="Arial"/>
              </a:rPr>
              <a:t>14</a:t>
            </a: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LibreOffice/24.2.7.2$Linux_AARCH64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