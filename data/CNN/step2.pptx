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26240" y="1859400"/>
            <a:ext cx="24116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論文紹介 </a:t>
            </a:r>
            <a:r>
              <a:rPr b="0" lang="en-US" sz="1950" spc="-1" strike="noStrike">
                <a:solidFill>
                  <a:srgbClr val="0b4b78"/>
                </a:solidFill>
                <a:latin typeface="NotoSansJP"/>
                <a:ea typeface="NotoSansJP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2048040" y="2500920"/>
            <a:ext cx="8110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JP"/>
                <a:ea typeface="NotoSansJP"/>
              </a:rPr>
              <a:t>畳み込みニューラルネットワーク入門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353200" y="470880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JP"/>
                <a:ea typeface="NotoSansJP"/>
              </a:rPr>
              <a:t>理学部　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438880" y="528588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JP"/>
                <a:ea typeface="NotoSansJP"/>
              </a:rPr>
              <a:t>知能　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009960" y="1979280"/>
            <a:ext cx="51379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1.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はじめに：</a:t>
            </a:r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ANN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と画像認識の課題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009960" y="2436480"/>
            <a:ext cx="406476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2.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の基本アーキテクチャ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893680"/>
            <a:ext cx="37566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3.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主要な層①：畳み込み層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3350880"/>
            <a:ext cx="558540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4.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主要な層②：プーリング層と全結合層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3808080"/>
            <a:ext cx="497916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5. CNN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の設計レシピと学習の可視化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4265280"/>
            <a:ext cx="1318320" cy="44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6. </a:t>
            </a:r>
            <a:r>
              <a:rPr b="0" lang="zh-CN" sz="2400" spc="-1" strike="noStrike">
                <a:solidFill>
                  <a:srgbClr val="0b4b78"/>
                </a:solidFill>
                <a:latin typeface="NotoSansJP"/>
                <a:ea typeface="NotoSans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666880" y="2104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666880" y="2562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2666880" y="3019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666880" y="3476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666880" y="3933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666880" y="4390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95360" y="18720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JP"/>
                <a:ea typeface="NotoSans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33520" y="923760"/>
            <a:ext cx="107701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近年、人工ニューラルネットワーク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(ANN)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は機械学習分野で大きな成功を収めています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33520" y="1438200"/>
            <a:ext cx="2921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ニューロンが前の層の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すべてのニュー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85760" y="23623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ロン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と結合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085760" y="28479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汎用性が高いが、入力データの構造を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85760" y="32576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考慮しない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809280" y="4895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533520" y="42386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画像データへの適用における課題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85760" y="4753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高解像度の画像では、パラメータ数が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809280" y="57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2" y="166"/>
                  <a:pt x="290" y="175"/>
                </a:cubicBezTo>
                <a:cubicBezTo>
                  <a:pt x="288" y="184"/>
                  <a:pt x="285" y="194"/>
                  <a:pt x="281" y="202"/>
                </a:cubicBezTo>
                <a:cubicBezTo>
                  <a:pt x="278" y="211"/>
                  <a:pt x="273" y="220"/>
                  <a:pt x="268" y="228"/>
                </a:cubicBezTo>
                <a:cubicBezTo>
                  <a:pt x="263" y="235"/>
                  <a:pt x="257" y="243"/>
                  <a:pt x="250" y="250"/>
                </a:cubicBezTo>
                <a:cubicBezTo>
                  <a:pt x="243" y="256"/>
                  <a:pt x="236" y="262"/>
                  <a:pt x="228" y="268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50" y="256"/>
                  <a:pt x="43" y="250"/>
                </a:cubicBezTo>
                <a:cubicBezTo>
                  <a:pt x="36" y="243"/>
                  <a:pt x="30" y="235"/>
                  <a:pt x="25" y="228"/>
                </a:cubicBezTo>
                <a:cubicBezTo>
                  <a:pt x="20" y="220"/>
                  <a:pt x="15" y="211"/>
                  <a:pt x="12" y="202"/>
                </a:cubicBezTo>
                <a:cubicBezTo>
                  <a:pt x="8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6"/>
                </a:cubicBezTo>
                <a:cubicBezTo>
                  <a:pt x="273" y="74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8"/>
                  <a:pt x="292" y="137"/>
                  <a:pt x="292" y="147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85760" y="51624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爆発的に増加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56484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膨大な計算コストと過学習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6057720"/>
            <a:ext cx="3134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(Overfitting)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のリスク増大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6229440" y="1438200"/>
            <a:ext cx="5434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Figure 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全結合型ニューラルネットワ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6229440" y="1847880"/>
            <a:ext cx="2912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ーク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(FNN)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322680" y="226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入力層の各ノードが、隠れ層の全ノードに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119440" y="2676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接続している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914400" y="392400"/>
            <a:ext cx="41868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はじめに：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と画像認識の課題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533520" y="92376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画像の次元が少し大きくなるだけで、パラメータ数は現実的でないほど増大します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33520" y="1438200"/>
            <a:ext cx="8209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例：最初の隠れ層の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つのニューロンが持つ重み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パラメータ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31400" y="1942920"/>
            <a:ext cx="4413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MNIST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データセット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(28×28,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白黒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081520" y="2457360"/>
            <a:ext cx="2158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28 × 28 × 1 = 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784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766160" y="2962440"/>
            <a:ext cx="3200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多くの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で管理可能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461280" y="1942920"/>
            <a:ext cx="4749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少し大きめのカラー画像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(64×64, RGB)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569720" y="2457360"/>
            <a:ext cx="2522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64 × 64 × 3 = </a:t>
            </a:r>
            <a:r>
              <a:rPr b="0" lang="en-US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12,288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778800" y="2962440"/>
            <a:ext cx="4433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ネットワーク全体では膨大な数に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533520" y="3886200"/>
            <a:ext cx="11173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→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この問題を解決するために、画像に特化したアーキテクチャである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畳み込みニューラル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33520" y="4305240"/>
            <a:ext cx="47116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ネットワーク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(CNN)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が登場しました。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914400" y="392400"/>
            <a:ext cx="397548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課題：パラメータ数の爆発的な増加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33520" y="923760"/>
            <a:ext cx="10007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は、入力が画像であることを前提とし、その特性を活かした構造を持ちます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33520" y="1438200"/>
            <a:ext cx="8477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Figure 2. MNIST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分類のためのシンプルな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33520" y="1942920"/>
            <a:ext cx="64573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は主に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種類の層を積み重ねて構成されます。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3800" y="2457360"/>
            <a:ext cx="81774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(Convolutional Layer):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画像から局所的な特徴を抽出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93800" y="2943360"/>
            <a:ext cx="7171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(Pooling Layer):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特徴マップの次元を削減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93800" y="3419640"/>
            <a:ext cx="7883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全結合層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(Fully-connected Layer):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抽出された特徴を元に分類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33520" y="4400640"/>
            <a:ext cx="11071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最大の特徴は、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入力画像の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3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次元構造（幅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, 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高さ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, 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深さ）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を保ったまま処理を進める点で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33520" y="4819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914400" y="392400"/>
            <a:ext cx="33112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2.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の基本アーキテクチャ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33520" y="923760"/>
            <a:ext cx="97318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の中核を担う層で、学習可能なフィルタを用いて画像の特徴を抽出します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1438200"/>
            <a:ext cx="691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役割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085760" y="19429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画像のエッジ、コーナー、テクスチャ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85760" y="2362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などの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局所的な特徴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を検出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809280" y="39909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cubicBezTo>
                  <a:pt x="156" y="0"/>
                  <a:pt x="165" y="0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33520" y="3343320"/>
            <a:ext cx="1518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重要な工夫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085760" y="3848040"/>
            <a:ext cx="1518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局所的結合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85760" y="4267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ニューロンを前の層の小さな領域にの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809280" y="5305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85760" y="46767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み接続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085760" y="5162400"/>
            <a:ext cx="2070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パラメータ共有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085760" y="5581800"/>
            <a:ext cx="4863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同じフィルタ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を画像全体で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085760" y="59911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使い回す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533520" y="6562800"/>
            <a:ext cx="5380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→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これにより、パラメータ数を劇的に削減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229440" y="1438200"/>
            <a:ext cx="4496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Figure 4.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畳み込み演算の図解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6319800" y="184788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カーネルが入力上を移動しながら、内積を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640560" y="2266920"/>
            <a:ext cx="4863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計算し、出力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特徴マップ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を生成する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914400" y="392400"/>
            <a:ext cx="5439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主要な層①：畳み込み層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(Convolutional Layer)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809280" y="15811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33520" y="92376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ハイパーパラメータの設定により、出力される特徴マップの次元を調整します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085760" y="1438200"/>
            <a:ext cx="1724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Depth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深さ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3618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49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638360" y="194292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使用するフィルタの数。出力される特徴マップの数に等しい。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09280" y="3057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638360" y="242892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どのような特徴を抽出したいかに応じて設定する。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361880" y="3562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085760" y="2914560"/>
            <a:ext cx="2512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Stride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ストライド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1361880" y="4047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638360" y="341964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フィルタを移動させる歩幅。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809280" y="4533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2"/>
                  <a:pt x="20" y="73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6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3"/>
                  <a:pt x="278" y="82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638360" y="390528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ストライドを大きくすると、出力サイズは小さくなる。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361880" y="5038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5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085760" y="4390920"/>
            <a:ext cx="401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Zero-padding 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ゼロパディング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1361880" y="5524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38360" y="4896000"/>
            <a:ext cx="44499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入力画像の周囲を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0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で埋める処理。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6" name="" descr=""/>
          <p:cNvPicPr/>
          <p:nvPr/>
        </p:nvPicPr>
        <p:blipFill>
          <a:blip r:embed="rId1"/>
          <a:stretch/>
        </p:blipFill>
        <p:spPr>
          <a:xfrm>
            <a:off x="451080" y="5995440"/>
            <a:ext cx="11289600" cy="965880"/>
          </a:xfrm>
          <a:prstGeom prst="rect">
            <a:avLst/>
          </a:prstGeom>
          <a:ln w="0">
            <a:noFill/>
          </a:ln>
        </p:spPr>
      </p:pic>
      <p:sp>
        <p:nvSpPr>
          <p:cNvPr id="137" name=""/>
          <p:cNvSpPr/>
          <p:nvPr/>
        </p:nvSpPr>
        <p:spPr>
          <a:xfrm>
            <a:off x="451080" y="5995080"/>
            <a:ext cx="11289960" cy="966600"/>
          </a:xfrm>
          <a:custGeom>
            <a:avLst/>
            <a:gdLst/>
            <a:ahLst/>
            <a:rect l="0" t="0" r="r" b="b"/>
            <a:pathLst>
              <a:path w="31361" h="2685">
                <a:moveTo>
                  <a:pt x="0" y="0"/>
                </a:moveTo>
                <a:lnTo>
                  <a:pt x="31361" y="0"/>
                </a:lnTo>
                <a:lnTo>
                  <a:pt x="31361" y="2685"/>
                </a:lnTo>
                <a:lnTo>
                  <a:pt x="0" y="2685"/>
                </a:lnTo>
                <a:lnTo>
                  <a:pt x="0" y="0"/>
                </a:lnTo>
                <a:close/>
              </a:path>
            </a:pathLst>
          </a:custGeom>
          <a:solidFill>
            <a:srgbClr val="0b4b78">
              <a:alpha val="8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42880" y="6067080"/>
            <a:ext cx="11106360" cy="2572200"/>
          </a:xfrm>
          <a:custGeom>
            <a:avLst/>
            <a:gdLst/>
            <a:ahLst/>
            <a:rect l="0" t="0" r="r" b="b"/>
            <a:pathLst>
              <a:path w="30851" h="7145">
                <a:moveTo>
                  <a:pt x="0" y="6907"/>
                </a:moveTo>
                <a:lnTo>
                  <a:pt x="0" y="239"/>
                </a:ln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1"/>
                </a:cubicBezTo>
                <a:cubicBezTo>
                  <a:pt x="118" y="32"/>
                  <a:pt x="132" y="25"/>
                  <a:pt x="147" y="19"/>
                </a:cubicBezTo>
                <a:cubicBezTo>
                  <a:pt x="161" y="13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30613" y="0"/>
                </a:lnTo>
                <a:cubicBezTo>
                  <a:pt x="30629" y="0"/>
                  <a:pt x="30644" y="2"/>
                  <a:pt x="30659" y="5"/>
                </a:cubicBezTo>
                <a:cubicBezTo>
                  <a:pt x="30675" y="8"/>
                  <a:pt x="30690" y="13"/>
                  <a:pt x="30704" y="19"/>
                </a:cubicBezTo>
                <a:cubicBezTo>
                  <a:pt x="30718" y="25"/>
                  <a:pt x="30732" y="32"/>
                  <a:pt x="30745" y="41"/>
                </a:cubicBezTo>
                <a:cubicBezTo>
                  <a:pt x="30758" y="49"/>
                  <a:pt x="30770" y="59"/>
                  <a:pt x="30781" y="70"/>
                </a:cubicBezTo>
                <a:cubicBezTo>
                  <a:pt x="30792" y="81"/>
                  <a:pt x="30802" y="93"/>
                  <a:pt x="30811" y="106"/>
                </a:cubicBezTo>
                <a:cubicBezTo>
                  <a:pt x="30820" y="119"/>
                  <a:pt x="30827" y="133"/>
                  <a:pt x="30833" y="147"/>
                </a:cubicBezTo>
                <a:cubicBezTo>
                  <a:pt x="30839" y="162"/>
                  <a:pt x="30843" y="177"/>
                  <a:pt x="30846" y="192"/>
                </a:cubicBezTo>
                <a:cubicBezTo>
                  <a:pt x="30850" y="207"/>
                  <a:pt x="30851" y="223"/>
                  <a:pt x="30851" y="239"/>
                </a:cubicBezTo>
                <a:lnTo>
                  <a:pt x="30851" y="6907"/>
                </a:lnTo>
                <a:cubicBezTo>
                  <a:pt x="30851" y="6923"/>
                  <a:pt x="30850" y="6938"/>
                  <a:pt x="30846" y="6954"/>
                </a:cubicBezTo>
                <a:cubicBezTo>
                  <a:pt x="30843" y="6969"/>
                  <a:pt x="30839" y="6984"/>
                  <a:pt x="30833" y="6998"/>
                </a:cubicBezTo>
                <a:cubicBezTo>
                  <a:pt x="30827" y="7013"/>
                  <a:pt x="30820" y="7026"/>
                  <a:pt x="30811" y="7039"/>
                </a:cubicBezTo>
                <a:cubicBezTo>
                  <a:pt x="30802" y="7052"/>
                  <a:pt x="30792" y="7064"/>
                  <a:pt x="30781" y="7075"/>
                </a:cubicBezTo>
                <a:cubicBezTo>
                  <a:pt x="30770" y="7087"/>
                  <a:pt x="30758" y="7096"/>
                  <a:pt x="30745" y="7105"/>
                </a:cubicBezTo>
                <a:cubicBezTo>
                  <a:pt x="30732" y="7114"/>
                  <a:pt x="30718" y="7121"/>
                  <a:pt x="30704" y="7127"/>
                </a:cubicBezTo>
                <a:cubicBezTo>
                  <a:pt x="30690" y="7133"/>
                  <a:pt x="30675" y="7138"/>
                  <a:pt x="30659" y="7141"/>
                </a:cubicBezTo>
                <a:cubicBezTo>
                  <a:pt x="30644" y="7144"/>
                  <a:pt x="30629" y="7145"/>
                  <a:pt x="30613" y="7145"/>
                </a:cubicBezTo>
                <a:lnTo>
                  <a:pt x="238" y="7145"/>
                </a:lnTo>
                <a:cubicBezTo>
                  <a:pt x="222" y="7145"/>
                  <a:pt x="207" y="7144"/>
                  <a:pt x="191" y="7141"/>
                </a:cubicBezTo>
                <a:cubicBezTo>
                  <a:pt x="176" y="7138"/>
                  <a:pt x="161" y="7133"/>
                  <a:pt x="147" y="7127"/>
                </a:cubicBezTo>
                <a:cubicBezTo>
                  <a:pt x="132" y="7121"/>
                  <a:pt x="118" y="7114"/>
                  <a:pt x="105" y="7105"/>
                </a:cubicBezTo>
                <a:cubicBezTo>
                  <a:pt x="92" y="7096"/>
                  <a:pt x="80" y="7087"/>
                  <a:pt x="69" y="7075"/>
                </a:cubicBezTo>
                <a:cubicBezTo>
                  <a:pt x="58" y="7064"/>
                  <a:pt x="48" y="7052"/>
                  <a:pt x="40" y="7039"/>
                </a:cubicBezTo>
                <a:cubicBezTo>
                  <a:pt x="31" y="7026"/>
                  <a:pt x="24" y="7013"/>
                  <a:pt x="18" y="6998"/>
                </a:cubicBezTo>
                <a:cubicBezTo>
                  <a:pt x="12" y="6984"/>
                  <a:pt x="7" y="6969"/>
                  <a:pt x="4" y="6954"/>
                </a:cubicBezTo>
                <a:cubicBezTo>
                  <a:pt x="1" y="6938"/>
                  <a:pt x="0" y="6923"/>
                  <a:pt x="0" y="6907"/>
                </a:cubicBezTo>
                <a:close/>
              </a:path>
            </a:pathLst>
          </a:custGeom>
          <a:solidFill>
            <a:srgbClr val="eef7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542880" y="6067080"/>
            <a:ext cx="11106360" cy="2572200"/>
          </a:xfrm>
          <a:custGeom>
            <a:avLst/>
            <a:gdLst/>
            <a:ahLst/>
            <a:rect l="0" t="0" r="r" b="b"/>
            <a:pathLst>
              <a:path w="30851" h="7145">
                <a:moveTo>
                  <a:pt x="0" y="6907"/>
                </a:moveTo>
                <a:lnTo>
                  <a:pt x="0" y="239"/>
                </a:ln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1"/>
                </a:cubicBezTo>
                <a:cubicBezTo>
                  <a:pt x="118" y="32"/>
                  <a:pt x="132" y="25"/>
                  <a:pt x="147" y="19"/>
                </a:cubicBezTo>
                <a:cubicBezTo>
                  <a:pt x="161" y="13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30613" y="0"/>
                </a:lnTo>
                <a:cubicBezTo>
                  <a:pt x="30629" y="0"/>
                  <a:pt x="30644" y="2"/>
                  <a:pt x="30659" y="5"/>
                </a:cubicBezTo>
                <a:cubicBezTo>
                  <a:pt x="30675" y="8"/>
                  <a:pt x="30690" y="13"/>
                  <a:pt x="30704" y="19"/>
                </a:cubicBezTo>
                <a:cubicBezTo>
                  <a:pt x="30718" y="25"/>
                  <a:pt x="30732" y="32"/>
                  <a:pt x="30745" y="41"/>
                </a:cubicBezTo>
                <a:cubicBezTo>
                  <a:pt x="30758" y="49"/>
                  <a:pt x="30770" y="59"/>
                  <a:pt x="30781" y="70"/>
                </a:cubicBezTo>
                <a:cubicBezTo>
                  <a:pt x="30792" y="81"/>
                  <a:pt x="30802" y="93"/>
                  <a:pt x="30811" y="106"/>
                </a:cubicBezTo>
                <a:cubicBezTo>
                  <a:pt x="30820" y="119"/>
                  <a:pt x="30827" y="133"/>
                  <a:pt x="30833" y="147"/>
                </a:cubicBezTo>
                <a:cubicBezTo>
                  <a:pt x="30839" y="162"/>
                  <a:pt x="30843" y="177"/>
                  <a:pt x="30846" y="192"/>
                </a:cubicBezTo>
                <a:cubicBezTo>
                  <a:pt x="30850" y="207"/>
                  <a:pt x="30851" y="223"/>
                  <a:pt x="30851" y="239"/>
                </a:cubicBezTo>
                <a:lnTo>
                  <a:pt x="30851" y="6907"/>
                </a:lnTo>
                <a:cubicBezTo>
                  <a:pt x="30851" y="6923"/>
                  <a:pt x="30850" y="6938"/>
                  <a:pt x="30846" y="6954"/>
                </a:cubicBezTo>
                <a:cubicBezTo>
                  <a:pt x="30843" y="6969"/>
                  <a:pt x="30839" y="6984"/>
                  <a:pt x="30833" y="6998"/>
                </a:cubicBezTo>
                <a:cubicBezTo>
                  <a:pt x="30827" y="7013"/>
                  <a:pt x="30820" y="7026"/>
                  <a:pt x="30811" y="7039"/>
                </a:cubicBezTo>
                <a:cubicBezTo>
                  <a:pt x="30802" y="7052"/>
                  <a:pt x="30792" y="7064"/>
                  <a:pt x="30781" y="7075"/>
                </a:cubicBezTo>
                <a:cubicBezTo>
                  <a:pt x="30770" y="7087"/>
                  <a:pt x="30758" y="7096"/>
                  <a:pt x="30745" y="7105"/>
                </a:cubicBezTo>
                <a:cubicBezTo>
                  <a:pt x="30732" y="7114"/>
                  <a:pt x="30718" y="7121"/>
                  <a:pt x="30704" y="7127"/>
                </a:cubicBezTo>
                <a:cubicBezTo>
                  <a:pt x="30690" y="7133"/>
                  <a:pt x="30675" y="7138"/>
                  <a:pt x="30659" y="7141"/>
                </a:cubicBezTo>
                <a:cubicBezTo>
                  <a:pt x="30644" y="7144"/>
                  <a:pt x="30629" y="7145"/>
                  <a:pt x="30613" y="7145"/>
                </a:cubicBezTo>
                <a:lnTo>
                  <a:pt x="238" y="7145"/>
                </a:lnTo>
                <a:cubicBezTo>
                  <a:pt x="222" y="7145"/>
                  <a:pt x="207" y="7144"/>
                  <a:pt x="191" y="7141"/>
                </a:cubicBezTo>
                <a:cubicBezTo>
                  <a:pt x="176" y="7138"/>
                  <a:pt x="161" y="7133"/>
                  <a:pt x="147" y="7127"/>
                </a:cubicBezTo>
                <a:cubicBezTo>
                  <a:pt x="132" y="7121"/>
                  <a:pt x="118" y="7114"/>
                  <a:pt x="105" y="7105"/>
                </a:cubicBezTo>
                <a:cubicBezTo>
                  <a:pt x="92" y="7096"/>
                  <a:pt x="80" y="7087"/>
                  <a:pt x="69" y="7075"/>
                </a:cubicBezTo>
                <a:cubicBezTo>
                  <a:pt x="58" y="7064"/>
                  <a:pt x="48" y="7052"/>
                  <a:pt x="40" y="7039"/>
                </a:cubicBezTo>
                <a:cubicBezTo>
                  <a:pt x="31" y="7026"/>
                  <a:pt x="24" y="7013"/>
                  <a:pt x="18" y="6998"/>
                </a:cubicBezTo>
                <a:cubicBezTo>
                  <a:pt x="12" y="6984"/>
                  <a:pt x="7" y="6969"/>
                  <a:pt x="4" y="6954"/>
                </a:cubicBezTo>
                <a:cubicBezTo>
                  <a:pt x="1" y="6938"/>
                  <a:pt x="0" y="6923"/>
                  <a:pt x="0" y="6907"/>
                </a:cubicBezTo>
                <a:close/>
              </a:path>
            </a:pathLst>
          </a:custGeom>
          <a:noFill/>
          <a:ln w="18720">
            <a:solidFill>
              <a:srgbClr val="b9d7e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723600" y="6190920"/>
            <a:ext cx="10744560" cy="486360"/>
          </a:xfrm>
          <a:custGeom>
            <a:avLst/>
            <a:gdLst/>
            <a:ahLst/>
            <a:rect l="0" t="0" r="r" b="b"/>
            <a:pathLst>
              <a:path w="29846" h="1351">
                <a:moveTo>
                  <a:pt x="0" y="119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9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9688" y="0"/>
                </a:lnTo>
                <a:cubicBezTo>
                  <a:pt x="29698" y="0"/>
                  <a:pt x="29708" y="1"/>
                  <a:pt x="29719" y="3"/>
                </a:cubicBezTo>
                <a:cubicBezTo>
                  <a:pt x="29729" y="5"/>
                  <a:pt x="29739" y="9"/>
                  <a:pt x="29748" y="12"/>
                </a:cubicBezTo>
                <a:cubicBezTo>
                  <a:pt x="29758" y="16"/>
                  <a:pt x="29767" y="21"/>
                  <a:pt x="29776" y="27"/>
                </a:cubicBezTo>
                <a:cubicBezTo>
                  <a:pt x="29784" y="33"/>
                  <a:pt x="29792" y="40"/>
                  <a:pt x="29800" y="47"/>
                </a:cubicBezTo>
                <a:cubicBezTo>
                  <a:pt x="29807" y="54"/>
                  <a:pt x="29814" y="62"/>
                  <a:pt x="29820" y="71"/>
                </a:cubicBezTo>
                <a:cubicBezTo>
                  <a:pt x="29825" y="80"/>
                  <a:pt x="29830" y="89"/>
                  <a:pt x="29834" y="98"/>
                </a:cubicBezTo>
                <a:cubicBezTo>
                  <a:pt x="29838" y="108"/>
                  <a:pt x="29841" y="118"/>
                  <a:pt x="29843" y="128"/>
                </a:cubicBezTo>
                <a:cubicBezTo>
                  <a:pt x="29845" y="138"/>
                  <a:pt x="29846" y="149"/>
                  <a:pt x="29846" y="159"/>
                </a:cubicBezTo>
                <a:lnTo>
                  <a:pt x="29846" y="1192"/>
                </a:lnTo>
                <a:cubicBezTo>
                  <a:pt x="29846" y="1202"/>
                  <a:pt x="29845" y="1213"/>
                  <a:pt x="29843" y="1223"/>
                </a:cubicBezTo>
                <a:cubicBezTo>
                  <a:pt x="29841" y="1233"/>
                  <a:pt x="29838" y="1243"/>
                  <a:pt x="29834" y="1253"/>
                </a:cubicBezTo>
                <a:cubicBezTo>
                  <a:pt x="29830" y="1262"/>
                  <a:pt x="29825" y="1272"/>
                  <a:pt x="29820" y="1280"/>
                </a:cubicBezTo>
                <a:cubicBezTo>
                  <a:pt x="29814" y="1289"/>
                  <a:pt x="29807" y="1297"/>
                  <a:pt x="29800" y="1304"/>
                </a:cubicBezTo>
                <a:cubicBezTo>
                  <a:pt x="29792" y="1312"/>
                  <a:pt x="29784" y="1318"/>
                  <a:pt x="29776" y="1324"/>
                </a:cubicBezTo>
                <a:cubicBezTo>
                  <a:pt x="29767" y="1330"/>
                  <a:pt x="29758" y="1335"/>
                  <a:pt x="29748" y="1339"/>
                </a:cubicBezTo>
                <a:cubicBezTo>
                  <a:pt x="29739" y="1343"/>
                  <a:pt x="29729" y="1346"/>
                  <a:pt x="29719" y="1348"/>
                </a:cubicBezTo>
                <a:cubicBezTo>
                  <a:pt x="29708" y="1350"/>
                  <a:pt x="29698" y="1351"/>
                  <a:pt x="29688" y="1351"/>
                </a:cubicBezTo>
                <a:lnTo>
                  <a:pt x="159" y="1351"/>
                </a:lnTo>
                <a:cubicBezTo>
                  <a:pt x="149" y="1351"/>
                  <a:pt x="138" y="1350"/>
                  <a:pt x="128" y="1348"/>
                </a:cubicBezTo>
                <a:cubicBezTo>
                  <a:pt x="118" y="1346"/>
                  <a:pt x="108" y="1343"/>
                  <a:pt x="98" y="1339"/>
                </a:cubicBezTo>
                <a:cubicBezTo>
                  <a:pt x="89" y="1335"/>
                  <a:pt x="80" y="1330"/>
                  <a:pt x="71" y="1324"/>
                </a:cubicBezTo>
                <a:cubicBezTo>
                  <a:pt x="62" y="1318"/>
                  <a:pt x="54" y="1312"/>
                  <a:pt x="47" y="1304"/>
                </a:cubicBezTo>
                <a:cubicBezTo>
                  <a:pt x="39" y="1297"/>
                  <a:pt x="33" y="1289"/>
                  <a:pt x="27" y="1280"/>
                </a:cubicBezTo>
                <a:cubicBezTo>
                  <a:pt x="21" y="1272"/>
                  <a:pt x="16" y="1262"/>
                  <a:pt x="12" y="1253"/>
                </a:cubicBezTo>
                <a:cubicBezTo>
                  <a:pt x="8" y="1243"/>
                  <a:pt x="5" y="1233"/>
                  <a:pt x="3" y="1223"/>
                </a:cubicBezTo>
                <a:cubicBezTo>
                  <a:pt x="1" y="1213"/>
                  <a:pt x="0" y="1202"/>
                  <a:pt x="0" y="1192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38360" y="538164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出力サイズの縮小を防いだり、画像の端の特徴を捉えやすくする。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819000" y="6257880"/>
            <a:ext cx="2622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ffffff"/>
                </a:solidFill>
                <a:latin typeface="NotoSansJP"/>
                <a:ea typeface="NotoSansJP"/>
              </a:rPr>
              <a:t>出力サイズの計算式</a:t>
            </a:r>
            <a:r>
              <a:rPr b="0" lang="en-US" sz="2170" spc="-1" strike="noStrike">
                <a:solidFill>
                  <a:srgbClr val="ffffff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000080" y="6781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力ボ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193200" y="6781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ズを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170960" y="6781680"/>
            <a:ext cx="7617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受容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916240" y="6781680"/>
            <a:ext cx="4262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タ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29920" y="6781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ズを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764120" y="6781680"/>
            <a:ext cx="887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ゼ パデ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9402120" y="6781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グ量を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14400" y="392400"/>
            <a:ext cx="447228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畳み込み層の出力サイズを制御する要素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33520" y="9237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畳み込み層で抽出した特徴を圧縮し、最終的な分類を行います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33520" y="1438200"/>
            <a:ext cx="35658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プーリング層 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(Pooling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085760" y="1942920"/>
            <a:ext cx="4983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役割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特徴マップの次元削減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ダウンサ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80928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90"/>
                </a:cubicBezTo>
                <a:cubicBezTo>
                  <a:pt x="165" y="292"/>
                  <a:pt x="156" y="292"/>
                  <a:pt x="146" y="292"/>
                </a:cubicBezTo>
                <a:cubicBezTo>
                  <a:pt x="136" y="292"/>
                  <a:pt x="127" y="292"/>
                  <a:pt x="118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20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8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85760" y="2362320"/>
            <a:ext cx="1529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ンプリング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361880" y="34002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7"/>
                </a:moveTo>
                <a:cubicBezTo>
                  <a:pt x="292" y="156"/>
                  <a:pt x="291" y="166"/>
                  <a:pt x="289" y="175"/>
                </a:cubicBezTo>
                <a:cubicBezTo>
                  <a:pt x="287" y="184"/>
                  <a:pt x="285" y="194"/>
                  <a:pt x="281" y="202"/>
                </a:cubicBezTo>
                <a:cubicBezTo>
                  <a:pt x="277" y="211"/>
                  <a:pt x="273" y="220"/>
                  <a:pt x="268" y="227"/>
                </a:cubicBezTo>
                <a:cubicBezTo>
                  <a:pt x="262" y="235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20"/>
                  <a:pt x="15" y="211"/>
                  <a:pt x="11" y="202"/>
                </a:cubicBezTo>
                <a:cubicBezTo>
                  <a:pt x="7" y="194"/>
                  <a:pt x="5" y="184"/>
                  <a:pt x="3" y="175"/>
                </a:cubicBezTo>
                <a:cubicBezTo>
                  <a:pt x="1" y="166"/>
                  <a:pt x="0" y="156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4"/>
                  <a:pt x="25" y="66"/>
                </a:cubicBezTo>
                <a:cubicBezTo>
                  <a:pt x="30" y="58"/>
                  <a:pt x="36" y="51"/>
                  <a:pt x="43" y="44"/>
                </a:cubicBezTo>
                <a:cubicBezTo>
                  <a:pt x="49" y="37"/>
                  <a:pt x="57" y="31"/>
                  <a:pt x="65" y="26"/>
                </a:cubicBezTo>
                <a:cubicBezTo>
                  <a:pt x="73" y="20"/>
                  <a:pt x="81" y="16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6"/>
                  <a:pt x="219" y="20"/>
                  <a:pt x="227" y="26"/>
                </a:cubicBezTo>
                <a:cubicBezTo>
                  <a:pt x="235" y="31"/>
                  <a:pt x="243" y="37"/>
                  <a:pt x="249" y="44"/>
                </a:cubicBezTo>
                <a:cubicBezTo>
                  <a:pt x="256" y="51"/>
                  <a:pt x="262" y="58"/>
                  <a:pt x="268" y="66"/>
                </a:cubicBezTo>
                <a:cubicBezTo>
                  <a:pt x="273" y="74"/>
                  <a:pt x="277" y="82"/>
                  <a:pt x="281" y="91"/>
                </a:cubicBezTo>
                <a:cubicBezTo>
                  <a:pt x="285" y="100"/>
                  <a:pt x="287" y="109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085760" y="2847960"/>
            <a:ext cx="691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効果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361880" y="38858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7" y="185"/>
                  <a:pt x="285" y="194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6" y="293"/>
                  <a:pt x="127" y="292"/>
                  <a:pt x="117" y="290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3"/>
                  <a:pt x="49" y="257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7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2"/>
                </a:cubicBezTo>
                <a:cubicBezTo>
                  <a:pt x="211" y="15"/>
                  <a:pt x="219" y="20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638360" y="32576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計算量の削減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638360" y="374328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特徴の微小な位置ずれに対する頑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809280" y="4781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3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6"/>
                </a:cubicBezTo>
                <a:cubicBezTo>
                  <a:pt x="263" y="234"/>
                  <a:pt x="257" y="241"/>
                  <a:pt x="250" y="248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50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3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4"/>
                  <a:pt x="219" y="19"/>
                  <a:pt x="228" y="24"/>
                </a:cubicBezTo>
                <a:cubicBezTo>
                  <a:pt x="236" y="29"/>
                  <a:pt x="243" y="35"/>
                  <a:pt x="250" y="42"/>
                </a:cubicBezTo>
                <a:cubicBezTo>
                  <a:pt x="257" y="49"/>
                  <a:pt x="263" y="56"/>
                  <a:pt x="268" y="64"/>
                </a:cubicBezTo>
                <a:cubicBezTo>
                  <a:pt x="273" y="72"/>
                  <a:pt x="278" y="81"/>
                  <a:pt x="281" y="89"/>
                </a:cubicBezTo>
                <a:cubicBezTo>
                  <a:pt x="285" y="98"/>
                  <a:pt x="288" y="107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638360" y="4152960"/>
            <a:ext cx="33397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健性 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位置不変性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)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の獲得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1361880" y="520056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4"/>
                </a:cubicBezTo>
                <a:cubicBezTo>
                  <a:pt x="287" y="183"/>
                  <a:pt x="285" y="192"/>
                  <a:pt x="281" y="201"/>
                </a:cubicBezTo>
                <a:cubicBezTo>
                  <a:pt x="277" y="210"/>
                  <a:pt x="273" y="218"/>
                  <a:pt x="268" y="226"/>
                </a:cubicBezTo>
                <a:cubicBezTo>
                  <a:pt x="262" y="234"/>
                  <a:pt x="256" y="241"/>
                  <a:pt x="249" y="248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8"/>
                </a:cubicBezTo>
                <a:cubicBezTo>
                  <a:pt x="36" y="241"/>
                  <a:pt x="30" y="234"/>
                  <a:pt x="25" y="226"/>
                </a:cubicBezTo>
                <a:cubicBezTo>
                  <a:pt x="19" y="218"/>
                  <a:pt x="15" y="210"/>
                  <a:pt x="11" y="201"/>
                </a:cubicBezTo>
                <a:cubicBezTo>
                  <a:pt x="7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8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85760" y="4638600"/>
            <a:ext cx="25430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代表例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Max-pooling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1361880" y="5676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2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29"/>
                  <a:pt x="243" y="36"/>
                  <a:pt x="249" y="42"/>
                </a:cubicBezTo>
                <a:cubicBezTo>
                  <a:pt x="256" y="49"/>
                  <a:pt x="262" y="56"/>
                  <a:pt x="268" y="64"/>
                </a:cubicBezTo>
                <a:cubicBezTo>
                  <a:pt x="273" y="72"/>
                  <a:pt x="277" y="81"/>
                  <a:pt x="281" y="89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638360" y="50576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領域内の最大値を取る。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638360" y="5533920"/>
            <a:ext cx="4463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通常、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2x2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のフィルタをストライド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638360" y="5952960"/>
            <a:ext cx="43754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で適用し、サイズを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1/4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にする。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650556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4" y="193"/>
                  <a:pt x="281" y="202"/>
                </a:cubicBezTo>
                <a:cubicBezTo>
                  <a:pt x="277" y="211"/>
                  <a:pt x="272" y="219"/>
                  <a:pt x="267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2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7" y="292"/>
                  <a:pt x="127" y="291"/>
                  <a:pt x="118" y="289"/>
                </a:cubicBezTo>
                <a:cubicBezTo>
                  <a:pt x="107" y="287"/>
                  <a:pt x="98" y="284"/>
                  <a:pt x="89" y="281"/>
                </a:cubicBezTo>
                <a:cubicBezTo>
                  <a:pt x="81" y="277"/>
                  <a:pt x="72" y="273"/>
                  <a:pt x="64" y="267"/>
                </a:cubicBezTo>
                <a:cubicBezTo>
                  <a:pt x="56" y="262"/>
                  <a:pt x="49" y="256"/>
                  <a:pt x="42" y="249"/>
                </a:cubicBezTo>
                <a:cubicBezTo>
                  <a:pt x="35" y="243"/>
                  <a:pt x="29" y="235"/>
                  <a:pt x="24" y="227"/>
                </a:cubicBezTo>
                <a:cubicBezTo>
                  <a:pt x="19" y="219"/>
                  <a:pt x="14" y="211"/>
                  <a:pt x="11" y="202"/>
                </a:cubicBezTo>
                <a:cubicBezTo>
                  <a:pt x="7" y="193"/>
                  <a:pt x="4" y="184"/>
                  <a:pt x="2" y="175"/>
                </a:cubicBezTo>
                <a:cubicBezTo>
                  <a:pt x="0" y="164"/>
                  <a:pt x="0" y="155"/>
                  <a:pt x="0" y="145"/>
                </a:cubicBez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2"/>
                  <a:pt x="24" y="65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8" y="3"/>
                </a:cubicBezTo>
                <a:cubicBezTo>
                  <a:pt x="127" y="1"/>
                  <a:pt x="137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2" y="36"/>
                  <a:pt x="249" y="42"/>
                </a:cubicBezTo>
                <a:cubicBezTo>
                  <a:pt x="256" y="49"/>
                  <a:pt x="262" y="57"/>
                  <a:pt x="267" y="65"/>
                </a:cubicBezTo>
                <a:cubicBezTo>
                  <a:pt x="272" y="72"/>
                  <a:pt x="277" y="81"/>
                  <a:pt x="281" y="90"/>
                </a:cubicBezTo>
                <a:cubicBezTo>
                  <a:pt x="284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6229440" y="1438200"/>
            <a:ext cx="4003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全結合層 </a:t>
            </a:r>
            <a:r>
              <a:rPr b="0" lang="en-US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(Fully-connected Layer)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650556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4" y="193"/>
                  <a:pt x="281" y="201"/>
                </a:cubicBezTo>
                <a:cubicBezTo>
                  <a:pt x="277" y="210"/>
                  <a:pt x="272" y="219"/>
                  <a:pt x="267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2" y="255"/>
                  <a:pt x="235" y="261"/>
                  <a:pt x="227" y="267"/>
                </a:cubicBezTo>
                <a:cubicBezTo>
                  <a:pt x="219" y="272"/>
                  <a:pt x="211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7" y="292"/>
                  <a:pt x="127" y="291"/>
                  <a:pt x="118" y="289"/>
                </a:cubicBezTo>
                <a:cubicBezTo>
                  <a:pt x="107" y="288"/>
                  <a:pt x="98" y="285"/>
                  <a:pt x="89" y="281"/>
                </a:cubicBezTo>
                <a:cubicBezTo>
                  <a:pt x="81" y="277"/>
                  <a:pt x="72" y="272"/>
                  <a:pt x="64" y="267"/>
                </a:cubicBezTo>
                <a:cubicBezTo>
                  <a:pt x="56" y="261"/>
                  <a:pt x="49" y="255"/>
                  <a:pt x="42" y="249"/>
                </a:cubicBezTo>
                <a:cubicBezTo>
                  <a:pt x="35" y="242"/>
                  <a:pt x="29" y="235"/>
                  <a:pt x="24" y="227"/>
                </a:cubicBezTo>
                <a:cubicBezTo>
                  <a:pt x="19" y="219"/>
                  <a:pt x="14" y="210"/>
                  <a:pt x="11" y="201"/>
                </a:cubicBezTo>
                <a:cubicBezTo>
                  <a:pt x="7" y="193"/>
                  <a:pt x="4" y="184"/>
                  <a:pt x="2" y="174"/>
                </a:cubicBezTo>
                <a:cubicBezTo>
                  <a:pt x="0" y="165"/>
                  <a:pt x="0" y="155"/>
                  <a:pt x="0" y="146"/>
                </a:cubicBez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8"/>
                  <a:pt x="107" y="5"/>
                  <a:pt x="118" y="3"/>
                </a:cubicBezTo>
                <a:cubicBezTo>
                  <a:pt x="127" y="1"/>
                  <a:pt x="137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2" y="36"/>
                  <a:pt x="249" y="43"/>
                </a:cubicBezTo>
                <a:cubicBezTo>
                  <a:pt x="256" y="50"/>
                  <a:pt x="262" y="57"/>
                  <a:pt x="267" y="65"/>
                </a:cubicBezTo>
                <a:cubicBezTo>
                  <a:pt x="272" y="73"/>
                  <a:pt x="277" y="81"/>
                  <a:pt x="281" y="90"/>
                </a:cubicBezTo>
                <a:cubicBezTo>
                  <a:pt x="284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781680" y="1942920"/>
            <a:ext cx="414792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役割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最終的な分類スコアの出力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7057800" y="29905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7" y="210"/>
                  <a:pt x="273" y="219"/>
                  <a:pt x="268" y="227"/>
                </a:cubicBezTo>
                <a:cubicBezTo>
                  <a:pt x="262" y="235"/>
                  <a:pt x="256" y="242"/>
                  <a:pt x="250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20" y="272"/>
                  <a:pt x="211" y="277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2"/>
                  <a:pt x="147" y="292"/>
                </a:cubicBezTo>
                <a:cubicBezTo>
                  <a:pt x="137" y="292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7"/>
                  <a:pt x="74" y="272"/>
                  <a:pt x="66" y="267"/>
                </a:cubicBezTo>
                <a:cubicBezTo>
                  <a:pt x="58" y="262"/>
                  <a:pt x="51" y="256"/>
                  <a:pt x="44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0"/>
                  <a:pt x="11" y="202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4" y="43"/>
                </a:cubicBezTo>
                <a:cubicBezTo>
                  <a:pt x="51" y="36"/>
                  <a:pt x="58" y="30"/>
                  <a:pt x="66" y="25"/>
                </a:cubicBezTo>
                <a:cubicBezTo>
                  <a:pt x="74" y="20"/>
                  <a:pt x="82" y="15"/>
                  <a:pt x="91" y="11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1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781680" y="2428920"/>
            <a:ext cx="691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構造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7334280" y="2847960"/>
            <a:ext cx="42850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従来の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ANN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と同じく、すべてのニ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7057800" y="3885840"/>
            <a:ext cx="105120" cy="105480"/>
          </a:xfrm>
          <a:custGeom>
            <a:avLst/>
            <a:gdLst/>
            <a:ahLst/>
            <a:rect l="0" t="0" r="r" b="b"/>
            <a:pathLst>
              <a:path w="292" h="293">
                <a:moveTo>
                  <a:pt x="292" y="147"/>
                </a:moveTo>
                <a:cubicBezTo>
                  <a:pt x="292" y="157"/>
                  <a:pt x="291" y="166"/>
                  <a:pt x="289" y="175"/>
                </a:cubicBezTo>
                <a:cubicBezTo>
                  <a:pt x="288" y="185"/>
                  <a:pt x="285" y="194"/>
                  <a:pt x="281" y="203"/>
                </a:cubicBezTo>
                <a:cubicBezTo>
                  <a:pt x="277" y="212"/>
                  <a:pt x="273" y="220"/>
                  <a:pt x="268" y="228"/>
                </a:cubicBezTo>
                <a:cubicBezTo>
                  <a:pt x="262" y="236"/>
                  <a:pt x="256" y="243"/>
                  <a:pt x="250" y="250"/>
                </a:cubicBezTo>
                <a:cubicBezTo>
                  <a:pt x="243" y="257"/>
                  <a:pt x="235" y="263"/>
                  <a:pt x="227" y="268"/>
                </a:cubicBezTo>
                <a:cubicBezTo>
                  <a:pt x="220" y="273"/>
                  <a:pt x="211" y="278"/>
                  <a:pt x="202" y="281"/>
                </a:cubicBezTo>
                <a:cubicBezTo>
                  <a:pt x="194" y="285"/>
                  <a:pt x="184" y="288"/>
                  <a:pt x="175" y="290"/>
                </a:cubicBezTo>
                <a:cubicBezTo>
                  <a:pt x="166" y="292"/>
                  <a:pt x="156" y="293"/>
                  <a:pt x="147" y="293"/>
                </a:cubicBezTo>
                <a:cubicBezTo>
                  <a:pt x="137" y="293"/>
                  <a:pt x="128" y="292"/>
                  <a:pt x="118" y="290"/>
                </a:cubicBezTo>
                <a:cubicBezTo>
                  <a:pt x="109" y="288"/>
                  <a:pt x="100" y="285"/>
                  <a:pt x="91" y="281"/>
                </a:cubicBezTo>
                <a:cubicBezTo>
                  <a:pt x="82" y="278"/>
                  <a:pt x="74" y="273"/>
                  <a:pt x="66" y="268"/>
                </a:cubicBezTo>
                <a:cubicBezTo>
                  <a:pt x="58" y="263"/>
                  <a:pt x="51" y="257"/>
                  <a:pt x="44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20"/>
                  <a:pt x="15" y="212"/>
                  <a:pt x="11" y="203"/>
                </a:cubicBezTo>
                <a:cubicBezTo>
                  <a:pt x="8" y="194"/>
                  <a:pt x="5" y="185"/>
                  <a:pt x="3" y="175"/>
                </a:cubicBezTo>
                <a:cubicBezTo>
                  <a:pt x="1" y="166"/>
                  <a:pt x="0" y="157"/>
                  <a:pt x="0" y="147"/>
                </a:cubicBezTo>
                <a:cubicBezTo>
                  <a:pt x="0" y="137"/>
                  <a:pt x="1" y="128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4" y="43"/>
                </a:cubicBezTo>
                <a:cubicBezTo>
                  <a:pt x="51" y="36"/>
                  <a:pt x="58" y="30"/>
                  <a:pt x="66" y="25"/>
                </a:cubicBezTo>
                <a:cubicBezTo>
                  <a:pt x="74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4" y="8"/>
                  <a:pt x="202" y="12"/>
                </a:cubicBezTo>
                <a:cubicBezTo>
                  <a:pt x="211" y="15"/>
                  <a:pt x="220" y="20"/>
                  <a:pt x="227" y="25"/>
                </a:cubicBezTo>
                <a:cubicBezTo>
                  <a:pt x="235" y="30"/>
                  <a:pt x="243" y="36"/>
                  <a:pt x="250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0"/>
                </a:cubicBezTo>
                <a:cubicBezTo>
                  <a:pt x="285" y="99"/>
                  <a:pt x="288" y="108"/>
                  <a:pt x="289" y="118"/>
                </a:cubicBezTo>
                <a:cubicBezTo>
                  <a:pt x="291" y="128"/>
                  <a:pt x="292" y="137"/>
                  <a:pt x="292" y="147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334280" y="325764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ューロンが結合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7334280" y="3743280"/>
            <a:ext cx="43815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/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プーリング層で抽出され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334280" y="41529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た特徴をすべて統合し、クラス分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334280" y="45720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類などを行う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4400" y="392400"/>
            <a:ext cx="455220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4.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主要な層②：プーリング層と全結合層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33520" y="92376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一般的に、畳み込み層とプーリング層を交互に重ねる構成が基本となります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8092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5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33520" y="14382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基本的な設計パターン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809280" y="25714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2" y="165"/>
                  <a:pt x="290" y="174"/>
                </a:cubicBezTo>
                <a:cubicBezTo>
                  <a:pt x="288" y="184"/>
                  <a:pt x="285" y="193"/>
                  <a:pt x="281" y="201"/>
                </a:cubicBezTo>
                <a:cubicBezTo>
                  <a:pt x="278" y="210"/>
                  <a:pt x="273" y="219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5"/>
                  <a:pt x="236" y="261"/>
                  <a:pt x="228" y="267"/>
                </a:cubicBezTo>
                <a:cubicBezTo>
                  <a:pt x="219" y="272"/>
                  <a:pt x="210" y="277"/>
                  <a:pt x="202" y="281"/>
                </a:cubicBezTo>
                <a:cubicBezTo>
                  <a:pt x="193" y="285"/>
                  <a:pt x="184" y="288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7"/>
                  <a:pt x="73" y="272"/>
                  <a:pt x="65" y="267"/>
                </a:cubicBezTo>
                <a:cubicBezTo>
                  <a:pt x="57" y="261"/>
                  <a:pt x="50" y="255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9"/>
                  <a:pt x="15" y="210"/>
                  <a:pt x="12" y="201"/>
                </a:cubicBezTo>
                <a:cubicBezTo>
                  <a:pt x="8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0" y="15"/>
                  <a:pt x="219" y="19"/>
                  <a:pt x="228" y="25"/>
                </a:cubicBezTo>
                <a:cubicBezTo>
                  <a:pt x="236" y="30"/>
                  <a:pt x="243" y="36"/>
                  <a:pt x="250" y="43"/>
                </a:cubicBezTo>
                <a:cubicBezTo>
                  <a:pt x="257" y="50"/>
                  <a:pt x="263" y="57"/>
                  <a:pt x="268" y="65"/>
                </a:cubicBezTo>
                <a:cubicBezTo>
                  <a:pt x="273" y="73"/>
                  <a:pt x="278" y="81"/>
                  <a:pt x="281" y="90"/>
                </a:cubicBezTo>
                <a:cubicBezTo>
                  <a:pt x="285" y="99"/>
                  <a:pt x="288" y="108"/>
                  <a:pt x="290" y="117"/>
                </a:cubicBezTo>
                <a:cubicBezTo>
                  <a:pt x="292" y="127"/>
                  <a:pt x="292" y="136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085760" y="194292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入力層に近い部分でエッジなどの単純な特徴を学習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085760" y="242892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層が深くなるにつれて、より複雑で抽象的な特徴を学習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33520" y="3000240"/>
            <a:ext cx="9893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Figure 5.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複数の畳み込み層を重ねた、より一般的な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アーキテクチャ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09280" y="416232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2" y="164"/>
                  <a:pt x="290" y="174"/>
                </a:cubicBezTo>
                <a:cubicBezTo>
                  <a:pt x="288" y="183"/>
                  <a:pt x="285" y="192"/>
                  <a:pt x="281" y="201"/>
                </a:cubicBezTo>
                <a:cubicBezTo>
                  <a:pt x="278" y="210"/>
                  <a:pt x="273" y="218"/>
                  <a:pt x="268" y="227"/>
                </a:cubicBezTo>
                <a:cubicBezTo>
                  <a:pt x="263" y="235"/>
                  <a:pt x="257" y="242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20" y="218"/>
                  <a:pt x="15" y="210"/>
                  <a:pt x="12" y="201"/>
                </a:cubicBezTo>
                <a:cubicBezTo>
                  <a:pt x="8" y="192"/>
                  <a:pt x="5" y="183"/>
                  <a:pt x="3" y="174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4"/>
                </a:cubicBezTo>
                <a:cubicBezTo>
                  <a:pt x="273" y="72"/>
                  <a:pt x="278" y="81"/>
                  <a:pt x="281" y="90"/>
                </a:cubicBezTo>
                <a:cubicBezTo>
                  <a:pt x="285" y="98"/>
                  <a:pt x="288" y="108"/>
                  <a:pt x="290" y="117"/>
                </a:cubicBezTo>
                <a:cubicBezTo>
                  <a:pt x="292" y="126"/>
                  <a:pt x="292" y="136"/>
                  <a:pt x="292" y="145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33520" y="35053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設計のヒント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085760" y="4019400"/>
            <a:ext cx="10662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小さなフィルタを深く重ねる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3x3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のような小さなフィルタを複数重ねることで、パラ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809280" y="50576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2" y="165"/>
                  <a:pt x="290" y="175"/>
                </a:cubicBezTo>
                <a:cubicBezTo>
                  <a:pt x="288" y="184"/>
                  <a:pt x="285" y="193"/>
                  <a:pt x="281" y="202"/>
                </a:cubicBezTo>
                <a:cubicBezTo>
                  <a:pt x="278" y="211"/>
                  <a:pt x="273" y="219"/>
                  <a:pt x="268" y="227"/>
                </a:cubicBezTo>
                <a:cubicBezTo>
                  <a:pt x="263" y="235"/>
                  <a:pt x="257" y="243"/>
                  <a:pt x="250" y="249"/>
                </a:cubicBezTo>
                <a:cubicBezTo>
                  <a:pt x="243" y="256"/>
                  <a:pt x="236" y="262"/>
                  <a:pt x="228" y="267"/>
                </a:cubicBezTo>
                <a:cubicBezTo>
                  <a:pt x="219" y="273"/>
                  <a:pt x="210" y="277"/>
                  <a:pt x="202" y="281"/>
                </a:cubicBezTo>
                <a:cubicBezTo>
                  <a:pt x="193" y="284"/>
                  <a:pt x="184" y="287"/>
                  <a:pt x="174" y="289"/>
                </a:cubicBezTo>
                <a:cubicBezTo>
                  <a:pt x="165" y="291"/>
                  <a:pt x="156" y="292"/>
                  <a:pt x="146" y="292"/>
                </a:cubicBezTo>
                <a:cubicBezTo>
                  <a:pt x="136" y="292"/>
                  <a:pt x="127" y="291"/>
                  <a:pt x="118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50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20" y="219"/>
                  <a:pt x="15" y="211"/>
                  <a:pt x="12" y="202"/>
                </a:cubicBezTo>
                <a:cubicBezTo>
                  <a:pt x="8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3"/>
                  <a:pt x="25" y="66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ubicBezTo>
                  <a:pt x="156" y="0"/>
                  <a:pt x="165" y="1"/>
                  <a:pt x="174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0" y="15"/>
                  <a:pt x="219" y="19"/>
                  <a:pt x="228" y="24"/>
                </a:cubicBezTo>
                <a:cubicBezTo>
                  <a:pt x="236" y="30"/>
                  <a:pt x="243" y="36"/>
                  <a:pt x="250" y="42"/>
                </a:cubicBezTo>
                <a:cubicBezTo>
                  <a:pt x="257" y="49"/>
                  <a:pt x="263" y="57"/>
                  <a:pt x="268" y="66"/>
                </a:cubicBezTo>
                <a:cubicBezTo>
                  <a:pt x="273" y="73"/>
                  <a:pt x="278" y="82"/>
                  <a:pt x="281" y="91"/>
                </a:cubicBezTo>
                <a:cubicBezTo>
                  <a:pt x="285" y="100"/>
                  <a:pt x="288" y="109"/>
                  <a:pt x="290" y="118"/>
                </a:cubicBezTo>
                <a:cubicBezTo>
                  <a:pt x="292" y="127"/>
                  <a:pt x="292" y="137"/>
                  <a:pt x="292" y="146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1085760" y="442908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メータ数を抑えつつ、より表現力の高い特徴を学習できる。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085760" y="4914720"/>
            <a:ext cx="10473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[CONV -&gt; ReLU] -&gt; POOL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の繰り返し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畳み込みと活性化関数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(ReLU)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をセットにし、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085760" y="532440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プーリングで次元を削減するブロックを繰り返すのが一般的。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14400" y="392400"/>
            <a:ext cx="231768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5. 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の設計レシピ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1946600" y="6436800"/>
            <a:ext cx="30456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33520" y="923760"/>
            <a:ext cx="10914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最初の畳み込み層が学習したフィルタを可視化することで、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の挙動を理解できます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33520" y="1438200"/>
            <a:ext cx="1013220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[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: Figure 3. MNIST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で学習した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の最初の畳み込み層のアクティベーション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274400" y="2362320"/>
            <a:ext cx="9655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この図は、ネットワークが数字の</a:t>
            </a:r>
            <a:r>
              <a:rPr b="0" lang="zh-CN" sz="2170" spc="-1" strike="noStrike">
                <a:solidFill>
                  <a:srgbClr val="c9342f"/>
                </a:solidFill>
                <a:latin typeface="NotoSansJP"/>
                <a:ea typeface="NotoSansJP"/>
              </a:rPr>
              <a:t>エッジやストローク、特定の曲線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といった、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698120" y="277164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画像の基本的な視覚的特徴を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自動で学習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していることを示しています。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14400" y="392400"/>
            <a:ext cx="542772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は何を学習しているのか？ 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(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学習の可視化</a:t>
            </a:r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923760"/>
            <a:ext cx="81561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本論文は、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の基本的な概念とアーキテクチャを解説しました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361880" y="208584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5"/>
                </a:moveTo>
                <a:cubicBezTo>
                  <a:pt x="292" y="155"/>
                  <a:pt x="291" y="164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3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3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4"/>
                  <a:pt x="0" y="155"/>
                  <a:pt x="0" y="145"/>
                </a:cubicBez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7"/>
                  <a:pt x="202" y="11"/>
                </a:cubicBezTo>
                <a:cubicBezTo>
                  <a:pt x="211" y="15"/>
                  <a:pt x="219" y="19"/>
                  <a:pt x="227" y="24"/>
                </a:cubicBezTo>
                <a:cubicBezTo>
                  <a:pt x="235" y="30"/>
                  <a:pt x="243" y="36"/>
                  <a:pt x="249" y="42"/>
                </a:cubicBezTo>
                <a:cubicBezTo>
                  <a:pt x="256" y="49"/>
                  <a:pt x="262" y="57"/>
                  <a:pt x="268" y="65"/>
                </a:cubicBezTo>
                <a:cubicBezTo>
                  <a:pt x="273" y="72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6"/>
                  <a:pt x="292" y="136"/>
                  <a:pt x="292" y="145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93800" y="1438200"/>
            <a:ext cx="339948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1.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効率的なアーキテクチャ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638360" y="1942920"/>
            <a:ext cx="100076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CNN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は画像の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空間的局所性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を利用し、「局所的結合」と「パラメータ共有」によ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638360" y="23623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ってパラメータ数を大幅に削減します。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361880" y="349560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6"/>
                  <a:pt x="291" y="165"/>
                  <a:pt x="289" y="175"/>
                </a:cubicBezTo>
                <a:cubicBezTo>
                  <a:pt x="287" y="184"/>
                  <a:pt x="285" y="193"/>
                  <a:pt x="281" y="202"/>
                </a:cubicBezTo>
                <a:cubicBezTo>
                  <a:pt x="277" y="211"/>
                  <a:pt x="273" y="219"/>
                  <a:pt x="268" y="227"/>
                </a:cubicBezTo>
                <a:cubicBezTo>
                  <a:pt x="262" y="235"/>
                  <a:pt x="256" y="242"/>
                  <a:pt x="249" y="249"/>
                </a:cubicBezTo>
                <a:cubicBezTo>
                  <a:pt x="243" y="256"/>
                  <a:pt x="235" y="262"/>
                  <a:pt x="227" y="267"/>
                </a:cubicBezTo>
                <a:cubicBezTo>
                  <a:pt x="219" y="273"/>
                  <a:pt x="211" y="277"/>
                  <a:pt x="202" y="281"/>
                </a:cubicBezTo>
                <a:cubicBezTo>
                  <a:pt x="193" y="284"/>
                  <a:pt x="184" y="287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7"/>
                  <a:pt x="99" y="284"/>
                  <a:pt x="90" y="281"/>
                </a:cubicBezTo>
                <a:cubicBezTo>
                  <a:pt x="81" y="277"/>
                  <a:pt x="73" y="273"/>
                  <a:pt x="65" y="267"/>
                </a:cubicBezTo>
                <a:cubicBezTo>
                  <a:pt x="57" y="262"/>
                  <a:pt x="49" y="256"/>
                  <a:pt x="43" y="249"/>
                </a:cubicBezTo>
                <a:cubicBezTo>
                  <a:pt x="36" y="242"/>
                  <a:pt x="30" y="235"/>
                  <a:pt x="25" y="227"/>
                </a:cubicBezTo>
                <a:cubicBezTo>
                  <a:pt x="19" y="219"/>
                  <a:pt x="15" y="211"/>
                  <a:pt x="11" y="202"/>
                </a:cubicBezTo>
                <a:cubicBezTo>
                  <a:pt x="7" y="193"/>
                  <a:pt x="5" y="184"/>
                  <a:pt x="3" y="175"/>
                </a:cubicBezTo>
                <a:cubicBezTo>
                  <a:pt x="1" y="165"/>
                  <a:pt x="0" y="156"/>
                  <a:pt x="0" y="146"/>
                </a:cubicBez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1"/>
                </a:cubicBezTo>
                <a:cubicBezTo>
                  <a:pt x="15" y="82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4"/>
                  <a:pt x="193" y="7"/>
                  <a:pt x="202" y="11"/>
                </a:cubicBezTo>
                <a:cubicBezTo>
                  <a:pt x="211" y="14"/>
                  <a:pt x="219" y="19"/>
                  <a:pt x="227" y="24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2"/>
                  <a:pt x="281" y="91"/>
                </a:cubicBezTo>
                <a:cubicBezTo>
                  <a:pt x="285" y="99"/>
                  <a:pt x="287" y="108"/>
                  <a:pt x="289" y="118"/>
                </a:cubicBezTo>
                <a:cubicBezTo>
                  <a:pt x="291" y="127"/>
                  <a:pt x="292" y="137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3800" y="2847960"/>
            <a:ext cx="257184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2.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階層的な特徴抽出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638360" y="3352680"/>
            <a:ext cx="9930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畳み込み層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‧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プーリング層</a:t>
            </a:r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‧</a:t>
            </a:r>
            <a:r>
              <a:rPr b="0" lang="zh-CN" sz="2170" spc="-1" strike="noStrike">
                <a:solidFill>
                  <a:srgbClr val="083a5e"/>
                </a:solidFill>
                <a:latin typeface="NotoSansJP"/>
                <a:ea typeface="NotoSansJP"/>
              </a:rPr>
              <a:t>全結合層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を組み合わせることで、画像から単純な特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638360" y="377172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徴（エッジ）から複雑な特徴（オブジェクト）までを階層的に抽出‧分類しま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638360" y="4181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361880" y="5314680"/>
            <a:ext cx="105120" cy="105120"/>
          </a:xfrm>
          <a:custGeom>
            <a:avLst/>
            <a:gdLst/>
            <a:ahLst/>
            <a:rect l="0" t="0" r="r" b="b"/>
            <a:pathLst>
              <a:path w="292" h="292">
                <a:moveTo>
                  <a:pt x="292" y="146"/>
                </a:moveTo>
                <a:cubicBezTo>
                  <a:pt x="292" y="155"/>
                  <a:pt x="291" y="165"/>
                  <a:pt x="289" y="174"/>
                </a:cubicBezTo>
                <a:cubicBezTo>
                  <a:pt x="287" y="184"/>
                  <a:pt x="285" y="193"/>
                  <a:pt x="281" y="201"/>
                </a:cubicBezTo>
                <a:cubicBezTo>
                  <a:pt x="277" y="210"/>
                  <a:pt x="273" y="219"/>
                  <a:pt x="268" y="228"/>
                </a:cubicBezTo>
                <a:cubicBezTo>
                  <a:pt x="262" y="236"/>
                  <a:pt x="256" y="243"/>
                  <a:pt x="249" y="250"/>
                </a:cubicBezTo>
                <a:cubicBezTo>
                  <a:pt x="243" y="256"/>
                  <a:pt x="235" y="262"/>
                  <a:pt x="227" y="268"/>
                </a:cubicBezTo>
                <a:cubicBezTo>
                  <a:pt x="219" y="273"/>
                  <a:pt x="211" y="278"/>
                  <a:pt x="202" y="281"/>
                </a:cubicBezTo>
                <a:cubicBezTo>
                  <a:pt x="193" y="285"/>
                  <a:pt x="184" y="288"/>
                  <a:pt x="175" y="289"/>
                </a:cubicBezTo>
                <a:cubicBezTo>
                  <a:pt x="166" y="291"/>
                  <a:pt x="156" y="292"/>
                  <a:pt x="147" y="292"/>
                </a:cubicBezTo>
                <a:cubicBezTo>
                  <a:pt x="136" y="292"/>
                  <a:pt x="127" y="291"/>
                  <a:pt x="117" y="289"/>
                </a:cubicBezTo>
                <a:cubicBezTo>
                  <a:pt x="108" y="288"/>
                  <a:pt x="99" y="285"/>
                  <a:pt x="90" y="281"/>
                </a:cubicBezTo>
                <a:cubicBezTo>
                  <a:pt x="81" y="278"/>
                  <a:pt x="73" y="273"/>
                  <a:pt x="65" y="268"/>
                </a:cubicBezTo>
                <a:cubicBezTo>
                  <a:pt x="57" y="262"/>
                  <a:pt x="49" y="256"/>
                  <a:pt x="43" y="250"/>
                </a:cubicBezTo>
                <a:cubicBezTo>
                  <a:pt x="36" y="243"/>
                  <a:pt x="30" y="236"/>
                  <a:pt x="25" y="228"/>
                </a:cubicBezTo>
                <a:cubicBezTo>
                  <a:pt x="19" y="219"/>
                  <a:pt x="15" y="210"/>
                  <a:pt x="11" y="201"/>
                </a:cubicBezTo>
                <a:cubicBezTo>
                  <a:pt x="7" y="193"/>
                  <a:pt x="5" y="184"/>
                  <a:pt x="3" y="174"/>
                </a:cubicBezTo>
                <a:cubicBezTo>
                  <a:pt x="1" y="165"/>
                  <a:pt x="0" y="155"/>
                  <a:pt x="0" y="146"/>
                </a:cubicBez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7" y="0"/>
                </a:cubicBezTo>
                <a:cubicBezTo>
                  <a:pt x="156" y="0"/>
                  <a:pt x="166" y="1"/>
                  <a:pt x="175" y="3"/>
                </a:cubicBezTo>
                <a:cubicBezTo>
                  <a:pt x="184" y="5"/>
                  <a:pt x="193" y="8"/>
                  <a:pt x="202" y="11"/>
                </a:cubicBezTo>
                <a:cubicBezTo>
                  <a:pt x="211" y="15"/>
                  <a:pt x="219" y="19"/>
                  <a:pt x="227" y="25"/>
                </a:cubicBezTo>
                <a:cubicBezTo>
                  <a:pt x="235" y="30"/>
                  <a:pt x="243" y="36"/>
                  <a:pt x="249" y="43"/>
                </a:cubicBezTo>
                <a:cubicBezTo>
                  <a:pt x="256" y="50"/>
                  <a:pt x="262" y="57"/>
                  <a:pt x="268" y="65"/>
                </a:cubicBezTo>
                <a:cubicBezTo>
                  <a:pt x="273" y="73"/>
                  <a:pt x="277" y="81"/>
                  <a:pt x="281" y="90"/>
                </a:cubicBezTo>
                <a:cubicBezTo>
                  <a:pt x="285" y="99"/>
                  <a:pt x="287" y="108"/>
                  <a:pt x="289" y="117"/>
                </a:cubicBezTo>
                <a:cubicBezTo>
                  <a:pt x="291" y="127"/>
                  <a:pt x="292" y="136"/>
                  <a:pt x="292" y="146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93800" y="4667400"/>
            <a:ext cx="3123360" cy="401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3. </a:t>
            </a:r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画像認識の強力な基盤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638360" y="517212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シンプルな構造でありながら高い性能を発揮し、現代の画像認識タスクにおいて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638360" y="55911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JP"/>
                <a:ea typeface="NotoSansJP"/>
              </a:rPr>
              <a:t>不可欠な基本モデルとなっています。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914400" y="392400"/>
            <a:ext cx="1074240" cy="361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6. </a:t>
            </a:r>
            <a:r>
              <a:rPr b="0" lang="zh-CN" sz="1950" spc="-1" strike="noStrike">
                <a:solidFill>
                  <a:srgbClr val="111111"/>
                </a:solidFill>
                <a:latin typeface="NotoSansJP"/>
                <a:ea typeface="NotoSans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777400" y="6436800"/>
            <a:ext cx="348120" cy="41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NotoSansJP"/>
                <a:ea typeface="NotoSansJP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