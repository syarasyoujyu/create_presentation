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"/>
          <p:cNvSpPr txBox="1"/>
          <p:nvPr/>
        </p:nvSpPr>
        <p:spPr>
          <a:xfrm>
            <a:off x="4926240" y="1859400"/>
            <a:ext cx="2411640" cy="361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0b4b78"/>
                </a:solidFill>
                <a:latin typeface="NotoSansJP"/>
                <a:ea typeface="NotoSansJP"/>
              </a:rPr>
              <a:t>論文紹介 </a:t>
            </a:r>
            <a:r>
              <a:rPr b="0" lang="en-US" sz="1950" spc="-1" strike="noStrike">
                <a:solidFill>
                  <a:srgbClr val="0b4b78"/>
                </a:solidFill>
                <a:latin typeface="NotoSansJP"/>
                <a:ea typeface="NotoSansJP"/>
              </a:rPr>
              <a:t>2026/04/07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8" name="" descr=""/>
          <p:cNvPicPr/>
          <p:nvPr/>
        </p:nvPicPr>
        <p:blipFill>
          <a:blip r:embed="rId1"/>
          <a:stretch/>
        </p:blipFill>
        <p:spPr>
          <a:xfrm>
            <a:off x="4809960" y="-190440"/>
            <a:ext cx="2571480" cy="2571480"/>
          </a:xfrm>
          <a:prstGeom prst="rect">
            <a:avLst/>
          </a:prstGeom>
          <a:ln w="0">
            <a:noFill/>
          </a:ln>
        </p:spPr>
      </p:pic>
      <p:sp>
        <p:nvSpPr>
          <p:cNvPr id="9" name=""/>
          <p:cNvSpPr/>
          <p:nvPr/>
        </p:nvSpPr>
        <p:spPr>
          <a:xfrm>
            <a:off x="0" y="3771720"/>
            <a:ext cx="12192120" cy="3086280"/>
          </a:xfrm>
          <a:custGeom>
            <a:avLst/>
            <a:gdLst/>
            <a:ahLst/>
            <a:rect l="0" t="0" r="r" b="b"/>
            <a:pathLst>
              <a:path w="33867" h="8573">
                <a:moveTo>
                  <a:pt x="0" y="0"/>
                </a:moveTo>
                <a:lnTo>
                  <a:pt x="33867" y="0"/>
                </a:lnTo>
                <a:lnTo>
                  <a:pt x="33867" y="8573"/>
                </a:lnTo>
                <a:lnTo>
                  <a:pt x="0" y="8573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" name=""/>
          <p:cNvSpPr txBox="1"/>
          <p:nvPr/>
        </p:nvSpPr>
        <p:spPr>
          <a:xfrm>
            <a:off x="2048040" y="2500920"/>
            <a:ext cx="8110080" cy="690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3750" spc="-1" strike="noStrike">
                <a:solidFill>
                  <a:srgbClr val="0b4b78"/>
                </a:solidFill>
                <a:latin typeface="NotoSansJP"/>
                <a:ea typeface="NotoSansJP"/>
              </a:rPr>
              <a:t>畳み込みニューラルネットワーク入門</a:t>
            </a:r>
            <a:endParaRPr b="0" lang="en-US" sz="3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5353200" y="4708800"/>
            <a:ext cx="160092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00" spc="-1" strike="noStrike">
                <a:solidFill>
                  <a:srgbClr val="ffffff"/>
                </a:solidFill>
                <a:latin typeface="NotoSansJP"/>
                <a:ea typeface="NotoSansJP"/>
              </a:rPr>
              <a:t>理学部　化学科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" name=""/>
          <p:cNvSpPr txBox="1"/>
          <p:nvPr/>
        </p:nvSpPr>
        <p:spPr>
          <a:xfrm>
            <a:off x="5438880" y="5285880"/>
            <a:ext cx="1433160" cy="41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250" spc="-1" strike="noStrike">
                <a:solidFill>
                  <a:srgbClr val="ffffff"/>
                </a:solidFill>
                <a:latin typeface="NotoSansJP"/>
                <a:ea typeface="NotoSansJP"/>
              </a:rPr>
              <a:t>知能　太郎</a:t>
            </a:r>
            <a:endParaRPr b="0" lang="en-US" sz="22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1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" name=""/>
          <p:cNvSpPr txBox="1"/>
          <p:nvPr/>
        </p:nvSpPr>
        <p:spPr>
          <a:xfrm>
            <a:off x="3009960" y="1979280"/>
            <a:ext cx="3614040" cy="443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1. </a:t>
            </a:r>
            <a:r>
              <a:rPr b="0" lang="zh-CN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はじめに：</a:t>
            </a:r>
            <a:r>
              <a:rPr b="0" lang="en-US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ANN</a:t>
            </a:r>
            <a:r>
              <a:rPr b="0" lang="zh-CN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の課題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3009960" y="2436480"/>
            <a:ext cx="1931040" cy="443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2. CNN</a:t>
            </a:r>
            <a:r>
              <a:rPr b="0" lang="zh-CN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とは？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3009960" y="2893680"/>
            <a:ext cx="2540520" cy="443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3. CNN</a:t>
            </a:r>
            <a:r>
              <a:rPr b="0" lang="zh-CN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の基本構造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3009960" y="3350880"/>
            <a:ext cx="2537640" cy="443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4. </a:t>
            </a:r>
            <a:r>
              <a:rPr b="0" lang="zh-CN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主要な層の役割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3009960" y="3808080"/>
            <a:ext cx="2845440" cy="443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5. CNN</a:t>
            </a:r>
            <a:r>
              <a:rPr b="0" lang="zh-CN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構築のレシピ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3009960" y="4265280"/>
            <a:ext cx="1318320" cy="443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6. </a:t>
            </a:r>
            <a:r>
              <a:rPr b="0" lang="zh-CN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まとめ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" name=""/>
          <p:cNvSpPr/>
          <p:nvPr/>
        </p:nvSpPr>
        <p:spPr>
          <a:xfrm>
            <a:off x="209520" y="266400"/>
            <a:ext cx="152640" cy="305280"/>
          </a:xfrm>
          <a:custGeom>
            <a:avLst/>
            <a:gdLst/>
            <a:ahLst/>
            <a:rect l="0" t="0" r="r" b="b"/>
            <a:pathLst>
              <a:path w="424" h="848">
                <a:moveTo>
                  <a:pt x="0" y="0"/>
                </a:moveTo>
                <a:lnTo>
                  <a:pt x="424" y="0"/>
                </a:lnTo>
                <a:lnTo>
                  <a:pt x="424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pic>
        <p:nvPicPr>
          <p:cNvPr id="24" name="" descr=""/>
          <p:cNvPicPr/>
          <p:nvPr/>
        </p:nvPicPr>
        <p:blipFill>
          <a:blip r:embed="rId1"/>
          <a:stretch/>
        </p:blipFill>
        <p:spPr>
          <a:xfrm>
            <a:off x="10744200" y="-219240"/>
            <a:ext cx="1256760" cy="1256760"/>
          </a:xfrm>
          <a:prstGeom prst="rect">
            <a:avLst/>
          </a:prstGeom>
          <a:ln w="0">
            <a:noFill/>
          </a:ln>
        </p:spPr>
      </p:pic>
      <p:sp>
        <p:nvSpPr>
          <p:cNvPr id="25" name=""/>
          <p:cNvSpPr/>
          <p:nvPr/>
        </p:nvSpPr>
        <p:spPr>
          <a:xfrm>
            <a:off x="2666880" y="2104920"/>
            <a:ext cx="171720" cy="171720"/>
          </a:xfrm>
          <a:custGeom>
            <a:avLst/>
            <a:gdLst/>
            <a:ahLst/>
            <a:rect l="0" t="0" r="r" b="b"/>
            <a:pathLst>
              <a:path w="477" h="477">
                <a:moveTo>
                  <a:pt x="0" y="0"/>
                </a:moveTo>
                <a:lnTo>
                  <a:pt x="477" y="0"/>
                </a:lnTo>
                <a:lnTo>
                  <a:pt x="47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" name=""/>
          <p:cNvSpPr/>
          <p:nvPr/>
        </p:nvSpPr>
        <p:spPr>
          <a:xfrm>
            <a:off x="2666880" y="2562120"/>
            <a:ext cx="171720" cy="171720"/>
          </a:xfrm>
          <a:custGeom>
            <a:avLst/>
            <a:gdLst/>
            <a:ahLst/>
            <a:rect l="0" t="0" r="r" b="b"/>
            <a:pathLst>
              <a:path w="477" h="477">
                <a:moveTo>
                  <a:pt x="0" y="0"/>
                </a:moveTo>
                <a:lnTo>
                  <a:pt x="477" y="0"/>
                </a:lnTo>
                <a:lnTo>
                  <a:pt x="47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" name=""/>
          <p:cNvSpPr/>
          <p:nvPr/>
        </p:nvSpPr>
        <p:spPr>
          <a:xfrm>
            <a:off x="2666880" y="3019320"/>
            <a:ext cx="171720" cy="171720"/>
          </a:xfrm>
          <a:custGeom>
            <a:avLst/>
            <a:gdLst/>
            <a:ahLst/>
            <a:rect l="0" t="0" r="r" b="b"/>
            <a:pathLst>
              <a:path w="477" h="477">
                <a:moveTo>
                  <a:pt x="0" y="0"/>
                </a:moveTo>
                <a:lnTo>
                  <a:pt x="477" y="0"/>
                </a:lnTo>
                <a:lnTo>
                  <a:pt x="47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" name=""/>
          <p:cNvSpPr/>
          <p:nvPr/>
        </p:nvSpPr>
        <p:spPr>
          <a:xfrm>
            <a:off x="2666880" y="3476520"/>
            <a:ext cx="171720" cy="171720"/>
          </a:xfrm>
          <a:custGeom>
            <a:avLst/>
            <a:gdLst/>
            <a:ahLst/>
            <a:rect l="0" t="0" r="r" b="b"/>
            <a:pathLst>
              <a:path w="477" h="477">
                <a:moveTo>
                  <a:pt x="0" y="0"/>
                </a:moveTo>
                <a:lnTo>
                  <a:pt x="477" y="0"/>
                </a:lnTo>
                <a:lnTo>
                  <a:pt x="47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" name=""/>
          <p:cNvSpPr/>
          <p:nvPr/>
        </p:nvSpPr>
        <p:spPr>
          <a:xfrm>
            <a:off x="2666880" y="3933720"/>
            <a:ext cx="171720" cy="171720"/>
          </a:xfrm>
          <a:custGeom>
            <a:avLst/>
            <a:gdLst/>
            <a:ahLst/>
            <a:rect l="0" t="0" r="r" b="b"/>
            <a:pathLst>
              <a:path w="477" h="477">
                <a:moveTo>
                  <a:pt x="0" y="0"/>
                </a:moveTo>
                <a:lnTo>
                  <a:pt x="477" y="0"/>
                </a:lnTo>
                <a:lnTo>
                  <a:pt x="47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" name=""/>
          <p:cNvSpPr/>
          <p:nvPr/>
        </p:nvSpPr>
        <p:spPr>
          <a:xfrm>
            <a:off x="2666880" y="4390920"/>
            <a:ext cx="171720" cy="171720"/>
          </a:xfrm>
          <a:custGeom>
            <a:avLst/>
            <a:gdLst/>
            <a:ahLst/>
            <a:rect l="0" t="0" r="r" b="b"/>
            <a:pathLst>
              <a:path w="477" h="477">
                <a:moveTo>
                  <a:pt x="0" y="0"/>
                </a:moveTo>
                <a:lnTo>
                  <a:pt x="477" y="0"/>
                </a:lnTo>
                <a:lnTo>
                  <a:pt x="47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" name=""/>
          <p:cNvSpPr txBox="1"/>
          <p:nvPr/>
        </p:nvSpPr>
        <p:spPr>
          <a:xfrm>
            <a:off x="495360" y="187200"/>
            <a:ext cx="1623960" cy="469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550" spc="-1" strike="noStrike">
                <a:solidFill>
                  <a:srgbClr val="111111"/>
                </a:solidFill>
                <a:latin typeface="NotoSansJP"/>
                <a:ea typeface="NotoSansJP"/>
              </a:rPr>
              <a:t>アジェンダ</a:t>
            </a:r>
            <a:endParaRPr b="0" lang="en-US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2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37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38" name=""/>
          <p:cNvSpPr/>
          <p:nvPr/>
        </p:nvSpPr>
        <p:spPr>
          <a:xfrm>
            <a:off x="809280" y="158112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2" y="165"/>
                  <a:pt x="290" y="174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2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2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2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4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7"/>
                  <a:pt x="1" y="127"/>
                  <a:pt x="3" y="117"/>
                </a:cubicBezTo>
                <a:cubicBezTo>
                  <a:pt x="5" y="107"/>
                  <a:pt x="8" y="98"/>
                  <a:pt x="12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2"/>
                </a:cubicBezTo>
                <a:cubicBezTo>
                  <a:pt x="184" y="4"/>
                  <a:pt x="193" y="7"/>
                  <a:pt x="202" y="11"/>
                </a:cubicBezTo>
                <a:cubicBezTo>
                  <a:pt x="210" y="14"/>
                  <a:pt x="219" y="19"/>
                  <a:pt x="228" y="24"/>
                </a:cubicBezTo>
                <a:cubicBezTo>
                  <a:pt x="236" y="29"/>
                  <a:pt x="243" y="35"/>
                  <a:pt x="250" y="42"/>
                </a:cubicBezTo>
                <a:cubicBezTo>
                  <a:pt x="257" y="49"/>
                  <a:pt x="263" y="56"/>
                  <a:pt x="268" y="64"/>
                </a:cubicBezTo>
                <a:cubicBezTo>
                  <a:pt x="273" y="72"/>
                  <a:pt x="278" y="81"/>
                  <a:pt x="281" y="89"/>
                </a:cubicBezTo>
                <a:cubicBezTo>
                  <a:pt x="285" y="98"/>
                  <a:pt x="288" y="107"/>
                  <a:pt x="290" y="117"/>
                </a:cubicBezTo>
                <a:cubicBezTo>
                  <a:pt x="292" y="127"/>
                  <a:pt x="292" y="137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" name=""/>
          <p:cNvSpPr txBox="1"/>
          <p:nvPr/>
        </p:nvSpPr>
        <p:spPr>
          <a:xfrm>
            <a:off x="533520" y="923760"/>
            <a:ext cx="952632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従来の人工ニューラルネットワーク（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ANN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）は画像認識に課題がありました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" name=""/>
          <p:cNvSpPr/>
          <p:nvPr/>
        </p:nvSpPr>
        <p:spPr>
          <a:xfrm>
            <a:off x="1361880" y="20858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5"/>
                </a:moveTo>
                <a:cubicBezTo>
                  <a:pt x="292" y="155"/>
                  <a:pt x="291" y="164"/>
                  <a:pt x="289" y="175"/>
                </a:cubicBezTo>
                <a:cubicBezTo>
                  <a:pt x="287" y="184"/>
                  <a:pt x="285" y="193"/>
                  <a:pt x="281" y="202"/>
                </a:cubicBezTo>
                <a:cubicBezTo>
                  <a:pt x="277" y="211"/>
                  <a:pt x="273" y="219"/>
                  <a:pt x="268" y="227"/>
                </a:cubicBezTo>
                <a:cubicBezTo>
                  <a:pt x="262" y="235"/>
                  <a:pt x="256" y="243"/>
                  <a:pt x="249" y="249"/>
                </a:cubicBezTo>
                <a:cubicBezTo>
                  <a:pt x="243" y="256"/>
                  <a:pt x="235" y="262"/>
                  <a:pt x="227" y="267"/>
                </a:cubicBezTo>
                <a:cubicBezTo>
                  <a:pt x="219" y="273"/>
                  <a:pt x="211" y="277"/>
                  <a:pt x="202" y="281"/>
                </a:cubicBezTo>
                <a:cubicBezTo>
                  <a:pt x="193" y="284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49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19" y="219"/>
                  <a:pt x="15" y="211"/>
                  <a:pt x="11" y="202"/>
                </a:cubicBezTo>
                <a:cubicBezTo>
                  <a:pt x="7" y="193"/>
                  <a:pt x="5" y="184"/>
                  <a:pt x="3" y="175"/>
                </a:cubicBezTo>
                <a:cubicBezTo>
                  <a:pt x="1" y="164"/>
                  <a:pt x="0" y="155"/>
                  <a:pt x="0" y="145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2"/>
                  <a:pt x="25" y="65"/>
                </a:cubicBezTo>
                <a:cubicBezTo>
                  <a:pt x="30" y="57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7"/>
                  <a:pt x="202" y="11"/>
                </a:cubicBezTo>
                <a:cubicBezTo>
                  <a:pt x="211" y="15"/>
                  <a:pt x="219" y="19"/>
                  <a:pt x="227" y="24"/>
                </a:cubicBezTo>
                <a:cubicBezTo>
                  <a:pt x="235" y="30"/>
                  <a:pt x="243" y="36"/>
                  <a:pt x="249" y="42"/>
                </a:cubicBezTo>
                <a:cubicBezTo>
                  <a:pt x="256" y="49"/>
                  <a:pt x="262" y="57"/>
                  <a:pt x="268" y="65"/>
                </a:cubicBezTo>
                <a:cubicBezTo>
                  <a:pt x="273" y="72"/>
                  <a:pt x="277" y="81"/>
                  <a:pt x="281" y="90"/>
                </a:cubicBezTo>
                <a:cubicBezTo>
                  <a:pt x="285" y="99"/>
                  <a:pt x="287" y="108"/>
                  <a:pt x="289" y="117"/>
                </a:cubicBezTo>
                <a:cubicBezTo>
                  <a:pt x="291" y="126"/>
                  <a:pt x="292" y="136"/>
                  <a:pt x="292" y="145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" name=""/>
          <p:cNvSpPr txBox="1"/>
          <p:nvPr/>
        </p:nvSpPr>
        <p:spPr>
          <a:xfrm>
            <a:off x="1085760" y="1438200"/>
            <a:ext cx="19317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画像の高次元性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"/>
          <p:cNvSpPr/>
          <p:nvPr/>
        </p:nvSpPr>
        <p:spPr>
          <a:xfrm>
            <a:off x="1361880" y="257148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1" y="165"/>
                  <a:pt x="289" y="174"/>
                </a:cubicBezTo>
                <a:cubicBezTo>
                  <a:pt x="287" y="184"/>
                  <a:pt x="285" y="193"/>
                  <a:pt x="281" y="201"/>
                </a:cubicBezTo>
                <a:cubicBezTo>
                  <a:pt x="277" y="210"/>
                  <a:pt x="273" y="219"/>
                  <a:pt x="268" y="227"/>
                </a:cubicBezTo>
                <a:cubicBezTo>
                  <a:pt x="262" y="235"/>
                  <a:pt x="256" y="242"/>
                  <a:pt x="249" y="249"/>
                </a:cubicBezTo>
                <a:cubicBezTo>
                  <a:pt x="243" y="255"/>
                  <a:pt x="235" y="261"/>
                  <a:pt x="227" y="267"/>
                </a:cubicBezTo>
                <a:cubicBezTo>
                  <a:pt x="219" y="272"/>
                  <a:pt x="211" y="277"/>
                  <a:pt x="202" y="281"/>
                </a:cubicBezTo>
                <a:cubicBezTo>
                  <a:pt x="193" y="285"/>
                  <a:pt x="184" y="288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89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7"/>
                  <a:pt x="73" y="272"/>
                  <a:pt x="65" y="267"/>
                </a:cubicBezTo>
                <a:cubicBezTo>
                  <a:pt x="57" y="261"/>
                  <a:pt x="49" y="255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19" y="219"/>
                  <a:pt x="15" y="210"/>
                  <a:pt x="11" y="201"/>
                </a:cubicBezTo>
                <a:cubicBezTo>
                  <a:pt x="7" y="193"/>
                  <a:pt x="5" y="184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1" y="15"/>
                  <a:pt x="219" y="19"/>
                  <a:pt x="227" y="25"/>
                </a:cubicBezTo>
                <a:cubicBezTo>
                  <a:pt x="235" y="30"/>
                  <a:pt x="243" y="36"/>
                  <a:pt x="249" y="43"/>
                </a:cubicBezTo>
                <a:cubicBezTo>
                  <a:pt x="256" y="50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7" y="108"/>
                  <a:pt x="289" y="117"/>
                </a:cubicBezTo>
                <a:cubicBezTo>
                  <a:pt x="291" y="127"/>
                  <a:pt x="292" y="136"/>
                  <a:pt x="292" y="146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"/>
          <p:cNvSpPr txBox="1"/>
          <p:nvPr/>
        </p:nvSpPr>
        <p:spPr>
          <a:xfrm>
            <a:off x="1638360" y="1942920"/>
            <a:ext cx="82760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高解像度のカラー画像を入力すると、パラメータ数が爆発的に増加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"/>
          <p:cNvSpPr txBox="1"/>
          <p:nvPr/>
        </p:nvSpPr>
        <p:spPr>
          <a:xfrm>
            <a:off x="1638360" y="2428920"/>
            <a:ext cx="1023984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例：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64×64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ピクセルのカラー画像では、最初の層のニューロン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1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つに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12,288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個の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" name=""/>
          <p:cNvSpPr/>
          <p:nvPr/>
        </p:nvSpPr>
        <p:spPr>
          <a:xfrm>
            <a:off x="809280" y="346680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7"/>
                </a:moveTo>
                <a:cubicBezTo>
                  <a:pt x="292" y="156"/>
                  <a:pt x="292" y="166"/>
                  <a:pt x="290" y="175"/>
                </a:cubicBezTo>
                <a:cubicBezTo>
                  <a:pt x="288" y="185"/>
                  <a:pt x="285" y="194"/>
                  <a:pt x="281" y="203"/>
                </a:cubicBezTo>
                <a:cubicBezTo>
                  <a:pt x="278" y="211"/>
                  <a:pt x="273" y="220"/>
                  <a:pt x="268" y="228"/>
                </a:cubicBezTo>
                <a:cubicBezTo>
                  <a:pt x="263" y="236"/>
                  <a:pt x="257" y="243"/>
                  <a:pt x="250" y="250"/>
                </a:cubicBezTo>
                <a:cubicBezTo>
                  <a:pt x="243" y="257"/>
                  <a:pt x="236" y="263"/>
                  <a:pt x="228" y="268"/>
                </a:cubicBezTo>
                <a:cubicBezTo>
                  <a:pt x="219" y="273"/>
                  <a:pt x="210" y="278"/>
                  <a:pt x="202" y="281"/>
                </a:cubicBezTo>
                <a:cubicBezTo>
                  <a:pt x="193" y="285"/>
                  <a:pt x="184" y="288"/>
                  <a:pt x="174" y="290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90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8"/>
                  <a:pt x="73" y="273"/>
                  <a:pt x="65" y="268"/>
                </a:cubicBezTo>
                <a:cubicBezTo>
                  <a:pt x="57" y="263"/>
                  <a:pt x="50" y="257"/>
                  <a:pt x="43" y="250"/>
                </a:cubicBezTo>
                <a:cubicBezTo>
                  <a:pt x="36" y="243"/>
                  <a:pt x="30" y="236"/>
                  <a:pt x="25" y="228"/>
                </a:cubicBezTo>
                <a:cubicBezTo>
                  <a:pt x="20" y="220"/>
                  <a:pt x="15" y="211"/>
                  <a:pt x="12" y="203"/>
                </a:cubicBezTo>
                <a:cubicBezTo>
                  <a:pt x="8" y="194"/>
                  <a:pt x="5" y="185"/>
                  <a:pt x="3" y="175"/>
                </a:cubicBezTo>
                <a:cubicBezTo>
                  <a:pt x="1" y="166"/>
                  <a:pt x="0" y="156"/>
                  <a:pt x="0" y="147"/>
                </a:cubicBezTo>
                <a:cubicBezTo>
                  <a:pt x="0" y="137"/>
                  <a:pt x="1" y="128"/>
                  <a:pt x="3" y="117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20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0" y="15"/>
                  <a:pt x="219" y="20"/>
                  <a:pt x="228" y="25"/>
                </a:cubicBezTo>
                <a:cubicBezTo>
                  <a:pt x="236" y="30"/>
                  <a:pt x="243" y="36"/>
                  <a:pt x="250" y="43"/>
                </a:cubicBezTo>
                <a:cubicBezTo>
                  <a:pt x="257" y="50"/>
                  <a:pt x="263" y="57"/>
                  <a:pt x="268" y="65"/>
                </a:cubicBezTo>
                <a:cubicBezTo>
                  <a:pt x="273" y="73"/>
                  <a:pt x="278" y="81"/>
                  <a:pt x="281" y="90"/>
                </a:cubicBezTo>
                <a:cubicBezTo>
                  <a:pt x="285" y="99"/>
                  <a:pt x="288" y="108"/>
                  <a:pt x="290" y="117"/>
                </a:cubicBezTo>
                <a:cubicBezTo>
                  <a:pt x="292" y="128"/>
                  <a:pt x="292" y="137"/>
                  <a:pt x="292" y="147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1638360" y="2847960"/>
            <a:ext cx="275940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重みが必要 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(64×64×3)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"/>
          <p:cNvSpPr/>
          <p:nvPr/>
        </p:nvSpPr>
        <p:spPr>
          <a:xfrm>
            <a:off x="1361880" y="39812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7"/>
                </a:moveTo>
                <a:cubicBezTo>
                  <a:pt x="292" y="156"/>
                  <a:pt x="291" y="166"/>
                  <a:pt x="289" y="175"/>
                </a:cubicBezTo>
                <a:cubicBezTo>
                  <a:pt x="287" y="184"/>
                  <a:pt x="285" y="193"/>
                  <a:pt x="281" y="202"/>
                </a:cubicBezTo>
                <a:cubicBezTo>
                  <a:pt x="277" y="211"/>
                  <a:pt x="273" y="220"/>
                  <a:pt x="268" y="227"/>
                </a:cubicBezTo>
                <a:cubicBezTo>
                  <a:pt x="262" y="235"/>
                  <a:pt x="256" y="243"/>
                  <a:pt x="249" y="250"/>
                </a:cubicBezTo>
                <a:cubicBezTo>
                  <a:pt x="243" y="256"/>
                  <a:pt x="235" y="262"/>
                  <a:pt x="227" y="268"/>
                </a:cubicBezTo>
                <a:cubicBezTo>
                  <a:pt x="219" y="273"/>
                  <a:pt x="211" y="277"/>
                  <a:pt x="202" y="281"/>
                </a:cubicBezTo>
                <a:cubicBezTo>
                  <a:pt x="193" y="285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89"/>
                </a:cubicBezTo>
                <a:cubicBezTo>
                  <a:pt x="108" y="287"/>
                  <a:pt x="99" y="285"/>
                  <a:pt x="90" y="281"/>
                </a:cubicBezTo>
                <a:cubicBezTo>
                  <a:pt x="81" y="277"/>
                  <a:pt x="73" y="273"/>
                  <a:pt x="65" y="268"/>
                </a:cubicBezTo>
                <a:cubicBezTo>
                  <a:pt x="57" y="262"/>
                  <a:pt x="49" y="256"/>
                  <a:pt x="43" y="250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19" y="220"/>
                  <a:pt x="15" y="211"/>
                  <a:pt x="11" y="202"/>
                </a:cubicBezTo>
                <a:cubicBezTo>
                  <a:pt x="7" y="193"/>
                  <a:pt x="5" y="184"/>
                  <a:pt x="3" y="175"/>
                </a:cubicBezTo>
                <a:cubicBezTo>
                  <a:pt x="1" y="166"/>
                  <a:pt x="0" y="156"/>
                  <a:pt x="0" y="147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1" y="15"/>
                  <a:pt x="219" y="19"/>
                  <a:pt x="227" y="25"/>
                </a:cubicBezTo>
                <a:cubicBezTo>
                  <a:pt x="235" y="30"/>
                  <a:pt x="243" y="36"/>
                  <a:pt x="249" y="43"/>
                </a:cubicBezTo>
                <a:cubicBezTo>
                  <a:pt x="256" y="49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7" y="108"/>
                  <a:pt x="289" y="117"/>
                </a:cubicBezTo>
                <a:cubicBezTo>
                  <a:pt x="291" y="127"/>
                  <a:pt x="292" y="136"/>
                  <a:pt x="292" y="147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1085760" y="3324240"/>
            <a:ext cx="237096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過学習 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(Overfitting)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"/>
          <p:cNvSpPr/>
          <p:nvPr/>
        </p:nvSpPr>
        <p:spPr>
          <a:xfrm>
            <a:off x="1361880" y="446688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1" y="165"/>
                  <a:pt x="289" y="174"/>
                </a:cubicBezTo>
                <a:cubicBezTo>
                  <a:pt x="287" y="184"/>
                  <a:pt x="285" y="193"/>
                  <a:pt x="281" y="202"/>
                </a:cubicBezTo>
                <a:cubicBezTo>
                  <a:pt x="277" y="210"/>
                  <a:pt x="273" y="219"/>
                  <a:pt x="268" y="227"/>
                </a:cubicBezTo>
                <a:cubicBezTo>
                  <a:pt x="262" y="235"/>
                  <a:pt x="256" y="242"/>
                  <a:pt x="249" y="249"/>
                </a:cubicBezTo>
                <a:cubicBezTo>
                  <a:pt x="243" y="257"/>
                  <a:pt x="235" y="263"/>
                  <a:pt x="227" y="268"/>
                </a:cubicBezTo>
                <a:cubicBezTo>
                  <a:pt x="219" y="273"/>
                  <a:pt x="211" y="278"/>
                  <a:pt x="202" y="281"/>
                </a:cubicBezTo>
                <a:cubicBezTo>
                  <a:pt x="193" y="285"/>
                  <a:pt x="184" y="288"/>
                  <a:pt x="175" y="290"/>
                </a:cubicBezTo>
                <a:cubicBezTo>
                  <a:pt x="166" y="292"/>
                  <a:pt x="156" y="292"/>
                  <a:pt x="147" y="292"/>
                </a:cubicBezTo>
                <a:cubicBezTo>
                  <a:pt x="136" y="292"/>
                  <a:pt x="127" y="292"/>
                  <a:pt x="117" y="290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8"/>
                  <a:pt x="73" y="273"/>
                  <a:pt x="65" y="268"/>
                </a:cubicBezTo>
                <a:cubicBezTo>
                  <a:pt x="57" y="263"/>
                  <a:pt x="49" y="257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19" y="219"/>
                  <a:pt x="15" y="210"/>
                  <a:pt x="11" y="202"/>
                </a:cubicBezTo>
                <a:cubicBezTo>
                  <a:pt x="7" y="193"/>
                  <a:pt x="5" y="184"/>
                  <a:pt x="3" y="174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20"/>
                  <a:pt x="81" y="15"/>
                  <a:pt x="90" y="12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8"/>
                  <a:pt x="202" y="12"/>
                </a:cubicBezTo>
                <a:cubicBezTo>
                  <a:pt x="211" y="15"/>
                  <a:pt x="219" y="20"/>
                  <a:pt x="227" y="25"/>
                </a:cubicBezTo>
                <a:cubicBezTo>
                  <a:pt x="235" y="30"/>
                  <a:pt x="243" y="36"/>
                  <a:pt x="249" y="43"/>
                </a:cubicBezTo>
                <a:cubicBezTo>
                  <a:pt x="256" y="50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7" y="108"/>
                  <a:pt x="289" y="118"/>
                </a:cubicBezTo>
                <a:cubicBezTo>
                  <a:pt x="291" y="127"/>
                  <a:pt x="292" y="136"/>
                  <a:pt x="292" y="146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" name=""/>
          <p:cNvSpPr txBox="1"/>
          <p:nvPr/>
        </p:nvSpPr>
        <p:spPr>
          <a:xfrm>
            <a:off x="1638360" y="3838680"/>
            <a:ext cx="63450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パラメータが多すぎると、訓練データに過剰に適合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"/>
          <p:cNvSpPr txBox="1"/>
          <p:nvPr/>
        </p:nvSpPr>
        <p:spPr>
          <a:xfrm>
            <a:off x="1638360" y="4324320"/>
            <a:ext cx="6069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未知のデータに対する汎化性能が低下するリスク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"/>
          <p:cNvSpPr txBox="1"/>
          <p:nvPr/>
        </p:nvSpPr>
        <p:spPr>
          <a:xfrm>
            <a:off x="533520" y="5305320"/>
            <a:ext cx="84150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→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画像の特性を考慮した、より効率的なアーキテクチャが必要です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" name=""/>
          <p:cNvSpPr txBox="1"/>
          <p:nvPr/>
        </p:nvSpPr>
        <p:spPr>
          <a:xfrm>
            <a:off x="914400" y="392400"/>
            <a:ext cx="2944800" cy="361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1. </a:t>
            </a:r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はじめに：</a:t>
            </a:r>
            <a:r>
              <a:rPr b="0" lang="en-US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ANN</a:t>
            </a:r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の課題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3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60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61" name=""/>
          <p:cNvSpPr/>
          <p:nvPr/>
        </p:nvSpPr>
        <p:spPr>
          <a:xfrm>
            <a:off x="809280" y="158112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2" y="165"/>
                  <a:pt x="290" y="174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2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2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2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4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7"/>
                  <a:pt x="1" y="127"/>
                  <a:pt x="3" y="117"/>
                </a:cubicBezTo>
                <a:cubicBezTo>
                  <a:pt x="5" y="107"/>
                  <a:pt x="8" y="98"/>
                  <a:pt x="12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2"/>
                </a:cubicBezTo>
                <a:cubicBezTo>
                  <a:pt x="184" y="4"/>
                  <a:pt x="193" y="7"/>
                  <a:pt x="202" y="11"/>
                </a:cubicBezTo>
                <a:cubicBezTo>
                  <a:pt x="210" y="14"/>
                  <a:pt x="219" y="19"/>
                  <a:pt x="228" y="24"/>
                </a:cubicBezTo>
                <a:cubicBezTo>
                  <a:pt x="236" y="29"/>
                  <a:pt x="243" y="35"/>
                  <a:pt x="250" y="42"/>
                </a:cubicBezTo>
                <a:cubicBezTo>
                  <a:pt x="257" y="49"/>
                  <a:pt x="263" y="56"/>
                  <a:pt x="268" y="64"/>
                </a:cubicBezTo>
                <a:cubicBezTo>
                  <a:pt x="273" y="72"/>
                  <a:pt x="278" y="81"/>
                  <a:pt x="281" y="89"/>
                </a:cubicBezTo>
                <a:cubicBezTo>
                  <a:pt x="285" y="98"/>
                  <a:pt x="288" y="107"/>
                  <a:pt x="290" y="117"/>
                </a:cubicBezTo>
                <a:cubicBezTo>
                  <a:pt x="292" y="127"/>
                  <a:pt x="292" y="137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533520" y="923760"/>
            <a:ext cx="961812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Convolutional Neural Network (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畳み込みニューラルネットワーク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)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の略称です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" name=""/>
          <p:cNvSpPr/>
          <p:nvPr/>
        </p:nvSpPr>
        <p:spPr>
          <a:xfrm>
            <a:off x="1361880" y="20858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5"/>
                </a:moveTo>
                <a:cubicBezTo>
                  <a:pt x="292" y="155"/>
                  <a:pt x="291" y="164"/>
                  <a:pt x="289" y="175"/>
                </a:cubicBezTo>
                <a:cubicBezTo>
                  <a:pt x="287" y="184"/>
                  <a:pt x="285" y="193"/>
                  <a:pt x="281" y="202"/>
                </a:cubicBezTo>
                <a:cubicBezTo>
                  <a:pt x="277" y="211"/>
                  <a:pt x="273" y="219"/>
                  <a:pt x="268" y="227"/>
                </a:cubicBezTo>
                <a:cubicBezTo>
                  <a:pt x="262" y="235"/>
                  <a:pt x="256" y="243"/>
                  <a:pt x="249" y="249"/>
                </a:cubicBezTo>
                <a:cubicBezTo>
                  <a:pt x="243" y="256"/>
                  <a:pt x="235" y="262"/>
                  <a:pt x="227" y="267"/>
                </a:cubicBezTo>
                <a:cubicBezTo>
                  <a:pt x="219" y="273"/>
                  <a:pt x="211" y="277"/>
                  <a:pt x="202" y="281"/>
                </a:cubicBezTo>
                <a:cubicBezTo>
                  <a:pt x="193" y="284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49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19" y="219"/>
                  <a:pt x="15" y="211"/>
                  <a:pt x="11" y="202"/>
                </a:cubicBezTo>
                <a:cubicBezTo>
                  <a:pt x="7" y="193"/>
                  <a:pt x="5" y="184"/>
                  <a:pt x="3" y="175"/>
                </a:cubicBezTo>
                <a:cubicBezTo>
                  <a:pt x="1" y="164"/>
                  <a:pt x="0" y="155"/>
                  <a:pt x="0" y="145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2"/>
                  <a:pt x="25" y="65"/>
                </a:cubicBezTo>
                <a:cubicBezTo>
                  <a:pt x="30" y="57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7"/>
                  <a:pt x="202" y="11"/>
                </a:cubicBezTo>
                <a:cubicBezTo>
                  <a:pt x="211" y="15"/>
                  <a:pt x="219" y="19"/>
                  <a:pt x="227" y="24"/>
                </a:cubicBezTo>
                <a:cubicBezTo>
                  <a:pt x="235" y="30"/>
                  <a:pt x="243" y="36"/>
                  <a:pt x="249" y="42"/>
                </a:cubicBezTo>
                <a:cubicBezTo>
                  <a:pt x="256" y="49"/>
                  <a:pt x="262" y="57"/>
                  <a:pt x="268" y="65"/>
                </a:cubicBezTo>
                <a:cubicBezTo>
                  <a:pt x="273" y="72"/>
                  <a:pt x="277" y="81"/>
                  <a:pt x="281" y="90"/>
                </a:cubicBezTo>
                <a:cubicBezTo>
                  <a:pt x="285" y="99"/>
                  <a:pt x="287" y="108"/>
                  <a:pt x="289" y="117"/>
                </a:cubicBezTo>
                <a:cubicBezTo>
                  <a:pt x="291" y="126"/>
                  <a:pt x="292" y="136"/>
                  <a:pt x="292" y="145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1085760" y="1438200"/>
            <a:ext cx="55177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画像処理に特化したニューラルネットワーク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"/>
          <p:cNvSpPr/>
          <p:nvPr/>
        </p:nvSpPr>
        <p:spPr>
          <a:xfrm>
            <a:off x="1361880" y="257148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1" y="165"/>
                  <a:pt x="289" y="174"/>
                </a:cubicBezTo>
                <a:cubicBezTo>
                  <a:pt x="287" y="184"/>
                  <a:pt x="285" y="193"/>
                  <a:pt x="281" y="201"/>
                </a:cubicBezTo>
                <a:cubicBezTo>
                  <a:pt x="277" y="210"/>
                  <a:pt x="273" y="219"/>
                  <a:pt x="268" y="227"/>
                </a:cubicBezTo>
                <a:cubicBezTo>
                  <a:pt x="262" y="235"/>
                  <a:pt x="256" y="242"/>
                  <a:pt x="249" y="249"/>
                </a:cubicBezTo>
                <a:cubicBezTo>
                  <a:pt x="243" y="255"/>
                  <a:pt x="235" y="261"/>
                  <a:pt x="227" y="267"/>
                </a:cubicBezTo>
                <a:cubicBezTo>
                  <a:pt x="219" y="272"/>
                  <a:pt x="211" y="277"/>
                  <a:pt x="202" y="281"/>
                </a:cubicBezTo>
                <a:cubicBezTo>
                  <a:pt x="193" y="285"/>
                  <a:pt x="184" y="288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89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7"/>
                  <a:pt x="73" y="272"/>
                  <a:pt x="65" y="267"/>
                </a:cubicBezTo>
                <a:cubicBezTo>
                  <a:pt x="57" y="261"/>
                  <a:pt x="49" y="255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19" y="219"/>
                  <a:pt x="15" y="210"/>
                  <a:pt x="11" y="201"/>
                </a:cubicBezTo>
                <a:cubicBezTo>
                  <a:pt x="7" y="193"/>
                  <a:pt x="5" y="184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1" y="15"/>
                  <a:pt x="219" y="19"/>
                  <a:pt x="227" y="25"/>
                </a:cubicBezTo>
                <a:cubicBezTo>
                  <a:pt x="235" y="30"/>
                  <a:pt x="243" y="36"/>
                  <a:pt x="249" y="43"/>
                </a:cubicBezTo>
                <a:cubicBezTo>
                  <a:pt x="256" y="50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7" y="108"/>
                  <a:pt x="289" y="117"/>
                </a:cubicBezTo>
                <a:cubicBezTo>
                  <a:pt x="291" y="127"/>
                  <a:pt x="292" y="136"/>
                  <a:pt x="292" y="146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1638360" y="1942920"/>
            <a:ext cx="52416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入力データが画像であることを前提に設計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" name=""/>
          <p:cNvSpPr/>
          <p:nvPr/>
        </p:nvSpPr>
        <p:spPr>
          <a:xfrm>
            <a:off x="809280" y="305748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2" y="165"/>
                  <a:pt x="290" y="175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2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2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2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5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7"/>
                  <a:pt x="1" y="127"/>
                  <a:pt x="3" y="118"/>
                </a:cubicBezTo>
                <a:cubicBezTo>
                  <a:pt x="5" y="108"/>
                  <a:pt x="8" y="99"/>
                  <a:pt x="12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2"/>
                </a:cubicBezTo>
                <a:cubicBezTo>
                  <a:pt x="184" y="4"/>
                  <a:pt x="193" y="7"/>
                  <a:pt x="202" y="11"/>
                </a:cubicBezTo>
                <a:cubicBezTo>
                  <a:pt x="210" y="14"/>
                  <a:pt x="219" y="19"/>
                  <a:pt x="228" y="24"/>
                </a:cubicBezTo>
                <a:cubicBezTo>
                  <a:pt x="236" y="29"/>
                  <a:pt x="243" y="35"/>
                  <a:pt x="250" y="42"/>
                </a:cubicBezTo>
                <a:cubicBezTo>
                  <a:pt x="257" y="49"/>
                  <a:pt x="263" y="56"/>
                  <a:pt x="268" y="64"/>
                </a:cubicBezTo>
                <a:cubicBezTo>
                  <a:pt x="273" y="72"/>
                  <a:pt x="278" y="81"/>
                  <a:pt x="281" y="89"/>
                </a:cubicBezTo>
                <a:cubicBezTo>
                  <a:pt x="285" y="99"/>
                  <a:pt x="288" y="108"/>
                  <a:pt x="290" y="118"/>
                </a:cubicBezTo>
                <a:cubicBezTo>
                  <a:pt x="292" y="127"/>
                  <a:pt x="292" y="137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1638360" y="2428920"/>
            <a:ext cx="55177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生物の視覚野の仕組みにヒントを得ています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" name=""/>
          <p:cNvSpPr/>
          <p:nvPr/>
        </p:nvSpPr>
        <p:spPr>
          <a:xfrm>
            <a:off x="1361880" y="356220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1" y="165"/>
                  <a:pt x="289" y="175"/>
                </a:cubicBezTo>
                <a:cubicBezTo>
                  <a:pt x="287" y="184"/>
                  <a:pt x="285" y="193"/>
                  <a:pt x="281" y="202"/>
                </a:cubicBezTo>
                <a:cubicBezTo>
                  <a:pt x="277" y="211"/>
                  <a:pt x="273" y="219"/>
                  <a:pt x="268" y="227"/>
                </a:cubicBezTo>
                <a:cubicBezTo>
                  <a:pt x="262" y="235"/>
                  <a:pt x="256" y="243"/>
                  <a:pt x="249" y="249"/>
                </a:cubicBezTo>
                <a:cubicBezTo>
                  <a:pt x="243" y="256"/>
                  <a:pt x="235" y="262"/>
                  <a:pt x="227" y="267"/>
                </a:cubicBezTo>
                <a:cubicBezTo>
                  <a:pt x="219" y="273"/>
                  <a:pt x="211" y="277"/>
                  <a:pt x="202" y="281"/>
                </a:cubicBezTo>
                <a:cubicBezTo>
                  <a:pt x="193" y="285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89"/>
                </a:cubicBezTo>
                <a:cubicBezTo>
                  <a:pt x="108" y="287"/>
                  <a:pt x="99" y="285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49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19" y="219"/>
                  <a:pt x="15" y="211"/>
                  <a:pt x="11" y="202"/>
                </a:cubicBezTo>
                <a:cubicBezTo>
                  <a:pt x="7" y="193"/>
                  <a:pt x="5" y="184"/>
                  <a:pt x="3" y="175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7"/>
                  <a:pt x="202" y="11"/>
                </a:cubicBezTo>
                <a:cubicBezTo>
                  <a:pt x="211" y="15"/>
                  <a:pt x="219" y="19"/>
                  <a:pt x="227" y="24"/>
                </a:cubicBezTo>
                <a:cubicBezTo>
                  <a:pt x="235" y="30"/>
                  <a:pt x="243" y="36"/>
                  <a:pt x="249" y="43"/>
                </a:cubicBezTo>
                <a:cubicBezTo>
                  <a:pt x="256" y="49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7" y="108"/>
                  <a:pt x="289" y="117"/>
                </a:cubicBezTo>
                <a:cubicBezTo>
                  <a:pt x="291" y="126"/>
                  <a:pt x="292" y="136"/>
                  <a:pt x="292" y="146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1085760" y="2914560"/>
            <a:ext cx="227448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ANN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との主な違い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" name=""/>
          <p:cNvSpPr/>
          <p:nvPr/>
        </p:nvSpPr>
        <p:spPr>
          <a:xfrm>
            <a:off x="1361880" y="40478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1" y="165"/>
                  <a:pt x="289" y="174"/>
                </a:cubicBezTo>
                <a:cubicBezTo>
                  <a:pt x="287" y="184"/>
                  <a:pt x="285" y="193"/>
                  <a:pt x="281" y="201"/>
                </a:cubicBezTo>
                <a:cubicBezTo>
                  <a:pt x="277" y="210"/>
                  <a:pt x="273" y="219"/>
                  <a:pt x="268" y="227"/>
                </a:cubicBezTo>
                <a:cubicBezTo>
                  <a:pt x="262" y="235"/>
                  <a:pt x="256" y="242"/>
                  <a:pt x="249" y="249"/>
                </a:cubicBezTo>
                <a:cubicBezTo>
                  <a:pt x="243" y="256"/>
                  <a:pt x="235" y="262"/>
                  <a:pt x="227" y="268"/>
                </a:cubicBezTo>
                <a:cubicBezTo>
                  <a:pt x="219" y="273"/>
                  <a:pt x="211" y="278"/>
                  <a:pt x="202" y="281"/>
                </a:cubicBezTo>
                <a:cubicBezTo>
                  <a:pt x="193" y="285"/>
                  <a:pt x="184" y="288"/>
                  <a:pt x="175" y="290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90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8"/>
                  <a:pt x="73" y="273"/>
                  <a:pt x="65" y="268"/>
                </a:cubicBezTo>
                <a:cubicBezTo>
                  <a:pt x="57" y="262"/>
                  <a:pt x="49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19" y="219"/>
                  <a:pt x="15" y="210"/>
                  <a:pt x="11" y="201"/>
                </a:cubicBezTo>
                <a:cubicBezTo>
                  <a:pt x="7" y="193"/>
                  <a:pt x="5" y="184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20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1" y="15"/>
                  <a:pt x="219" y="20"/>
                  <a:pt x="227" y="25"/>
                </a:cubicBezTo>
                <a:cubicBezTo>
                  <a:pt x="235" y="30"/>
                  <a:pt x="243" y="36"/>
                  <a:pt x="249" y="43"/>
                </a:cubicBezTo>
                <a:cubicBezTo>
                  <a:pt x="256" y="50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7" y="108"/>
                  <a:pt x="289" y="117"/>
                </a:cubicBezTo>
                <a:cubicBezTo>
                  <a:pt x="291" y="127"/>
                  <a:pt x="292" y="136"/>
                  <a:pt x="292" y="146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1638360" y="3419640"/>
            <a:ext cx="555300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ニューロンを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3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次元（縦‧横‧深さ）に配置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1638360" y="3905280"/>
            <a:ext cx="66207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ニューロンは前の層の</a:t>
            </a:r>
            <a:r>
              <a:rPr b="0" lang="zh-CN" sz="2170" spc="-1" strike="noStrike">
                <a:solidFill>
                  <a:srgbClr val="083a5e"/>
                </a:solidFill>
                <a:latin typeface="NotoSansJP"/>
                <a:ea typeface="NotoSansJP"/>
              </a:rPr>
              <a:t>一部分（局所領域）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にのみ接続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533520" y="4886280"/>
            <a:ext cx="10207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画像の持つ「空間的な局所性」を活かすことで、パラメータ数を大幅に削減します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914400" y="392400"/>
            <a:ext cx="1572480" cy="361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2. CNN</a:t>
            </a:r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とは？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4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82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83" name=""/>
          <p:cNvSpPr txBox="1"/>
          <p:nvPr/>
        </p:nvSpPr>
        <p:spPr>
          <a:xfrm>
            <a:off x="533520" y="923760"/>
            <a:ext cx="618156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CNN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は主に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3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種類の層を積み重ねて構成されます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"/>
          <p:cNvSpPr/>
          <p:nvPr/>
        </p:nvSpPr>
        <p:spPr>
          <a:xfrm>
            <a:off x="809280" y="250488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2" y="165"/>
                  <a:pt x="290" y="175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3"/>
                  <a:pt x="250" y="249"/>
                </a:cubicBezTo>
                <a:cubicBezTo>
                  <a:pt x="243" y="256"/>
                  <a:pt x="236" y="262"/>
                  <a:pt x="228" y="268"/>
                </a:cubicBezTo>
                <a:cubicBezTo>
                  <a:pt x="219" y="273"/>
                  <a:pt x="210" y="277"/>
                  <a:pt x="202" y="281"/>
                </a:cubicBezTo>
                <a:cubicBezTo>
                  <a:pt x="193" y="285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5"/>
                  <a:pt x="90" y="281"/>
                </a:cubicBezTo>
                <a:cubicBezTo>
                  <a:pt x="81" y="277"/>
                  <a:pt x="73" y="273"/>
                  <a:pt x="65" y="268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5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7"/>
                  <a:pt x="202" y="11"/>
                </a:cubicBezTo>
                <a:cubicBezTo>
                  <a:pt x="210" y="15"/>
                  <a:pt x="219" y="19"/>
                  <a:pt x="228" y="25"/>
                </a:cubicBezTo>
                <a:cubicBezTo>
                  <a:pt x="236" y="30"/>
                  <a:pt x="243" y="36"/>
                  <a:pt x="250" y="43"/>
                </a:cubicBezTo>
                <a:cubicBezTo>
                  <a:pt x="257" y="49"/>
                  <a:pt x="263" y="57"/>
                  <a:pt x="268" y="65"/>
                </a:cubicBezTo>
                <a:cubicBezTo>
                  <a:pt x="273" y="73"/>
                  <a:pt x="278" y="81"/>
                  <a:pt x="281" y="90"/>
                </a:cubicBezTo>
                <a:cubicBezTo>
                  <a:pt x="285" y="99"/>
                  <a:pt x="288" y="108"/>
                  <a:pt x="290" y="117"/>
                </a:cubicBezTo>
                <a:cubicBezTo>
                  <a:pt x="292" y="127"/>
                  <a:pt x="292" y="136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533520" y="1438200"/>
            <a:ext cx="858096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[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図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: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ここにシンプルな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CNN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アーキテクチャの図を入れる 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(Figure 2)]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" name=""/>
          <p:cNvSpPr/>
          <p:nvPr/>
        </p:nvSpPr>
        <p:spPr>
          <a:xfrm>
            <a:off x="1361880" y="300960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1" y="165"/>
                  <a:pt x="289" y="174"/>
                </a:cubicBezTo>
                <a:cubicBezTo>
                  <a:pt x="287" y="184"/>
                  <a:pt x="285" y="193"/>
                  <a:pt x="281" y="202"/>
                </a:cubicBezTo>
                <a:cubicBezTo>
                  <a:pt x="277" y="210"/>
                  <a:pt x="273" y="219"/>
                  <a:pt x="268" y="228"/>
                </a:cubicBezTo>
                <a:cubicBezTo>
                  <a:pt x="262" y="236"/>
                  <a:pt x="256" y="243"/>
                  <a:pt x="249" y="250"/>
                </a:cubicBezTo>
                <a:cubicBezTo>
                  <a:pt x="243" y="257"/>
                  <a:pt x="235" y="263"/>
                  <a:pt x="227" y="268"/>
                </a:cubicBezTo>
                <a:cubicBezTo>
                  <a:pt x="219" y="273"/>
                  <a:pt x="211" y="278"/>
                  <a:pt x="202" y="281"/>
                </a:cubicBezTo>
                <a:cubicBezTo>
                  <a:pt x="193" y="285"/>
                  <a:pt x="184" y="288"/>
                  <a:pt x="175" y="290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90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8"/>
                  <a:pt x="73" y="273"/>
                  <a:pt x="65" y="268"/>
                </a:cubicBezTo>
                <a:cubicBezTo>
                  <a:pt x="57" y="263"/>
                  <a:pt x="49" y="257"/>
                  <a:pt x="43" y="250"/>
                </a:cubicBezTo>
                <a:cubicBezTo>
                  <a:pt x="36" y="243"/>
                  <a:pt x="30" y="236"/>
                  <a:pt x="25" y="228"/>
                </a:cubicBezTo>
                <a:cubicBezTo>
                  <a:pt x="19" y="219"/>
                  <a:pt x="15" y="210"/>
                  <a:pt x="11" y="202"/>
                </a:cubicBezTo>
                <a:cubicBezTo>
                  <a:pt x="7" y="193"/>
                  <a:pt x="5" y="184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20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1" y="15"/>
                  <a:pt x="219" y="20"/>
                  <a:pt x="227" y="25"/>
                </a:cubicBezTo>
                <a:cubicBezTo>
                  <a:pt x="235" y="30"/>
                  <a:pt x="243" y="36"/>
                  <a:pt x="249" y="43"/>
                </a:cubicBezTo>
                <a:cubicBezTo>
                  <a:pt x="256" y="50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7" y="108"/>
                  <a:pt x="289" y="117"/>
                </a:cubicBezTo>
                <a:cubicBezTo>
                  <a:pt x="291" y="127"/>
                  <a:pt x="292" y="136"/>
                  <a:pt x="292" y="146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1085760" y="2362320"/>
            <a:ext cx="401976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畳み込み層 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(Convolutional Layer)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" name=""/>
          <p:cNvSpPr/>
          <p:nvPr/>
        </p:nvSpPr>
        <p:spPr>
          <a:xfrm>
            <a:off x="809280" y="349560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2" y="165"/>
                  <a:pt x="290" y="175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2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3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5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7"/>
                  <a:pt x="1" y="127"/>
                  <a:pt x="3" y="118"/>
                </a:cubicBezTo>
                <a:cubicBezTo>
                  <a:pt x="5" y="108"/>
                  <a:pt x="8" y="99"/>
                  <a:pt x="12" y="91"/>
                </a:cubicBezTo>
                <a:cubicBezTo>
                  <a:pt x="15" y="82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4"/>
                  <a:pt x="193" y="7"/>
                  <a:pt x="202" y="11"/>
                </a:cubicBezTo>
                <a:cubicBezTo>
                  <a:pt x="210" y="14"/>
                  <a:pt x="219" y="19"/>
                  <a:pt x="228" y="24"/>
                </a:cubicBezTo>
                <a:cubicBezTo>
                  <a:pt x="236" y="30"/>
                  <a:pt x="243" y="36"/>
                  <a:pt x="250" y="43"/>
                </a:cubicBezTo>
                <a:cubicBezTo>
                  <a:pt x="257" y="50"/>
                  <a:pt x="263" y="57"/>
                  <a:pt x="268" y="65"/>
                </a:cubicBezTo>
                <a:cubicBezTo>
                  <a:pt x="273" y="73"/>
                  <a:pt x="278" y="82"/>
                  <a:pt x="281" y="91"/>
                </a:cubicBezTo>
                <a:cubicBezTo>
                  <a:pt x="285" y="99"/>
                  <a:pt x="288" y="108"/>
                  <a:pt x="290" y="118"/>
                </a:cubicBezTo>
                <a:cubicBezTo>
                  <a:pt x="292" y="127"/>
                  <a:pt x="292" y="137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9" name=""/>
          <p:cNvSpPr txBox="1"/>
          <p:nvPr/>
        </p:nvSpPr>
        <p:spPr>
          <a:xfrm>
            <a:off x="1638360" y="2867040"/>
            <a:ext cx="68968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画像からエッジや模様などの局所的な特徴を抽出します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" name=""/>
          <p:cNvSpPr/>
          <p:nvPr/>
        </p:nvSpPr>
        <p:spPr>
          <a:xfrm>
            <a:off x="1361880" y="400968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7"/>
                </a:moveTo>
                <a:cubicBezTo>
                  <a:pt x="292" y="157"/>
                  <a:pt x="291" y="166"/>
                  <a:pt x="289" y="175"/>
                </a:cubicBezTo>
                <a:cubicBezTo>
                  <a:pt x="287" y="185"/>
                  <a:pt x="285" y="194"/>
                  <a:pt x="281" y="203"/>
                </a:cubicBezTo>
                <a:cubicBezTo>
                  <a:pt x="277" y="211"/>
                  <a:pt x="273" y="220"/>
                  <a:pt x="268" y="228"/>
                </a:cubicBezTo>
                <a:cubicBezTo>
                  <a:pt x="262" y="236"/>
                  <a:pt x="256" y="243"/>
                  <a:pt x="249" y="250"/>
                </a:cubicBezTo>
                <a:cubicBezTo>
                  <a:pt x="243" y="257"/>
                  <a:pt x="235" y="263"/>
                  <a:pt x="227" y="268"/>
                </a:cubicBezTo>
                <a:cubicBezTo>
                  <a:pt x="219" y="273"/>
                  <a:pt x="211" y="278"/>
                  <a:pt x="202" y="281"/>
                </a:cubicBezTo>
                <a:cubicBezTo>
                  <a:pt x="193" y="285"/>
                  <a:pt x="184" y="288"/>
                  <a:pt x="175" y="290"/>
                </a:cubicBezTo>
                <a:cubicBezTo>
                  <a:pt x="166" y="292"/>
                  <a:pt x="156" y="292"/>
                  <a:pt x="147" y="292"/>
                </a:cubicBezTo>
                <a:cubicBezTo>
                  <a:pt x="136" y="292"/>
                  <a:pt x="127" y="292"/>
                  <a:pt x="117" y="290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8"/>
                  <a:pt x="73" y="273"/>
                  <a:pt x="65" y="268"/>
                </a:cubicBezTo>
                <a:cubicBezTo>
                  <a:pt x="57" y="263"/>
                  <a:pt x="49" y="257"/>
                  <a:pt x="43" y="250"/>
                </a:cubicBezTo>
                <a:cubicBezTo>
                  <a:pt x="36" y="243"/>
                  <a:pt x="30" y="236"/>
                  <a:pt x="25" y="228"/>
                </a:cubicBezTo>
                <a:cubicBezTo>
                  <a:pt x="19" y="220"/>
                  <a:pt x="15" y="211"/>
                  <a:pt x="11" y="203"/>
                </a:cubicBezTo>
                <a:cubicBezTo>
                  <a:pt x="7" y="194"/>
                  <a:pt x="5" y="185"/>
                  <a:pt x="3" y="175"/>
                </a:cubicBezTo>
                <a:cubicBezTo>
                  <a:pt x="1" y="166"/>
                  <a:pt x="0" y="157"/>
                  <a:pt x="0" y="147"/>
                </a:cubicBezTo>
                <a:cubicBezTo>
                  <a:pt x="0" y="137"/>
                  <a:pt x="1" y="128"/>
                  <a:pt x="3" y="119"/>
                </a:cubicBezTo>
                <a:cubicBezTo>
                  <a:pt x="5" y="109"/>
                  <a:pt x="7" y="100"/>
                  <a:pt x="11" y="91"/>
                </a:cubicBezTo>
                <a:cubicBezTo>
                  <a:pt x="15" y="82"/>
                  <a:pt x="19" y="74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20"/>
                  <a:pt x="81" y="15"/>
                  <a:pt x="90" y="12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8"/>
                  <a:pt x="202" y="12"/>
                </a:cubicBezTo>
                <a:cubicBezTo>
                  <a:pt x="211" y="15"/>
                  <a:pt x="219" y="20"/>
                  <a:pt x="227" y="25"/>
                </a:cubicBezTo>
                <a:cubicBezTo>
                  <a:pt x="235" y="30"/>
                  <a:pt x="243" y="36"/>
                  <a:pt x="249" y="43"/>
                </a:cubicBezTo>
                <a:cubicBezTo>
                  <a:pt x="256" y="50"/>
                  <a:pt x="262" y="57"/>
                  <a:pt x="268" y="65"/>
                </a:cubicBezTo>
                <a:cubicBezTo>
                  <a:pt x="273" y="74"/>
                  <a:pt x="277" y="82"/>
                  <a:pt x="281" y="91"/>
                </a:cubicBezTo>
                <a:cubicBezTo>
                  <a:pt x="285" y="100"/>
                  <a:pt x="287" y="109"/>
                  <a:pt x="289" y="119"/>
                </a:cubicBezTo>
                <a:cubicBezTo>
                  <a:pt x="291" y="128"/>
                  <a:pt x="292" y="137"/>
                  <a:pt x="292" y="147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1085760" y="3352680"/>
            <a:ext cx="356580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プーリング層 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(Pooling Layer)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" name=""/>
          <p:cNvSpPr/>
          <p:nvPr/>
        </p:nvSpPr>
        <p:spPr>
          <a:xfrm>
            <a:off x="809280" y="448596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2" y="165"/>
                  <a:pt x="290" y="174"/>
                </a:cubicBezTo>
                <a:cubicBezTo>
                  <a:pt x="288" y="184"/>
                  <a:pt x="285" y="193"/>
                  <a:pt x="281" y="203"/>
                </a:cubicBezTo>
                <a:cubicBezTo>
                  <a:pt x="278" y="211"/>
                  <a:pt x="273" y="220"/>
                  <a:pt x="268" y="228"/>
                </a:cubicBezTo>
                <a:cubicBezTo>
                  <a:pt x="263" y="236"/>
                  <a:pt x="257" y="243"/>
                  <a:pt x="250" y="250"/>
                </a:cubicBezTo>
                <a:cubicBezTo>
                  <a:pt x="243" y="257"/>
                  <a:pt x="236" y="263"/>
                  <a:pt x="228" y="268"/>
                </a:cubicBezTo>
                <a:cubicBezTo>
                  <a:pt x="219" y="273"/>
                  <a:pt x="210" y="278"/>
                  <a:pt x="202" y="281"/>
                </a:cubicBezTo>
                <a:cubicBezTo>
                  <a:pt x="193" y="285"/>
                  <a:pt x="184" y="288"/>
                  <a:pt x="174" y="290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90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8"/>
                  <a:pt x="73" y="273"/>
                  <a:pt x="65" y="268"/>
                </a:cubicBezTo>
                <a:cubicBezTo>
                  <a:pt x="57" y="263"/>
                  <a:pt x="50" y="257"/>
                  <a:pt x="43" y="250"/>
                </a:cubicBezTo>
                <a:cubicBezTo>
                  <a:pt x="36" y="243"/>
                  <a:pt x="30" y="236"/>
                  <a:pt x="25" y="228"/>
                </a:cubicBezTo>
                <a:cubicBezTo>
                  <a:pt x="20" y="220"/>
                  <a:pt x="15" y="211"/>
                  <a:pt x="12" y="203"/>
                </a:cubicBezTo>
                <a:cubicBezTo>
                  <a:pt x="8" y="193"/>
                  <a:pt x="5" y="184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20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0" y="15"/>
                  <a:pt x="219" y="20"/>
                  <a:pt x="228" y="25"/>
                </a:cubicBezTo>
                <a:cubicBezTo>
                  <a:pt x="236" y="30"/>
                  <a:pt x="243" y="36"/>
                  <a:pt x="250" y="43"/>
                </a:cubicBezTo>
                <a:cubicBezTo>
                  <a:pt x="257" y="50"/>
                  <a:pt x="263" y="57"/>
                  <a:pt x="268" y="65"/>
                </a:cubicBezTo>
                <a:cubicBezTo>
                  <a:pt x="273" y="73"/>
                  <a:pt x="278" y="81"/>
                  <a:pt x="281" y="90"/>
                </a:cubicBezTo>
                <a:cubicBezTo>
                  <a:pt x="285" y="99"/>
                  <a:pt x="288" y="108"/>
                  <a:pt x="290" y="118"/>
                </a:cubicBezTo>
                <a:cubicBezTo>
                  <a:pt x="292" y="127"/>
                  <a:pt x="292" y="136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3" name=""/>
          <p:cNvSpPr txBox="1"/>
          <p:nvPr/>
        </p:nvSpPr>
        <p:spPr>
          <a:xfrm>
            <a:off x="1638360" y="3867120"/>
            <a:ext cx="6069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特徴を維持したまま、データの次元を削減します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" name=""/>
          <p:cNvSpPr/>
          <p:nvPr/>
        </p:nvSpPr>
        <p:spPr>
          <a:xfrm>
            <a:off x="1361880" y="500040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1" y="165"/>
                  <a:pt x="289" y="174"/>
                </a:cubicBezTo>
                <a:cubicBezTo>
                  <a:pt x="287" y="183"/>
                  <a:pt x="285" y="193"/>
                  <a:pt x="281" y="201"/>
                </a:cubicBezTo>
                <a:cubicBezTo>
                  <a:pt x="277" y="210"/>
                  <a:pt x="273" y="219"/>
                  <a:pt x="268" y="227"/>
                </a:cubicBezTo>
                <a:cubicBezTo>
                  <a:pt x="262" y="235"/>
                  <a:pt x="256" y="243"/>
                  <a:pt x="249" y="250"/>
                </a:cubicBezTo>
                <a:cubicBezTo>
                  <a:pt x="243" y="256"/>
                  <a:pt x="235" y="262"/>
                  <a:pt x="227" y="268"/>
                </a:cubicBezTo>
                <a:cubicBezTo>
                  <a:pt x="219" y="273"/>
                  <a:pt x="211" y="277"/>
                  <a:pt x="202" y="281"/>
                </a:cubicBezTo>
                <a:cubicBezTo>
                  <a:pt x="193" y="285"/>
                  <a:pt x="184" y="288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89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7"/>
                  <a:pt x="73" y="273"/>
                  <a:pt x="65" y="268"/>
                </a:cubicBezTo>
                <a:cubicBezTo>
                  <a:pt x="57" y="262"/>
                  <a:pt x="49" y="256"/>
                  <a:pt x="43" y="250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19" y="219"/>
                  <a:pt x="15" y="210"/>
                  <a:pt x="11" y="201"/>
                </a:cubicBezTo>
                <a:cubicBezTo>
                  <a:pt x="7" y="193"/>
                  <a:pt x="5" y="183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1" y="15"/>
                  <a:pt x="219" y="19"/>
                  <a:pt x="227" y="25"/>
                </a:cubicBezTo>
                <a:cubicBezTo>
                  <a:pt x="235" y="30"/>
                  <a:pt x="243" y="36"/>
                  <a:pt x="249" y="43"/>
                </a:cubicBezTo>
                <a:cubicBezTo>
                  <a:pt x="256" y="50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7" y="108"/>
                  <a:pt x="289" y="117"/>
                </a:cubicBezTo>
                <a:cubicBezTo>
                  <a:pt x="291" y="127"/>
                  <a:pt x="292" y="136"/>
                  <a:pt x="292" y="146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1085760" y="4343400"/>
            <a:ext cx="400320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全結合層 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(Fully-connected Layer)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1638360" y="4857840"/>
            <a:ext cx="63450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抽出された特徴を統合し、最終的な分類を行います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914400" y="392400"/>
            <a:ext cx="2069280" cy="361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3. CNN</a:t>
            </a:r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の基本構造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5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04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105" name=""/>
          <p:cNvSpPr/>
          <p:nvPr/>
        </p:nvSpPr>
        <p:spPr>
          <a:xfrm>
            <a:off x="809280" y="1828440"/>
            <a:ext cx="105120" cy="105480"/>
          </a:xfrm>
          <a:custGeom>
            <a:avLst/>
            <a:gdLst/>
            <a:ahLst/>
            <a:rect l="0" t="0" r="r" b="b"/>
            <a:pathLst>
              <a:path w="292" h="293">
                <a:moveTo>
                  <a:pt x="292" y="147"/>
                </a:moveTo>
                <a:cubicBezTo>
                  <a:pt x="292" y="157"/>
                  <a:pt x="292" y="166"/>
                  <a:pt x="290" y="175"/>
                </a:cubicBezTo>
                <a:cubicBezTo>
                  <a:pt x="288" y="185"/>
                  <a:pt x="285" y="194"/>
                  <a:pt x="281" y="203"/>
                </a:cubicBezTo>
                <a:cubicBezTo>
                  <a:pt x="278" y="212"/>
                  <a:pt x="273" y="220"/>
                  <a:pt x="268" y="228"/>
                </a:cubicBezTo>
                <a:cubicBezTo>
                  <a:pt x="263" y="236"/>
                  <a:pt x="257" y="243"/>
                  <a:pt x="250" y="250"/>
                </a:cubicBezTo>
                <a:cubicBezTo>
                  <a:pt x="243" y="257"/>
                  <a:pt x="236" y="263"/>
                  <a:pt x="228" y="268"/>
                </a:cubicBezTo>
                <a:cubicBezTo>
                  <a:pt x="219" y="273"/>
                  <a:pt x="210" y="278"/>
                  <a:pt x="202" y="281"/>
                </a:cubicBezTo>
                <a:cubicBezTo>
                  <a:pt x="193" y="285"/>
                  <a:pt x="184" y="288"/>
                  <a:pt x="174" y="290"/>
                </a:cubicBezTo>
                <a:cubicBezTo>
                  <a:pt x="165" y="292"/>
                  <a:pt x="156" y="293"/>
                  <a:pt x="146" y="293"/>
                </a:cubicBezTo>
                <a:cubicBezTo>
                  <a:pt x="136" y="293"/>
                  <a:pt x="127" y="292"/>
                  <a:pt x="118" y="290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8"/>
                  <a:pt x="73" y="273"/>
                  <a:pt x="65" y="268"/>
                </a:cubicBezTo>
                <a:cubicBezTo>
                  <a:pt x="57" y="263"/>
                  <a:pt x="50" y="257"/>
                  <a:pt x="43" y="250"/>
                </a:cubicBezTo>
                <a:cubicBezTo>
                  <a:pt x="36" y="243"/>
                  <a:pt x="30" y="236"/>
                  <a:pt x="25" y="228"/>
                </a:cubicBezTo>
                <a:cubicBezTo>
                  <a:pt x="20" y="220"/>
                  <a:pt x="15" y="212"/>
                  <a:pt x="12" y="203"/>
                </a:cubicBezTo>
                <a:cubicBezTo>
                  <a:pt x="8" y="194"/>
                  <a:pt x="5" y="185"/>
                  <a:pt x="3" y="175"/>
                </a:cubicBezTo>
                <a:cubicBezTo>
                  <a:pt x="1" y="166"/>
                  <a:pt x="0" y="157"/>
                  <a:pt x="0" y="147"/>
                </a:cubicBezTo>
                <a:cubicBezTo>
                  <a:pt x="0" y="137"/>
                  <a:pt x="1" y="128"/>
                  <a:pt x="3" y="119"/>
                </a:cubicBezTo>
                <a:cubicBezTo>
                  <a:pt x="5" y="109"/>
                  <a:pt x="8" y="100"/>
                  <a:pt x="12" y="91"/>
                </a:cubicBezTo>
                <a:cubicBezTo>
                  <a:pt x="15" y="83"/>
                  <a:pt x="20" y="74"/>
                  <a:pt x="25" y="66"/>
                </a:cubicBezTo>
                <a:cubicBezTo>
                  <a:pt x="30" y="58"/>
                  <a:pt x="36" y="51"/>
                  <a:pt x="43" y="44"/>
                </a:cubicBezTo>
                <a:cubicBezTo>
                  <a:pt x="50" y="37"/>
                  <a:pt x="57" y="31"/>
                  <a:pt x="65" y="26"/>
                </a:cubicBezTo>
                <a:cubicBezTo>
                  <a:pt x="73" y="21"/>
                  <a:pt x="81" y="16"/>
                  <a:pt x="90" y="12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8"/>
                  <a:pt x="202" y="12"/>
                </a:cubicBezTo>
                <a:cubicBezTo>
                  <a:pt x="210" y="16"/>
                  <a:pt x="219" y="21"/>
                  <a:pt x="228" y="26"/>
                </a:cubicBezTo>
                <a:cubicBezTo>
                  <a:pt x="236" y="31"/>
                  <a:pt x="243" y="37"/>
                  <a:pt x="250" y="44"/>
                </a:cubicBezTo>
                <a:cubicBezTo>
                  <a:pt x="257" y="51"/>
                  <a:pt x="263" y="58"/>
                  <a:pt x="268" y="66"/>
                </a:cubicBezTo>
                <a:cubicBezTo>
                  <a:pt x="273" y="74"/>
                  <a:pt x="278" y="83"/>
                  <a:pt x="281" y="91"/>
                </a:cubicBezTo>
                <a:cubicBezTo>
                  <a:pt x="285" y="100"/>
                  <a:pt x="288" y="109"/>
                  <a:pt x="290" y="119"/>
                </a:cubicBezTo>
                <a:cubicBezTo>
                  <a:pt x="292" y="128"/>
                  <a:pt x="292" y="137"/>
                  <a:pt x="292" y="147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533520" y="1113480"/>
            <a:ext cx="3348000" cy="441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390" spc="-1" strike="noStrike">
                <a:solidFill>
                  <a:srgbClr val="111111"/>
                </a:solidFill>
                <a:latin typeface="NotoSansJP"/>
                <a:ea typeface="NotoSansJP"/>
              </a:rPr>
              <a:t>畳み込み層</a:t>
            </a:r>
            <a:r>
              <a:rPr b="0" lang="en-US" sz="2390" spc="-1" strike="noStrike">
                <a:solidFill>
                  <a:srgbClr val="111111"/>
                </a:solidFill>
                <a:latin typeface="NotoSansJP"/>
                <a:ea typeface="NotoSansJP"/>
              </a:rPr>
              <a:t>: </a:t>
            </a:r>
            <a:r>
              <a:rPr b="0" lang="zh-CN" sz="2390" spc="-1" strike="noStrike">
                <a:solidFill>
                  <a:srgbClr val="111111"/>
                </a:solidFill>
                <a:latin typeface="NotoSansJP"/>
                <a:ea typeface="NotoSansJP"/>
              </a:rPr>
              <a:t>特徴の抽出</a:t>
            </a:r>
            <a:endParaRPr b="0" lang="en-US" sz="23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1085760" y="168588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学習可能なフィルタ（カーネル）で画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" name=""/>
          <p:cNvSpPr/>
          <p:nvPr/>
        </p:nvSpPr>
        <p:spPr>
          <a:xfrm>
            <a:off x="809280" y="272412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2" y="165"/>
                  <a:pt x="290" y="174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2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2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2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4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2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2"/>
                </a:cubicBezTo>
                <a:cubicBezTo>
                  <a:pt x="184" y="4"/>
                  <a:pt x="193" y="7"/>
                  <a:pt x="202" y="11"/>
                </a:cubicBezTo>
                <a:cubicBezTo>
                  <a:pt x="210" y="14"/>
                  <a:pt x="219" y="19"/>
                  <a:pt x="228" y="24"/>
                </a:cubicBezTo>
                <a:cubicBezTo>
                  <a:pt x="236" y="29"/>
                  <a:pt x="243" y="35"/>
                  <a:pt x="250" y="42"/>
                </a:cubicBezTo>
                <a:cubicBezTo>
                  <a:pt x="257" y="49"/>
                  <a:pt x="263" y="56"/>
                  <a:pt x="268" y="64"/>
                </a:cubicBezTo>
                <a:cubicBezTo>
                  <a:pt x="273" y="72"/>
                  <a:pt x="278" y="81"/>
                  <a:pt x="281" y="89"/>
                </a:cubicBezTo>
                <a:cubicBezTo>
                  <a:pt x="285" y="98"/>
                  <a:pt x="288" y="107"/>
                  <a:pt x="290" y="117"/>
                </a:cubicBezTo>
                <a:cubicBezTo>
                  <a:pt x="292" y="126"/>
                  <a:pt x="292" y="136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1085760" y="2104920"/>
            <a:ext cx="13798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像上を走査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1085760" y="2581200"/>
            <a:ext cx="41385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エッジやコーナー等の特徴マップ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" name=""/>
          <p:cNvSpPr/>
          <p:nvPr/>
        </p:nvSpPr>
        <p:spPr>
          <a:xfrm>
            <a:off x="809280" y="362880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2" y="165"/>
                  <a:pt x="290" y="174"/>
                </a:cubicBezTo>
                <a:cubicBezTo>
                  <a:pt x="288" y="183"/>
                  <a:pt x="285" y="193"/>
                  <a:pt x="281" y="201"/>
                </a:cubicBezTo>
                <a:cubicBezTo>
                  <a:pt x="278" y="210"/>
                  <a:pt x="273" y="219"/>
                  <a:pt x="268" y="226"/>
                </a:cubicBezTo>
                <a:cubicBezTo>
                  <a:pt x="263" y="234"/>
                  <a:pt x="257" y="242"/>
                  <a:pt x="250" y="249"/>
                </a:cubicBezTo>
                <a:cubicBezTo>
                  <a:pt x="243" y="256"/>
                  <a:pt x="236" y="262"/>
                  <a:pt x="228" y="268"/>
                </a:cubicBezTo>
                <a:cubicBezTo>
                  <a:pt x="219" y="273"/>
                  <a:pt x="210" y="277"/>
                  <a:pt x="202" y="281"/>
                </a:cubicBezTo>
                <a:cubicBezTo>
                  <a:pt x="193" y="285"/>
                  <a:pt x="184" y="288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7"/>
                  <a:pt x="73" y="273"/>
                  <a:pt x="65" y="268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4"/>
                  <a:pt x="25" y="226"/>
                </a:cubicBezTo>
                <a:cubicBezTo>
                  <a:pt x="20" y="219"/>
                  <a:pt x="15" y="210"/>
                  <a:pt x="12" y="201"/>
                </a:cubicBezTo>
                <a:cubicBezTo>
                  <a:pt x="8" y="193"/>
                  <a:pt x="5" y="183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0" y="15"/>
                  <a:pt x="219" y="19"/>
                  <a:pt x="228" y="25"/>
                </a:cubicBezTo>
                <a:cubicBezTo>
                  <a:pt x="236" y="30"/>
                  <a:pt x="243" y="36"/>
                  <a:pt x="250" y="43"/>
                </a:cubicBezTo>
                <a:cubicBezTo>
                  <a:pt x="257" y="50"/>
                  <a:pt x="263" y="57"/>
                  <a:pt x="268" y="65"/>
                </a:cubicBezTo>
                <a:cubicBezTo>
                  <a:pt x="273" y="73"/>
                  <a:pt x="278" y="81"/>
                  <a:pt x="281" y="90"/>
                </a:cubicBezTo>
                <a:cubicBezTo>
                  <a:pt x="285" y="99"/>
                  <a:pt x="288" y="108"/>
                  <a:pt x="290" y="117"/>
                </a:cubicBezTo>
                <a:cubicBezTo>
                  <a:pt x="292" y="127"/>
                  <a:pt x="292" y="136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2" name=""/>
          <p:cNvSpPr txBox="1"/>
          <p:nvPr/>
        </p:nvSpPr>
        <p:spPr>
          <a:xfrm>
            <a:off x="1085760" y="3000240"/>
            <a:ext cx="329292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（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Activation Map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）を生成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1085760" y="348624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083a5e"/>
                </a:solidFill>
                <a:latin typeface="NotoSansJP"/>
                <a:ea typeface="NotoSansJP"/>
              </a:rPr>
              <a:t>パラメータ共有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の仕組みにより、少な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" name=""/>
          <p:cNvSpPr txBox="1"/>
          <p:nvPr/>
        </p:nvSpPr>
        <p:spPr>
          <a:xfrm>
            <a:off x="1085760" y="3895560"/>
            <a:ext cx="30351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いパラメータで学習可能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533520" y="4876920"/>
            <a:ext cx="519336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活性化関数には主に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ReLU (Rectified Linear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533520" y="5295960"/>
            <a:ext cx="264816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Unit)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が使われます。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6229440" y="923760"/>
            <a:ext cx="513576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[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図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: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ここに畳み込み演算の図解を入れる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" name=""/>
          <p:cNvSpPr txBox="1"/>
          <p:nvPr/>
        </p:nvSpPr>
        <p:spPr>
          <a:xfrm>
            <a:off x="6229440" y="1343160"/>
            <a:ext cx="122004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(Figure 4)]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6457680" y="2171520"/>
            <a:ext cx="49658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カーネルを適用し、特徴を抽出する様子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1" name=""/>
          <p:cNvSpPr txBox="1"/>
          <p:nvPr/>
        </p:nvSpPr>
        <p:spPr>
          <a:xfrm>
            <a:off x="914400" y="392400"/>
            <a:ext cx="2682000" cy="361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4. </a:t>
            </a:r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主要な層の役割 </a:t>
            </a:r>
            <a:r>
              <a:rPr b="0" lang="en-US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(1/4)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6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27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128" name=""/>
          <p:cNvSpPr txBox="1"/>
          <p:nvPr/>
        </p:nvSpPr>
        <p:spPr>
          <a:xfrm>
            <a:off x="533520" y="923760"/>
            <a:ext cx="6621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畳み込み層の出力サイズは、以下の式で計算できます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6726240" y="1634400"/>
            <a:ext cx="281520" cy="384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20" spc="-1" strike="noStrike">
                <a:solidFill>
                  <a:srgbClr val="111111"/>
                </a:solidFill>
                <a:latin typeface="NotoSansJP"/>
                <a:ea typeface="NotoSansJP"/>
              </a:rPr>
              <a:t>+</a:t>
            </a:r>
            <a:endParaRPr b="0" lang="en-US" sz="22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" name=""/>
          <p:cNvSpPr/>
          <p:nvPr/>
        </p:nvSpPr>
        <p:spPr>
          <a:xfrm>
            <a:off x="5124240" y="1857240"/>
            <a:ext cx="1505160" cy="9720"/>
          </a:xfrm>
          <a:custGeom>
            <a:avLst/>
            <a:gdLst/>
            <a:ahLst/>
            <a:rect l="0" t="0" r="r" b="b"/>
            <a:pathLst>
              <a:path w="4181" h="27">
                <a:moveTo>
                  <a:pt x="0" y="0"/>
                </a:moveTo>
                <a:lnTo>
                  <a:pt x="4181" y="0"/>
                </a:lnTo>
                <a:lnTo>
                  <a:pt x="418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5784840" y="1832400"/>
            <a:ext cx="281520" cy="384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20" spc="-1" strike="noStrike">
                <a:solidFill>
                  <a:srgbClr val="111111"/>
                </a:solidFill>
                <a:latin typeface="NotoSansJP"/>
                <a:ea typeface="NotoSansJP"/>
              </a:rPr>
              <a:t>S</a:t>
            </a:r>
            <a:endParaRPr b="0" lang="en-US" sz="22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5124240" y="1441800"/>
            <a:ext cx="1478880" cy="384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20" spc="-1" strike="noStrike">
                <a:solidFill>
                  <a:srgbClr val="111111"/>
                </a:solidFill>
                <a:latin typeface="NotoSansJP"/>
                <a:ea typeface="NotoSansJP"/>
              </a:rPr>
              <a:t>(V − R + 2Z)</a:t>
            </a:r>
            <a:endParaRPr b="0" lang="en-US" sz="22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" name=""/>
          <p:cNvSpPr/>
          <p:nvPr/>
        </p:nvSpPr>
        <p:spPr>
          <a:xfrm>
            <a:off x="809280" y="259056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2" y="165"/>
                  <a:pt x="290" y="174"/>
                </a:cubicBezTo>
                <a:cubicBezTo>
                  <a:pt x="288" y="183"/>
                  <a:pt x="285" y="193"/>
                  <a:pt x="281" y="201"/>
                </a:cubicBezTo>
                <a:cubicBezTo>
                  <a:pt x="278" y="210"/>
                  <a:pt x="273" y="219"/>
                  <a:pt x="268" y="228"/>
                </a:cubicBezTo>
                <a:cubicBezTo>
                  <a:pt x="263" y="235"/>
                  <a:pt x="257" y="243"/>
                  <a:pt x="250" y="250"/>
                </a:cubicBezTo>
                <a:cubicBezTo>
                  <a:pt x="243" y="256"/>
                  <a:pt x="236" y="262"/>
                  <a:pt x="228" y="268"/>
                </a:cubicBezTo>
                <a:cubicBezTo>
                  <a:pt x="219" y="273"/>
                  <a:pt x="210" y="277"/>
                  <a:pt x="202" y="281"/>
                </a:cubicBezTo>
                <a:cubicBezTo>
                  <a:pt x="193" y="285"/>
                  <a:pt x="184" y="288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7"/>
                  <a:pt x="73" y="273"/>
                  <a:pt x="65" y="268"/>
                </a:cubicBezTo>
                <a:cubicBezTo>
                  <a:pt x="57" y="262"/>
                  <a:pt x="50" y="256"/>
                  <a:pt x="43" y="250"/>
                </a:cubicBezTo>
                <a:cubicBezTo>
                  <a:pt x="36" y="243"/>
                  <a:pt x="30" y="235"/>
                  <a:pt x="25" y="228"/>
                </a:cubicBezTo>
                <a:cubicBezTo>
                  <a:pt x="20" y="219"/>
                  <a:pt x="15" y="210"/>
                  <a:pt x="12" y="201"/>
                </a:cubicBezTo>
                <a:cubicBezTo>
                  <a:pt x="8" y="193"/>
                  <a:pt x="5" y="183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0" y="15"/>
                  <a:pt x="219" y="19"/>
                  <a:pt x="228" y="25"/>
                </a:cubicBezTo>
                <a:cubicBezTo>
                  <a:pt x="236" y="30"/>
                  <a:pt x="243" y="36"/>
                  <a:pt x="250" y="43"/>
                </a:cubicBezTo>
                <a:cubicBezTo>
                  <a:pt x="257" y="50"/>
                  <a:pt x="263" y="57"/>
                  <a:pt x="268" y="65"/>
                </a:cubicBezTo>
                <a:cubicBezTo>
                  <a:pt x="273" y="73"/>
                  <a:pt x="278" y="81"/>
                  <a:pt x="281" y="90"/>
                </a:cubicBezTo>
                <a:cubicBezTo>
                  <a:pt x="285" y="99"/>
                  <a:pt x="288" y="108"/>
                  <a:pt x="290" y="117"/>
                </a:cubicBezTo>
                <a:cubicBezTo>
                  <a:pt x="292" y="127"/>
                  <a:pt x="292" y="136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4" name=""/>
          <p:cNvSpPr txBox="1"/>
          <p:nvPr/>
        </p:nvSpPr>
        <p:spPr>
          <a:xfrm>
            <a:off x="6945120" y="1632240"/>
            <a:ext cx="281520" cy="384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20" spc="-1" strike="noStrike">
                <a:solidFill>
                  <a:srgbClr val="111111"/>
                </a:solidFill>
                <a:latin typeface="NotoSansJP"/>
                <a:ea typeface="NotoSansJP"/>
              </a:rPr>
              <a:t>1</a:t>
            </a:r>
            <a:endParaRPr b="0" lang="en-US" sz="22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" name=""/>
          <p:cNvSpPr/>
          <p:nvPr/>
        </p:nvSpPr>
        <p:spPr>
          <a:xfrm>
            <a:off x="809280" y="307656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2" y="165"/>
                  <a:pt x="290" y="174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2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2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2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4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7"/>
                  <a:pt x="1" y="127"/>
                  <a:pt x="3" y="118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2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0"/>
                  <a:pt x="136" y="0"/>
                  <a:pt x="146" y="0"/>
                </a:cubicBezTo>
                <a:cubicBezTo>
                  <a:pt x="156" y="0"/>
                  <a:pt x="165" y="0"/>
                  <a:pt x="174" y="2"/>
                </a:cubicBezTo>
                <a:cubicBezTo>
                  <a:pt x="184" y="4"/>
                  <a:pt x="193" y="7"/>
                  <a:pt x="202" y="11"/>
                </a:cubicBezTo>
                <a:cubicBezTo>
                  <a:pt x="210" y="14"/>
                  <a:pt x="219" y="19"/>
                  <a:pt x="228" y="24"/>
                </a:cubicBezTo>
                <a:cubicBezTo>
                  <a:pt x="236" y="29"/>
                  <a:pt x="243" y="35"/>
                  <a:pt x="250" y="43"/>
                </a:cubicBezTo>
                <a:cubicBezTo>
                  <a:pt x="257" y="50"/>
                  <a:pt x="263" y="57"/>
                  <a:pt x="268" y="65"/>
                </a:cubicBezTo>
                <a:cubicBezTo>
                  <a:pt x="273" y="73"/>
                  <a:pt x="278" y="82"/>
                  <a:pt x="281" y="90"/>
                </a:cubicBezTo>
                <a:cubicBezTo>
                  <a:pt x="285" y="99"/>
                  <a:pt x="288" y="108"/>
                  <a:pt x="290" y="118"/>
                </a:cubicBezTo>
                <a:cubicBezTo>
                  <a:pt x="292" y="127"/>
                  <a:pt x="292" y="137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6" name=""/>
          <p:cNvSpPr txBox="1"/>
          <p:nvPr/>
        </p:nvSpPr>
        <p:spPr>
          <a:xfrm>
            <a:off x="1310400" y="2448000"/>
            <a:ext cx="477396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: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入力ボリュームのサイズ 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縦 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or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横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" name=""/>
          <p:cNvSpPr/>
          <p:nvPr/>
        </p:nvSpPr>
        <p:spPr>
          <a:xfrm>
            <a:off x="809280" y="356220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2" y="165"/>
                  <a:pt x="290" y="175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3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3"/>
                  <a:pt x="210" y="277"/>
                  <a:pt x="202" y="281"/>
                </a:cubicBezTo>
                <a:cubicBezTo>
                  <a:pt x="193" y="285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5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5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7"/>
                  <a:pt x="202" y="11"/>
                </a:cubicBezTo>
                <a:cubicBezTo>
                  <a:pt x="210" y="15"/>
                  <a:pt x="219" y="19"/>
                  <a:pt x="228" y="24"/>
                </a:cubicBezTo>
                <a:cubicBezTo>
                  <a:pt x="236" y="30"/>
                  <a:pt x="243" y="36"/>
                  <a:pt x="250" y="43"/>
                </a:cubicBezTo>
                <a:cubicBezTo>
                  <a:pt x="257" y="49"/>
                  <a:pt x="263" y="57"/>
                  <a:pt x="268" y="65"/>
                </a:cubicBezTo>
                <a:cubicBezTo>
                  <a:pt x="273" y="73"/>
                  <a:pt x="278" y="81"/>
                  <a:pt x="281" y="90"/>
                </a:cubicBezTo>
                <a:cubicBezTo>
                  <a:pt x="285" y="99"/>
                  <a:pt x="288" y="108"/>
                  <a:pt x="290" y="117"/>
                </a:cubicBezTo>
                <a:cubicBezTo>
                  <a:pt x="292" y="126"/>
                  <a:pt x="292" y="136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8" name=""/>
          <p:cNvSpPr txBox="1"/>
          <p:nvPr/>
        </p:nvSpPr>
        <p:spPr>
          <a:xfrm>
            <a:off x="1266840" y="2933640"/>
            <a:ext cx="382140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: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受容野 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カーネル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)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のサイズ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" name=""/>
          <p:cNvSpPr/>
          <p:nvPr/>
        </p:nvSpPr>
        <p:spPr>
          <a:xfrm>
            <a:off x="809280" y="403848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5"/>
                </a:moveTo>
                <a:cubicBezTo>
                  <a:pt x="292" y="155"/>
                  <a:pt x="292" y="164"/>
                  <a:pt x="290" y="174"/>
                </a:cubicBezTo>
                <a:cubicBezTo>
                  <a:pt x="288" y="183"/>
                  <a:pt x="285" y="192"/>
                  <a:pt x="281" y="201"/>
                </a:cubicBezTo>
                <a:cubicBezTo>
                  <a:pt x="278" y="210"/>
                  <a:pt x="273" y="218"/>
                  <a:pt x="268" y="226"/>
                </a:cubicBezTo>
                <a:cubicBezTo>
                  <a:pt x="263" y="234"/>
                  <a:pt x="257" y="241"/>
                  <a:pt x="250" y="248"/>
                </a:cubicBezTo>
                <a:cubicBezTo>
                  <a:pt x="243" y="255"/>
                  <a:pt x="236" y="261"/>
                  <a:pt x="228" y="266"/>
                </a:cubicBezTo>
                <a:cubicBezTo>
                  <a:pt x="219" y="272"/>
                  <a:pt x="210" y="276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6"/>
                  <a:pt x="73" y="272"/>
                  <a:pt x="65" y="266"/>
                </a:cubicBezTo>
                <a:cubicBezTo>
                  <a:pt x="57" y="261"/>
                  <a:pt x="50" y="255"/>
                  <a:pt x="43" y="248"/>
                </a:cubicBezTo>
                <a:cubicBezTo>
                  <a:pt x="36" y="241"/>
                  <a:pt x="30" y="234"/>
                  <a:pt x="25" y="226"/>
                </a:cubicBezTo>
                <a:cubicBezTo>
                  <a:pt x="20" y="218"/>
                  <a:pt x="15" y="210"/>
                  <a:pt x="12" y="201"/>
                </a:cubicBezTo>
                <a:cubicBezTo>
                  <a:pt x="8" y="192"/>
                  <a:pt x="5" y="183"/>
                  <a:pt x="3" y="174"/>
                </a:cubicBezTo>
                <a:cubicBezTo>
                  <a:pt x="1" y="164"/>
                  <a:pt x="0" y="155"/>
                  <a:pt x="0" y="145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8"/>
                  <a:pt x="12" y="90"/>
                </a:cubicBezTo>
                <a:cubicBezTo>
                  <a:pt x="15" y="81"/>
                  <a:pt x="20" y="72"/>
                  <a:pt x="25" y="65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4"/>
                  <a:pt x="193" y="7"/>
                  <a:pt x="202" y="11"/>
                </a:cubicBezTo>
                <a:cubicBezTo>
                  <a:pt x="210" y="15"/>
                  <a:pt x="219" y="19"/>
                  <a:pt x="228" y="24"/>
                </a:cubicBezTo>
                <a:cubicBezTo>
                  <a:pt x="236" y="30"/>
                  <a:pt x="243" y="36"/>
                  <a:pt x="250" y="42"/>
                </a:cubicBezTo>
                <a:cubicBezTo>
                  <a:pt x="257" y="49"/>
                  <a:pt x="263" y="57"/>
                  <a:pt x="268" y="65"/>
                </a:cubicBezTo>
                <a:cubicBezTo>
                  <a:pt x="273" y="72"/>
                  <a:pt x="278" y="81"/>
                  <a:pt x="281" y="90"/>
                </a:cubicBezTo>
                <a:cubicBezTo>
                  <a:pt x="285" y="98"/>
                  <a:pt x="288" y="108"/>
                  <a:pt x="290" y="117"/>
                </a:cubicBezTo>
                <a:cubicBezTo>
                  <a:pt x="292" y="126"/>
                  <a:pt x="292" y="136"/>
                  <a:pt x="292" y="145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0" name=""/>
          <p:cNvSpPr txBox="1"/>
          <p:nvPr/>
        </p:nvSpPr>
        <p:spPr>
          <a:xfrm>
            <a:off x="1275840" y="3419640"/>
            <a:ext cx="268920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: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ゼロパディングの量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1270080" y="3895560"/>
            <a:ext cx="422640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: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ストライド 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カーネルの移動量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" name=""/>
          <p:cNvSpPr txBox="1"/>
          <p:nvPr/>
        </p:nvSpPr>
        <p:spPr>
          <a:xfrm>
            <a:off x="533520" y="4876920"/>
            <a:ext cx="941508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ハイパーパラメータ 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(R, Z, S)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を調整することで、出力サイズを制御します。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4" name=""/>
          <p:cNvSpPr txBox="1"/>
          <p:nvPr/>
        </p:nvSpPr>
        <p:spPr>
          <a:xfrm>
            <a:off x="914400" y="392400"/>
            <a:ext cx="2682000" cy="361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4. </a:t>
            </a:r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主要な層の役割 </a:t>
            </a:r>
            <a:r>
              <a:rPr b="0" lang="en-US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(2/4)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" name=""/>
          <p:cNvSpPr txBox="1"/>
          <p:nvPr/>
        </p:nvSpPr>
        <p:spPr>
          <a:xfrm>
            <a:off x="1085760" y="2441880"/>
            <a:ext cx="281520" cy="384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20" spc="-1" strike="noStrike">
                <a:solidFill>
                  <a:srgbClr val="111111"/>
                </a:solidFill>
                <a:latin typeface="NotoSansJP"/>
                <a:ea typeface="NotoSansJP"/>
              </a:rPr>
              <a:t>V</a:t>
            </a:r>
            <a:endParaRPr b="0" lang="en-US" sz="22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" name=""/>
          <p:cNvSpPr txBox="1"/>
          <p:nvPr/>
        </p:nvSpPr>
        <p:spPr>
          <a:xfrm>
            <a:off x="1085760" y="2927880"/>
            <a:ext cx="281520" cy="384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20" spc="-1" strike="noStrike">
                <a:solidFill>
                  <a:srgbClr val="111111"/>
                </a:solidFill>
                <a:latin typeface="NotoSansJP"/>
                <a:ea typeface="NotoSansJP"/>
              </a:rPr>
              <a:t>R</a:t>
            </a:r>
            <a:endParaRPr b="0" lang="en-US" sz="22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1085760" y="3413520"/>
            <a:ext cx="281520" cy="384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20" spc="-1" strike="noStrike">
                <a:solidFill>
                  <a:srgbClr val="111111"/>
                </a:solidFill>
                <a:latin typeface="NotoSansJP"/>
                <a:ea typeface="NotoSansJP"/>
              </a:rPr>
              <a:t>Z</a:t>
            </a:r>
            <a:endParaRPr b="0" lang="en-US" sz="22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1085760" y="3889800"/>
            <a:ext cx="281520" cy="384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20" spc="-1" strike="noStrike">
                <a:solidFill>
                  <a:srgbClr val="111111"/>
                </a:solidFill>
                <a:latin typeface="NotoSansJP"/>
                <a:ea typeface="NotoSansJP"/>
              </a:rPr>
              <a:t>S</a:t>
            </a:r>
            <a:endParaRPr b="0" lang="en-US" sz="22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7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54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155" name=""/>
          <p:cNvSpPr/>
          <p:nvPr/>
        </p:nvSpPr>
        <p:spPr>
          <a:xfrm>
            <a:off x="809280" y="158112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2" y="165"/>
                  <a:pt x="290" y="174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2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2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2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4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7"/>
                  <a:pt x="1" y="127"/>
                  <a:pt x="3" y="117"/>
                </a:cubicBezTo>
                <a:cubicBezTo>
                  <a:pt x="5" y="107"/>
                  <a:pt x="8" y="98"/>
                  <a:pt x="12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2"/>
                </a:cubicBezTo>
                <a:cubicBezTo>
                  <a:pt x="184" y="4"/>
                  <a:pt x="193" y="7"/>
                  <a:pt x="202" y="11"/>
                </a:cubicBezTo>
                <a:cubicBezTo>
                  <a:pt x="210" y="14"/>
                  <a:pt x="219" y="19"/>
                  <a:pt x="228" y="24"/>
                </a:cubicBezTo>
                <a:cubicBezTo>
                  <a:pt x="236" y="29"/>
                  <a:pt x="243" y="35"/>
                  <a:pt x="250" y="42"/>
                </a:cubicBezTo>
                <a:cubicBezTo>
                  <a:pt x="257" y="49"/>
                  <a:pt x="263" y="56"/>
                  <a:pt x="268" y="64"/>
                </a:cubicBezTo>
                <a:cubicBezTo>
                  <a:pt x="273" y="72"/>
                  <a:pt x="278" y="81"/>
                  <a:pt x="281" y="89"/>
                </a:cubicBezTo>
                <a:cubicBezTo>
                  <a:pt x="285" y="98"/>
                  <a:pt x="288" y="107"/>
                  <a:pt x="290" y="117"/>
                </a:cubicBezTo>
                <a:cubicBezTo>
                  <a:pt x="292" y="127"/>
                  <a:pt x="292" y="137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6" name=""/>
          <p:cNvSpPr txBox="1"/>
          <p:nvPr/>
        </p:nvSpPr>
        <p:spPr>
          <a:xfrm>
            <a:off x="533520" y="923760"/>
            <a:ext cx="74484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プーリング層は、特徴マップを圧縮して計算量を削減します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" name=""/>
          <p:cNvSpPr/>
          <p:nvPr/>
        </p:nvSpPr>
        <p:spPr>
          <a:xfrm>
            <a:off x="1361880" y="20858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5"/>
                </a:moveTo>
                <a:cubicBezTo>
                  <a:pt x="292" y="155"/>
                  <a:pt x="291" y="164"/>
                  <a:pt x="289" y="175"/>
                </a:cubicBezTo>
                <a:cubicBezTo>
                  <a:pt x="287" y="184"/>
                  <a:pt x="285" y="193"/>
                  <a:pt x="281" y="202"/>
                </a:cubicBezTo>
                <a:cubicBezTo>
                  <a:pt x="277" y="211"/>
                  <a:pt x="273" y="219"/>
                  <a:pt x="268" y="227"/>
                </a:cubicBezTo>
                <a:cubicBezTo>
                  <a:pt x="262" y="235"/>
                  <a:pt x="256" y="243"/>
                  <a:pt x="249" y="249"/>
                </a:cubicBezTo>
                <a:cubicBezTo>
                  <a:pt x="243" y="256"/>
                  <a:pt x="235" y="262"/>
                  <a:pt x="227" y="267"/>
                </a:cubicBezTo>
                <a:cubicBezTo>
                  <a:pt x="219" y="273"/>
                  <a:pt x="211" y="277"/>
                  <a:pt x="202" y="281"/>
                </a:cubicBezTo>
                <a:cubicBezTo>
                  <a:pt x="193" y="284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49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19" y="219"/>
                  <a:pt x="15" y="211"/>
                  <a:pt x="11" y="202"/>
                </a:cubicBezTo>
                <a:cubicBezTo>
                  <a:pt x="7" y="193"/>
                  <a:pt x="5" y="184"/>
                  <a:pt x="3" y="175"/>
                </a:cubicBezTo>
                <a:cubicBezTo>
                  <a:pt x="1" y="164"/>
                  <a:pt x="0" y="155"/>
                  <a:pt x="0" y="145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2"/>
                  <a:pt x="25" y="65"/>
                </a:cubicBezTo>
                <a:cubicBezTo>
                  <a:pt x="30" y="57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7"/>
                  <a:pt x="202" y="11"/>
                </a:cubicBezTo>
                <a:cubicBezTo>
                  <a:pt x="211" y="15"/>
                  <a:pt x="219" y="19"/>
                  <a:pt x="227" y="24"/>
                </a:cubicBezTo>
                <a:cubicBezTo>
                  <a:pt x="235" y="30"/>
                  <a:pt x="243" y="36"/>
                  <a:pt x="249" y="42"/>
                </a:cubicBezTo>
                <a:cubicBezTo>
                  <a:pt x="256" y="49"/>
                  <a:pt x="262" y="57"/>
                  <a:pt x="268" y="65"/>
                </a:cubicBezTo>
                <a:cubicBezTo>
                  <a:pt x="273" y="72"/>
                  <a:pt x="277" y="81"/>
                  <a:pt x="281" y="90"/>
                </a:cubicBezTo>
                <a:cubicBezTo>
                  <a:pt x="285" y="99"/>
                  <a:pt x="287" y="108"/>
                  <a:pt x="289" y="117"/>
                </a:cubicBezTo>
                <a:cubicBezTo>
                  <a:pt x="291" y="126"/>
                  <a:pt x="292" y="136"/>
                  <a:pt x="292" y="145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" name=""/>
          <p:cNvSpPr txBox="1"/>
          <p:nvPr/>
        </p:nvSpPr>
        <p:spPr>
          <a:xfrm>
            <a:off x="1085760" y="1438200"/>
            <a:ext cx="402048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次元削減 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ダウンサンプリング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" name=""/>
          <p:cNvSpPr/>
          <p:nvPr/>
        </p:nvSpPr>
        <p:spPr>
          <a:xfrm>
            <a:off x="1361880" y="257148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1" y="165"/>
                  <a:pt x="289" y="174"/>
                </a:cubicBezTo>
                <a:cubicBezTo>
                  <a:pt x="287" y="184"/>
                  <a:pt x="285" y="193"/>
                  <a:pt x="281" y="201"/>
                </a:cubicBezTo>
                <a:cubicBezTo>
                  <a:pt x="277" y="210"/>
                  <a:pt x="273" y="219"/>
                  <a:pt x="268" y="227"/>
                </a:cubicBezTo>
                <a:cubicBezTo>
                  <a:pt x="262" y="235"/>
                  <a:pt x="256" y="242"/>
                  <a:pt x="249" y="249"/>
                </a:cubicBezTo>
                <a:cubicBezTo>
                  <a:pt x="243" y="255"/>
                  <a:pt x="235" y="261"/>
                  <a:pt x="227" y="267"/>
                </a:cubicBezTo>
                <a:cubicBezTo>
                  <a:pt x="219" y="272"/>
                  <a:pt x="211" y="277"/>
                  <a:pt x="202" y="281"/>
                </a:cubicBezTo>
                <a:cubicBezTo>
                  <a:pt x="193" y="285"/>
                  <a:pt x="184" y="288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89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7"/>
                  <a:pt x="73" y="272"/>
                  <a:pt x="65" y="267"/>
                </a:cubicBezTo>
                <a:cubicBezTo>
                  <a:pt x="57" y="261"/>
                  <a:pt x="49" y="255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19" y="219"/>
                  <a:pt x="15" y="210"/>
                  <a:pt x="11" y="201"/>
                </a:cubicBezTo>
                <a:cubicBezTo>
                  <a:pt x="7" y="193"/>
                  <a:pt x="5" y="184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1" y="15"/>
                  <a:pt x="219" y="19"/>
                  <a:pt x="227" y="25"/>
                </a:cubicBezTo>
                <a:cubicBezTo>
                  <a:pt x="235" y="30"/>
                  <a:pt x="243" y="36"/>
                  <a:pt x="249" y="43"/>
                </a:cubicBezTo>
                <a:cubicBezTo>
                  <a:pt x="256" y="50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7" y="108"/>
                  <a:pt x="289" y="117"/>
                </a:cubicBezTo>
                <a:cubicBezTo>
                  <a:pt x="291" y="127"/>
                  <a:pt x="292" y="136"/>
                  <a:pt x="292" y="146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1638360" y="1942920"/>
            <a:ext cx="6069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特徴マップの空間的次元（縦‧横）を小さくする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" name=""/>
          <p:cNvSpPr/>
          <p:nvPr/>
        </p:nvSpPr>
        <p:spPr>
          <a:xfrm>
            <a:off x="809280" y="305748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2" y="165"/>
                  <a:pt x="290" y="175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2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2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2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5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7"/>
                  <a:pt x="1" y="127"/>
                  <a:pt x="3" y="118"/>
                </a:cubicBezTo>
                <a:cubicBezTo>
                  <a:pt x="5" y="108"/>
                  <a:pt x="8" y="99"/>
                  <a:pt x="12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2"/>
                </a:cubicBezTo>
                <a:cubicBezTo>
                  <a:pt x="184" y="4"/>
                  <a:pt x="193" y="7"/>
                  <a:pt x="202" y="11"/>
                </a:cubicBezTo>
                <a:cubicBezTo>
                  <a:pt x="210" y="14"/>
                  <a:pt x="219" y="19"/>
                  <a:pt x="228" y="24"/>
                </a:cubicBezTo>
                <a:cubicBezTo>
                  <a:pt x="236" y="29"/>
                  <a:pt x="243" y="35"/>
                  <a:pt x="250" y="42"/>
                </a:cubicBezTo>
                <a:cubicBezTo>
                  <a:pt x="257" y="49"/>
                  <a:pt x="263" y="56"/>
                  <a:pt x="268" y="64"/>
                </a:cubicBezTo>
                <a:cubicBezTo>
                  <a:pt x="273" y="72"/>
                  <a:pt x="278" y="81"/>
                  <a:pt x="281" y="89"/>
                </a:cubicBezTo>
                <a:cubicBezTo>
                  <a:pt x="285" y="99"/>
                  <a:pt x="288" y="108"/>
                  <a:pt x="290" y="118"/>
                </a:cubicBezTo>
                <a:cubicBezTo>
                  <a:pt x="292" y="127"/>
                  <a:pt x="292" y="137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1638360" y="2428920"/>
            <a:ext cx="49658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計算コストの削減と過学習の抑制に貢献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" name=""/>
          <p:cNvSpPr/>
          <p:nvPr/>
        </p:nvSpPr>
        <p:spPr>
          <a:xfrm>
            <a:off x="1361880" y="356220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1" y="165"/>
                  <a:pt x="289" y="175"/>
                </a:cubicBezTo>
                <a:cubicBezTo>
                  <a:pt x="287" y="184"/>
                  <a:pt x="285" y="193"/>
                  <a:pt x="281" y="202"/>
                </a:cubicBezTo>
                <a:cubicBezTo>
                  <a:pt x="277" y="211"/>
                  <a:pt x="273" y="219"/>
                  <a:pt x="268" y="227"/>
                </a:cubicBezTo>
                <a:cubicBezTo>
                  <a:pt x="262" y="235"/>
                  <a:pt x="256" y="243"/>
                  <a:pt x="249" y="249"/>
                </a:cubicBezTo>
                <a:cubicBezTo>
                  <a:pt x="243" y="256"/>
                  <a:pt x="235" y="262"/>
                  <a:pt x="227" y="267"/>
                </a:cubicBezTo>
                <a:cubicBezTo>
                  <a:pt x="219" y="273"/>
                  <a:pt x="211" y="277"/>
                  <a:pt x="202" y="281"/>
                </a:cubicBezTo>
                <a:cubicBezTo>
                  <a:pt x="193" y="285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89"/>
                </a:cubicBezTo>
                <a:cubicBezTo>
                  <a:pt x="108" y="287"/>
                  <a:pt x="99" y="285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49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19" y="219"/>
                  <a:pt x="15" y="211"/>
                  <a:pt x="11" y="202"/>
                </a:cubicBezTo>
                <a:cubicBezTo>
                  <a:pt x="7" y="193"/>
                  <a:pt x="5" y="184"/>
                  <a:pt x="3" y="175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7"/>
                  <a:pt x="202" y="11"/>
                </a:cubicBezTo>
                <a:cubicBezTo>
                  <a:pt x="211" y="15"/>
                  <a:pt x="219" y="19"/>
                  <a:pt x="227" y="24"/>
                </a:cubicBezTo>
                <a:cubicBezTo>
                  <a:pt x="235" y="30"/>
                  <a:pt x="243" y="36"/>
                  <a:pt x="249" y="43"/>
                </a:cubicBezTo>
                <a:cubicBezTo>
                  <a:pt x="256" y="49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7" y="108"/>
                  <a:pt x="289" y="117"/>
                </a:cubicBezTo>
                <a:cubicBezTo>
                  <a:pt x="291" y="126"/>
                  <a:pt x="292" y="136"/>
                  <a:pt x="292" y="146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" name=""/>
          <p:cNvSpPr txBox="1"/>
          <p:nvPr/>
        </p:nvSpPr>
        <p:spPr>
          <a:xfrm>
            <a:off x="1085760" y="2914560"/>
            <a:ext cx="150336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Max-pooling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" name=""/>
          <p:cNvSpPr/>
          <p:nvPr/>
        </p:nvSpPr>
        <p:spPr>
          <a:xfrm>
            <a:off x="1361880" y="40478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1" y="165"/>
                  <a:pt x="289" y="174"/>
                </a:cubicBezTo>
                <a:cubicBezTo>
                  <a:pt x="287" y="184"/>
                  <a:pt x="285" y="193"/>
                  <a:pt x="281" y="201"/>
                </a:cubicBezTo>
                <a:cubicBezTo>
                  <a:pt x="277" y="210"/>
                  <a:pt x="273" y="219"/>
                  <a:pt x="268" y="227"/>
                </a:cubicBezTo>
                <a:cubicBezTo>
                  <a:pt x="262" y="235"/>
                  <a:pt x="256" y="242"/>
                  <a:pt x="249" y="249"/>
                </a:cubicBezTo>
                <a:cubicBezTo>
                  <a:pt x="243" y="256"/>
                  <a:pt x="235" y="262"/>
                  <a:pt x="227" y="268"/>
                </a:cubicBezTo>
                <a:cubicBezTo>
                  <a:pt x="219" y="273"/>
                  <a:pt x="211" y="278"/>
                  <a:pt x="202" y="281"/>
                </a:cubicBezTo>
                <a:cubicBezTo>
                  <a:pt x="193" y="285"/>
                  <a:pt x="184" y="288"/>
                  <a:pt x="175" y="290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90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8"/>
                  <a:pt x="73" y="273"/>
                  <a:pt x="65" y="268"/>
                </a:cubicBezTo>
                <a:cubicBezTo>
                  <a:pt x="57" y="262"/>
                  <a:pt x="49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19" y="219"/>
                  <a:pt x="15" y="210"/>
                  <a:pt x="11" y="201"/>
                </a:cubicBezTo>
                <a:cubicBezTo>
                  <a:pt x="7" y="193"/>
                  <a:pt x="5" y="184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20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1" y="15"/>
                  <a:pt x="219" y="20"/>
                  <a:pt x="227" y="25"/>
                </a:cubicBezTo>
                <a:cubicBezTo>
                  <a:pt x="235" y="30"/>
                  <a:pt x="243" y="36"/>
                  <a:pt x="249" y="43"/>
                </a:cubicBezTo>
                <a:cubicBezTo>
                  <a:pt x="256" y="50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7" y="108"/>
                  <a:pt x="289" y="117"/>
                </a:cubicBezTo>
                <a:cubicBezTo>
                  <a:pt x="291" y="127"/>
                  <a:pt x="292" y="136"/>
                  <a:pt x="292" y="146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1638360" y="3419640"/>
            <a:ext cx="44143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領域内の最大値を取る手法が一般的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" name=""/>
          <p:cNvSpPr txBox="1"/>
          <p:nvPr/>
        </p:nvSpPr>
        <p:spPr>
          <a:xfrm>
            <a:off x="1638360" y="3905280"/>
            <a:ext cx="77245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特徴の微小な位置ずれに対して頑健（位置不変性）になる効果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" name=""/>
          <p:cNvSpPr txBox="1"/>
          <p:nvPr/>
        </p:nvSpPr>
        <p:spPr>
          <a:xfrm>
            <a:off x="533520" y="4886280"/>
            <a:ext cx="99309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これにより、より本質的な特徴を保持したまま、効率的な処理が可能になります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0" name=""/>
          <p:cNvSpPr txBox="1"/>
          <p:nvPr/>
        </p:nvSpPr>
        <p:spPr>
          <a:xfrm>
            <a:off x="914400" y="392400"/>
            <a:ext cx="2682000" cy="361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4. </a:t>
            </a:r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主要な層の役割 </a:t>
            </a:r>
            <a:r>
              <a:rPr b="0" lang="en-US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(3/4)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8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76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177" name=""/>
          <p:cNvSpPr/>
          <p:nvPr/>
        </p:nvSpPr>
        <p:spPr>
          <a:xfrm>
            <a:off x="809280" y="158112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2" y="165"/>
                  <a:pt x="290" y="174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2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2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2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4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7"/>
                  <a:pt x="1" y="127"/>
                  <a:pt x="3" y="117"/>
                </a:cubicBezTo>
                <a:cubicBezTo>
                  <a:pt x="5" y="107"/>
                  <a:pt x="8" y="98"/>
                  <a:pt x="12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2"/>
                </a:cubicBezTo>
                <a:cubicBezTo>
                  <a:pt x="184" y="4"/>
                  <a:pt x="193" y="7"/>
                  <a:pt x="202" y="11"/>
                </a:cubicBezTo>
                <a:cubicBezTo>
                  <a:pt x="210" y="14"/>
                  <a:pt x="219" y="19"/>
                  <a:pt x="228" y="24"/>
                </a:cubicBezTo>
                <a:cubicBezTo>
                  <a:pt x="236" y="29"/>
                  <a:pt x="243" y="35"/>
                  <a:pt x="250" y="42"/>
                </a:cubicBezTo>
                <a:cubicBezTo>
                  <a:pt x="257" y="49"/>
                  <a:pt x="263" y="56"/>
                  <a:pt x="268" y="64"/>
                </a:cubicBezTo>
                <a:cubicBezTo>
                  <a:pt x="273" y="72"/>
                  <a:pt x="278" y="81"/>
                  <a:pt x="281" y="89"/>
                </a:cubicBezTo>
                <a:cubicBezTo>
                  <a:pt x="285" y="98"/>
                  <a:pt x="288" y="107"/>
                  <a:pt x="290" y="117"/>
                </a:cubicBezTo>
                <a:cubicBezTo>
                  <a:pt x="292" y="127"/>
                  <a:pt x="292" y="137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8" name=""/>
          <p:cNvSpPr txBox="1"/>
          <p:nvPr/>
        </p:nvSpPr>
        <p:spPr>
          <a:xfrm>
            <a:off x="533520" y="923760"/>
            <a:ext cx="7172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全結合層は、抽出された特徴から最終的な識別を行います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" name=""/>
          <p:cNvSpPr/>
          <p:nvPr/>
        </p:nvSpPr>
        <p:spPr>
          <a:xfrm>
            <a:off x="1361880" y="20858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5"/>
                </a:moveTo>
                <a:cubicBezTo>
                  <a:pt x="292" y="155"/>
                  <a:pt x="291" y="164"/>
                  <a:pt x="289" y="175"/>
                </a:cubicBezTo>
                <a:cubicBezTo>
                  <a:pt x="287" y="184"/>
                  <a:pt x="285" y="193"/>
                  <a:pt x="281" y="202"/>
                </a:cubicBezTo>
                <a:cubicBezTo>
                  <a:pt x="277" y="211"/>
                  <a:pt x="273" y="219"/>
                  <a:pt x="268" y="227"/>
                </a:cubicBezTo>
                <a:cubicBezTo>
                  <a:pt x="262" y="235"/>
                  <a:pt x="256" y="243"/>
                  <a:pt x="249" y="249"/>
                </a:cubicBezTo>
                <a:cubicBezTo>
                  <a:pt x="243" y="256"/>
                  <a:pt x="235" y="262"/>
                  <a:pt x="227" y="267"/>
                </a:cubicBezTo>
                <a:cubicBezTo>
                  <a:pt x="219" y="273"/>
                  <a:pt x="211" y="277"/>
                  <a:pt x="202" y="281"/>
                </a:cubicBezTo>
                <a:cubicBezTo>
                  <a:pt x="193" y="284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49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19" y="219"/>
                  <a:pt x="15" y="211"/>
                  <a:pt x="11" y="202"/>
                </a:cubicBezTo>
                <a:cubicBezTo>
                  <a:pt x="7" y="193"/>
                  <a:pt x="5" y="184"/>
                  <a:pt x="3" y="175"/>
                </a:cubicBezTo>
                <a:cubicBezTo>
                  <a:pt x="1" y="164"/>
                  <a:pt x="0" y="155"/>
                  <a:pt x="0" y="145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2"/>
                  <a:pt x="25" y="65"/>
                </a:cubicBezTo>
                <a:cubicBezTo>
                  <a:pt x="30" y="57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7"/>
                  <a:pt x="202" y="11"/>
                </a:cubicBezTo>
                <a:cubicBezTo>
                  <a:pt x="211" y="15"/>
                  <a:pt x="219" y="19"/>
                  <a:pt x="227" y="24"/>
                </a:cubicBezTo>
                <a:cubicBezTo>
                  <a:pt x="235" y="30"/>
                  <a:pt x="243" y="36"/>
                  <a:pt x="249" y="42"/>
                </a:cubicBezTo>
                <a:cubicBezTo>
                  <a:pt x="256" y="49"/>
                  <a:pt x="262" y="57"/>
                  <a:pt x="268" y="65"/>
                </a:cubicBezTo>
                <a:cubicBezTo>
                  <a:pt x="273" y="72"/>
                  <a:pt x="277" y="81"/>
                  <a:pt x="281" y="90"/>
                </a:cubicBezTo>
                <a:cubicBezTo>
                  <a:pt x="285" y="99"/>
                  <a:pt x="287" y="108"/>
                  <a:pt x="289" y="117"/>
                </a:cubicBezTo>
                <a:cubicBezTo>
                  <a:pt x="291" y="126"/>
                  <a:pt x="292" y="136"/>
                  <a:pt x="292" y="145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" name=""/>
          <p:cNvSpPr txBox="1"/>
          <p:nvPr/>
        </p:nvSpPr>
        <p:spPr>
          <a:xfrm>
            <a:off x="1085760" y="1438200"/>
            <a:ext cx="22075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特徴の統合と分類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" name=""/>
          <p:cNvSpPr/>
          <p:nvPr/>
        </p:nvSpPr>
        <p:spPr>
          <a:xfrm>
            <a:off x="1361880" y="257148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1" y="165"/>
                  <a:pt x="289" y="174"/>
                </a:cubicBezTo>
                <a:cubicBezTo>
                  <a:pt x="287" y="184"/>
                  <a:pt x="285" y="193"/>
                  <a:pt x="281" y="201"/>
                </a:cubicBezTo>
                <a:cubicBezTo>
                  <a:pt x="277" y="210"/>
                  <a:pt x="273" y="219"/>
                  <a:pt x="268" y="227"/>
                </a:cubicBezTo>
                <a:cubicBezTo>
                  <a:pt x="262" y="235"/>
                  <a:pt x="256" y="242"/>
                  <a:pt x="249" y="249"/>
                </a:cubicBezTo>
                <a:cubicBezTo>
                  <a:pt x="243" y="255"/>
                  <a:pt x="235" y="261"/>
                  <a:pt x="227" y="267"/>
                </a:cubicBezTo>
                <a:cubicBezTo>
                  <a:pt x="219" y="272"/>
                  <a:pt x="211" y="277"/>
                  <a:pt x="202" y="281"/>
                </a:cubicBezTo>
                <a:cubicBezTo>
                  <a:pt x="193" y="285"/>
                  <a:pt x="184" y="288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89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7"/>
                  <a:pt x="73" y="272"/>
                  <a:pt x="65" y="267"/>
                </a:cubicBezTo>
                <a:cubicBezTo>
                  <a:pt x="57" y="261"/>
                  <a:pt x="49" y="255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19" y="219"/>
                  <a:pt x="15" y="210"/>
                  <a:pt x="11" y="201"/>
                </a:cubicBezTo>
                <a:cubicBezTo>
                  <a:pt x="7" y="193"/>
                  <a:pt x="5" y="184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1" y="15"/>
                  <a:pt x="219" y="19"/>
                  <a:pt x="227" y="25"/>
                </a:cubicBezTo>
                <a:cubicBezTo>
                  <a:pt x="235" y="30"/>
                  <a:pt x="243" y="36"/>
                  <a:pt x="249" y="43"/>
                </a:cubicBezTo>
                <a:cubicBezTo>
                  <a:pt x="256" y="50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7" y="108"/>
                  <a:pt x="289" y="117"/>
                </a:cubicBezTo>
                <a:cubicBezTo>
                  <a:pt x="291" y="127"/>
                  <a:pt x="292" y="136"/>
                  <a:pt x="292" y="146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" name=""/>
          <p:cNvSpPr txBox="1"/>
          <p:nvPr/>
        </p:nvSpPr>
        <p:spPr>
          <a:xfrm>
            <a:off x="1638360" y="1942920"/>
            <a:ext cx="74484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畳み込み層‧プーリング層で抽出されたすべての特徴を入力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" name=""/>
          <p:cNvSpPr/>
          <p:nvPr/>
        </p:nvSpPr>
        <p:spPr>
          <a:xfrm>
            <a:off x="809280" y="305748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2" y="165"/>
                  <a:pt x="290" y="175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2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2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2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5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7"/>
                  <a:pt x="1" y="127"/>
                  <a:pt x="3" y="118"/>
                </a:cubicBezTo>
                <a:cubicBezTo>
                  <a:pt x="5" y="108"/>
                  <a:pt x="8" y="99"/>
                  <a:pt x="12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2"/>
                </a:cubicBezTo>
                <a:cubicBezTo>
                  <a:pt x="184" y="4"/>
                  <a:pt x="193" y="7"/>
                  <a:pt x="202" y="11"/>
                </a:cubicBezTo>
                <a:cubicBezTo>
                  <a:pt x="210" y="14"/>
                  <a:pt x="219" y="19"/>
                  <a:pt x="228" y="24"/>
                </a:cubicBezTo>
                <a:cubicBezTo>
                  <a:pt x="236" y="29"/>
                  <a:pt x="243" y="35"/>
                  <a:pt x="250" y="42"/>
                </a:cubicBezTo>
                <a:cubicBezTo>
                  <a:pt x="257" y="49"/>
                  <a:pt x="263" y="56"/>
                  <a:pt x="268" y="64"/>
                </a:cubicBezTo>
                <a:cubicBezTo>
                  <a:pt x="273" y="72"/>
                  <a:pt x="278" y="81"/>
                  <a:pt x="281" y="89"/>
                </a:cubicBezTo>
                <a:cubicBezTo>
                  <a:pt x="285" y="99"/>
                  <a:pt x="288" y="108"/>
                  <a:pt x="290" y="118"/>
                </a:cubicBezTo>
                <a:cubicBezTo>
                  <a:pt x="292" y="127"/>
                  <a:pt x="292" y="137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1638360" y="2428920"/>
            <a:ext cx="44143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最終的なクラス分類のスコアを出力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" name=""/>
          <p:cNvSpPr/>
          <p:nvPr/>
        </p:nvSpPr>
        <p:spPr>
          <a:xfrm>
            <a:off x="1361880" y="356220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1" y="165"/>
                  <a:pt x="289" y="175"/>
                </a:cubicBezTo>
                <a:cubicBezTo>
                  <a:pt x="287" y="184"/>
                  <a:pt x="285" y="193"/>
                  <a:pt x="281" y="202"/>
                </a:cubicBezTo>
                <a:cubicBezTo>
                  <a:pt x="277" y="211"/>
                  <a:pt x="273" y="219"/>
                  <a:pt x="268" y="227"/>
                </a:cubicBezTo>
                <a:cubicBezTo>
                  <a:pt x="262" y="235"/>
                  <a:pt x="256" y="243"/>
                  <a:pt x="249" y="249"/>
                </a:cubicBezTo>
                <a:cubicBezTo>
                  <a:pt x="243" y="256"/>
                  <a:pt x="235" y="262"/>
                  <a:pt x="227" y="267"/>
                </a:cubicBezTo>
                <a:cubicBezTo>
                  <a:pt x="219" y="273"/>
                  <a:pt x="211" y="277"/>
                  <a:pt x="202" y="281"/>
                </a:cubicBezTo>
                <a:cubicBezTo>
                  <a:pt x="193" y="285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89"/>
                </a:cubicBezTo>
                <a:cubicBezTo>
                  <a:pt x="108" y="287"/>
                  <a:pt x="99" y="285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49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19" y="219"/>
                  <a:pt x="15" y="211"/>
                  <a:pt x="11" y="202"/>
                </a:cubicBezTo>
                <a:cubicBezTo>
                  <a:pt x="7" y="193"/>
                  <a:pt x="5" y="184"/>
                  <a:pt x="3" y="175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7"/>
                  <a:pt x="202" y="11"/>
                </a:cubicBezTo>
                <a:cubicBezTo>
                  <a:pt x="211" y="15"/>
                  <a:pt x="219" y="19"/>
                  <a:pt x="227" y="24"/>
                </a:cubicBezTo>
                <a:cubicBezTo>
                  <a:pt x="235" y="30"/>
                  <a:pt x="243" y="36"/>
                  <a:pt x="249" y="43"/>
                </a:cubicBezTo>
                <a:cubicBezTo>
                  <a:pt x="256" y="49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7" y="108"/>
                  <a:pt x="289" y="117"/>
                </a:cubicBezTo>
                <a:cubicBezTo>
                  <a:pt x="291" y="126"/>
                  <a:pt x="292" y="136"/>
                  <a:pt x="292" y="146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" name=""/>
          <p:cNvSpPr txBox="1"/>
          <p:nvPr/>
        </p:nvSpPr>
        <p:spPr>
          <a:xfrm>
            <a:off x="1085760" y="2914560"/>
            <a:ext cx="290592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従来の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ANN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と同じ構造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1638360" y="3419640"/>
            <a:ext cx="63450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ニューロンが隣接する層の全てのニューロンと結合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533520" y="3990960"/>
            <a:ext cx="634068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[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図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: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ここに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FNN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の基本構造図を入れる 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(Figure 1)]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914400" y="392400"/>
            <a:ext cx="2682000" cy="361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4. </a:t>
            </a:r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主要な層の役割 </a:t>
            </a:r>
            <a:r>
              <a:rPr b="0" lang="en-US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(4/4)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9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96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197" name=""/>
          <p:cNvSpPr txBox="1"/>
          <p:nvPr/>
        </p:nvSpPr>
        <p:spPr>
          <a:xfrm>
            <a:off x="533520" y="923760"/>
            <a:ext cx="925956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学習済みのフィルタを可視化すると、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CNN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が捉えている特徴が分かります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" name=""/>
          <p:cNvSpPr/>
          <p:nvPr/>
        </p:nvSpPr>
        <p:spPr>
          <a:xfrm>
            <a:off x="809280" y="250488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2" y="165"/>
                  <a:pt x="290" y="175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3"/>
                  <a:pt x="250" y="249"/>
                </a:cubicBezTo>
                <a:cubicBezTo>
                  <a:pt x="243" y="256"/>
                  <a:pt x="236" y="262"/>
                  <a:pt x="228" y="268"/>
                </a:cubicBezTo>
                <a:cubicBezTo>
                  <a:pt x="219" y="273"/>
                  <a:pt x="210" y="277"/>
                  <a:pt x="202" y="281"/>
                </a:cubicBezTo>
                <a:cubicBezTo>
                  <a:pt x="193" y="285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5"/>
                  <a:pt x="90" y="281"/>
                </a:cubicBezTo>
                <a:cubicBezTo>
                  <a:pt x="81" y="277"/>
                  <a:pt x="73" y="273"/>
                  <a:pt x="65" y="268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5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7"/>
                  <a:pt x="202" y="11"/>
                </a:cubicBezTo>
                <a:cubicBezTo>
                  <a:pt x="210" y="15"/>
                  <a:pt x="219" y="19"/>
                  <a:pt x="228" y="25"/>
                </a:cubicBezTo>
                <a:cubicBezTo>
                  <a:pt x="236" y="30"/>
                  <a:pt x="243" y="36"/>
                  <a:pt x="250" y="43"/>
                </a:cubicBezTo>
                <a:cubicBezTo>
                  <a:pt x="257" y="49"/>
                  <a:pt x="263" y="57"/>
                  <a:pt x="268" y="65"/>
                </a:cubicBezTo>
                <a:cubicBezTo>
                  <a:pt x="273" y="73"/>
                  <a:pt x="278" y="81"/>
                  <a:pt x="281" y="90"/>
                </a:cubicBezTo>
                <a:cubicBezTo>
                  <a:pt x="285" y="99"/>
                  <a:pt x="288" y="108"/>
                  <a:pt x="290" y="117"/>
                </a:cubicBezTo>
                <a:cubicBezTo>
                  <a:pt x="292" y="127"/>
                  <a:pt x="292" y="136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533520" y="1438200"/>
            <a:ext cx="787320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[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図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: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ここに学習済みフィルタの可視化画像を入れる 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(Figure 3)]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" name=""/>
          <p:cNvSpPr/>
          <p:nvPr/>
        </p:nvSpPr>
        <p:spPr>
          <a:xfrm>
            <a:off x="809280" y="299052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2" y="165"/>
                  <a:pt x="290" y="174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0"/>
                  <a:pt x="273" y="219"/>
                  <a:pt x="268" y="227"/>
                </a:cubicBezTo>
                <a:cubicBezTo>
                  <a:pt x="263" y="235"/>
                  <a:pt x="257" y="242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2"/>
                  <a:pt x="210" y="277"/>
                  <a:pt x="202" y="281"/>
                </a:cubicBezTo>
                <a:cubicBezTo>
                  <a:pt x="193" y="285"/>
                  <a:pt x="184" y="288"/>
                  <a:pt x="174" y="290"/>
                </a:cubicBezTo>
                <a:cubicBezTo>
                  <a:pt x="165" y="292"/>
                  <a:pt x="156" y="292"/>
                  <a:pt x="146" y="292"/>
                </a:cubicBezTo>
                <a:cubicBezTo>
                  <a:pt x="136" y="292"/>
                  <a:pt x="127" y="292"/>
                  <a:pt x="118" y="290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7"/>
                  <a:pt x="73" y="272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20" y="219"/>
                  <a:pt x="15" y="210"/>
                  <a:pt x="12" y="202"/>
                </a:cubicBezTo>
                <a:cubicBezTo>
                  <a:pt x="8" y="193"/>
                  <a:pt x="5" y="184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20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0" y="15"/>
                  <a:pt x="219" y="20"/>
                  <a:pt x="228" y="25"/>
                </a:cubicBezTo>
                <a:cubicBezTo>
                  <a:pt x="236" y="30"/>
                  <a:pt x="243" y="36"/>
                  <a:pt x="250" y="43"/>
                </a:cubicBezTo>
                <a:cubicBezTo>
                  <a:pt x="257" y="50"/>
                  <a:pt x="263" y="57"/>
                  <a:pt x="268" y="65"/>
                </a:cubicBezTo>
                <a:cubicBezTo>
                  <a:pt x="273" y="73"/>
                  <a:pt x="278" y="81"/>
                  <a:pt x="281" y="90"/>
                </a:cubicBezTo>
                <a:cubicBezTo>
                  <a:pt x="285" y="99"/>
                  <a:pt x="288" y="108"/>
                  <a:pt x="290" y="118"/>
                </a:cubicBezTo>
                <a:cubicBezTo>
                  <a:pt x="292" y="127"/>
                  <a:pt x="292" y="136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1" name=""/>
          <p:cNvSpPr txBox="1"/>
          <p:nvPr/>
        </p:nvSpPr>
        <p:spPr>
          <a:xfrm>
            <a:off x="1085760" y="2362320"/>
            <a:ext cx="708948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MNIST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（手書き数字）データセットで学習した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CNN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の例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1085760" y="2847960"/>
            <a:ext cx="104828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最初の畳み込み層は、</a:t>
            </a:r>
            <a:r>
              <a:rPr b="0" lang="zh-CN" sz="2170" spc="-1" strike="noStrike">
                <a:solidFill>
                  <a:srgbClr val="083a5e"/>
                </a:solidFill>
                <a:latin typeface="NotoSansJP"/>
                <a:ea typeface="NotoSansJP"/>
              </a:rPr>
              <a:t>エッジやストロークといった低レベルな特徴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を自動で学習して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" name=""/>
          <p:cNvSpPr/>
          <p:nvPr/>
        </p:nvSpPr>
        <p:spPr>
          <a:xfrm>
            <a:off x="809280" y="3885840"/>
            <a:ext cx="105120" cy="105480"/>
          </a:xfrm>
          <a:custGeom>
            <a:avLst/>
            <a:gdLst/>
            <a:ahLst/>
            <a:rect l="0" t="0" r="r" b="b"/>
            <a:pathLst>
              <a:path w="292" h="293">
                <a:moveTo>
                  <a:pt x="292" y="147"/>
                </a:moveTo>
                <a:cubicBezTo>
                  <a:pt x="292" y="157"/>
                  <a:pt x="292" y="166"/>
                  <a:pt x="290" y="175"/>
                </a:cubicBezTo>
                <a:cubicBezTo>
                  <a:pt x="288" y="185"/>
                  <a:pt x="285" y="194"/>
                  <a:pt x="281" y="203"/>
                </a:cubicBezTo>
                <a:cubicBezTo>
                  <a:pt x="278" y="212"/>
                  <a:pt x="273" y="220"/>
                  <a:pt x="268" y="228"/>
                </a:cubicBezTo>
                <a:cubicBezTo>
                  <a:pt x="263" y="236"/>
                  <a:pt x="257" y="243"/>
                  <a:pt x="250" y="250"/>
                </a:cubicBezTo>
                <a:cubicBezTo>
                  <a:pt x="243" y="257"/>
                  <a:pt x="236" y="263"/>
                  <a:pt x="228" y="268"/>
                </a:cubicBezTo>
                <a:cubicBezTo>
                  <a:pt x="219" y="273"/>
                  <a:pt x="210" y="278"/>
                  <a:pt x="202" y="281"/>
                </a:cubicBezTo>
                <a:cubicBezTo>
                  <a:pt x="193" y="285"/>
                  <a:pt x="184" y="288"/>
                  <a:pt x="174" y="290"/>
                </a:cubicBezTo>
                <a:cubicBezTo>
                  <a:pt x="165" y="292"/>
                  <a:pt x="156" y="293"/>
                  <a:pt x="146" y="293"/>
                </a:cubicBezTo>
                <a:cubicBezTo>
                  <a:pt x="136" y="293"/>
                  <a:pt x="127" y="292"/>
                  <a:pt x="118" y="290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8"/>
                  <a:pt x="73" y="273"/>
                  <a:pt x="65" y="268"/>
                </a:cubicBezTo>
                <a:cubicBezTo>
                  <a:pt x="57" y="263"/>
                  <a:pt x="50" y="257"/>
                  <a:pt x="43" y="250"/>
                </a:cubicBezTo>
                <a:cubicBezTo>
                  <a:pt x="36" y="243"/>
                  <a:pt x="30" y="236"/>
                  <a:pt x="25" y="228"/>
                </a:cubicBezTo>
                <a:cubicBezTo>
                  <a:pt x="20" y="220"/>
                  <a:pt x="15" y="212"/>
                  <a:pt x="12" y="203"/>
                </a:cubicBezTo>
                <a:cubicBezTo>
                  <a:pt x="8" y="194"/>
                  <a:pt x="5" y="185"/>
                  <a:pt x="3" y="175"/>
                </a:cubicBezTo>
                <a:cubicBezTo>
                  <a:pt x="1" y="166"/>
                  <a:pt x="0" y="157"/>
                  <a:pt x="0" y="147"/>
                </a:cubicBezTo>
                <a:cubicBezTo>
                  <a:pt x="0" y="137"/>
                  <a:pt x="1" y="128"/>
                  <a:pt x="3" y="118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2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20"/>
                  <a:pt x="81" y="15"/>
                  <a:pt x="90" y="12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8"/>
                  <a:pt x="202" y="12"/>
                </a:cubicBezTo>
                <a:cubicBezTo>
                  <a:pt x="210" y="15"/>
                  <a:pt x="219" y="20"/>
                  <a:pt x="228" y="25"/>
                </a:cubicBezTo>
                <a:cubicBezTo>
                  <a:pt x="236" y="30"/>
                  <a:pt x="243" y="36"/>
                  <a:pt x="250" y="43"/>
                </a:cubicBezTo>
                <a:cubicBezTo>
                  <a:pt x="257" y="50"/>
                  <a:pt x="263" y="57"/>
                  <a:pt x="268" y="65"/>
                </a:cubicBezTo>
                <a:cubicBezTo>
                  <a:pt x="273" y="73"/>
                  <a:pt x="278" y="82"/>
                  <a:pt x="281" y="90"/>
                </a:cubicBezTo>
                <a:cubicBezTo>
                  <a:pt x="285" y="99"/>
                  <a:pt x="288" y="108"/>
                  <a:pt x="290" y="118"/>
                </a:cubicBezTo>
                <a:cubicBezTo>
                  <a:pt x="292" y="128"/>
                  <a:pt x="292" y="137"/>
                  <a:pt x="292" y="147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4" name=""/>
          <p:cNvSpPr txBox="1"/>
          <p:nvPr/>
        </p:nvSpPr>
        <p:spPr>
          <a:xfrm>
            <a:off x="1085760" y="3257640"/>
            <a:ext cx="27590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いることが分かります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1085760" y="3743280"/>
            <a:ext cx="104828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層が深くなるにつれて、これらの特徴を組み合わせ、より複雑な特徴（数字のパーツ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1085760" y="4152960"/>
            <a:ext cx="30351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など）を捉えていきます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914400" y="392400"/>
            <a:ext cx="3547440" cy="361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CNN</a:t>
            </a:r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は何を学習しているのか？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11777400" y="6436800"/>
            <a:ext cx="34812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10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3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214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215" name=""/>
          <p:cNvSpPr/>
          <p:nvPr/>
        </p:nvSpPr>
        <p:spPr>
          <a:xfrm>
            <a:off x="809280" y="158112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2" y="165"/>
                  <a:pt x="290" y="174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2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2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2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4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7"/>
                  <a:pt x="1" y="127"/>
                  <a:pt x="3" y="117"/>
                </a:cubicBezTo>
                <a:cubicBezTo>
                  <a:pt x="5" y="107"/>
                  <a:pt x="8" y="98"/>
                  <a:pt x="12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2"/>
                </a:cubicBezTo>
                <a:cubicBezTo>
                  <a:pt x="184" y="4"/>
                  <a:pt x="193" y="7"/>
                  <a:pt x="202" y="11"/>
                </a:cubicBezTo>
                <a:cubicBezTo>
                  <a:pt x="210" y="14"/>
                  <a:pt x="219" y="19"/>
                  <a:pt x="228" y="24"/>
                </a:cubicBezTo>
                <a:cubicBezTo>
                  <a:pt x="236" y="29"/>
                  <a:pt x="243" y="35"/>
                  <a:pt x="250" y="42"/>
                </a:cubicBezTo>
                <a:cubicBezTo>
                  <a:pt x="257" y="49"/>
                  <a:pt x="263" y="56"/>
                  <a:pt x="268" y="64"/>
                </a:cubicBezTo>
                <a:cubicBezTo>
                  <a:pt x="273" y="72"/>
                  <a:pt x="278" y="81"/>
                  <a:pt x="281" y="89"/>
                </a:cubicBezTo>
                <a:cubicBezTo>
                  <a:pt x="285" y="98"/>
                  <a:pt x="288" y="107"/>
                  <a:pt x="290" y="117"/>
                </a:cubicBezTo>
                <a:cubicBezTo>
                  <a:pt x="292" y="127"/>
                  <a:pt x="292" y="137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6" name=""/>
          <p:cNvSpPr txBox="1"/>
          <p:nvPr/>
        </p:nvSpPr>
        <p:spPr>
          <a:xfrm>
            <a:off x="533520" y="923760"/>
            <a:ext cx="705276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効率的な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CNN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を構築するための基本的な指針があります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7" name=""/>
          <p:cNvSpPr/>
          <p:nvPr/>
        </p:nvSpPr>
        <p:spPr>
          <a:xfrm>
            <a:off x="1361880" y="20858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5"/>
                </a:moveTo>
                <a:cubicBezTo>
                  <a:pt x="292" y="155"/>
                  <a:pt x="291" y="164"/>
                  <a:pt x="289" y="175"/>
                </a:cubicBezTo>
                <a:cubicBezTo>
                  <a:pt x="287" y="184"/>
                  <a:pt x="285" y="193"/>
                  <a:pt x="281" y="202"/>
                </a:cubicBezTo>
                <a:cubicBezTo>
                  <a:pt x="277" y="211"/>
                  <a:pt x="273" y="219"/>
                  <a:pt x="268" y="227"/>
                </a:cubicBezTo>
                <a:cubicBezTo>
                  <a:pt x="262" y="235"/>
                  <a:pt x="256" y="243"/>
                  <a:pt x="249" y="249"/>
                </a:cubicBezTo>
                <a:cubicBezTo>
                  <a:pt x="243" y="256"/>
                  <a:pt x="235" y="262"/>
                  <a:pt x="227" y="267"/>
                </a:cubicBezTo>
                <a:cubicBezTo>
                  <a:pt x="219" y="273"/>
                  <a:pt x="211" y="277"/>
                  <a:pt x="202" y="281"/>
                </a:cubicBezTo>
                <a:cubicBezTo>
                  <a:pt x="193" y="284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49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19" y="219"/>
                  <a:pt x="15" y="211"/>
                  <a:pt x="11" y="202"/>
                </a:cubicBezTo>
                <a:cubicBezTo>
                  <a:pt x="7" y="193"/>
                  <a:pt x="5" y="184"/>
                  <a:pt x="3" y="175"/>
                </a:cubicBezTo>
                <a:cubicBezTo>
                  <a:pt x="1" y="164"/>
                  <a:pt x="0" y="155"/>
                  <a:pt x="0" y="145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2"/>
                  <a:pt x="25" y="65"/>
                </a:cubicBezTo>
                <a:cubicBezTo>
                  <a:pt x="30" y="57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7"/>
                  <a:pt x="202" y="11"/>
                </a:cubicBezTo>
                <a:cubicBezTo>
                  <a:pt x="211" y="15"/>
                  <a:pt x="219" y="19"/>
                  <a:pt x="227" y="24"/>
                </a:cubicBezTo>
                <a:cubicBezTo>
                  <a:pt x="235" y="30"/>
                  <a:pt x="243" y="36"/>
                  <a:pt x="249" y="42"/>
                </a:cubicBezTo>
                <a:cubicBezTo>
                  <a:pt x="256" y="49"/>
                  <a:pt x="262" y="57"/>
                  <a:pt x="268" y="65"/>
                </a:cubicBezTo>
                <a:cubicBezTo>
                  <a:pt x="273" y="72"/>
                  <a:pt x="277" y="81"/>
                  <a:pt x="281" y="90"/>
                </a:cubicBezTo>
                <a:cubicBezTo>
                  <a:pt x="285" y="99"/>
                  <a:pt x="287" y="108"/>
                  <a:pt x="289" y="117"/>
                </a:cubicBezTo>
                <a:cubicBezTo>
                  <a:pt x="291" y="126"/>
                  <a:pt x="292" y="136"/>
                  <a:pt x="292" y="145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1085760" y="1438200"/>
            <a:ext cx="1655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基本パターン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9" name=""/>
          <p:cNvSpPr/>
          <p:nvPr/>
        </p:nvSpPr>
        <p:spPr>
          <a:xfrm>
            <a:off x="809280" y="257148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2" y="165"/>
                  <a:pt x="290" y="174"/>
                </a:cubicBezTo>
                <a:cubicBezTo>
                  <a:pt x="288" y="184"/>
                  <a:pt x="285" y="193"/>
                  <a:pt x="281" y="201"/>
                </a:cubicBezTo>
                <a:cubicBezTo>
                  <a:pt x="278" y="210"/>
                  <a:pt x="273" y="219"/>
                  <a:pt x="268" y="227"/>
                </a:cubicBezTo>
                <a:cubicBezTo>
                  <a:pt x="263" y="235"/>
                  <a:pt x="257" y="242"/>
                  <a:pt x="250" y="249"/>
                </a:cubicBezTo>
                <a:cubicBezTo>
                  <a:pt x="243" y="255"/>
                  <a:pt x="236" y="261"/>
                  <a:pt x="228" y="267"/>
                </a:cubicBezTo>
                <a:cubicBezTo>
                  <a:pt x="219" y="272"/>
                  <a:pt x="210" y="277"/>
                  <a:pt x="202" y="281"/>
                </a:cubicBezTo>
                <a:cubicBezTo>
                  <a:pt x="193" y="285"/>
                  <a:pt x="184" y="288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7"/>
                  <a:pt x="73" y="272"/>
                  <a:pt x="65" y="267"/>
                </a:cubicBezTo>
                <a:cubicBezTo>
                  <a:pt x="57" y="261"/>
                  <a:pt x="50" y="255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20" y="219"/>
                  <a:pt x="15" y="210"/>
                  <a:pt x="12" y="201"/>
                </a:cubicBezTo>
                <a:cubicBezTo>
                  <a:pt x="8" y="193"/>
                  <a:pt x="5" y="184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0" y="15"/>
                  <a:pt x="219" y="19"/>
                  <a:pt x="228" y="25"/>
                </a:cubicBezTo>
                <a:cubicBezTo>
                  <a:pt x="236" y="30"/>
                  <a:pt x="243" y="36"/>
                  <a:pt x="250" y="43"/>
                </a:cubicBezTo>
                <a:cubicBezTo>
                  <a:pt x="257" y="50"/>
                  <a:pt x="263" y="57"/>
                  <a:pt x="268" y="65"/>
                </a:cubicBezTo>
                <a:cubicBezTo>
                  <a:pt x="273" y="73"/>
                  <a:pt x="278" y="81"/>
                  <a:pt x="281" y="90"/>
                </a:cubicBezTo>
                <a:cubicBezTo>
                  <a:pt x="285" y="99"/>
                  <a:pt x="288" y="108"/>
                  <a:pt x="290" y="117"/>
                </a:cubicBezTo>
                <a:cubicBezTo>
                  <a:pt x="292" y="127"/>
                  <a:pt x="292" y="136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1638360" y="1942920"/>
            <a:ext cx="80002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畳み込み層とプーリング層を交互に重ね、最後に全結合層を配置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1" name=""/>
          <p:cNvSpPr/>
          <p:nvPr/>
        </p:nvSpPr>
        <p:spPr>
          <a:xfrm>
            <a:off x="1361880" y="308592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7"/>
                </a:moveTo>
                <a:cubicBezTo>
                  <a:pt x="292" y="156"/>
                  <a:pt x="291" y="166"/>
                  <a:pt x="289" y="175"/>
                </a:cubicBezTo>
                <a:cubicBezTo>
                  <a:pt x="287" y="184"/>
                  <a:pt x="285" y="193"/>
                  <a:pt x="281" y="202"/>
                </a:cubicBezTo>
                <a:cubicBezTo>
                  <a:pt x="277" y="211"/>
                  <a:pt x="273" y="219"/>
                  <a:pt x="268" y="227"/>
                </a:cubicBezTo>
                <a:cubicBezTo>
                  <a:pt x="262" y="235"/>
                  <a:pt x="256" y="243"/>
                  <a:pt x="249" y="249"/>
                </a:cubicBezTo>
                <a:cubicBezTo>
                  <a:pt x="243" y="256"/>
                  <a:pt x="235" y="262"/>
                  <a:pt x="227" y="268"/>
                </a:cubicBezTo>
                <a:cubicBezTo>
                  <a:pt x="219" y="273"/>
                  <a:pt x="211" y="277"/>
                  <a:pt x="202" y="281"/>
                </a:cubicBezTo>
                <a:cubicBezTo>
                  <a:pt x="193" y="285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89"/>
                </a:cubicBezTo>
                <a:cubicBezTo>
                  <a:pt x="108" y="287"/>
                  <a:pt x="99" y="285"/>
                  <a:pt x="90" y="281"/>
                </a:cubicBezTo>
                <a:cubicBezTo>
                  <a:pt x="81" y="277"/>
                  <a:pt x="73" y="273"/>
                  <a:pt x="65" y="268"/>
                </a:cubicBezTo>
                <a:cubicBezTo>
                  <a:pt x="57" y="262"/>
                  <a:pt x="49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19" y="219"/>
                  <a:pt x="15" y="211"/>
                  <a:pt x="11" y="202"/>
                </a:cubicBezTo>
                <a:cubicBezTo>
                  <a:pt x="7" y="193"/>
                  <a:pt x="5" y="184"/>
                  <a:pt x="3" y="175"/>
                </a:cubicBezTo>
                <a:cubicBezTo>
                  <a:pt x="1" y="166"/>
                  <a:pt x="0" y="156"/>
                  <a:pt x="0" y="147"/>
                </a:cubicBezTo>
                <a:cubicBezTo>
                  <a:pt x="0" y="137"/>
                  <a:pt x="1" y="128"/>
                  <a:pt x="3" y="118"/>
                </a:cubicBezTo>
                <a:cubicBezTo>
                  <a:pt x="5" y="109"/>
                  <a:pt x="7" y="100"/>
                  <a:pt x="11" y="91"/>
                </a:cubicBezTo>
                <a:cubicBezTo>
                  <a:pt x="15" y="82"/>
                  <a:pt x="19" y="74"/>
                  <a:pt x="25" y="66"/>
                </a:cubicBezTo>
                <a:cubicBezTo>
                  <a:pt x="30" y="58"/>
                  <a:pt x="36" y="50"/>
                  <a:pt x="43" y="44"/>
                </a:cubicBezTo>
                <a:cubicBezTo>
                  <a:pt x="49" y="37"/>
                  <a:pt x="57" y="31"/>
                  <a:pt x="65" y="26"/>
                </a:cubicBezTo>
                <a:cubicBezTo>
                  <a:pt x="73" y="20"/>
                  <a:pt x="81" y="16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7"/>
                  <a:pt x="202" y="11"/>
                </a:cubicBezTo>
                <a:cubicBezTo>
                  <a:pt x="211" y="16"/>
                  <a:pt x="219" y="20"/>
                  <a:pt x="227" y="26"/>
                </a:cubicBezTo>
                <a:cubicBezTo>
                  <a:pt x="235" y="31"/>
                  <a:pt x="243" y="37"/>
                  <a:pt x="249" y="44"/>
                </a:cubicBezTo>
                <a:cubicBezTo>
                  <a:pt x="256" y="50"/>
                  <a:pt x="262" y="58"/>
                  <a:pt x="268" y="66"/>
                </a:cubicBezTo>
                <a:cubicBezTo>
                  <a:pt x="273" y="74"/>
                  <a:pt x="277" y="82"/>
                  <a:pt x="281" y="91"/>
                </a:cubicBezTo>
                <a:cubicBezTo>
                  <a:pt x="285" y="100"/>
                  <a:pt x="287" y="109"/>
                  <a:pt x="289" y="118"/>
                </a:cubicBezTo>
                <a:cubicBezTo>
                  <a:pt x="291" y="128"/>
                  <a:pt x="292" y="137"/>
                  <a:pt x="292" y="147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2" name=""/>
          <p:cNvSpPr txBox="1"/>
          <p:nvPr/>
        </p:nvSpPr>
        <p:spPr>
          <a:xfrm>
            <a:off x="1085760" y="2428920"/>
            <a:ext cx="1655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推奨パターン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3" name=""/>
          <p:cNvSpPr/>
          <p:nvPr/>
        </p:nvSpPr>
        <p:spPr>
          <a:xfrm>
            <a:off x="1361880" y="356220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1" y="165"/>
                  <a:pt x="289" y="175"/>
                </a:cubicBezTo>
                <a:cubicBezTo>
                  <a:pt x="287" y="184"/>
                  <a:pt x="285" y="193"/>
                  <a:pt x="281" y="202"/>
                </a:cubicBezTo>
                <a:cubicBezTo>
                  <a:pt x="277" y="211"/>
                  <a:pt x="273" y="219"/>
                  <a:pt x="268" y="227"/>
                </a:cubicBezTo>
                <a:cubicBezTo>
                  <a:pt x="262" y="235"/>
                  <a:pt x="256" y="243"/>
                  <a:pt x="249" y="249"/>
                </a:cubicBezTo>
                <a:cubicBezTo>
                  <a:pt x="243" y="256"/>
                  <a:pt x="235" y="262"/>
                  <a:pt x="227" y="267"/>
                </a:cubicBezTo>
                <a:cubicBezTo>
                  <a:pt x="219" y="273"/>
                  <a:pt x="211" y="277"/>
                  <a:pt x="202" y="281"/>
                </a:cubicBezTo>
                <a:cubicBezTo>
                  <a:pt x="193" y="285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89"/>
                </a:cubicBezTo>
                <a:cubicBezTo>
                  <a:pt x="108" y="287"/>
                  <a:pt x="99" y="285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49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19" y="219"/>
                  <a:pt x="15" y="211"/>
                  <a:pt x="11" y="202"/>
                </a:cubicBezTo>
                <a:cubicBezTo>
                  <a:pt x="7" y="193"/>
                  <a:pt x="5" y="184"/>
                  <a:pt x="3" y="175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7"/>
                  <a:pt x="202" y="11"/>
                </a:cubicBezTo>
                <a:cubicBezTo>
                  <a:pt x="211" y="15"/>
                  <a:pt x="219" y="19"/>
                  <a:pt x="227" y="24"/>
                </a:cubicBezTo>
                <a:cubicBezTo>
                  <a:pt x="235" y="30"/>
                  <a:pt x="243" y="36"/>
                  <a:pt x="249" y="43"/>
                </a:cubicBezTo>
                <a:cubicBezTo>
                  <a:pt x="256" y="49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7" y="108"/>
                  <a:pt x="289" y="117"/>
                </a:cubicBezTo>
                <a:cubicBezTo>
                  <a:pt x="291" y="126"/>
                  <a:pt x="292" y="136"/>
                  <a:pt x="292" y="146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1638360" y="2943360"/>
            <a:ext cx="57934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プーリング層の前に複数の畳み込み層を重ねる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5" name=""/>
          <p:cNvSpPr/>
          <p:nvPr/>
        </p:nvSpPr>
        <p:spPr>
          <a:xfrm>
            <a:off x="1361880" y="40478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1" y="165"/>
                  <a:pt x="289" y="174"/>
                </a:cubicBezTo>
                <a:cubicBezTo>
                  <a:pt x="287" y="184"/>
                  <a:pt x="285" y="193"/>
                  <a:pt x="281" y="201"/>
                </a:cubicBezTo>
                <a:cubicBezTo>
                  <a:pt x="277" y="210"/>
                  <a:pt x="273" y="219"/>
                  <a:pt x="268" y="227"/>
                </a:cubicBezTo>
                <a:cubicBezTo>
                  <a:pt x="262" y="235"/>
                  <a:pt x="256" y="242"/>
                  <a:pt x="249" y="249"/>
                </a:cubicBezTo>
                <a:cubicBezTo>
                  <a:pt x="243" y="256"/>
                  <a:pt x="235" y="262"/>
                  <a:pt x="227" y="268"/>
                </a:cubicBezTo>
                <a:cubicBezTo>
                  <a:pt x="219" y="273"/>
                  <a:pt x="211" y="278"/>
                  <a:pt x="202" y="281"/>
                </a:cubicBezTo>
                <a:cubicBezTo>
                  <a:pt x="193" y="285"/>
                  <a:pt x="184" y="288"/>
                  <a:pt x="175" y="290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90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8"/>
                  <a:pt x="73" y="273"/>
                  <a:pt x="65" y="268"/>
                </a:cubicBezTo>
                <a:cubicBezTo>
                  <a:pt x="57" y="262"/>
                  <a:pt x="49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19" y="219"/>
                  <a:pt x="15" y="210"/>
                  <a:pt x="11" y="201"/>
                </a:cubicBezTo>
                <a:cubicBezTo>
                  <a:pt x="7" y="193"/>
                  <a:pt x="5" y="184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20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1" y="15"/>
                  <a:pt x="219" y="20"/>
                  <a:pt x="227" y="25"/>
                </a:cubicBezTo>
                <a:cubicBezTo>
                  <a:pt x="235" y="30"/>
                  <a:pt x="243" y="36"/>
                  <a:pt x="249" y="43"/>
                </a:cubicBezTo>
                <a:cubicBezTo>
                  <a:pt x="256" y="50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7" y="108"/>
                  <a:pt x="289" y="117"/>
                </a:cubicBezTo>
                <a:cubicBezTo>
                  <a:pt x="291" y="127"/>
                  <a:pt x="292" y="136"/>
                  <a:pt x="292" y="146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1638360" y="3419640"/>
            <a:ext cx="49658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より複雑で表現力の高い特徴を抽出可能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7" name=""/>
          <p:cNvSpPr/>
          <p:nvPr/>
        </p:nvSpPr>
        <p:spPr>
          <a:xfrm>
            <a:off x="809280" y="45338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2" y="165"/>
                  <a:pt x="290" y="175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2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2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2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5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7"/>
                  <a:pt x="1" y="127"/>
                  <a:pt x="3" y="118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2"/>
                  <a:pt x="20" y="73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6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2"/>
                </a:cubicBezTo>
                <a:cubicBezTo>
                  <a:pt x="184" y="4"/>
                  <a:pt x="193" y="7"/>
                  <a:pt x="202" y="11"/>
                </a:cubicBezTo>
                <a:cubicBezTo>
                  <a:pt x="210" y="14"/>
                  <a:pt x="219" y="19"/>
                  <a:pt x="228" y="24"/>
                </a:cubicBezTo>
                <a:cubicBezTo>
                  <a:pt x="236" y="29"/>
                  <a:pt x="243" y="36"/>
                  <a:pt x="250" y="42"/>
                </a:cubicBezTo>
                <a:cubicBezTo>
                  <a:pt x="257" y="49"/>
                  <a:pt x="263" y="56"/>
                  <a:pt x="268" y="64"/>
                </a:cubicBezTo>
                <a:cubicBezTo>
                  <a:pt x="273" y="73"/>
                  <a:pt x="278" y="82"/>
                  <a:pt x="281" y="90"/>
                </a:cubicBezTo>
                <a:cubicBezTo>
                  <a:pt x="285" y="99"/>
                  <a:pt x="288" y="108"/>
                  <a:pt x="290" y="118"/>
                </a:cubicBezTo>
                <a:cubicBezTo>
                  <a:pt x="292" y="127"/>
                  <a:pt x="292" y="137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8" name=""/>
          <p:cNvSpPr txBox="1"/>
          <p:nvPr/>
        </p:nvSpPr>
        <p:spPr>
          <a:xfrm>
            <a:off x="1638360" y="3905280"/>
            <a:ext cx="830520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[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図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: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ここに一般的な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CNN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アーキテクチャの図を入れる 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(Figure 5)]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9" name=""/>
          <p:cNvSpPr/>
          <p:nvPr/>
        </p:nvSpPr>
        <p:spPr>
          <a:xfrm>
            <a:off x="1361880" y="503856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1" y="165"/>
                  <a:pt x="289" y="175"/>
                </a:cubicBezTo>
                <a:cubicBezTo>
                  <a:pt x="287" y="184"/>
                  <a:pt x="285" y="193"/>
                  <a:pt x="281" y="202"/>
                </a:cubicBezTo>
                <a:cubicBezTo>
                  <a:pt x="277" y="211"/>
                  <a:pt x="273" y="219"/>
                  <a:pt x="268" y="227"/>
                </a:cubicBezTo>
                <a:cubicBezTo>
                  <a:pt x="262" y="235"/>
                  <a:pt x="256" y="243"/>
                  <a:pt x="249" y="249"/>
                </a:cubicBezTo>
                <a:cubicBezTo>
                  <a:pt x="243" y="256"/>
                  <a:pt x="235" y="262"/>
                  <a:pt x="227" y="267"/>
                </a:cubicBezTo>
                <a:cubicBezTo>
                  <a:pt x="219" y="273"/>
                  <a:pt x="211" y="277"/>
                  <a:pt x="202" y="281"/>
                </a:cubicBezTo>
                <a:cubicBezTo>
                  <a:pt x="193" y="285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89"/>
                </a:cubicBezTo>
                <a:cubicBezTo>
                  <a:pt x="108" y="287"/>
                  <a:pt x="99" y="285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49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19" y="219"/>
                  <a:pt x="15" y="211"/>
                  <a:pt x="11" y="202"/>
                </a:cubicBezTo>
                <a:cubicBezTo>
                  <a:pt x="7" y="193"/>
                  <a:pt x="5" y="184"/>
                  <a:pt x="3" y="175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7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7"/>
                  <a:pt x="202" y="11"/>
                </a:cubicBezTo>
                <a:cubicBezTo>
                  <a:pt x="211" y="15"/>
                  <a:pt x="219" y="19"/>
                  <a:pt x="227" y="24"/>
                </a:cubicBezTo>
                <a:cubicBezTo>
                  <a:pt x="235" y="30"/>
                  <a:pt x="243" y="36"/>
                  <a:pt x="249" y="43"/>
                </a:cubicBezTo>
                <a:cubicBezTo>
                  <a:pt x="256" y="49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7" y="108"/>
                  <a:pt x="289" y="117"/>
                </a:cubicBezTo>
                <a:cubicBezTo>
                  <a:pt x="291" y="127"/>
                  <a:pt x="292" y="137"/>
                  <a:pt x="292" y="146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1085760" y="4390920"/>
            <a:ext cx="48384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Tips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1" name=""/>
          <p:cNvSpPr/>
          <p:nvPr/>
        </p:nvSpPr>
        <p:spPr>
          <a:xfrm>
            <a:off x="1361880" y="552420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1" y="165"/>
                  <a:pt x="289" y="174"/>
                </a:cubicBezTo>
                <a:cubicBezTo>
                  <a:pt x="287" y="184"/>
                  <a:pt x="285" y="193"/>
                  <a:pt x="281" y="202"/>
                </a:cubicBezTo>
                <a:cubicBezTo>
                  <a:pt x="277" y="210"/>
                  <a:pt x="273" y="219"/>
                  <a:pt x="268" y="228"/>
                </a:cubicBezTo>
                <a:cubicBezTo>
                  <a:pt x="262" y="236"/>
                  <a:pt x="256" y="243"/>
                  <a:pt x="249" y="250"/>
                </a:cubicBezTo>
                <a:cubicBezTo>
                  <a:pt x="243" y="257"/>
                  <a:pt x="235" y="263"/>
                  <a:pt x="227" y="268"/>
                </a:cubicBezTo>
                <a:cubicBezTo>
                  <a:pt x="219" y="273"/>
                  <a:pt x="211" y="278"/>
                  <a:pt x="202" y="281"/>
                </a:cubicBezTo>
                <a:cubicBezTo>
                  <a:pt x="193" y="285"/>
                  <a:pt x="184" y="288"/>
                  <a:pt x="175" y="290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90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8"/>
                  <a:pt x="73" y="273"/>
                  <a:pt x="65" y="268"/>
                </a:cubicBezTo>
                <a:cubicBezTo>
                  <a:pt x="57" y="263"/>
                  <a:pt x="49" y="257"/>
                  <a:pt x="43" y="250"/>
                </a:cubicBezTo>
                <a:cubicBezTo>
                  <a:pt x="36" y="243"/>
                  <a:pt x="30" y="236"/>
                  <a:pt x="25" y="228"/>
                </a:cubicBezTo>
                <a:cubicBezTo>
                  <a:pt x="19" y="219"/>
                  <a:pt x="15" y="210"/>
                  <a:pt x="11" y="202"/>
                </a:cubicBezTo>
                <a:cubicBezTo>
                  <a:pt x="7" y="193"/>
                  <a:pt x="5" y="184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20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1" y="15"/>
                  <a:pt x="219" y="20"/>
                  <a:pt x="227" y="25"/>
                </a:cubicBezTo>
                <a:cubicBezTo>
                  <a:pt x="235" y="30"/>
                  <a:pt x="243" y="36"/>
                  <a:pt x="249" y="43"/>
                </a:cubicBezTo>
                <a:cubicBezTo>
                  <a:pt x="256" y="50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7" y="108"/>
                  <a:pt x="289" y="117"/>
                </a:cubicBezTo>
                <a:cubicBezTo>
                  <a:pt x="291" y="127"/>
                  <a:pt x="292" y="136"/>
                  <a:pt x="292" y="146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1638360" y="4896000"/>
            <a:ext cx="917712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フィルタサイズは小さく（例：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3×3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）、層を深くする方が性能が良い傾向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1638360" y="5381640"/>
            <a:ext cx="723456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入力画像のサイズは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2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のべき乗（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32, 64, 128...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）が一般的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4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914400" y="392400"/>
            <a:ext cx="2317680" cy="361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5. CNN</a:t>
            </a:r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構築のレシピ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11777400" y="6436800"/>
            <a:ext cx="34812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11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0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241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242" name=""/>
          <p:cNvSpPr/>
          <p:nvPr/>
        </p:nvSpPr>
        <p:spPr>
          <a:xfrm>
            <a:off x="809280" y="158112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2" y="165"/>
                  <a:pt x="290" y="174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2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2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2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4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7"/>
                  <a:pt x="1" y="127"/>
                  <a:pt x="3" y="117"/>
                </a:cubicBezTo>
                <a:cubicBezTo>
                  <a:pt x="5" y="107"/>
                  <a:pt x="8" y="98"/>
                  <a:pt x="12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2"/>
                </a:cubicBezTo>
                <a:cubicBezTo>
                  <a:pt x="184" y="4"/>
                  <a:pt x="193" y="7"/>
                  <a:pt x="202" y="11"/>
                </a:cubicBezTo>
                <a:cubicBezTo>
                  <a:pt x="210" y="14"/>
                  <a:pt x="219" y="19"/>
                  <a:pt x="228" y="24"/>
                </a:cubicBezTo>
                <a:cubicBezTo>
                  <a:pt x="236" y="29"/>
                  <a:pt x="243" y="35"/>
                  <a:pt x="250" y="42"/>
                </a:cubicBezTo>
                <a:cubicBezTo>
                  <a:pt x="257" y="49"/>
                  <a:pt x="263" y="56"/>
                  <a:pt x="268" y="64"/>
                </a:cubicBezTo>
                <a:cubicBezTo>
                  <a:pt x="273" y="72"/>
                  <a:pt x="278" y="81"/>
                  <a:pt x="281" y="89"/>
                </a:cubicBezTo>
                <a:cubicBezTo>
                  <a:pt x="285" y="98"/>
                  <a:pt x="288" y="107"/>
                  <a:pt x="290" y="117"/>
                </a:cubicBezTo>
                <a:cubicBezTo>
                  <a:pt x="292" y="127"/>
                  <a:pt x="292" y="137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3" name=""/>
          <p:cNvSpPr txBox="1"/>
          <p:nvPr/>
        </p:nvSpPr>
        <p:spPr>
          <a:xfrm>
            <a:off x="533520" y="923760"/>
            <a:ext cx="22075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本発表の要点です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4" name=""/>
          <p:cNvSpPr/>
          <p:nvPr/>
        </p:nvSpPr>
        <p:spPr>
          <a:xfrm>
            <a:off x="1361880" y="20858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5"/>
                </a:moveTo>
                <a:cubicBezTo>
                  <a:pt x="292" y="155"/>
                  <a:pt x="291" y="164"/>
                  <a:pt x="289" y="175"/>
                </a:cubicBezTo>
                <a:cubicBezTo>
                  <a:pt x="287" y="184"/>
                  <a:pt x="285" y="193"/>
                  <a:pt x="281" y="202"/>
                </a:cubicBezTo>
                <a:cubicBezTo>
                  <a:pt x="277" y="211"/>
                  <a:pt x="273" y="219"/>
                  <a:pt x="268" y="227"/>
                </a:cubicBezTo>
                <a:cubicBezTo>
                  <a:pt x="262" y="235"/>
                  <a:pt x="256" y="243"/>
                  <a:pt x="249" y="249"/>
                </a:cubicBezTo>
                <a:cubicBezTo>
                  <a:pt x="243" y="256"/>
                  <a:pt x="235" y="262"/>
                  <a:pt x="227" y="267"/>
                </a:cubicBezTo>
                <a:cubicBezTo>
                  <a:pt x="219" y="273"/>
                  <a:pt x="211" y="277"/>
                  <a:pt x="202" y="281"/>
                </a:cubicBezTo>
                <a:cubicBezTo>
                  <a:pt x="193" y="284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49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19" y="219"/>
                  <a:pt x="15" y="211"/>
                  <a:pt x="11" y="202"/>
                </a:cubicBezTo>
                <a:cubicBezTo>
                  <a:pt x="7" y="193"/>
                  <a:pt x="5" y="184"/>
                  <a:pt x="3" y="175"/>
                </a:cubicBezTo>
                <a:cubicBezTo>
                  <a:pt x="1" y="164"/>
                  <a:pt x="0" y="155"/>
                  <a:pt x="0" y="145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2"/>
                  <a:pt x="25" y="65"/>
                </a:cubicBezTo>
                <a:cubicBezTo>
                  <a:pt x="30" y="57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7"/>
                  <a:pt x="202" y="11"/>
                </a:cubicBezTo>
                <a:cubicBezTo>
                  <a:pt x="211" y="15"/>
                  <a:pt x="219" y="19"/>
                  <a:pt x="227" y="24"/>
                </a:cubicBezTo>
                <a:cubicBezTo>
                  <a:pt x="235" y="30"/>
                  <a:pt x="243" y="36"/>
                  <a:pt x="249" y="42"/>
                </a:cubicBezTo>
                <a:cubicBezTo>
                  <a:pt x="256" y="49"/>
                  <a:pt x="262" y="57"/>
                  <a:pt x="268" y="65"/>
                </a:cubicBezTo>
                <a:cubicBezTo>
                  <a:pt x="273" y="72"/>
                  <a:pt x="277" y="81"/>
                  <a:pt x="281" y="90"/>
                </a:cubicBezTo>
                <a:cubicBezTo>
                  <a:pt x="285" y="99"/>
                  <a:pt x="287" y="108"/>
                  <a:pt x="289" y="117"/>
                </a:cubicBezTo>
                <a:cubicBezTo>
                  <a:pt x="291" y="126"/>
                  <a:pt x="292" y="136"/>
                  <a:pt x="292" y="145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5" name=""/>
          <p:cNvSpPr txBox="1"/>
          <p:nvPr/>
        </p:nvSpPr>
        <p:spPr>
          <a:xfrm>
            <a:off x="1085760" y="1438200"/>
            <a:ext cx="669744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CNN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は画像の特性を活かした効率的なアーキテクチャ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6" name=""/>
          <p:cNvSpPr/>
          <p:nvPr/>
        </p:nvSpPr>
        <p:spPr>
          <a:xfrm>
            <a:off x="809280" y="257148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2" y="165"/>
                  <a:pt x="290" y="174"/>
                </a:cubicBezTo>
                <a:cubicBezTo>
                  <a:pt x="288" y="184"/>
                  <a:pt x="285" y="193"/>
                  <a:pt x="281" y="201"/>
                </a:cubicBezTo>
                <a:cubicBezTo>
                  <a:pt x="278" y="210"/>
                  <a:pt x="273" y="219"/>
                  <a:pt x="268" y="227"/>
                </a:cubicBezTo>
                <a:cubicBezTo>
                  <a:pt x="263" y="235"/>
                  <a:pt x="257" y="242"/>
                  <a:pt x="250" y="249"/>
                </a:cubicBezTo>
                <a:cubicBezTo>
                  <a:pt x="243" y="255"/>
                  <a:pt x="236" y="261"/>
                  <a:pt x="228" y="267"/>
                </a:cubicBezTo>
                <a:cubicBezTo>
                  <a:pt x="219" y="272"/>
                  <a:pt x="210" y="277"/>
                  <a:pt x="202" y="281"/>
                </a:cubicBezTo>
                <a:cubicBezTo>
                  <a:pt x="193" y="285"/>
                  <a:pt x="184" y="288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7"/>
                  <a:pt x="73" y="272"/>
                  <a:pt x="65" y="267"/>
                </a:cubicBezTo>
                <a:cubicBezTo>
                  <a:pt x="57" y="261"/>
                  <a:pt x="50" y="255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20" y="219"/>
                  <a:pt x="15" y="210"/>
                  <a:pt x="12" y="201"/>
                </a:cubicBezTo>
                <a:cubicBezTo>
                  <a:pt x="8" y="193"/>
                  <a:pt x="5" y="184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0" y="15"/>
                  <a:pt x="219" y="19"/>
                  <a:pt x="228" y="25"/>
                </a:cubicBezTo>
                <a:cubicBezTo>
                  <a:pt x="236" y="30"/>
                  <a:pt x="243" y="36"/>
                  <a:pt x="250" y="43"/>
                </a:cubicBezTo>
                <a:cubicBezTo>
                  <a:pt x="257" y="50"/>
                  <a:pt x="263" y="57"/>
                  <a:pt x="268" y="65"/>
                </a:cubicBezTo>
                <a:cubicBezTo>
                  <a:pt x="273" y="73"/>
                  <a:pt x="278" y="81"/>
                  <a:pt x="281" y="90"/>
                </a:cubicBezTo>
                <a:cubicBezTo>
                  <a:pt x="285" y="99"/>
                  <a:pt x="288" y="108"/>
                  <a:pt x="290" y="117"/>
                </a:cubicBezTo>
                <a:cubicBezTo>
                  <a:pt x="292" y="127"/>
                  <a:pt x="292" y="136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7" name=""/>
          <p:cNvSpPr txBox="1"/>
          <p:nvPr/>
        </p:nvSpPr>
        <p:spPr>
          <a:xfrm>
            <a:off x="1638360" y="1942920"/>
            <a:ext cx="952596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局所結合とパラメータ共有により、従来の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ANN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のパラメータ爆発問題を解決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8" name=""/>
          <p:cNvSpPr/>
          <p:nvPr/>
        </p:nvSpPr>
        <p:spPr>
          <a:xfrm>
            <a:off x="1361880" y="308592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7"/>
                </a:moveTo>
                <a:cubicBezTo>
                  <a:pt x="292" y="156"/>
                  <a:pt x="291" y="166"/>
                  <a:pt x="289" y="175"/>
                </a:cubicBezTo>
                <a:cubicBezTo>
                  <a:pt x="287" y="184"/>
                  <a:pt x="285" y="193"/>
                  <a:pt x="281" y="202"/>
                </a:cubicBezTo>
                <a:cubicBezTo>
                  <a:pt x="277" y="211"/>
                  <a:pt x="273" y="219"/>
                  <a:pt x="268" y="227"/>
                </a:cubicBezTo>
                <a:cubicBezTo>
                  <a:pt x="262" y="235"/>
                  <a:pt x="256" y="243"/>
                  <a:pt x="249" y="249"/>
                </a:cubicBezTo>
                <a:cubicBezTo>
                  <a:pt x="243" y="256"/>
                  <a:pt x="235" y="262"/>
                  <a:pt x="227" y="268"/>
                </a:cubicBezTo>
                <a:cubicBezTo>
                  <a:pt x="219" y="273"/>
                  <a:pt x="211" y="277"/>
                  <a:pt x="202" y="281"/>
                </a:cubicBezTo>
                <a:cubicBezTo>
                  <a:pt x="193" y="285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89"/>
                </a:cubicBezTo>
                <a:cubicBezTo>
                  <a:pt x="108" y="287"/>
                  <a:pt x="99" y="285"/>
                  <a:pt x="90" y="281"/>
                </a:cubicBezTo>
                <a:cubicBezTo>
                  <a:pt x="81" y="277"/>
                  <a:pt x="73" y="273"/>
                  <a:pt x="65" y="268"/>
                </a:cubicBezTo>
                <a:cubicBezTo>
                  <a:pt x="57" y="262"/>
                  <a:pt x="49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19" y="219"/>
                  <a:pt x="15" y="211"/>
                  <a:pt x="11" y="202"/>
                </a:cubicBezTo>
                <a:cubicBezTo>
                  <a:pt x="7" y="193"/>
                  <a:pt x="5" y="184"/>
                  <a:pt x="3" y="175"/>
                </a:cubicBezTo>
                <a:cubicBezTo>
                  <a:pt x="1" y="166"/>
                  <a:pt x="0" y="156"/>
                  <a:pt x="0" y="147"/>
                </a:cubicBezTo>
                <a:cubicBezTo>
                  <a:pt x="0" y="137"/>
                  <a:pt x="1" y="128"/>
                  <a:pt x="3" y="118"/>
                </a:cubicBezTo>
                <a:cubicBezTo>
                  <a:pt x="5" y="109"/>
                  <a:pt x="7" y="100"/>
                  <a:pt x="11" y="91"/>
                </a:cubicBezTo>
                <a:cubicBezTo>
                  <a:pt x="15" y="82"/>
                  <a:pt x="19" y="74"/>
                  <a:pt x="25" y="66"/>
                </a:cubicBezTo>
                <a:cubicBezTo>
                  <a:pt x="30" y="58"/>
                  <a:pt x="36" y="50"/>
                  <a:pt x="43" y="44"/>
                </a:cubicBezTo>
                <a:cubicBezTo>
                  <a:pt x="49" y="37"/>
                  <a:pt x="57" y="31"/>
                  <a:pt x="65" y="26"/>
                </a:cubicBezTo>
                <a:cubicBezTo>
                  <a:pt x="73" y="20"/>
                  <a:pt x="81" y="16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7"/>
                  <a:pt x="202" y="11"/>
                </a:cubicBezTo>
                <a:cubicBezTo>
                  <a:pt x="211" y="16"/>
                  <a:pt x="219" y="20"/>
                  <a:pt x="227" y="26"/>
                </a:cubicBezTo>
                <a:cubicBezTo>
                  <a:pt x="235" y="31"/>
                  <a:pt x="243" y="37"/>
                  <a:pt x="249" y="44"/>
                </a:cubicBezTo>
                <a:cubicBezTo>
                  <a:pt x="256" y="50"/>
                  <a:pt x="262" y="58"/>
                  <a:pt x="268" y="66"/>
                </a:cubicBezTo>
                <a:cubicBezTo>
                  <a:pt x="273" y="74"/>
                  <a:pt x="277" y="82"/>
                  <a:pt x="281" y="91"/>
                </a:cubicBezTo>
                <a:cubicBezTo>
                  <a:pt x="285" y="100"/>
                  <a:pt x="287" y="109"/>
                  <a:pt x="289" y="118"/>
                </a:cubicBezTo>
                <a:cubicBezTo>
                  <a:pt x="291" y="128"/>
                  <a:pt x="292" y="137"/>
                  <a:pt x="292" y="147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9" name=""/>
          <p:cNvSpPr txBox="1"/>
          <p:nvPr/>
        </p:nvSpPr>
        <p:spPr>
          <a:xfrm>
            <a:off x="1085760" y="2428920"/>
            <a:ext cx="271512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3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つの主要な層で構成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0" name=""/>
          <p:cNvSpPr txBox="1"/>
          <p:nvPr/>
        </p:nvSpPr>
        <p:spPr>
          <a:xfrm>
            <a:off x="1638360" y="2943360"/>
            <a:ext cx="10207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畳み込み層（特徴抽出）、プーリング層（次元削減）、全結合層（分類）の組み合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1" name=""/>
          <p:cNvSpPr/>
          <p:nvPr/>
        </p:nvSpPr>
        <p:spPr>
          <a:xfrm>
            <a:off x="809280" y="39812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7"/>
                </a:moveTo>
                <a:cubicBezTo>
                  <a:pt x="292" y="156"/>
                  <a:pt x="292" y="166"/>
                  <a:pt x="290" y="175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20"/>
                  <a:pt x="268" y="227"/>
                </a:cubicBezTo>
                <a:cubicBezTo>
                  <a:pt x="263" y="235"/>
                  <a:pt x="257" y="243"/>
                  <a:pt x="250" y="250"/>
                </a:cubicBezTo>
                <a:cubicBezTo>
                  <a:pt x="243" y="256"/>
                  <a:pt x="236" y="262"/>
                  <a:pt x="228" y="268"/>
                </a:cubicBezTo>
                <a:cubicBezTo>
                  <a:pt x="219" y="273"/>
                  <a:pt x="210" y="277"/>
                  <a:pt x="202" y="281"/>
                </a:cubicBezTo>
                <a:cubicBezTo>
                  <a:pt x="193" y="285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5"/>
                  <a:pt x="90" y="281"/>
                </a:cubicBezTo>
                <a:cubicBezTo>
                  <a:pt x="81" y="277"/>
                  <a:pt x="73" y="273"/>
                  <a:pt x="65" y="268"/>
                </a:cubicBezTo>
                <a:cubicBezTo>
                  <a:pt x="57" y="262"/>
                  <a:pt x="50" y="256"/>
                  <a:pt x="43" y="250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20" y="220"/>
                  <a:pt x="15" y="211"/>
                  <a:pt x="12" y="202"/>
                </a:cubicBezTo>
                <a:cubicBezTo>
                  <a:pt x="8" y="193"/>
                  <a:pt x="5" y="184"/>
                  <a:pt x="3" y="175"/>
                </a:cubicBezTo>
                <a:cubicBezTo>
                  <a:pt x="1" y="166"/>
                  <a:pt x="0" y="156"/>
                  <a:pt x="0" y="147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0" y="15"/>
                  <a:pt x="219" y="19"/>
                  <a:pt x="228" y="25"/>
                </a:cubicBezTo>
                <a:cubicBezTo>
                  <a:pt x="236" y="30"/>
                  <a:pt x="243" y="36"/>
                  <a:pt x="250" y="43"/>
                </a:cubicBezTo>
                <a:cubicBezTo>
                  <a:pt x="257" y="49"/>
                  <a:pt x="263" y="57"/>
                  <a:pt x="268" y="65"/>
                </a:cubicBezTo>
                <a:cubicBezTo>
                  <a:pt x="273" y="73"/>
                  <a:pt x="278" y="81"/>
                  <a:pt x="281" y="90"/>
                </a:cubicBezTo>
                <a:cubicBezTo>
                  <a:pt x="285" y="99"/>
                  <a:pt x="288" y="108"/>
                  <a:pt x="290" y="117"/>
                </a:cubicBezTo>
                <a:cubicBezTo>
                  <a:pt x="292" y="127"/>
                  <a:pt x="292" y="136"/>
                  <a:pt x="292" y="147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52" name=""/>
          <p:cNvSpPr txBox="1"/>
          <p:nvPr/>
        </p:nvSpPr>
        <p:spPr>
          <a:xfrm>
            <a:off x="1638360" y="335268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わせ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3" name=""/>
          <p:cNvSpPr/>
          <p:nvPr/>
        </p:nvSpPr>
        <p:spPr>
          <a:xfrm>
            <a:off x="1361880" y="448596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1" y="165"/>
                  <a:pt x="289" y="174"/>
                </a:cubicBezTo>
                <a:cubicBezTo>
                  <a:pt x="287" y="184"/>
                  <a:pt x="285" y="193"/>
                  <a:pt x="281" y="203"/>
                </a:cubicBezTo>
                <a:cubicBezTo>
                  <a:pt x="277" y="211"/>
                  <a:pt x="273" y="220"/>
                  <a:pt x="268" y="228"/>
                </a:cubicBezTo>
                <a:cubicBezTo>
                  <a:pt x="262" y="236"/>
                  <a:pt x="256" y="243"/>
                  <a:pt x="249" y="250"/>
                </a:cubicBezTo>
                <a:cubicBezTo>
                  <a:pt x="243" y="257"/>
                  <a:pt x="235" y="263"/>
                  <a:pt x="227" y="268"/>
                </a:cubicBezTo>
                <a:cubicBezTo>
                  <a:pt x="219" y="273"/>
                  <a:pt x="211" y="278"/>
                  <a:pt x="202" y="281"/>
                </a:cubicBezTo>
                <a:cubicBezTo>
                  <a:pt x="193" y="285"/>
                  <a:pt x="184" y="288"/>
                  <a:pt x="175" y="290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90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8"/>
                  <a:pt x="73" y="273"/>
                  <a:pt x="65" y="268"/>
                </a:cubicBezTo>
                <a:cubicBezTo>
                  <a:pt x="57" y="263"/>
                  <a:pt x="49" y="257"/>
                  <a:pt x="43" y="250"/>
                </a:cubicBezTo>
                <a:cubicBezTo>
                  <a:pt x="36" y="243"/>
                  <a:pt x="30" y="236"/>
                  <a:pt x="25" y="228"/>
                </a:cubicBezTo>
                <a:cubicBezTo>
                  <a:pt x="19" y="220"/>
                  <a:pt x="15" y="211"/>
                  <a:pt x="11" y="203"/>
                </a:cubicBezTo>
                <a:cubicBezTo>
                  <a:pt x="7" y="193"/>
                  <a:pt x="5" y="184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20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1" y="15"/>
                  <a:pt x="219" y="20"/>
                  <a:pt x="227" y="25"/>
                </a:cubicBezTo>
                <a:cubicBezTo>
                  <a:pt x="235" y="30"/>
                  <a:pt x="243" y="36"/>
                  <a:pt x="249" y="43"/>
                </a:cubicBezTo>
                <a:cubicBezTo>
                  <a:pt x="256" y="50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7" y="108"/>
                  <a:pt x="289" y="118"/>
                </a:cubicBezTo>
                <a:cubicBezTo>
                  <a:pt x="291" y="127"/>
                  <a:pt x="292" y="136"/>
                  <a:pt x="292" y="146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4" name=""/>
          <p:cNvSpPr txBox="1"/>
          <p:nvPr/>
        </p:nvSpPr>
        <p:spPr>
          <a:xfrm>
            <a:off x="1085760" y="3838680"/>
            <a:ext cx="22075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階層的な特徴学習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5" name=""/>
          <p:cNvSpPr txBox="1"/>
          <p:nvPr/>
        </p:nvSpPr>
        <p:spPr>
          <a:xfrm>
            <a:off x="1638360" y="4343400"/>
            <a:ext cx="91036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単純な特徴（エッジ）から複雑な特徴（物体のパーツ）へと段階的に学習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6" name=""/>
          <p:cNvSpPr txBox="1"/>
          <p:nvPr/>
        </p:nvSpPr>
        <p:spPr>
          <a:xfrm>
            <a:off x="533520" y="5324400"/>
            <a:ext cx="1119060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本論文は、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CNN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の基本を理解し、画像認識モデルを構築するための優れた入門となります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7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58" name=""/>
          <p:cNvSpPr txBox="1"/>
          <p:nvPr/>
        </p:nvSpPr>
        <p:spPr>
          <a:xfrm>
            <a:off x="914400" y="392400"/>
            <a:ext cx="1074240" cy="361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6. </a:t>
            </a:r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まとめ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9" name=""/>
          <p:cNvSpPr txBox="1"/>
          <p:nvPr/>
        </p:nvSpPr>
        <p:spPr>
          <a:xfrm>
            <a:off x="11777400" y="6436800"/>
            <a:ext cx="34812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12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LibreOffice/24.2.7.2$Linux_AARCH64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