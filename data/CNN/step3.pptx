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26240" y="1859400"/>
            <a:ext cx="24116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9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2048040" y="2500920"/>
            <a:ext cx="8110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畳み込みニューラルネットワーク入門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53200" y="470880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理学部　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438880" y="528588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009960" y="1979280"/>
            <a:ext cx="36140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はじめに：</a:t>
            </a:r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ANN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436480"/>
            <a:ext cx="19310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とは？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893680"/>
            <a:ext cx="25405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の基本構造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3508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主要な層の役割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3808080"/>
            <a:ext cx="28454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構築のレシピ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009960" y="4265280"/>
            <a:ext cx="13183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6.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5" name=""/>
          <p:cNvSpPr/>
          <p:nvPr/>
        </p:nvSpPr>
        <p:spPr>
          <a:xfrm>
            <a:off x="2666880" y="2104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2562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019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3476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666880" y="3933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666880" y="4390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33520" y="923760"/>
            <a:ext cx="952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従来の人工ニューラルネットワーク（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）は画像認識に課題がありました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085760" y="14382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画像の高次元性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638360" y="194292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高解像度のカラー画像を入力すると、パラメータ数が爆発的に増加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638360" y="2428920"/>
            <a:ext cx="10239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例：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64×64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ピクセルのカラー画像では、最初の層のニューロン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12,288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個の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809280" y="3466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638360" y="2847960"/>
            <a:ext cx="2759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重みが必要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(64×64×3)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361880" y="3981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20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3324240"/>
            <a:ext cx="2370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過学習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(Overfitting)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361880" y="4466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6" y="292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638360" y="383868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パラメータが多すぎると、訓練データに過剰に適合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638360" y="43243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未知のデータに対する汎化性能が低下するリスク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33520" y="5305320"/>
            <a:ext cx="841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→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画像の特性を考慮した、より効率的なアーキテクチャが必要です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14400" y="392400"/>
            <a:ext cx="29448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はじめに：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61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33520" y="923760"/>
            <a:ext cx="9618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Convolutional Neural Network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畳み込みニューラルネットワーク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の略称です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085760" y="143820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画像処理に特化したニューラルネットワーク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638360" y="1942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入力データが画像であることを前提に設計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638360" y="242892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生物の視覚野の仕組みにヒントを得ています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085760" y="2914560"/>
            <a:ext cx="2274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との主な違い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638360" y="3419640"/>
            <a:ext cx="5553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次元（縦‧横‧深さ）に配置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638360" y="3905280"/>
            <a:ext cx="6620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ニューロンは前の層の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一部分（局所領域）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にのみ接続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33520" y="488628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画像の持つ「空間的な局所性」を活かすことで、パラメータ数を大幅に削減します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914400" y="392400"/>
            <a:ext cx="15724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とは？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 txBox="1"/>
          <p:nvPr/>
        </p:nvSpPr>
        <p:spPr>
          <a:xfrm>
            <a:off x="533520" y="923760"/>
            <a:ext cx="6181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種類の層を積み重ねて構成されます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809280" y="2504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33520" y="1438200"/>
            <a:ext cx="8580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ここにシンプルな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アーキテクチャの図を入れる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2)]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1361880" y="3009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085760" y="2362320"/>
            <a:ext cx="4019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(Convolutional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809280" y="3495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1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638360" y="28670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画像からエッジや模様などの局所的な特徴を抽出します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361880" y="4009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7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6" y="292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085760" y="3352680"/>
            <a:ext cx="356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(Pooling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09280" y="4485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3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3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638360" y="3867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特徴を維持したまま、データの次元を削減します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1361880" y="5000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3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085760" y="4343400"/>
            <a:ext cx="4003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(Fully-connected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638360" y="485784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抽出された特徴を統合し、最終的な分類を行います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14400" y="392400"/>
            <a:ext cx="20692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/>
          <p:nvPr/>
        </p:nvSpPr>
        <p:spPr>
          <a:xfrm>
            <a:off x="809280" y="18284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2" y="166"/>
                  <a:pt x="290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8" y="212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7"/>
                  <a:pt x="236" y="263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3"/>
                  <a:pt x="146" y="293"/>
                </a:cubicBezTo>
                <a:cubicBezTo>
                  <a:pt x="136" y="293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50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2"/>
                  <a:pt x="12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3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1"/>
                  <a:pt x="81" y="16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0" y="16"/>
                  <a:pt x="219" y="21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3"/>
                  <a:pt x="281" y="91"/>
                </a:cubicBezTo>
                <a:cubicBezTo>
                  <a:pt x="285" y="100"/>
                  <a:pt x="288" y="109"/>
                  <a:pt x="290" y="119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33520" y="1113480"/>
            <a:ext cx="3348000" cy="44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</a:t>
            </a:r>
            <a:r>
              <a:rPr b="0" lang="en-US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39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特徴の抽出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085760" y="16858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学習可能なフィルタ（カーネル）で画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809280" y="2724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85760" y="21049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像上を走査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085760" y="25812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エッジやコーナー等の特徴マップ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809280" y="3628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6"/>
                </a:cubicBezTo>
                <a:cubicBezTo>
                  <a:pt x="263" y="234"/>
                  <a:pt x="257" y="242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085760" y="3000240"/>
            <a:ext cx="3292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Activation Map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）を生成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085760" y="34862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パラメータ共有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の仕組みにより、少な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085760" y="38955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いパラメータで学習可能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33520" y="4876920"/>
            <a:ext cx="5193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活性化関数には主に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ReLU (Rectified Linear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6" name="" descr=""/>
          <p:cNvPicPr/>
          <p:nvPr/>
        </p:nvPicPr>
        <p:blipFill>
          <a:blip r:embed="rId2"/>
          <a:stretch/>
        </p:blipFill>
        <p:spPr>
          <a:xfrm>
            <a:off x="6229440" y="895320"/>
            <a:ext cx="5428800" cy="2123640"/>
          </a:xfrm>
          <a:prstGeom prst="rect">
            <a:avLst/>
          </a:prstGeom>
          <a:ln w="0">
            <a:noFill/>
          </a:ln>
        </p:spPr>
      </p:pic>
      <p:sp>
        <p:nvSpPr>
          <p:cNvPr id="117" name=""/>
          <p:cNvSpPr txBox="1"/>
          <p:nvPr/>
        </p:nvSpPr>
        <p:spPr>
          <a:xfrm>
            <a:off x="533520" y="5295960"/>
            <a:ext cx="2648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Unit)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が使われます。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229440" y="3228840"/>
            <a:ext cx="4423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Fig. 3: Activations taken from the first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229440" y="3648240"/>
            <a:ext cx="4615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convolutional layer of a simplistic deep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457680" y="54007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カーネルを適用し、特徴を抽出する様子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(1/4)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29" name=""/>
          <p:cNvSpPr txBox="1"/>
          <p:nvPr/>
        </p:nvSpPr>
        <p:spPr>
          <a:xfrm>
            <a:off x="533520" y="9237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畳み込み層の出力サイズは、以下の式で計算できます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726240" y="16344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+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5124240" y="185724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784840" y="18324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S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124240" y="1441800"/>
            <a:ext cx="14788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(V − R + 2Z)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809280" y="2590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945120" y="163224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809280" y="3076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cubicBezTo>
                  <a:pt x="156" y="0"/>
                  <a:pt x="165" y="0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310400" y="2448000"/>
            <a:ext cx="4773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入力ボリュームのサイズ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縦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or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8092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266840" y="2933640"/>
            <a:ext cx="3821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受容野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のサイズ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809280" y="4038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5"/>
                  <a:pt x="236" y="261"/>
                  <a:pt x="228" y="266"/>
                </a:cubicBezTo>
                <a:cubicBezTo>
                  <a:pt x="219" y="272"/>
                  <a:pt x="210" y="276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6"/>
                  <a:pt x="73" y="272"/>
                  <a:pt x="65" y="266"/>
                </a:cubicBezTo>
                <a:cubicBezTo>
                  <a:pt x="57" y="261"/>
                  <a:pt x="50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275840" y="3419640"/>
            <a:ext cx="2689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ゼロパディングの量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270080" y="3895560"/>
            <a:ext cx="4226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ストライド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カーネルの移動量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33520" y="4876920"/>
            <a:ext cx="9415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ハイパーパラメータ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(R, Z, S)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を調整することで、出力サイズを制御します。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(2/4)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085760" y="244188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V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085760" y="292788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R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085760" y="341352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Z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085760" y="3889800"/>
            <a:ext cx="28152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220" spc="-1" strike="noStrike">
                <a:solidFill>
                  <a:srgbClr val="111111"/>
                </a:solidFill>
                <a:latin typeface="NotoSansJP"/>
                <a:ea typeface="NotoSansJP"/>
              </a:rPr>
              <a:t>S</a:t>
            </a:r>
            <a:endParaRPr b="0" lang="en-US" sz="22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33520" y="92376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プーリング層は、特徴マップを圧縮して計算量を削減します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085760" y="1438200"/>
            <a:ext cx="4020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次元削減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ダウンサンプリング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638360" y="19429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特徴マップの空間的次元（縦‧横）を小さくする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638360" y="24289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計算コストの削減と過学習の抑制に貢献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085760" y="2914560"/>
            <a:ext cx="1503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Max-pooling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638360" y="34196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領域内の最大値を取る手法が一般的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638360" y="390528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特徴の微小な位置ずれに対して頑健（位置不変性）になる効果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33520" y="488628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これにより、より本質的な特徴を保持したまま、効率的な処理が可能になります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(3/4)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33520" y="92376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全結合層は、抽出された特徴から最終的な識別を行います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085760" y="14382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特徴の統合と分類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638360" y="194292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畳み込み層‧プーリング層で抽出されたすべての特徴を入力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638360" y="24289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最終的なクラス分類のスコアを出力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85760" y="2914560"/>
            <a:ext cx="2905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と同じ構造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638360" y="341964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ニューロンが隣接する層の全てのニューロンと結合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33520" y="3990960"/>
            <a:ext cx="6340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ここに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の基本構造図を入れる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(Figure 1)]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4400" y="392400"/>
            <a:ext cx="26820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主要な層の役割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(4/4)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pic>
        <p:nvPicPr>
          <p:cNvPr id="198" name="" descr=""/>
          <p:cNvPicPr/>
          <p:nvPr/>
        </p:nvPicPr>
        <p:blipFill>
          <a:blip r:embed="rId2"/>
          <a:stretch/>
        </p:blipFill>
        <p:spPr>
          <a:xfrm>
            <a:off x="533520" y="1409760"/>
            <a:ext cx="6095520" cy="2381040"/>
          </a:xfrm>
          <a:prstGeom prst="rect">
            <a:avLst/>
          </a:prstGeom>
          <a:ln w="0">
            <a:noFill/>
          </a:ln>
        </p:spPr>
      </p:pic>
      <p:sp>
        <p:nvSpPr>
          <p:cNvPr id="199" name=""/>
          <p:cNvSpPr txBox="1"/>
          <p:nvPr/>
        </p:nvSpPr>
        <p:spPr>
          <a:xfrm>
            <a:off x="533520" y="923760"/>
            <a:ext cx="9259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学習済みのフィルタを可視化すると、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が捉えている特徴が分かります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809280" y="4657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33520" y="4000320"/>
            <a:ext cx="9111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Fig. 3: Activations taken from the first convolutional layer of a simplistic deep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09280" y="5133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cubicBezTo>
                  <a:pt x="156" y="0"/>
                  <a:pt x="165" y="0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085760" y="4514760"/>
            <a:ext cx="7089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MNIST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（手書き数字）データセットで学習した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085760" y="49910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最初の畳み込み層は、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エッジやストロークといった低レベルな特徴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を自動で学習して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809280" y="6038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6"/>
                </a:cubicBezTo>
                <a:cubicBezTo>
                  <a:pt x="263" y="234"/>
                  <a:pt x="257" y="242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1085760" y="54100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いることが分かります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085760" y="589608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層が深くなるにつれて、これらの特徴を組み合わせ、より複雑な特徴（数字のパーツ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085760" y="630540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など）を捉えていきます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14400" y="392400"/>
            <a:ext cx="35474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は何を学習しているのか？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17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923760"/>
            <a:ext cx="7052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効率的な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を構築するための基本的な指針があります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085760" y="1438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基本パターン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638360" y="194292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畳み込み層とプーリング層を交互に重ね、最後に全結合層を配置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361880" y="30859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085760" y="2428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推奨パターン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638360" y="294336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プーリング層の前に複数の畳み込み層を重ねる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7" name="" descr=""/>
          <p:cNvPicPr/>
          <p:nvPr/>
        </p:nvPicPr>
        <p:blipFill>
          <a:blip r:embed="rId2"/>
          <a:stretch/>
        </p:blipFill>
        <p:spPr>
          <a:xfrm>
            <a:off x="533520" y="3962520"/>
            <a:ext cx="6095520" cy="2381040"/>
          </a:xfrm>
          <a:prstGeom prst="rect">
            <a:avLst/>
          </a:prstGeom>
          <a:ln w="0">
            <a:noFill/>
          </a:ln>
        </p:spPr>
      </p:pic>
      <p:sp>
        <p:nvSpPr>
          <p:cNvPr id="228" name=""/>
          <p:cNvSpPr txBox="1"/>
          <p:nvPr/>
        </p:nvSpPr>
        <p:spPr>
          <a:xfrm>
            <a:off x="1638360" y="34196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より複雑で表現力の高い特徴を抽出可能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33520" y="6553080"/>
            <a:ext cx="9111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Fig. 3: Activations taken from the first convolutional layer of a simplistic deep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14400" y="392400"/>
            <a:ext cx="2317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5.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構築のレシピ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3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38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33520" y="9237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本発表の要点です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85760" y="1438200"/>
            <a:ext cx="6697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は画像の特性を活かした効率的なアーキテクチャ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638360" y="1942920"/>
            <a:ext cx="9525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局所結合とパラメータ共有により、従来の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のパラメータ爆発問題を解決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361880" y="30859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85760" y="2428920"/>
            <a:ext cx="2715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つの主要な層で構成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638360" y="294336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畳み込み層（特徴抽出）、プーリング層（次元削減）、全結合層（分類）の組み合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809280" y="39812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638360" y="3352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わせ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361880" y="4485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085760" y="38386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階層的な特徴学習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638360" y="434340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単純な特徴（エッジ）から複雑な特徴（物体のパーツ）へと段階的に学習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33520" y="5324400"/>
            <a:ext cx="11190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本論文は、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の基本を理解し、画像認識モデルを構築するための優れた入門となります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14400" y="392400"/>
            <a:ext cx="1074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6.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