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4926240" y="1859400"/>
            <a:ext cx="24116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論文紹介 </a:t>
            </a:r>
            <a:r>
              <a:rPr b="0" lang="en-US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2026/04/07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3771720"/>
            <a:ext cx="12192120" cy="3086280"/>
          </a:xfrm>
          <a:custGeom>
            <a:avLst/>
            <a:gdLst/>
            <a:ahLst/>
            <a:rect l="0" t="0" r="r" b="b"/>
            <a:pathLst>
              <a:path w="33867" h="8573">
                <a:moveTo>
                  <a:pt x="0" y="0"/>
                </a:moveTo>
                <a:lnTo>
                  <a:pt x="33867" y="0"/>
                </a:lnTo>
                <a:lnTo>
                  <a:pt x="33867" y="8573"/>
                </a:lnTo>
                <a:lnTo>
                  <a:pt x="0" y="8573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2048040" y="2500920"/>
            <a:ext cx="8110080" cy="690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畳み込みニューラルネットワーク入門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5353200" y="4708800"/>
            <a:ext cx="1600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理学部　化学科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438880" y="5285880"/>
            <a:ext cx="143316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250" spc="-1" strike="noStrike">
                <a:solidFill>
                  <a:srgbClr val="ffffff"/>
                </a:solidFill>
                <a:latin typeface="NotoSansJP"/>
                <a:ea typeface="NotoSansJP"/>
              </a:rPr>
              <a:t>知能　太郎</a:t>
            </a:r>
            <a:endParaRPr b="0" lang="en-US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009960" y="2207880"/>
            <a:ext cx="45410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1.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はじめに：なぜ</a:t>
            </a:r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CNN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なのか？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009960" y="2665080"/>
            <a:ext cx="223596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2. CNN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の全体像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009960" y="3122280"/>
            <a:ext cx="34549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3. CNN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の主要な構成要素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009960" y="3579480"/>
            <a:ext cx="34549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4. CNN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構築の基本レシピ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009960" y="4036680"/>
            <a:ext cx="13183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5.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まとめ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09520" y="266400"/>
            <a:ext cx="152640" cy="305280"/>
          </a:xfrm>
          <a:custGeom>
            <a:avLst/>
            <a:gdLst/>
            <a:ahLst/>
            <a:rect l="0" t="0" r="r" b="b"/>
            <a:pathLst>
              <a:path w="424" h="848">
                <a:moveTo>
                  <a:pt x="0" y="0"/>
                </a:moveTo>
                <a:lnTo>
                  <a:pt x="424" y="0"/>
                </a:lnTo>
                <a:lnTo>
                  <a:pt x="42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666880" y="23335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666880" y="27907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666880" y="32479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37051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666880" y="41623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95360" y="187200"/>
            <a:ext cx="16239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550" spc="-1" strike="noStrike">
                <a:solidFill>
                  <a:srgbClr val="111111"/>
                </a:solidFill>
                <a:latin typeface="NotoSansJP"/>
                <a:ea typeface="NotoSansJP"/>
              </a:rPr>
              <a:t>アジェンダ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33520" y="923760"/>
            <a:ext cx="9666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従来のニューラルネットワーク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(ANN)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には画像認識における課題がありました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533520" y="1438200"/>
            <a:ext cx="3895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従来の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ANN (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全結合型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) 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の課題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画像を入力として扱うと、パラメータ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809280" y="2990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85760" y="2362320"/>
            <a:ext cx="2759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数が爆発的に増加する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361880" y="3400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7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49" y="37"/>
                  <a:pt x="57" y="31"/>
                  <a:pt x="65" y="26"/>
                </a:cubicBezTo>
                <a:cubicBezTo>
                  <a:pt x="73" y="20"/>
                  <a:pt x="81" y="16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6"/>
                  <a:pt x="219" y="20"/>
                  <a:pt x="227" y="26"/>
                </a:cubicBezTo>
                <a:cubicBezTo>
                  <a:pt x="235" y="31"/>
                  <a:pt x="243" y="37"/>
                  <a:pt x="249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085760" y="2847960"/>
            <a:ext cx="4082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64x64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ピクセルのカラー画像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361880" y="38858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2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2"/>
                  <a:pt x="156" y="293"/>
                  <a:pt x="147" y="293"/>
                </a:cubicBezTo>
                <a:cubicBezTo>
                  <a:pt x="136" y="293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2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638360" y="3257640"/>
            <a:ext cx="378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入力次元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64 x 64 x 3 = 12,288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638360" y="3743280"/>
            <a:ext cx="4449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最初の隠れ層のニューロン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つだけ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809280" y="4781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3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1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3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638360" y="4152960"/>
            <a:ext cx="3129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 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1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万以上の重み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が必要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085760" y="46386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パラメータが多すぎると、計算コスト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85760" y="5057640"/>
            <a:ext cx="4724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が増大し、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過学習 </a:t>
            </a:r>
            <a:r>
              <a:rPr b="0" lang="en-US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(Overfitting)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のリス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85760" y="5467320"/>
            <a:ext cx="1379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クが高まる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50556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4" y="193"/>
                  <a:pt x="281" y="202"/>
                </a:cubicBezTo>
                <a:cubicBezTo>
                  <a:pt x="277" y="211"/>
                  <a:pt x="272" y="219"/>
                  <a:pt x="267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2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7" y="292"/>
                  <a:pt x="127" y="291"/>
                  <a:pt x="118" y="289"/>
                </a:cubicBezTo>
                <a:cubicBezTo>
                  <a:pt x="107" y="287"/>
                  <a:pt x="98" y="284"/>
                  <a:pt x="89" y="281"/>
                </a:cubicBezTo>
                <a:cubicBezTo>
                  <a:pt x="81" y="277"/>
                  <a:pt x="72" y="273"/>
                  <a:pt x="64" y="267"/>
                </a:cubicBezTo>
                <a:cubicBezTo>
                  <a:pt x="56" y="262"/>
                  <a:pt x="49" y="256"/>
                  <a:pt x="42" y="249"/>
                </a:cubicBezTo>
                <a:cubicBezTo>
                  <a:pt x="35" y="243"/>
                  <a:pt x="29" y="235"/>
                  <a:pt x="24" y="227"/>
                </a:cubicBezTo>
                <a:cubicBezTo>
                  <a:pt x="19" y="219"/>
                  <a:pt x="14" y="211"/>
                  <a:pt x="11" y="202"/>
                </a:cubicBezTo>
                <a:cubicBezTo>
                  <a:pt x="7" y="193"/>
                  <a:pt x="4" y="184"/>
                  <a:pt x="2" y="175"/>
                </a:cubicBezTo>
                <a:cubicBezTo>
                  <a:pt x="0" y="164"/>
                  <a:pt x="0" y="155"/>
                  <a:pt x="0" y="145"/>
                </a:cubicBez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2"/>
                  <a:pt x="24" y="65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2" y="36"/>
                  <a:pt x="249" y="42"/>
                </a:cubicBezTo>
                <a:cubicBezTo>
                  <a:pt x="256" y="49"/>
                  <a:pt x="262" y="57"/>
                  <a:pt x="267" y="65"/>
                </a:cubicBezTo>
                <a:cubicBezTo>
                  <a:pt x="272" y="72"/>
                  <a:pt x="277" y="81"/>
                  <a:pt x="281" y="90"/>
                </a:cubicBezTo>
                <a:cubicBezTo>
                  <a:pt x="284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229440" y="1438200"/>
            <a:ext cx="2283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による解決策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781680" y="1942920"/>
            <a:ext cx="4633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 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畳み込みニューラルネットワー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781680" y="2362320"/>
            <a:ext cx="4986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は、画像の特性を活かした特殊なア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6505560" y="3400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4" y="194"/>
                  <a:pt x="281" y="202"/>
                </a:cubicBezTo>
                <a:cubicBezTo>
                  <a:pt x="277" y="211"/>
                  <a:pt x="272" y="220"/>
                  <a:pt x="267" y="227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2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7" y="292"/>
                  <a:pt x="127" y="291"/>
                  <a:pt x="118" y="289"/>
                </a:cubicBezTo>
                <a:cubicBezTo>
                  <a:pt x="107" y="288"/>
                  <a:pt x="98" y="285"/>
                  <a:pt x="89" y="281"/>
                </a:cubicBezTo>
                <a:cubicBezTo>
                  <a:pt x="81" y="277"/>
                  <a:pt x="72" y="273"/>
                  <a:pt x="64" y="268"/>
                </a:cubicBezTo>
                <a:cubicBezTo>
                  <a:pt x="56" y="262"/>
                  <a:pt x="49" y="256"/>
                  <a:pt x="42" y="250"/>
                </a:cubicBezTo>
                <a:cubicBezTo>
                  <a:pt x="35" y="243"/>
                  <a:pt x="29" y="235"/>
                  <a:pt x="24" y="227"/>
                </a:cubicBezTo>
                <a:cubicBezTo>
                  <a:pt x="19" y="220"/>
                  <a:pt x="14" y="211"/>
                  <a:pt x="11" y="202"/>
                </a:cubicBezTo>
                <a:cubicBezTo>
                  <a:pt x="7" y="194"/>
                  <a:pt x="4" y="184"/>
                  <a:pt x="2" y="175"/>
                </a:cubicBezTo>
                <a:cubicBezTo>
                  <a:pt x="0" y="166"/>
                  <a:pt x="0" y="156"/>
                  <a:pt x="0" y="147"/>
                </a:cubicBezTo>
                <a:cubicBezTo>
                  <a:pt x="0" y="137"/>
                  <a:pt x="0" y="128"/>
                  <a:pt x="2" y="118"/>
                </a:cubicBezTo>
                <a:cubicBezTo>
                  <a:pt x="4" y="109"/>
                  <a:pt x="7" y="100"/>
                  <a:pt x="11" y="91"/>
                </a:cubicBezTo>
                <a:cubicBezTo>
                  <a:pt x="14" y="82"/>
                  <a:pt x="19" y="74"/>
                  <a:pt x="24" y="66"/>
                </a:cubicBezTo>
                <a:cubicBezTo>
                  <a:pt x="29" y="58"/>
                  <a:pt x="35" y="51"/>
                  <a:pt x="42" y="44"/>
                </a:cubicBezTo>
                <a:cubicBezTo>
                  <a:pt x="49" y="37"/>
                  <a:pt x="56" y="31"/>
                  <a:pt x="64" y="26"/>
                </a:cubicBezTo>
                <a:cubicBezTo>
                  <a:pt x="72" y="20"/>
                  <a:pt x="81" y="16"/>
                  <a:pt x="89" y="11"/>
                </a:cubicBezTo>
                <a:cubicBezTo>
                  <a:pt x="98" y="8"/>
                  <a:pt x="107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6"/>
                  <a:pt x="219" y="20"/>
                  <a:pt x="227" y="26"/>
                </a:cubicBezTo>
                <a:cubicBezTo>
                  <a:pt x="235" y="31"/>
                  <a:pt x="242" y="37"/>
                  <a:pt x="249" y="44"/>
                </a:cubicBezTo>
                <a:cubicBezTo>
                  <a:pt x="256" y="51"/>
                  <a:pt x="262" y="58"/>
                  <a:pt x="267" y="66"/>
                </a:cubicBezTo>
                <a:cubicBezTo>
                  <a:pt x="272" y="74"/>
                  <a:pt x="277" y="82"/>
                  <a:pt x="281" y="91"/>
                </a:cubicBezTo>
                <a:cubicBezTo>
                  <a:pt x="284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781680" y="2771640"/>
            <a:ext cx="24832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ーキテクチャを持つ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781680" y="32576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局所的な結合とパラメータ共有という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781680" y="367668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仕組みにより、パラメータ数を劇的に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505560" y="4714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4" y="194"/>
                  <a:pt x="281" y="203"/>
                </a:cubicBezTo>
                <a:cubicBezTo>
                  <a:pt x="277" y="211"/>
                  <a:pt x="272" y="220"/>
                  <a:pt x="267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2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7" y="292"/>
                  <a:pt x="127" y="291"/>
                  <a:pt x="118" y="290"/>
                </a:cubicBezTo>
                <a:cubicBezTo>
                  <a:pt x="107" y="288"/>
                  <a:pt x="98" y="285"/>
                  <a:pt x="89" y="281"/>
                </a:cubicBezTo>
                <a:cubicBezTo>
                  <a:pt x="81" y="278"/>
                  <a:pt x="72" y="273"/>
                  <a:pt x="64" y="268"/>
                </a:cubicBezTo>
                <a:cubicBezTo>
                  <a:pt x="56" y="263"/>
                  <a:pt x="49" y="257"/>
                  <a:pt x="42" y="250"/>
                </a:cubicBezTo>
                <a:cubicBezTo>
                  <a:pt x="35" y="243"/>
                  <a:pt x="29" y="236"/>
                  <a:pt x="24" y="228"/>
                </a:cubicBezTo>
                <a:cubicBezTo>
                  <a:pt x="19" y="220"/>
                  <a:pt x="14" y="211"/>
                  <a:pt x="11" y="203"/>
                </a:cubicBezTo>
                <a:cubicBezTo>
                  <a:pt x="7" y="194"/>
                  <a:pt x="4" y="185"/>
                  <a:pt x="2" y="175"/>
                </a:cubicBezTo>
                <a:cubicBezTo>
                  <a:pt x="0" y="166"/>
                  <a:pt x="0" y="156"/>
                  <a:pt x="0" y="147"/>
                </a:cubicBezTo>
                <a:cubicBezTo>
                  <a:pt x="0" y="136"/>
                  <a:pt x="0" y="127"/>
                  <a:pt x="2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1"/>
                </a:cubicBezTo>
                <a:cubicBezTo>
                  <a:pt x="98" y="8"/>
                  <a:pt x="107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2" y="36"/>
                  <a:pt x="249" y="43"/>
                </a:cubicBezTo>
                <a:cubicBezTo>
                  <a:pt x="256" y="50"/>
                  <a:pt x="262" y="57"/>
                  <a:pt x="267" y="65"/>
                </a:cubicBezTo>
                <a:cubicBezTo>
                  <a:pt x="272" y="73"/>
                  <a:pt x="277" y="81"/>
                  <a:pt x="281" y="90"/>
                </a:cubicBezTo>
                <a:cubicBezTo>
                  <a:pt x="284" y="99"/>
                  <a:pt x="287" y="108"/>
                  <a:pt x="289" y="118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781680" y="408636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削減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781680" y="45720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これにより、効率的な学習と高い汎化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781680" y="4981680"/>
            <a:ext cx="1379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性能を実現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501920" y="6448320"/>
            <a:ext cx="93268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は、画像認識タスクに特化することで従来の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ANN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の限界を克服します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914400" y="392400"/>
            <a:ext cx="36990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1.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はじめに：なぜ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なのか？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533520" y="923760"/>
            <a:ext cx="6896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入力画像から特徴を抽出し、分類するまでの一連の流れ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33520" y="1438200"/>
            <a:ext cx="6457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は主に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種類の層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を積み重ねて構成されます。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8092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4"/>
                  <a:pt x="285" y="193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5"/>
                  <a:pt x="236" y="261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5"/>
                  <a:pt x="184" y="288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50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085760" y="1942920"/>
            <a:ext cx="4992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入力層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(Input):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画像のピクセル値を保持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09280" y="3057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85760" y="2428920"/>
            <a:ext cx="7813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(Convolutional Layer):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画像から局所的な特徴を抽出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09280" y="3543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85760" y="2914560"/>
            <a:ext cx="6807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プーリング層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(Pooling Layer):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特徴マップの次元を削減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085760" y="3400560"/>
            <a:ext cx="8622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全結合層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(Fully-connected Layer):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抽出された特徴を基に最終的な分類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094200" y="4381560"/>
            <a:ext cx="65134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シンプルな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アーキテクチャ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論文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Fig. 2)]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914400" y="392400"/>
            <a:ext cx="18208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の全体像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33520" y="923760"/>
            <a:ext cx="6421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の核となる、画像から特徴を抽出するための層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33520" y="143820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役割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学習可能なカーネル（フィルタ）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を使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085760" y="23623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い、画像から局所的な特徴（エッジ、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085760" y="27716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コーナー、テクスチャ等）を検出する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809280" y="4410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33520" y="375300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仕組み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085760" y="426708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カーネルを入力画像上でスライドさせ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085760" y="467676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ながら、各位置で内積計算（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畳み込み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809280" y="5724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2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085760" y="509580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演算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）を行う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085760" y="55818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これにより、特徴の存在箇所をマッピ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6229440" y="1409760"/>
            <a:ext cx="5428800" cy="211428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 txBox="1"/>
          <p:nvPr/>
        </p:nvSpPr>
        <p:spPr>
          <a:xfrm>
            <a:off x="1085760" y="599112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ングした活性化マップを生成する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574680" y="3743280"/>
            <a:ext cx="442332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Fig. 3: Activations taken from the first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438600" y="4152960"/>
            <a:ext cx="461556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convolutional layer of a simplistic deep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14400" y="392400"/>
            <a:ext cx="45813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の主要な構成要素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(1)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33520" y="923760"/>
            <a:ext cx="7759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畳み込み層の挙動を制御する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つの主要なハイパーパラメータ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85760" y="1438200"/>
            <a:ext cx="1665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Depth 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深さ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638360" y="1942920"/>
            <a:ext cx="7279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出力する活性化マップの数（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=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使用するカーネルの数）。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809280" y="3057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638360" y="2428920"/>
            <a:ext cx="6896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様々な種類の特徴を同時に抽出するために設定します。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1361880" y="3562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085760" y="2914560"/>
            <a:ext cx="2453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Stride 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ストライド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361880" y="4047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638360" y="3419640"/>
            <a:ext cx="4965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カーネルをスライドさせる際の移動幅。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638360" y="3905280"/>
            <a:ext cx="9655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ストライドを大きくすると、出力される活性化マップのサイズは小さくなりま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09280" y="4943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100"/>
                  <a:pt x="288" y="109"/>
                  <a:pt x="290" y="119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638360" y="432432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361880" y="5457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7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085760" y="4800600"/>
            <a:ext cx="3956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Zero-padding 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ゼロパディング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361880" y="59432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2"/>
                  <a:pt x="156" y="293"/>
                  <a:pt x="147" y="293"/>
                </a:cubicBezTo>
                <a:cubicBezTo>
                  <a:pt x="136" y="293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2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638360" y="5315040"/>
            <a:ext cx="4449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入力画像の周囲を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0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で埋める処理。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638360" y="5800680"/>
            <a:ext cx="99309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これにより、画像の端の特徴を捉えやすくなり、出力サイズの調整も可能になり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42880" y="6895800"/>
            <a:ext cx="11106360" cy="2572200"/>
          </a:xfrm>
          <a:custGeom>
            <a:avLst/>
            <a:gdLst/>
            <a:ahLst/>
            <a:rect l="0" t="0" r="r" b="b"/>
            <a:pathLst>
              <a:path w="30851" h="7145">
                <a:moveTo>
                  <a:pt x="0" y="6907"/>
                </a:moveTo>
                <a:lnTo>
                  <a:pt x="0" y="238"/>
                </a:lnTo>
                <a:cubicBezTo>
                  <a:pt x="0" y="223"/>
                  <a:pt x="1" y="207"/>
                  <a:pt x="4" y="192"/>
                </a:cubicBezTo>
                <a:cubicBezTo>
                  <a:pt x="7" y="177"/>
                  <a:pt x="12" y="162"/>
                  <a:pt x="18" y="147"/>
                </a:cubicBezTo>
                <a:cubicBezTo>
                  <a:pt x="24" y="133"/>
                  <a:pt x="31" y="119"/>
                  <a:pt x="40" y="106"/>
                </a:cubicBezTo>
                <a:cubicBezTo>
                  <a:pt x="48" y="93"/>
                  <a:pt x="58" y="81"/>
                  <a:pt x="69" y="70"/>
                </a:cubicBezTo>
                <a:cubicBezTo>
                  <a:pt x="80" y="59"/>
                  <a:pt x="92" y="49"/>
                  <a:pt x="105" y="40"/>
                </a:cubicBezTo>
                <a:cubicBezTo>
                  <a:pt x="118" y="32"/>
                  <a:pt x="132" y="24"/>
                  <a:pt x="147" y="18"/>
                </a:cubicBezTo>
                <a:cubicBezTo>
                  <a:pt x="161" y="12"/>
                  <a:pt x="176" y="8"/>
                  <a:pt x="191" y="5"/>
                </a:cubicBezTo>
                <a:cubicBezTo>
                  <a:pt x="207" y="2"/>
                  <a:pt x="222" y="0"/>
                  <a:pt x="238" y="0"/>
                </a:cubicBezTo>
                <a:lnTo>
                  <a:pt x="30613" y="0"/>
                </a:lnTo>
                <a:cubicBezTo>
                  <a:pt x="30629" y="0"/>
                  <a:pt x="30644" y="2"/>
                  <a:pt x="30659" y="5"/>
                </a:cubicBezTo>
                <a:cubicBezTo>
                  <a:pt x="30675" y="8"/>
                  <a:pt x="30690" y="12"/>
                  <a:pt x="30704" y="18"/>
                </a:cubicBezTo>
                <a:cubicBezTo>
                  <a:pt x="30718" y="24"/>
                  <a:pt x="30732" y="32"/>
                  <a:pt x="30745" y="40"/>
                </a:cubicBezTo>
                <a:cubicBezTo>
                  <a:pt x="30758" y="49"/>
                  <a:pt x="30770" y="59"/>
                  <a:pt x="30781" y="70"/>
                </a:cubicBezTo>
                <a:cubicBezTo>
                  <a:pt x="30792" y="81"/>
                  <a:pt x="30802" y="93"/>
                  <a:pt x="30811" y="106"/>
                </a:cubicBezTo>
                <a:cubicBezTo>
                  <a:pt x="30820" y="119"/>
                  <a:pt x="30827" y="133"/>
                  <a:pt x="30833" y="147"/>
                </a:cubicBezTo>
                <a:cubicBezTo>
                  <a:pt x="30839" y="162"/>
                  <a:pt x="30843" y="177"/>
                  <a:pt x="30846" y="192"/>
                </a:cubicBezTo>
                <a:cubicBezTo>
                  <a:pt x="30850" y="207"/>
                  <a:pt x="30851" y="223"/>
                  <a:pt x="30851" y="238"/>
                </a:cubicBezTo>
                <a:lnTo>
                  <a:pt x="30851" y="6907"/>
                </a:lnTo>
                <a:cubicBezTo>
                  <a:pt x="30851" y="6923"/>
                  <a:pt x="30850" y="6938"/>
                  <a:pt x="30846" y="6953"/>
                </a:cubicBezTo>
                <a:cubicBezTo>
                  <a:pt x="30843" y="6969"/>
                  <a:pt x="30839" y="6984"/>
                  <a:pt x="30833" y="6998"/>
                </a:cubicBezTo>
                <a:cubicBezTo>
                  <a:pt x="30827" y="7013"/>
                  <a:pt x="30820" y="7026"/>
                  <a:pt x="30811" y="7039"/>
                </a:cubicBezTo>
                <a:cubicBezTo>
                  <a:pt x="30802" y="7052"/>
                  <a:pt x="30792" y="7064"/>
                  <a:pt x="30781" y="7075"/>
                </a:cubicBezTo>
                <a:cubicBezTo>
                  <a:pt x="30770" y="7086"/>
                  <a:pt x="30758" y="7096"/>
                  <a:pt x="30745" y="7105"/>
                </a:cubicBezTo>
                <a:cubicBezTo>
                  <a:pt x="30732" y="7114"/>
                  <a:pt x="30718" y="7121"/>
                  <a:pt x="30704" y="7127"/>
                </a:cubicBezTo>
                <a:cubicBezTo>
                  <a:pt x="30690" y="7133"/>
                  <a:pt x="30675" y="7137"/>
                  <a:pt x="30659" y="7141"/>
                </a:cubicBezTo>
                <a:cubicBezTo>
                  <a:pt x="30644" y="7144"/>
                  <a:pt x="30629" y="7145"/>
                  <a:pt x="30613" y="7145"/>
                </a:cubicBezTo>
                <a:lnTo>
                  <a:pt x="238" y="7145"/>
                </a:lnTo>
                <a:cubicBezTo>
                  <a:pt x="222" y="7145"/>
                  <a:pt x="207" y="7144"/>
                  <a:pt x="191" y="7141"/>
                </a:cubicBezTo>
                <a:cubicBezTo>
                  <a:pt x="176" y="7137"/>
                  <a:pt x="161" y="7133"/>
                  <a:pt x="147" y="7127"/>
                </a:cubicBezTo>
                <a:cubicBezTo>
                  <a:pt x="132" y="7121"/>
                  <a:pt x="118" y="7114"/>
                  <a:pt x="105" y="7105"/>
                </a:cubicBezTo>
                <a:cubicBezTo>
                  <a:pt x="92" y="7096"/>
                  <a:pt x="80" y="7086"/>
                  <a:pt x="69" y="7075"/>
                </a:cubicBezTo>
                <a:cubicBezTo>
                  <a:pt x="58" y="7064"/>
                  <a:pt x="48" y="7052"/>
                  <a:pt x="40" y="7039"/>
                </a:cubicBezTo>
                <a:cubicBezTo>
                  <a:pt x="31" y="7026"/>
                  <a:pt x="24" y="7013"/>
                  <a:pt x="18" y="6998"/>
                </a:cubicBezTo>
                <a:cubicBezTo>
                  <a:pt x="12" y="6984"/>
                  <a:pt x="7" y="6969"/>
                  <a:pt x="4" y="6953"/>
                </a:cubicBezTo>
                <a:cubicBezTo>
                  <a:pt x="1" y="6938"/>
                  <a:pt x="0" y="6923"/>
                  <a:pt x="0" y="6907"/>
                </a:cubicBezTo>
                <a:close/>
              </a:path>
            </a:pathLst>
          </a:custGeom>
          <a:noFill/>
          <a:ln w="18720">
            <a:solidFill>
              <a:srgbClr val="b9d7ea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638360" y="621036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14400" y="392400"/>
            <a:ext cx="60717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の主要な構成要素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(1)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畳み込み層のパラメータ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33520" y="923760"/>
            <a:ext cx="63450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特徴マップの次元を削減し、計算負荷を軽減する層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33520" y="143820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役割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085760" y="1942920"/>
            <a:ext cx="4965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特徴マップの空間的な次元（幅と高さ）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1085760" y="236232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を削減（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ダウンサンプリング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809280" y="3990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cubicBezTo>
                  <a:pt x="156" y="0"/>
                  <a:pt x="165" y="0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533520" y="334332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目的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085760" y="38480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ネットワーク全体のパラメータ数と計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809280" y="4895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2" y="165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9"/>
                  <a:pt x="268" y="227"/>
                </a:cubicBezTo>
                <a:cubicBezTo>
                  <a:pt x="263" y="235"/>
                  <a:pt x="257" y="243"/>
                  <a:pt x="250" y="250"/>
                </a:cubicBezTo>
                <a:cubicBezTo>
                  <a:pt x="243" y="256"/>
                  <a:pt x="236" y="262"/>
                  <a:pt x="228" y="268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19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085760" y="4267080"/>
            <a:ext cx="1931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算量を削減する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085760" y="475308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特徴の微小な位置ずれに対してモデル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085760" y="5162400"/>
            <a:ext cx="4414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を頑健にする（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位置不変性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の獲得）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50556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4" y="193"/>
                  <a:pt x="281" y="202"/>
                </a:cubicBezTo>
                <a:cubicBezTo>
                  <a:pt x="277" y="211"/>
                  <a:pt x="272" y="219"/>
                  <a:pt x="267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2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7" y="292"/>
                  <a:pt x="127" y="291"/>
                  <a:pt x="118" y="289"/>
                </a:cubicBezTo>
                <a:cubicBezTo>
                  <a:pt x="107" y="287"/>
                  <a:pt x="98" y="284"/>
                  <a:pt x="89" y="281"/>
                </a:cubicBezTo>
                <a:cubicBezTo>
                  <a:pt x="81" y="277"/>
                  <a:pt x="72" y="273"/>
                  <a:pt x="64" y="267"/>
                </a:cubicBezTo>
                <a:cubicBezTo>
                  <a:pt x="56" y="262"/>
                  <a:pt x="49" y="256"/>
                  <a:pt x="42" y="249"/>
                </a:cubicBezTo>
                <a:cubicBezTo>
                  <a:pt x="35" y="243"/>
                  <a:pt x="29" y="235"/>
                  <a:pt x="24" y="227"/>
                </a:cubicBezTo>
                <a:cubicBezTo>
                  <a:pt x="19" y="219"/>
                  <a:pt x="14" y="211"/>
                  <a:pt x="11" y="202"/>
                </a:cubicBezTo>
                <a:cubicBezTo>
                  <a:pt x="7" y="193"/>
                  <a:pt x="4" y="184"/>
                  <a:pt x="2" y="175"/>
                </a:cubicBezTo>
                <a:cubicBezTo>
                  <a:pt x="0" y="164"/>
                  <a:pt x="0" y="155"/>
                  <a:pt x="0" y="145"/>
                </a:cubicBez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2"/>
                  <a:pt x="24" y="65"/>
                </a:cubicBezTo>
                <a:cubicBezTo>
                  <a:pt x="29" y="57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2" y="36"/>
                  <a:pt x="249" y="42"/>
                </a:cubicBezTo>
                <a:cubicBezTo>
                  <a:pt x="256" y="49"/>
                  <a:pt x="262" y="57"/>
                  <a:pt x="267" y="65"/>
                </a:cubicBezTo>
                <a:cubicBezTo>
                  <a:pt x="272" y="72"/>
                  <a:pt x="277" y="81"/>
                  <a:pt x="281" y="90"/>
                </a:cubicBezTo>
                <a:cubicBezTo>
                  <a:pt x="284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6229440" y="1438200"/>
            <a:ext cx="3513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代表的な手法：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Max-pooling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78168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特徴マップを小さな領域に分割し、各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505560" y="29905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4" y="193"/>
                  <a:pt x="281" y="202"/>
                </a:cubicBezTo>
                <a:cubicBezTo>
                  <a:pt x="277" y="210"/>
                  <a:pt x="272" y="219"/>
                  <a:pt x="267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2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7" y="292"/>
                  <a:pt x="127" y="292"/>
                  <a:pt x="118" y="290"/>
                </a:cubicBezTo>
                <a:cubicBezTo>
                  <a:pt x="107" y="288"/>
                  <a:pt x="98" y="285"/>
                  <a:pt x="89" y="281"/>
                </a:cubicBezTo>
                <a:cubicBezTo>
                  <a:pt x="81" y="277"/>
                  <a:pt x="72" y="272"/>
                  <a:pt x="64" y="267"/>
                </a:cubicBezTo>
                <a:cubicBezTo>
                  <a:pt x="56" y="262"/>
                  <a:pt x="49" y="256"/>
                  <a:pt x="42" y="249"/>
                </a:cubicBezTo>
                <a:cubicBezTo>
                  <a:pt x="35" y="242"/>
                  <a:pt x="29" y="235"/>
                  <a:pt x="24" y="227"/>
                </a:cubicBezTo>
                <a:cubicBezTo>
                  <a:pt x="19" y="219"/>
                  <a:pt x="14" y="210"/>
                  <a:pt x="11" y="202"/>
                </a:cubicBezTo>
                <a:cubicBezTo>
                  <a:pt x="7" y="193"/>
                  <a:pt x="4" y="184"/>
                  <a:pt x="2" y="174"/>
                </a:cubicBezTo>
                <a:cubicBezTo>
                  <a:pt x="0" y="165"/>
                  <a:pt x="0" y="155"/>
                  <a:pt x="0" y="146"/>
                </a:cubicBezTo>
                <a:cubicBezTo>
                  <a:pt x="0" y="136"/>
                  <a:pt x="0" y="127"/>
                  <a:pt x="2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1"/>
                </a:cubicBezTo>
                <a:cubicBezTo>
                  <a:pt x="98" y="8"/>
                  <a:pt x="107" y="5"/>
                  <a:pt x="118" y="3"/>
                </a:cubicBezTo>
                <a:cubicBezTo>
                  <a:pt x="127" y="1"/>
                  <a:pt x="137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2" y="36"/>
                  <a:pt x="249" y="43"/>
                </a:cubicBezTo>
                <a:cubicBezTo>
                  <a:pt x="256" y="50"/>
                  <a:pt x="262" y="57"/>
                  <a:pt x="267" y="65"/>
                </a:cubicBezTo>
                <a:cubicBezTo>
                  <a:pt x="272" y="73"/>
                  <a:pt x="277" y="81"/>
                  <a:pt x="281" y="90"/>
                </a:cubicBezTo>
                <a:cubicBezTo>
                  <a:pt x="284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781680" y="2362320"/>
            <a:ext cx="3587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領域の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最大値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のみを取り出す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781680" y="2847960"/>
            <a:ext cx="4975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一般的に、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2x2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のサイズ、ストライド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781680" y="325764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で適用され、特徴マップのサイズは縦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781680" y="3676680"/>
            <a:ext cx="33159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横半分（面積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1/4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）になる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71320" y="6143760"/>
            <a:ext cx="11034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プーリング層は、特徴マップの最も重要な情報（活性の強い部分）を保持しながら、情報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142960" y="6562800"/>
            <a:ext cx="1931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を圧縮します。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914400" y="392400"/>
            <a:ext cx="48297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の主要な構成要素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(2)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プーリング層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7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33520" y="923760"/>
            <a:ext cx="6069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抽出された特徴を統合し、最終的な分類を行う層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8092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3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2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2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33520" y="143820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役割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85760" y="19429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畳み込み層とプーリング層で抽出され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085760" y="23623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た高レベルな特徴をすべて受け取り、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085760" y="2771640"/>
            <a:ext cx="4965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最終的な出力（例：クラスごとの確率）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085760" y="3191040"/>
            <a:ext cx="13798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を計算する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809280" y="4819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2"/>
                  <a:pt x="156" y="292"/>
                  <a:pt x="146" y="292"/>
                </a:cubicBezTo>
                <a:cubicBezTo>
                  <a:pt x="136" y="292"/>
                  <a:pt x="127" y="292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33520" y="4172040"/>
            <a:ext cx="5522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構造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085760" y="4676760"/>
            <a:ext cx="4626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従来のニューラルネットワーク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(ANN)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809280" y="5724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2" y="164"/>
                  <a:pt x="290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8" y="210"/>
                  <a:pt x="273" y="218"/>
                  <a:pt x="268" y="226"/>
                </a:cubicBezTo>
                <a:cubicBezTo>
                  <a:pt x="263" y="234"/>
                  <a:pt x="257" y="242"/>
                  <a:pt x="250" y="248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3"/>
                  <a:pt x="210" y="277"/>
                  <a:pt x="202" y="281"/>
                </a:cubicBezTo>
                <a:cubicBezTo>
                  <a:pt x="193" y="285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20" y="218"/>
                  <a:pt x="15" y="210"/>
                  <a:pt x="12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0" y="15"/>
                  <a:pt x="219" y="19"/>
                  <a:pt x="228" y="24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49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085760" y="509580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と同様の構造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085760" y="558180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前の層のすべてのニューロンと、現在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085760" y="5991120"/>
            <a:ext cx="4690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の層のすべてのニューロンが結合（全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085760" y="6410160"/>
            <a:ext cx="1931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結合）している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6229440" y="1438200"/>
            <a:ext cx="5695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[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図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従来のニューラルネットワーク構造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(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論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6229440" y="1847880"/>
            <a:ext cx="12139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文 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Fig. 1)]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315120" y="2266920"/>
            <a:ext cx="5318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の最終段は、この全結合構造になって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976880" y="2676600"/>
            <a:ext cx="1931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いることが多い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914400" y="392400"/>
            <a:ext cx="43329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3.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の主要な構成要素 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(3)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全結合層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8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95" name="" descr=""/>
          <p:cNvPicPr/>
          <p:nvPr/>
        </p:nvPicPr>
        <p:blipFill>
          <a:blip r:embed="rId1"/>
          <a:stretch/>
        </p:blipFill>
        <p:spPr>
          <a:xfrm>
            <a:off x="3048120" y="1409760"/>
            <a:ext cx="6095520" cy="2381040"/>
          </a:xfrm>
          <a:prstGeom prst="rect">
            <a:avLst/>
          </a:prstGeom>
          <a:ln w="0">
            <a:noFill/>
          </a:ln>
        </p:spPr>
      </p:pic>
      <p:sp>
        <p:nvSpPr>
          <p:cNvPr id="196" name=""/>
          <p:cNvSpPr txBox="1"/>
          <p:nvPr/>
        </p:nvSpPr>
        <p:spPr>
          <a:xfrm>
            <a:off x="533520" y="923760"/>
            <a:ext cx="87451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MNIST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データセットで学習した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の最初の層が捉えた特徴の可視化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809280" y="4657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2"/>
                  <a:pt x="281" y="90"/>
                </a:cubicBezTo>
                <a:cubicBezTo>
                  <a:pt x="285" y="99"/>
                  <a:pt x="288" y="108"/>
                  <a:pt x="290" y="118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190520" y="4000320"/>
            <a:ext cx="9111240" cy="375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Fig. 3: Activations taken from the first convolutional layer of a simplistic deep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361880" y="50670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7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085760" y="4514760"/>
            <a:ext cx="66974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は、データから自動で特徴抽出器を学習します。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638360" y="4924440"/>
            <a:ext cx="99313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浅い層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（入力に近い層）では、エッジや特定の向きの線、色の塊といった単純で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361880" y="5962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6" y="292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638360" y="5343480"/>
            <a:ext cx="63450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基本的な特徴を検出するフィルタが学習されます。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638360" y="5819760"/>
            <a:ext cx="93794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深い層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では、浅い層で学習した特徴を組み合わせ、より複雑で抽象的な特徴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638360" y="6238800"/>
            <a:ext cx="9655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（例：「目」や「鼻」、「数字の丸い部分」など）を捉えるようになります。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914400" y="392400"/>
            <a:ext cx="35474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は何を学習しているのか？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9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809280" y="158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2" y="165"/>
                  <a:pt x="290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8" y="211"/>
                  <a:pt x="273" y="219"/>
                  <a:pt x="268" y="227"/>
                </a:cubicBezTo>
                <a:cubicBezTo>
                  <a:pt x="263" y="235"/>
                  <a:pt x="257" y="242"/>
                  <a:pt x="250" y="249"/>
                </a:cubicBezTo>
                <a:cubicBezTo>
                  <a:pt x="243" y="256"/>
                  <a:pt x="236" y="262"/>
                  <a:pt x="228" y="267"/>
                </a:cubicBezTo>
                <a:cubicBezTo>
                  <a:pt x="219" y="272"/>
                  <a:pt x="210" y="277"/>
                  <a:pt x="202" y="281"/>
                </a:cubicBezTo>
                <a:cubicBezTo>
                  <a:pt x="193" y="284"/>
                  <a:pt x="184" y="287"/>
                  <a:pt x="174" y="289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20" y="219"/>
                  <a:pt x="15" y="211"/>
                  <a:pt x="12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2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0" y="14"/>
                  <a:pt x="219" y="19"/>
                  <a:pt x="228" y="24"/>
                </a:cubicBezTo>
                <a:cubicBezTo>
                  <a:pt x="236" y="29"/>
                  <a:pt x="243" y="35"/>
                  <a:pt x="250" y="42"/>
                </a:cubicBezTo>
                <a:cubicBezTo>
                  <a:pt x="257" y="49"/>
                  <a:pt x="263" y="56"/>
                  <a:pt x="268" y="64"/>
                </a:cubicBezTo>
                <a:cubicBezTo>
                  <a:pt x="273" y="72"/>
                  <a:pt x="278" y="81"/>
                  <a:pt x="281" y="89"/>
                </a:cubicBezTo>
                <a:cubicBezTo>
                  <a:pt x="285" y="98"/>
                  <a:pt x="288" y="107"/>
                  <a:pt x="290" y="117"/>
                </a:cubicBezTo>
                <a:cubicBezTo>
                  <a:pt x="292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533520" y="923760"/>
            <a:ext cx="7604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効果的な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アーキテクチャを設計するための経験的な指針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638000" y="1914480"/>
            <a:ext cx="3172320" cy="438480"/>
          </a:xfrm>
          <a:custGeom>
            <a:avLst/>
            <a:gdLst/>
            <a:ahLst/>
            <a:rect l="0" t="0" r="r" b="b"/>
            <a:pathLst>
              <a:path w="8812" h="1218">
                <a:moveTo>
                  <a:pt x="0" y="105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8652" y="0"/>
                </a:lnTo>
                <a:cubicBezTo>
                  <a:pt x="8663" y="0"/>
                  <a:pt x="8674" y="1"/>
                  <a:pt x="8684" y="3"/>
                </a:cubicBezTo>
                <a:cubicBezTo>
                  <a:pt x="8694" y="5"/>
                  <a:pt x="8704" y="8"/>
                  <a:pt x="8714" y="12"/>
                </a:cubicBezTo>
                <a:cubicBezTo>
                  <a:pt x="8724" y="16"/>
                  <a:pt x="8733" y="21"/>
                  <a:pt x="8741" y="26"/>
                </a:cubicBezTo>
                <a:cubicBezTo>
                  <a:pt x="8750" y="32"/>
                  <a:pt x="8758" y="39"/>
                  <a:pt x="8765" y="46"/>
                </a:cubicBezTo>
                <a:cubicBezTo>
                  <a:pt x="8773" y="53"/>
                  <a:pt x="8779" y="62"/>
                  <a:pt x="8785" y="70"/>
                </a:cubicBezTo>
                <a:cubicBezTo>
                  <a:pt x="8791" y="79"/>
                  <a:pt x="8796" y="88"/>
                  <a:pt x="8800" y="98"/>
                </a:cubicBezTo>
                <a:cubicBezTo>
                  <a:pt x="8804" y="107"/>
                  <a:pt x="8807" y="117"/>
                  <a:pt x="8809" y="127"/>
                </a:cubicBezTo>
                <a:cubicBezTo>
                  <a:pt x="8811" y="138"/>
                  <a:pt x="8812" y="148"/>
                  <a:pt x="8812" y="158"/>
                </a:cubicBezTo>
                <a:lnTo>
                  <a:pt x="8812" y="1059"/>
                </a:lnTo>
                <a:cubicBezTo>
                  <a:pt x="8812" y="1069"/>
                  <a:pt x="8811" y="1080"/>
                  <a:pt x="8809" y="1090"/>
                </a:cubicBezTo>
                <a:cubicBezTo>
                  <a:pt x="8807" y="1100"/>
                  <a:pt x="8804" y="1110"/>
                  <a:pt x="8800" y="1120"/>
                </a:cubicBezTo>
                <a:cubicBezTo>
                  <a:pt x="8796" y="1129"/>
                  <a:pt x="8791" y="1138"/>
                  <a:pt x="8785" y="1147"/>
                </a:cubicBezTo>
                <a:cubicBezTo>
                  <a:pt x="8779" y="1156"/>
                  <a:pt x="8773" y="1164"/>
                  <a:pt x="8765" y="1171"/>
                </a:cubicBezTo>
                <a:cubicBezTo>
                  <a:pt x="8758" y="1179"/>
                  <a:pt x="8750" y="1185"/>
                  <a:pt x="8741" y="1191"/>
                </a:cubicBezTo>
                <a:cubicBezTo>
                  <a:pt x="8733" y="1197"/>
                  <a:pt x="8724" y="1202"/>
                  <a:pt x="8714" y="1206"/>
                </a:cubicBezTo>
                <a:cubicBezTo>
                  <a:pt x="8704" y="1210"/>
                  <a:pt x="8694" y="1213"/>
                  <a:pt x="8684" y="1215"/>
                </a:cubicBezTo>
                <a:cubicBezTo>
                  <a:pt x="8674" y="1217"/>
                  <a:pt x="8663" y="1218"/>
                  <a:pt x="8652" y="1218"/>
                </a:cubicBezTo>
                <a:lnTo>
                  <a:pt x="159" y="1218"/>
                </a:lnTo>
                <a:cubicBezTo>
                  <a:pt x="149" y="1218"/>
                  <a:pt x="138" y="1217"/>
                  <a:pt x="128" y="1215"/>
                </a:cubicBezTo>
                <a:cubicBezTo>
                  <a:pt x="118" y="1213"/>
                  <a:pt x="108" y="1210"/>
                  <a:pt x="98" y="1206"/>
                </a:cubicBezTo>
                <a:cubicBezTo>
                  <a:pt x="89" y="1202"/>
                  <a:pt x="80" y="1197"/>
                  <a:pt x="71" y="1191"/>
                </a:cubicBezTo>
                <a:cubicBezTo>
                  <a:pt x="62" y="1185"/>
                  <a:pt x="54" y="1179"/>
                  <a:pt x="47" y="1171"/>
                </a:cubicBezTo>
                <a:cubicBezTo>
                  <a:pt x="39" y="1164"/>
                  <a:pt x="33" y="1156"/>
                  <a:pt x="27" y="1147"/>
                </a:cubicBezTo>
                <a:cubicBezTo>
                  <a:pt x="21" y="1138"/>
                  <a:pt x="16" y="1129"/>
                  <a:pt x="12" y="1120"/>
                </a:cubicBezTo>
                <a:cubicBezTo>
                  <a:pt x="8" y="1110"/>
                  <a:pt x="5" y="1100"/>
                  <a:pt x="3" y="1090"/>
                </a:cubicBezTo>
                <a:cubicBezTo>
                  <a:pt x="1" y="1080"/>
                  <a:pt x="0" y="1069"/>
                  <a:pt x="0" y="105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085760" y="143820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基本パターン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1732320" y="1986480"/>
            <a:ext cx="2969640" cy="32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50" spc="-1" strike="noStrike">
                <a:solidFill>
                  <a:srgbClr val="111111"/>
                </a:solidFill>
                <a:latin typeface="NotoSansJP"/>
                <a:ea typeface="NotoSansJP"/>
              </a:rPr>
              <a:t>(CONV -&gt; ReLU) * N -&gt; POOL</a:t>
            </a:r>
            <a:endParaRPr b="0" lang="en-US" sz="1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361880" y="25714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1"/>
                  <a:pt x="49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4812120" y="1942920"/>
            <a:ext cx="59324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というブロックを複数回繰り返すのが一般的。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638360" y="2428920"/>
            <a:ext cx="99309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畳み込み層を複数重ねてからプーリングすることで、より複雑な特徴を捉えられ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809280" y="3466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2" y="166"/>
                  <a:pt x="290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8" y="211"/>
                  <a:pt x="273" y="220"/>
                  <a:pt x="268" y="228"/>
                </a:cubicBezTo>
                <a:cubicBezTo>
                  <a:pt x="263" y="236"/>
                  <a:pt x="257" y="243"/>
                  <a:pt x="250" y="250"/>
                </a:cubicBezTo>
                <a:cubicBezTo>
                  <a:pt x="243" y="257"/>
                  <a:pt x="236" y="263"/>
                  <a:pt x="228" y="268"/>
                </a:cubicBezTo>
                <a:cubicBezTo>
                  <a:pt x="219" y="273"/>
                  <a:pt x="210" y="278"/>
                  <a:pt x="202" y="281"/>
                </a:cubicBezTo>
                <a:cubicBezTo>
                  <a:pt x="193" y="285"/>
                  <a:pt x="184" y="288"/>
                  <a:pt x="174" y="290"/>
                </a:cubicBezTo>
                <a:cubicBezTo>
                  <a:pt x="165" y="291"/>
                  <a:pt x="156" y="292"/>
                  <a:pt x="146" y="292"/>
                </a:cubicBezTo>
                <a:cubicBezTo>
                  <a:pt x="136" y="292"/>
                  <a:pt x="127" y="291"/>
                  <a:pt x="118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20" y="220"/>
                  <a:pt x="15" y="211"/>
                  <a:pt x="12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cubicBezTo>
                  <a:pt x="156" y="0"/>
                  <a:pt x="165" y="1"/>
                  <a:pt x="174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0" y="15"/>
                  <a:pt x="219" y="20"/>
                  <a:pt x="228" y="25"/>
                </a:cubicBezTo>
                <a:cubicBezTo>
                  <a:pt x="236" y="30"/>
                  <a:pt x="243" y="36"/>
                  <a:pt x="250" y="43"/>
                </a:cubicBezTo>
                <a:cubicBezTo>
                  <a:pt x="257" y="50"/>
                  <a:pt x="263" y="57"/>
                  <a:pt x="268" y="65"/>
                </a:cubicBezTo>
                <a:cubicBezTo>
                  <a:pt x="273" y="73"/>
                  <a:pt x="278" y="81"/>
                  <a:pt x="281" y="90"/>
                </a:cubicBezTo>
                <a:cubicBezTo>
                  <a:pt x="285" y="99"/>
                  <a:pt x="288" y="108"/>
                  <a:pt x="290" y="117"/>
                </a:cubicBezTo>
                <a:cubicBezTo>
                  <a:pt x="292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638360" y="284796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361880" y="39812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20"/>
                  <a:pt x="268" y="227"/>
                </a:cubicBezTo>
                <a:cubicBezTo>
                  <a:pt x="262" y="235"/>
                  <a:pt x="256" y="243"/>
                  <a:pt x="249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5"/>
                  <a:pt x="90" y="281"/>
                </a:cubicBezTo>
                <a:cubicBezTo>
                  <a:pt x="81" y="277"/>
                  <a:pt x="73" y="273"/>
                  <a:pt x="65" y="268"/>
                </a:cubicBezTo>
                <a:cubicBezTo>
                  <a:pt x="57" y="262"/>
                  <a:pt x="49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19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085760" y="3324240"/>
            <a:ext cx="1931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推奨される設計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638360" y="3838680"/>
            <a:ext cx="10520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小さなフィルタを深く重ねる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: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5x5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や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7x7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の大きなフィルタを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層使うより、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3x3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1638360" y="4248000"/>
            <a:ext cx="10278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小さなフィルタを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層、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層と重ねる方が、パラメータ数を抑えつつ高い表現力を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361880" y="5295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7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638360" y="4667400"/>
            <a:ext cx="33109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得られることが多いです。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638360" y="5153040"/>
            <a:ext cx="10234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入力画像のサイズ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: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2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で繰り返し割り切れるサイズ（例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: 32, 64, 96, 224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）が望まし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361880" y="61909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49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19" y="273"/>
                  <a:pt x="211" y="278"/>
                  <a:pt x="202" y="281"/>
                </a:cubicBezTo>
                <a:cubicBezTo>
                  <a:pt x="193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6" y="292"/>
                  <a:pt x="127" y="292"/>
                  <a:pt x="117" y="290"/>
                </a:cubicBezTo>
                <a:cubicBezTo>
                  <a:pt x="108" y="288"/>
                  <a:pt x="99" y="285"/>
                  <a:pt x="90" y="281"/>
                </a:cubicBezTo>
                <a:cubicBezTo>
                  <a:pt x="81" y="278"/>
                  <a:pt x="73" y="273"/>
                  <a:pt x="65" y="268"/>
                </a:cubicBezTo>
                <a:cubicBezTo>
                  <a:pt x="57" y="263"/>
                  <a:pt x="49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7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8"/>
                  <a:pt x="202" y="11"/>
                </a:cubicBezTo>
                <a:cubicBezTo>
                  <a:pt x="211" y="15"/>
                  <a:pt x="219" y="20"/>
                  <a:pt x="227" y="25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7" y="108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638360" y="5562720"/>
            <a:ext cx="110412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いです。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638360" y="6048360"/>
            <a:ext cx="102520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畳み込み層の設定</a:t>
            </a:r>
            <a:r>
              <a:rPr b="0" lang="en-US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: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ストライドは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、パディングを用いて入力と出力のサイズを維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638360" y="6458040"/>
            <a:ext cx="3035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持するのが一般的です。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914400" y="392400"/>
            <a:ext cx="281448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4. CNN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構築の基本レシピ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10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33520" y="923760"/>
            <a:ext cx="16556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本発表の要点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361880" y="2085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3" y="7"/>
                  <a:pt x="202" y="11"/>
                </a:cubicBezTo>
                <a:cubicBezTo>
                  <a:pt x="211" y="15"/>
                  <a:pt x="219" y="19"/>
                  <a:pt x="227" y="24"/>
                </a:cubicBezTo>
                <a:cubicBezTo>
                  <a:pt x="235" y="30"/>
                  <a:pt x="243" y="36"/>
                  <a:pt x="249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7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793800" y="1438200"/>
            <a:ext cx="17460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1. 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の強み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1638360" y="1942920"/>
            <a:ext cx="10077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従来の</a:t>
            </a:r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ANN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が画像認識で抱えていたパラメータ数の問題を、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局所的結合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パラメ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638360" y="2362320"/>
            <a:ext cx="4965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ータ共有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という仕組みで解決しました。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361880" y="3495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7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3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3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7" y="99"/>
                  <a:pt x="11" y="91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30"/>
                  <a:pt x="243" y="36"/>
                  <a:pt x="249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1"/>
                </a:cubicBezTo>
                <a:cubicBezTo>
                  <a:pt x="285" y="99"/>
                  <a:pt x="287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93800" y="2847960"/>
            <a:ext cx="31233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2.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主要な構成要素の役割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638360" y="3352680"/>
            <a:ext cx="99309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畳み込み層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で特徴を抽出し、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プーリング層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で情報を圧縮‧次元削減し、最後に</a:t>
            </a:r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全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638360" y="3771720"/>
            <a:ext cx="4138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083a5e"/>
                </a:solidFill>
                <a:latin typeface="NotoSansJP"/>
                <a:ea typeface="NotoSansJP"/>
              </a:rPr>
              <a:t>結合層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でクラス分類を行います。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361880" y="4905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3"/>
                </a:cubicBezTo>
                <a:cubicBezTo>
                  <a:pt x="287" y="183"/>
                  <a:pt x="285" y="192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49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19" y="272"/>
                  <a:pt x="211" y="277"/>
                  <a:pt x="202" y="281"/>
                </a:cubicBezTo>
                <a:cubicBezTo>
                  <a:pt x="193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6" y="292"/>
                  <a:pt x="127" y="291"/>
                  <a:pt x="117" y="289"/>
                </a:cubicBezTo>
                <a:cubicBezTo>
                  <a:pt x="108" y="287"/>
                  <a:pt x="99" y="284"/>
                  <a:pt x="90" y="281"/>
                </a:cubicBezTo>
                <a:cubicBezTo>
                  <a:pt x="81" y="277"/>
                  <a:pt x="73" y="272"/>
                  <a:pt x="65" y="267"/>
                </a:cubicBezTo>
                <a:cubicBezTo>
                  <a:pt x="57" y="262"/>
                  <a:pt x="49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7" y="192"/>
                  <a:pt x="5" y="183"/>
                  <a:pt x="3" y="173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7" y="0"/>
                </a:cubicBezTo>
                <a:cubicBezTo>
                  <a:pt x="156" y="0"/>
                  <a:pt x="166" y="0"/>
                  <a:pt x="175" y="2"/>
                </a:cubicBezTo>
                <a:cubicBezTo>
                  <a:pt x="184" y="4"/>
                  <a:pt x="193" y="7"/>
                  <a:pt x="202" y="11"/>
                </a:cubicBezTo>
                <a:cubicBezTo>
                  <a:pt x="211" y="14"/>
                  <a:pt x="219" y="19"/>
                  <a:pt x="227" y="24"/>
                </a:cubicBezTo>
                <a:cubicBezTo>
                  <a:pt x="235" y="29"/>
                  <a:pt x="243" y="35"/>
                  <a:pt x="249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7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noFill/>
          <a:ln w="9360">
            <a:solidFill>
              <a:srgbClr val="11111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93800" y="4248000"/>
            <a:ext cx="2571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3. 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階層的な特徴学習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638360" y="4762440"/>
            <a:ext cx="100076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は層を重ねることで、画像の単純な特徴（エッジ、色）から複雑で抽象的な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638360" y="5172120"/>
            <a:ext cx="99309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特徴（物体のパーツ）までを、</a:t>
            </a:r>
            <a:r>
              <a:rPr b="0" lang="zh-CN" sz="2170" spc="-1" strike="noStrike">
                <a:solidFill>
                  <a:srgbClr val="c9342f"/>
                </a:solidFill>
                <a:latin typeface="NotoSansJP"/>
                <a:ea typeface="NotoSansJP"/>
              </a:rPr>
              <a:t>データから自動で階層的に学習</a:t>
            </a:r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する強力なモデル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638360" y="5591160"/>
            <a:ext cx="828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70" spc="-1" strike="noStrike">
                <a:solidFill>
                  <a:srgbClr val="111111"/>
                </a:solidFill>
                <a:latin typeface="NotoSansJP"/>
                <a:ea typeface="NotoSansJP"/>
              </a:rPr>
              <a:t>です。</a:t>
            </a:r>
            <a:endParaRPr b="0" lang="en-US" sz="21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914400" y="392400"/>
            <a:ext cx="10742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5. </a:t>
            </a:r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まとめ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