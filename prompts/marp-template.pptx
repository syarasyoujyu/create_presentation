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3956400" y="1808280"/>
            <a:ext cx="1242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イベント名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5194800" y="1871280"/>
            <a:ext cx="17244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0b4b78"/>
                </a:solidFill>
                <a:latin typeface="Arial"/>
                <a:ea typeface="Arial"/>
              </a:rPr>
              <a:t> </a:t>
            </a:r>
            <a:r>
              <a:rPr b="0" lang="en-US" sz="1950" spc="-1" strike="noStrike">
                <a:solidFill>
                  <a:srgbClr val="0b4b78"/>
                </a:solidFill>
                <a:latin typeface="Arial"/>
                <a:ea typeface="Arial"/>
              </a:rPr>
              <a:t>20OO/OO/OO(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6914880" y="1808280"/>
            <a:ext cx="1242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⽇付を⼊⼒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8152920" y="187128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0b4b78"/>
                </a:solidFill>
                <a:latin typeface="Arial"/>
                <a:ea typeface="Arial"/>
              </a:rPr>
              <a:t>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4905360" y="2409840"/>
            <a:ext cx="238572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タイトル名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3388680" y="4497480"/>
            <a:ext cx="457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CJKjp"/>
                <a:ea typeface="NotoSansCJKjp"/>
              </a:rPr>
              <a:t>所属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3845880" y="455544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(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3922200" y="4497480"/>
            <a:ext cx="2293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CJKjp"/>
                <a:ea typeface="NotoSansCJKjp"/>
              </a:rPr>
              <a:t>例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4150800" y="455544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: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226760" y="4497480"/>
            <a:ext cx="9151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CJKjp"/>
                <a:ea typeface="NotoSansCJKjp"/>
              </a:rPr>
              <a:t>京都⼤学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5141160" y="455544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5204880" y="4497480"/>
            <a:ext cx="6865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CJKjp"/>
                <a:ea typeface="NotoSansCJKjp"/>
              </a:rPr>
              <a:t>⼯学部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5890680" y="455544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5954040" y="4497480"/>
            <a:ext cx="9151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CJKjp"/>
                <a:ea typeface="NotoSansCJKjp"/>
              </a:rPr>
              <a:t>情報学科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6868440" y="455544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6932160" y="4497480"/>
            <a:ext cx="1600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CJKjp"/>
                <a:ea typeface="NotoSansCJKjp"/>
              </a:rPr>
              <a:t>数理⼯学コース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8520840" y="455544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5770800" y="4898520"/>
            <a:ext cx="3679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B4)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772160" y="5412240"/>
            <a:ext cx="57384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CJKjp"/>
                <a:ea typeface="NotoSansCJKjp"/>
              </a:rPr>
              <a:t>名前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43840" y="5484960"/>
            <a:ext cx="2854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ffffff"/>
                </a:solidFill>
                <a:latin typeface="Arial"/>
                <a:ea typeface="Arial"/>
              </a:rPr>
              <a:t>(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438880" y="5412240"/>
            <a:ext cx="28728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CJKjp"/>
                <a:ea typeface="NotoSansCJKjp"/>
              </a:rPr>
              <a:t>例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5724720" y="5484960"/>
            <a:ext cx="2854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ffffff"/>
                </a:solidFill>
                <a:latin typeface="Arial"/>
                <a:ea typeface="Arial"/>
              </a:rPr>
              <a:t>: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5819760" y="5412240"/>
            <a:ext cx="57384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CJKjp"/>
                <a:ea typeface="NotoSansCJKjp"/>
              </a:rPr>
              <a:t>知能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6391080" y="5484960"/>
            <a:ext cx="2854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6470640" y="5412240"/>
            <a:ext cx="57384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CJKjp"/>
                <a:ea typeface="NotoSansCJKjp"/>
              </a:rPr>
              <a:t>太郎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041960" y="5484960"/>
            <a:ext cx="2854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50" spc="-1" strike="noStrike">
                <a:solidFill>
                  <a:srgbClr val="ffffff"/>
                </a:solidFill>
                <a:latin typeface="Arial"/>
                <a:ea typeface="Arial"/>
              </a:rPr>
              <a:t>)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009960" y="3065760"/>
            <a:ext cx="61020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⽬次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3619440" y="314352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2666880" y="3247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495360" y="12924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533520" y="87012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このスライドで伝えたい内容を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440064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554000" y="8701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⾏で説明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914400" y="351000"/>
            <a:ext cx="1491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⾒出しを⼊⼒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914400" y="351000"/>
            <a:ext cx="1491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画像サンプル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537840" y="975960"/>
            <a:ext cx="11116080" cy="1276920"/>
          </a:xfrm>
          <a:custGeom>
            <a:avLst/>
            <a:gdLst/>
            <a:ahLst/>
            <a:rect l="0" t="0" r="r" b="b"/>
            <a:pathLst>
              <a:path w="30878" h="3547">
                <a:moveTo>
                  <a:pt x="0" y="3348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100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30680" y="0"/>
                </a:lnTo>
                <a:cubicBezTo>
                  <a:pt x="30693" y="0"/>
                  <a:pt x="30706" y="2"/>
                  <a:pt x="30719" y="4"/>
                </a:cubicBezTo>
                <a:cubicBezTo>
                  <a:pt x="30731" y="7"/>
                  <a:pt x="30744" y="11"/>
                  <a:pt x="30756" y="16"/>
                </a:cubicBezTo>
                <a:cubicBezTo>
                  <a:pt x="30768" y="21"/>
                  <a:pt x="30779" y="27"/>
                  <a:pt x="30790" y="34"/>
                </a:cubicBezTo>
                <a:cubicBezTo>
                  <a:pt x="30801" y="41"/>
                  <a:pt x="30811" y="49"/>
                  <a:pt x="30820" y="59"/>
                </a:cubicBezTo>
                <a:cubicBezTo>
                  <a:pt x="30829" y="68"/>
                  <a:pt x="30838" y="78"/>
                  <a:pt x="30845" y="89"/>
                </a:cubicBezTo>
                <a:cubicBezTo>
                  <a:pt x="30852" y="100"/>
                  <a:pt x="30858" y="111"/>
                  <a:pt x="30863" y="123"/>
                </a:cubicBezTo>
                <a:cubicBezTo>
                  <a:pt x="30868" y="135"/>
                  <a:pt x="30872" y="147"/>
                  <a:pt x="30874" y="160"/>
                </a:cubicBezTo>
                <a:cubicBezTo>
                  <a:pt x="30877" y="173"/>
                  <a:pt x="30878" y="186"/>
                  <a:pt x="30878" y="199"/>
                </a:cubicBezTo>
                <a:lnTo>
                  <a:pt x="30878" y="3348"/>
                </a:lnTo>
                <a:cubicBezTo>
                  <a:pt x="30878" y="3361"/>
                  <a:pt x="30877" y="3374"/>
                  <a:pt x="30874" y="3387"/>
                </a:cubicBezTo>
                <a:cubicBezTo>
                  <a:pt x="30872" y="3400"/>
                  <a:pt x="30868" y="3412"/>
                  <a:pt x="30863" y="3424"/>
                </a:cubicBezTo>
                <a:cubicBezTo>
                  <a:pt x="30858" y="3436"/>
                  <a:pt x="30852" y="3448"/>
                  <a:pt x="30845" y="3459"/>
                </a:cubicBezTo>
                <a:cubicBezTo>
                  <a:pt x="30838" y="3470"/>
                  <a:pt x="30829" y="3480"/>
                  <a:pt x="30820" y="3489"/>
                </a:cubicBezTo>
                <a:cubicBezTo>
                  <a:pt x="30811" y="3498"/>
                  <a:pt x="30801" y="3506"/>
                  <a:pt x="30790" y="3513"/>
                </a:cubicBezTo>
                <a:cubicBezTo>
                  <a:pt x="30779" y="3521"/>
                  <a:pt x="30768" y="3527"/>
                  <a:pt x="30756" y="3532"/>
                </a:cubicBezTo>
                <a:cubicBezTo>
                  <a:pt x="30744" y="3537"/>
                  <a:pt x="30731" y="3541"/>
                  <a:pt x="30719" y="3543"/>
                </a:cubicBezTo>
                <a:cubicBezTo>
                  <a:pt x="30706" y="3546"/>
                  <a:pt x="30693" y="3547"/>
                  <a:pt x="30680" y="3547"/>
                </a:cubicBezTo>
                <a:lnTo>
                  <a:pt x="199" y="3547"/>
                </a:lnTo>
                <a:cubicBezTo>
                  <a:pt x="186" y="3547"/>
                  <a:pt x="173" y="3546"/>
                  <a:pt x="160" y="3543"/>
                </a:cubicBezTo>
                <a:cubicBezTo>
                  <a:pt x="147" y="3541"/>
                  <a:pt x="135" y="3537"/>
                  <a:pt x="123" y="3532"/>
                </a:cubicBezTo>
                <a:cubicBezTo>
                  <a:pt x="111" y="3527"/>
                  <a:pt x="99" y="3521"/>
                  <a:pt x="89" y="3513"/>
                </a:cubicBezTo>
                <a:cubicBezTo>
                  <a:pt x="78" y="3506"/>
                  <a:pt x="68" y="3498"/>
                  <a:pt x="59" y="3489"/>
                </a:cubicBezTo>
                <a:cubicBezTo>
                  <a:pt x="49" y="3480"/>
                  <a:pt x="41" y="3470"/>
                  <a:pt x="34" y="3459"/>
                </a:cubicBezTo>
                <a:cubicBezTo>
                  <a:pt x="27" y="3448"/>
                  <a:pt x="20" y="3436"/>
                  <a:pt x="16" y="3424"/>
                </a:cubicBezTo>
                <a:cubicBezTo>
                  <a:pt x="11" y="3412"/>
                  <a:pt x="7" y="3400"/>
                  <a:pt x="4" y="3387"/>
                </a:cubicBezTo>
                <a:cubicBezTo>
                  <a:pt x="2" y="3374"/>
                  <a:pt x="0" y="3361"/>
                  <a:pt x="0" y="3348"/>
                </a:cubicBezTo>
                <a:close/>
              </a:path>
            </a:pathLst>
          </a:custGeom>
          <a:solidFill>
            <a:srgbClr val="f5f7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537840" y="975960"/>
            <a:ext cx="11116080" cy="1276920"/>
          </a:xfrm>
          <a:custGeom>
            <a:avLst/>
            <a:gdLst/>
            <a:ahLst/>
            <a:rect l="0" t="0" r="r" b="b"/>
            <a:pathLst>
              <a:path w="30878" h="3547">
                <a:moveTo>
                  <a:pt x="0" y="3348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100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30680" y="0"/>
                </a:lnTo>
                <a:cubicBezTo>
                  <a:pt x="30693" y="0"/>
                  <a:pt x="30706" y="2"/>
                  <a:pt x="30719" y="4"/>
                </a:cubicBezTo>
                <a:cubicBezTo>
                  <a:pt x="30731" y="7"/>
                  <a:pt x="30744" y="11"/>
                  <a:pt x="30756" y="16"/>
                </a:cubicBezTo>
                <a:cubicBezTo>
                  <a:pt x="30768" y="21"/>
                  <a:pt x="30779" y="27"/>
                  <a:pt x="30790" y="34"/>
                </a:cubicBezTo>
                <a:cubicBezTo>
                  <a:pt x="30801" y="41"/>
                  <a:pt x="30811" y="49"/>
                  <a:pt x="30820" y="59"/>
                </a:cubicBezTo>
                <a:cubicBezTo>
                  <a:pt x="30829" y="68"/>
                  <a:pt x="30838" y="78"/>
                  <a:pt x="30845" y="89"/>
                </a:cubicBezTo>
                <a:cubicBezTo>
                  <a:pt x="30852" y="100"/>
                  <a:pt x="30858" y="111"/>
                  <a:pt x="30863" y="123"/>
                </a:cubicBezTo>
                <a:cubicBezTo>
                  <a:pt x="30868" y="135"/>
                  <a:pt x="30872" y="147"/>
                  <a:pt x="30874" y="160"/>
                </a:cubicBezTo>
                <a:cubicBezTo>
                  <a:pt x="30877" y="173"/>
                  <a:pt x="30878" y="186"/>
                  <a:pt x="30878" y="199"/>
                </a:cubicBezTo>
                <a:lnTo>
                  <a:pt x="30878" y="3348"/>
                </a:lnTo>
                <a:cubicBezTo>
                  <a:pt x="30878" y="3361"/>
                  <a:pt x="30877" y="3374"/>
                  <a:pt x="30874" y="3387"/>
                </a:cubicBezTo>
                <a:cubicBezTo>
                  <a:pt x="30872" y="3400"/>
                  <a:pt x="30868" y="3412"/>
                  <a:pt x="30863" y="3424"/>
                </a:cubicBezTo>
                <a:cubicBezTo>
                  <a:pt x="30858" y="3436"/>
                  <a:pt x="30852" y="3448"/>
                  <a:pt x="30845" y="3459"/>
                </a:cubicBezTo>
                <a:cubicBezTo>
                  <a:pt x="30838" y="3470"/>
                  <a:pt x="30829" y="3480"/>
                  <a:pt x="30820" y="3489"/>
                </a:cubicBezTo>
                <a:cubicBezTo>
                  <a:pt x="30811" y="3498"/>
                  <a:pt x="30801" y="3506"/>
                  <a:pt x="30790" y="3513"/>
                </a:cubicBezTo>
                <a:cubicBezTo>
                  <a:pt x="30779" y="3521"/>
                  <a:pt x="30768" y="3527"/>
                  <a:pt x="30756" y="3532"/>
                </a:cubicBezTo>
                <a:cubicBezTo>
                  <a:pt x="30744" y="3537"/>
                  <a:pt x="30731" y="3541"/>
                  <a:pt x="30719" y="3543"/>
                </a:cubicBezTo>
                <a:cubicBezTo>
                  <a:pt x="30706" y="3546"/>
                  <a:pt x="30693" y="3547"/>
                  <a:pt x="30680" y="3547"/>
                </a:cubicBezTo>
                <a:lnTo>
                  <a:pt x="199" y="3547"/>
                </a:lnTo>
                <a:cubicBezTo>
                  <a:pt x="186" y="3547"/>
                  <a:pt x="173" y="3546"/>
                  <a:pt x="160" y="3543"/>
                </a:cubicBezTo>
                <a:cubicBezTo>
                  <a:pt x="147" y="3541"/>
                  <a:pt x="135" y="3537"/>
                  <a:pt x="123" y="3532"/>
                </a:cubicBezTo>
                <a:cubicBezTo>
                  <a:pt x="111" y="3527"/>
                  <a:pt x="99" y="3521"/>
                  <a:pt x="89" y="3513"/>
                </a:cubicBezTo>
                <a:cubicBezTo>
                  <a:pt x="78" y="3506"/>
                  <a:pt x="68" y="3498"/>
                  <a:pt x="59" y="3489"/>
                </a:cubicBezTo>
                <a:cubicBezTo>
                  <a:pt x="49" y="3480"/>
                  <a:pt x="41" y="3470"/>
                  <a:pt x="34" y="3459"/>
                </a:cubicBezTo>
                <a:cubicBezTo>
                  <a:pt x="27" y="3448"/>
                  <a:pt x="20" y="3436"/>
                  <a:pt x="16" y="3424"/>
                </a:cubicBezTo>
                <a:cubicBezTo>
                  <a:pt x="11" y="3412"/>
                  <a:pt x="7" y="3400"/>
                  <a:pt x="4" y="3387"/>
                </a:cubicBezTo>
                <a:cubicBezTo>
                  <a:pt x="2" y="3374"/>
                  <a:pt x="0" y="3361"/>
                  <a:pt x="0" y="3348"/>
                </a:cubicBezTo>
                <a:close/>
              </a:path>
            </a:pathLst>
          </a:custGeom>
          <a:noFill/>
          <a:ln w="9360">
            <a:solidFill>
              <a:srgbClr val="d7dde5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714240" y="1155240"/>
            <a:ext cx="16437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cf222e"/>
                </a:solidFill>
                <a:latin typeface="DejaVuSansMono"/>
                <a:ea typeface="DejaVuSansMono"/>
              </a:rPr>
              <a:t>def</a:t>
            </a:r>
            <a:r>
              <a:rPr b="0" lang="en-US" sz="1350" spc="-1" strike="noStrike">
                <a:solidFill>
                  <a:srgbClr val="1b1b1b"/>
                </a:solidFill>
                <a:latin typeface="DejaVuSansMono"/>
                <a:ea typeface="DejaVuSansMono"/>
              </a:rPr>
              <a:t> </a:t>
            </a:r>
            <a:r>
              <a:rPr b="0" lang="en-US" sz="1350" spc="-1" strike="noStrike">
                <a:solidFill>
                  <a:srgbClr val="6639ba"/>
                </a:solidFill>
                <a:latin typeface="DejaVuSansMono"/>
                <a:ea typeface="DejaVuSansMono"/>
              </a:rPr>
              <a:t>greet</a:t>
            </a:r>
            <a:r>
              <a:rPr b="0" lang="en-US" sz="1350" spc="-1" strike="noStrike">
                <a:solidFill>
                  <a:srgbClr val="1b1b1b"/>
                </a:solidFill>
                <a:latin typeface="DejaVuSansMono"/>
                <a:ea typeface="DejaVuSansMono"/>
              </a:rPr>
              <a:t>(name):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14240" y="1393560"/>
            <a:ext cx="2871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b1b1b"/>
                </a:solidFill>
                <a:latin typeface="DejaVuSansMono"/>
                <a:ea typeface="DejaVuSansMono"/>
              </a:rPr>
              <a:t>    </a:t>
            </a:r>
            <a:r>
              <a:rPr b="0" lang="en-US" sz="1350" spc="-1" strike="noStrike">
                <a:solidFill>
                  <a:srgbClr val="cf222e"/>
                </a:solidFill>
                <a:latin typeface="DejaVuSansMono"/>
                <a:ea typeface="DejaVuSansMono"/>
              </a:rPr>
              <a:t>return</a:t>
            </a:r>
            <a:r>
              <a:rPr b="0" lang="en-US" sz="1350" spc="-1" strike="noStrike">
                <a:solidFill>
                  <a:srgbClr val="1b1b1b"/>
                </a:solidFill>
                <a:latin typeface="DejaVuSansMono"/>
                <a:ea typeface="DejaVuSansMono"/>
              </a:rPr>
              <a:t> </a:t>
            </a:r>
            <a:r>
              <a:rPr b="0" lang="en-US" sz="1350" spc="-1" strike="noStrike">
                <a:solidFill>
                  <a:srgbClr val="0a3069"/>
                </a:solidFill>
                <a:latin typeface="DejaVuSansMono"/>
                <a:ea typeface="DejaVuSansMono"/>
              </a:rPr>
              <a:t>f"Hello, </a:t>
            </a:r>
            <a:r>
              <a:rPr b="0" lang="en-US" sz="1350" spc="-1" strike="noStrike">
                <a:solidFill>
                  <a:srgbClr val="1f2328"/>
                </a:solidFill>
                <a:latin typeface="DejaVuSansMono"/>
                <a:ea typeface="DejaVuSansMono"/>
              </a:rPr>
              <a:t>{name}</a:t>
            </a:r>
            <a:r>
              <a:rPr b="0" lang="en-US" sz="1350" spc="-1" strike="noStrike">
                <a:solidFill>
                  <a:srgbClr val="0a3069"/>
                </a:solidFill>
                <a:latin typeface="DejaVuSansMono"/>
                <a:ea typeface="DejaVuSansMono"/>
              </a:rPr>
              <a:t>!"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714240" y="1879200"/>
            <a:ext cx="21571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953800"/>
                </a:solidFill>
                <a:latin typeface="DejaVuSansMono"/>
                <a:ea typeface="DejaVuSansMono"/>
              </a:rPr>
              <a:t>print</a:t>
            </a:r>
            <a:r>
              <a:rPr b="0" lang="en-US" sz="1350" spc="-1" strike="noStrike">
                <a:solidFill>
                  <a:srgbClr val="1b1b1b"/>
                </a:solidFill>
                <a:latin typeface="DejaVuSansMono"/>
                <a:ea typeface="DejaVuSansMono"/>
              </a:rPr>
              <a:t>(greet(</a:t>
            </a:r>
            <a:r>
              <a:rPr b="0" lang="en-US" sz="1350" spc="-1" strike="noStrike">
                <a:solidFill>
                  <a:srgbClr val="0a3069"/>
                </a:solidFill>
                <a:latin typeface="DejaVuSansMono"/>
                <a:ea typeface="DejaVuSansMono"/>
              </a:rPr>
              <a:t>"KaiRA"</a:t>
            </a:r>
            <a:r>
              <a:rPr b="0" lang="en-US" sz="1350" spc="-1" strike="noStrike">
                <a:solidFill>
                  <a:srgbClr val="1b1b1b"/>
                </a:solidFill>
                <a:latin typeface="DejaVuSansMono"/>
                <a:ea typeface="DejaVuSansMono"/>
              </a:rPr>
              <a:t>))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914400" y="414000"/>
            <a:ext cx="8420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Python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753560" y="351000"/>
            <a:ext cx="1739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コードサンプル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33520" y="87012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⾚⽂字の強調テキスト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533520" y="138456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濃い⻘⽂字の強調テキスト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33520" y="188928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太字の強調テキスト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533520" y="24037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太字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085760" y="2474280"/>
            <a:ext cx="313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+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400760" y="24037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⾚⽂字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533520" y="29084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太字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1085760" y="2979000"/>
            <a:ext cx="313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+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400760" y="290844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濃い⻘⽂字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995000" y="34228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中央揃えテキスト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533160" y="4819320"/>
            <a:ext cx="2202120" cy="29160"/>
          </a:xfrm>
          <a:custGeom>
            <a:avLst/>
            <a:gdLst/>
            <a:ahLst/>
            <a:rect l="0" t="0" r="r" b="b"/>
            <a:pathLst>
              <a:path w="6117" h="81">
                <a:moveTo>
                  <a:pt x="0" y="0"/>
                </a:moveTo>
                <a:lnTo>
                  <a:pt x="6117" y="0"/>
                </a:lnTo>
                <a:lnTo>
                  <a:pt x="611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9733320" y="392760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右揃えテキスト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533520" y="444204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下線付きテキスト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1361880" y="5438520"/>
            <a:ext cx="752760" cy="362520"/>
          </a:xfrm>
          <a:custGeom>
            <a:avLst/>
            <a:gdLst/>
            <a:ahLst/>
            <a:rect l="0" t="0" r="r" b="b"/>
            <a:pathLst>
              <a:path w="2091" h="1007">
                <a:moveTo>
                  <a:pt x="0" y="848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932" y="0"/>
                </a:lnTo>
                <a:cubicBezTo>
                  <a:pt x="1943" y="0"/>
                  <a:pt x="1953" y="1"/>
                  <a:pt x="1963" y="3"/>
                </a:cubicBezTo>
                <a:cubicBezTo>
                  <a:pt x="1974" y="5"/>
                  <a:pt x="1984" y="8"/>
                  <a:pt x="1993" y="12"/>
                </a:cubicBezTo>
                <a:cubicBezTo>
                  <a:pt x="2003" y="16"/>
                  <a:pt x="2012" y="21"/>
                  <a:pt x="2021" y="27"/>
                </a:cubicBezTo>
                <a:cubicBezTo>
                  <a:pt x="2029" y="33"/>
                  <a:pt x="2037" y="39"/>
                  <a:pt x="2045" y="47"/>
                </a:cubicBezTo>
                <a:cubicBezTo>
                  <a:pt x="2052" y="54"/>
                  <a:pt x="2059" y="62"/>
                  <a:pt x="2064" y="71"/>
                </a:cubicBezTo>
                <a:cubicBezTo>
                  <a:pt x="2070" y="79"/>
                  <a:pt x="2075" y="89"/>
                  <a:pt x="2079" y="98"/>
                </a:cubicBezTo>
                <a:cubicBezTo>
                  <a:pt x="2083" y="108"/>
                  <a:pt x="2086" y="118"/>
                  <a:pt x="2088" y="128"/>
                </a:cubicBezTo>
                <a:cubicBezTo>
                  <a:pt x="2090" y="138"/>
                  <a:pt x="2091" y="149"/>
                  <a:pt x="2091" y="159"/>
                </a:cubicBezTo>
                <a:lnTo>
                  <a:pt x="2091" y="848"/>
                </a:lnTo>
                <a:cubicBezTo>
                  <a:pt x="2091" y="858"/>
                  <a:pt x="2090" y="869"/>
                  <a:pt x="2088" y="879"/>
                </a:cubicBezTo>
                <a:cubicBezTo>
                  <a:pt x="2086" y="889"/>
                  <a:pt x="2083" y="899"/>
                  <a:pt x="2079" y="909"/>
                </a:cubicBezTo>
                <a:cubicBezTo>
                  <a:pt x="2075" y="918"/>
                  <a:pt x="2070" y="927"/>
                  <a:pt x="2064" y="936"/>
                </a:cubicBezTo>
                <a:cubicBezTo>
                  <a:pt x="2059" y="945"/>
                  <a:pt x="2052" y="953"/>
                  <a:pt x="2045" y="960"/>
                </a:cubicBezTo>
                <a:cubicBezTo>
                  <a:pt x="2037" y="967"/>
                  <a:pt x="2029" y="974"/>
                  <a:pt x="2021" y="980"/>
                </a:cubicBezTo>
                <a:cubicBezTo>
                  <a:pt x="2012" y="986"/>
                  <a:pt x="2003" y="991"/>
                  <a:pt x="1993" y="995"/>
                </a:cubicBezTo>
                <a:cubicBezTo>
                  <a:pt x="1984" y="999"/>
                  <a:pt x="1974" y="1002"/>
                  <a:pt x="1963" y="1004"/>
                </a:cubicBezTo>
                <a:cubicBezTo>
                  <a:pt x="1953" y="1006"/>
                  <a:pt x="1943" y="1007"/>
                  <a:pt x="1932" y="1007"/>
                </a:cubicBezTo>
                <a:lnTo>
                  <a:pt x="159" y="1007"/>
                </a:lnTo>
                <a:cubicBezTo>
                  <a:pt x="148" y="1007"/>
                  <a:pt x="138" y="1006"/>
                  <a:pt x="128" y="1004"/>
                </a:cubicBezTo>
                <a:cubicBezTo>
                  <a:pt x="118" y="1002"/>
                  <a:pt x="108" y="999"/>
                  <a:pt x="98" y="995"/>
                </a:cubicBezTo>
                <a:cubicBezTo>
                  <a:pt x="88" y="991"/>
                  <a:pt x="79" y="986"/>
                  <a:pt x="71" y="980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3"/>
                  <a:pt x="33" y="945"/>
                  <a:pt x="27" y="936"/>
                </a:cubicBezTo>
                <a:cubicBezTo>
                  <a:pt x="21" y="927"/>
                  <a:pt x="16" y="918"/>
                  <a:pt x="12" y="909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533520" y="53661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空⾏は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456200" y="5490000"/>
            <a:ext cx="563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11111"/>
                </a:solidFill>
                <a:latin typeface="Courier New"/>
                <a:ea typeface="Courier New"/>
              </a:rPr>
              <a:t>&lt;br&gt;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2113560" y="536616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を使えば⼊れる事ができます。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914400" y="3510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⽂字装飾サンプル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53352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86880" y="8701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⾏数式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51560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5454360" y="1357200"/>
            <a:ext cx="9774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630" spc="-1" strike="noStrike">
                <a:solidFill>
                  <a:srgbClr val="111111"/>
                </a:solidFill>
                <a:latin typeface="KaTeX_Math"/>
                <a:ea typeface="KaTeX_Math"/>
              </a:rPr>
              <a:t>E</a:t>
            </a:r>
            <a:r>
              <a:rPr b="0" lang="en-US" sz="2630" spc="-1" strike="noStrike">
                <a:solidFill>
                  <a:srgbClr val="111111"/>
                </a:solidFill>
                <a:latin typeface="KaTeX_Main"/>
                <a:ea typeface="KaTeX_Main"/>
              </a:rPr>
              <a:t> =</a:t>
            </a:r>
            <a:r>
              <a:rPr b="0" i="1" lang="en-US" sz="2630" spc="-1" strike="noStrike">
                <a:solidFill>
                  <a:srgbClr val="111111"/>
                </a:solidFill>
                <a:latin typeface="KaTeX_Math"/>
                <a:ea typeface="KaTeX_Math"/>
              </a:rPr>
              <a:t> mc</a:t>
            </a:r>
            <a:endParaRPr b="0" lang="en-US" sz="2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6603840" y="1330920"/>
            <a:ext cx="233640" cy="31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40" spc="-1" strike="noStrike">
                <a:solidFill>
                  <a:srgbClr val="111111"/>
                </a:solidFill>
                <a:latin typeface="KaTeX_Main"/>
                <a:ea typeface="KaTeX_Main"/>
              </a:rPr>
              <a:t>2</a:t>
            </a:r>
            <a:endParaRPr b="0" lang="en-US" sz="18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533520" y="19274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⽂章中の数式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2190600" y="19980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2344320" y="19274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運動⽅程式は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001760" y="19980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5255280" y="19980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5331960" y="19274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で表せる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33520" y="2851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補⾜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33520" y="334080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HTML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85200" y="3270600"/>
            <a:ext cx="8000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ブロック内に数式を書くと数式表⽰が効かないことがあります。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533520" y="375048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HTML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285200" y="36799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内に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1837800" y="3750480"/>
            <a:ext cx="1271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Markdown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3111840" y="367992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（数式や箇条書き）を書く場合は、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7531560" y="3750480"/>
            <a:ext cx="765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HTML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8298720" y="36799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タグ間に空⾏を⼊れると反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33520" y="409932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映されやすいです。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533520" y="457920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HTML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285200" y="450864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内に数式を含む場合は可能であれば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5781600" y="4581360"/>
            <a:ext cx="5534280" cy="362160"/>
          </a:xfrm>
          <a:custGeom>
            <a:avLst/>
            <a:gdLst/>
            <a:ahLst/>
            <a:rect l="0" t="0" r="r" b="b"/>
            <a:pathLst>
              <a:path w="15373" h="1006">
                <a:moveTo>
                  <a:pt x="0" y="848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5214" y="0"/>
                </a:lnTo>
                <a:cubicBezTo>
                  <a:pt x="15225" y="0"/>
                  <a:pt x="15235" y="1"/>
                  <a:pt x="15245" y="3"/>
                </a:cubicBezTo>
                <a:cubicBezTo>
                  <a:pt x="15255" y="5"/>
                  <a:pt x="15265" y="8"/>
                  <a:pt x="15275" y="12"/>
                </a:cubicBezTo>
                <a:cubicBezTo>
                  <a:pt x="15285" y="16"/>
                  <a:pt x="15294" y="21"/>
                  <a:pt x="15302" y="27"/>
                </a:cubicBezTo>
                <a:cubicBezTo>
                  <a:pt x="15311" y="33"/>
                  <a:pt x="15319" y="39"/>
                  <a:pt x="15326" y="46"/>
                </a:cubicBezTo>
                <a:cubicBezTo>
                  <a:pt x="15334" y="54"/>
                  <a:pt x="15340" y="62"/>
                  <a:pt x="15346" y="71"/>
                </a:cubicBezTo>
                <a:cubicBezTo>
                  <a:pt x="15352" y="79"/>
                  <a:pt x="15357" y="88"/>
                  <a:pt x="15361" y="98"/>
                </a:cubicBezTo>
                <a:cubicBezTo>
                  <a:pt x="15365" y="108"/>
                  <a:pt x="15368" y="118"/>
                  <a:pt x="15370" y="128"/>
                </a:cubicBezTo>
                <a:cubicBezTo>
                  <a:pt x="15372" y="138"/>
                  <a:pt x="15373" y="148"/>
                  <a:pt x="15373" y="159"/>
                </a:cubicBezTo>
                <a:lnTo>
                  <a:pt x="15373" y="848"/>
                </a:lnTo>
                <a:cubicBezTo>
                  <a:pt x="15373" y="858"/>
                  <a:pt x="15372" y="868"/>
                  <a:pt x="15370" y="879"/>
                </a:cubicBezTo>
                <a:cubicBezTo>
                  <a:pt x="15368" y="889"/>
                  <a:pt x="15365" y="899"/>
                  <a:pt x="15361" y="908"/>
                </a:cubicBezTo>
                <a:cubicBezTo>
                  <a:pt x="15357" y="918"/>
                  <a:pt x="15352" y="927"/>
                  <a:pt x="15346" y="936"/>
                </a:cubicBezTo>
                <a:cubicBezTo>
                  <a:pt x="15340" y="944"/>
                  <a:pt x="15334" y="953"/>
                  <a:pt x="15326" y="960"/>
                </a:cubicBezTo>
                <a:cubicBezTo>
                  <a:pt x="15319" y="967"/>
                  <a:pt x="15311" y="974"/>
                  <a:pt x="15302" y="980"/>
                </a:cubicBezTo>
                <a:cubicBezTo>
                  <a:pt x="15294" y="985"/>
                  <a:pt x="15285" y="990"/>
                  <a:pt x="15275" y="994"/>
                </a:cubicBezTo>
                <a:cubicBezTo>
                  <a:pt x="15265" y="998"/>
                  <a:pt x="15255" y="1001"/>
                  <a:pt x="15245" y="1003"/>
                </a:cubicBezTo>
                <a:cubicBezTo>
                  <a:pt x="15235" y="1005"/>
                  <a:pt x="15225" y="1006"/>
                  <a:pt x="15214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3"/>
                  <a:pt x="32" y="944"/>
                  <a:pt x="26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5702040" y="4579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5873040" y="4632840"/>
            <a:ext cx="5351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11111"/>
                </a:solidFill>
                <a:latin typeface="Courier New"/>
                <a:ea typeface="Courier New"/>
              </a:rPr>
              <a:t>&lt;!-- class: content-gray show-page --&gt;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33520" y="49276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のように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638360" y="49982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class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2482920" y="49276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指定で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3311640" y="4998240"/>
            <a:ext cx="765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HTML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4078800" y="49276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ブロックを切り替える⽅が安全です。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33520" y="54079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779040" y="53373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段組みのように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2712600" y="5407920"/>
            <a:ext cx="628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class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3341880" y="533736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指定では実現できないものもあります。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8148240" y="54079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914400" y="351000"/>
            <a:ext cx="1491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数式サンプル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4078440" y="1890720"/>
            <a:ext cx="10033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630" spc="-1" strike="noStrike">
                <a:solidFill>
                  <a:srgbClr val="111111"/>
                </a:solidFill>
                <a:latin typeface="KaTeX_Math"/>
                <a:ea typeface="KaTeX_Math"/>
              </a:rPr>
              <a:t>F</a:t>
            </a:r>
            <a:r>
              <a:rPr b="0" lang="en-US" sz="2630" spc="-1" strike="noStrike">
                <a:solidFill>
                  <a:srgbClr val="111111"/>
                </a:solidFill>
                <a:latin typeface="KaTeX_Main"/>
                <a:ea typeface="KaTeX_Main"/>
              </a:rPr>
              <a:t> =</a:t>
            </a:r>
            <a:r>
              <a:rPr b="0" i="1" lang="en-US" sz="2630" spc="-1" strike="noStrike">
                <a:solidFill>
                  <a:srgbClr val="111111"/>
                </a:solidFill>
                <a:latin typeface="KaTeX_Math"/>
                <a:ea typeface="KaTeX_Math"/>
              </a:rPr>
              <a:t> ma</a:t>
            </a:r>
            <a:endParaRPr b="0" lang="en-US" sz="2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533520" y="87012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左カラムの内容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085760" y="138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ポイント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857160" y="2066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219060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1085760" y="18702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ポイント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2190600" y="19407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655308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4" y="239"/>
                  <a:pt x="89" y="236"/>
                  <a:pt x="74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10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10" y="74"/>
                </a:cubicBezTo>
                <a:cubicBezTo>
                  <a:pt x="16" y="59"/>
                  <a:pt x="25" y="47"/>
                  <a:pt x="36" y="35"/>
                </a:cubicBezTo>
                <a:cubicBezTo>
                  <a:pt x="47" y="24"/>
                  <a:pt x="60" y="16"/>
                  <a:pt x="74" y="9"/>
                </a:cubicBezTo>
                <a:cubicBezTo>
                  <a:pt x="89" y="3"/>
                  <a:pt x="104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229440" y="87012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右カラムの内容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781680" y="138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ポイント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6553080" y="2066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4" y="239"/>
                  <a:pt x="89" y="236"/>
                  <a:pt x="74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10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10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4" y="9"/>
                </a:cubicBezTo>
                <a:cubicBezTo>
                  <a:pt x="89" y="3"/>
                  <a:pt x="104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788688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6781680" y="18702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ポイント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7886880" y="19407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914400" y="414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1052280" y="351000"/>
            <a:ext cx="1739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段組みサンプル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33520" y="87012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左上カラム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1085760" y="138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ポイント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857160" y="2066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219060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085760" y="18702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ポイント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2190600" y="19407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857160" y="3143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533520" y="243216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右上カラム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085760" y="29466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ポイント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857160" y="3619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2190600" y="3017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085760" y="34228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ポイント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2190600" y="3493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4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33520" y="399456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下段の横⻑エリア（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3019320" y="40647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3173040" y="399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段組み）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533520" y="44992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補⾜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533520" y="498888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HTML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285200" y="4918320"/>
            <a:ext cx="10207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コードをいちいち毎回すべて⼊⼒するのが⼤変なので、コードスニペット機能を活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533520" y="53280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⽤するとよいと思います。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533520" y="5912640"/>
            <a:ext cx="1027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VSCode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1562400" y="584208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のコードスニペットはこのテンプレートに含まれています。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914400" y="351000"/>
            <a:ext cx="249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上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1162080" y="414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1299960" y="351000"/>
            <a:ext cx="249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段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547280" y="414000"/>
            <a:ext cx="2829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+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1829520" y="351000"/>
            <a:ext cx="249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2077200" y="414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2215080" y="351000"/>
            <a:ext cx="1491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段のサンプル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